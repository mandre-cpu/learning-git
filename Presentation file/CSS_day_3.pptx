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66"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8" d="100"/>
          <a:sy n="68" d="100"/>
        </p:scale>
        <p:origin x="61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47729B-39FC-413D-9BD5-F63B862920E9}" type="datetimeFigureOut">
              <a:rPr lang="en-US" smtClean="0"/>
              <a:t>10/25/2025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286A8A-615A-4149-995C-B6EEF0CF2EFF}" type="slidenum">
              <a:rPr lang="en-US" smtClean="0"/>
              <a:t>‹#›</a:t>
            </a:fld>
            <a:endParaRPr lang="en-US"/>
          </a:p>
        </p:txBody>
      </p:sp>
    </p:spTree>
    <p:extLst>
      <p:ext uri="{BB962C8B-B14F-4D97-AF65-F5344CB8AC3E}">
        <p14:creationId xmlns:p14="http://schemas.microsoft.com/office/powerpoint/2010/main" val="155267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BB44F-6D80-E474-B80B-EB58ED87E7F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E6028DE-A9D0-4419-9EF1-FBFF4362E0D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6BB9565-CEBF-4290-5A59-2303182AE8F3}"/>
              </a:ext>
            </a:extLst>
          </p:cNvPr>
          <p:cNvSpPr>
            <a:spLocks noGrp="1"/>
          </p:cNvSpPr>
          <p:nvPr>
            <p:ph type="dt" sz="half" idx="10"/>
          </p:nvPr>
        </p:nvSpPr>
        <p:spPr/>
        <p:txBody>
          <a:bodyPr/>
          <a:lstStyle/>
          <a:p>
            <a:fld id="{8F02FA5E-585C-4C83-8AFA-F6ABB6703307}" type="datetimeFigureOut">
              <a:rPr lang="en-US" smtClean="0"/>
              <a:t>10/25/2025</a:t>
            </a:fld>
            <a:endParaRPr lang="en-US"/>
          </a:p>
        </p:txBody>
      </p:sp>
      <p:sp>
        <p:nvSpPr>
          <p:cNvPr id="5" name="Footer Placeholder 4">
            <a:extLst>
              <a:ext uri="{FF2B5EF4-FFF2-40B4-BE49-F238E27FC236}">
                <a16:creationId xmlns:a16="http://schemas.microsoft.com/office/drawing/2014/main" id="{D8E9EBB0-B263-D532-E290-7AF9517DA0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FD69D1-A0DE-4B8F-4BD1-36D082A53C3F}"/>
              </a:ext>
            </a:extLst>
          </p:cNvPr>
          <p:cNvSpPr>
            <a:spLocks noGrp="1"/>
          </p:cNvSpPr>
          <p:nvPr>
            <p:ph type="sldNum" sz="quarter" idx="12"/>
          </p:nvPr>
        </p:nvSpPr>
        <p:spPr/>
        <p:txBody>
          <a:bodyPr/>
          <a:lstStyle/>
          <a:p>
            <a:fld id="{DA0443E1-30A8-4532-992B-132183190527}" type="slidenum">
              <a:rPr lang="en-US" smtClean="0"/>
              <a:t>‹#›</a:t>
            </a:fld>
            <a:endParaRPr lang="en-US"/>
          </a:p>
        </p:txBody>
      </p:sp>
    </p:spTree>
    <p:extLst>
      <p:ext uri="{BB962C8B-B14F-4D97-AF65-F5344CB8AC3E}">
        <p14:creationId xmlns:p14="http://schemas.microsoft.com/office/powerpoint/2010/main" val="2749248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093AB-2137-ECB5-1884-7ECF1E4B3BC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F12F47E-6743-02F3-C728-3E5C03BEB0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F4DAD3-0C06-9DCA-4C18-A46CCEAC753A}"/>
              </a:ext>
            </a:extLst>
          </p:cNvPr>
          <p:cNvSpPr>
            <a:spLocks noGrp="1"/>
          </p:cNvSpPr>
          <p:nvPr>
            <p:ph type="dt" sz="half" idx="10"/>
          </p:nvPr>
        </p:nvSpPr>
        <p:spPr/>
        <p:txBody>
          <a:bodyPr/>
          <a:lstStyle/>
          <a:p>
            <a:fld id="{8F02FA5E-585C-4C83-8AFA-F6ABB6703307}" type="datetimeFigureOut">
              <a:rPr lang="en-US" smtClean="0"/>
              <a:t>10/25/2025</a:t>
            </a:fld>
            <a:endParaRPr lang="en-US"/>
          </a:p>
        </p:txBody>
      </p:sp>
      <p:sp>
        <p:nvSpPr>
          <p:cNvPr id="5" name="Footer Placeholder 4">
            <a:extLst>
              <a:ext uri="{FF2B5EF4-FFF2-40B4-BE49-F238E27FC236}">
                <a16:creationId xmlns:a16="http://schemas.microsoft.com/office/drawing/2014/main" id="{3AB91EBA-0B2F-A0F4-2253-7B95128ADE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EAE253-E60A-F8BA-43A1-970548782CDB}"/>
              </a:ext>
            </a:extLst>
          </p:cNvPr>
          <p:cNvSpPr>
            <a:spLocks noGrp="1"/>
          </p:cNvSpPr>
          <p:nvPr>
            <p:ph type="sldNum" sz="quarter" idx="12"/>
          </p:nvPr>
        </p:nvSpPr>
        <p:spPr/>
        <p:txBody>
          <a:bodyPr/>
          <a:lstStyle/>
          <a:p>
            <a:fld id="{DA0443E1-30A8-4532-992B-132183190527}" type="slidenum">
              <a:rPr lang="en-US" smtClean="0"/>
              <a:t>‹#›</a:t>
            </a:fld>
            <a:endParaRPr lang="en-US"/>
          </a:p>
        </p:txBody>
      </p:sp>
    </p:spTree>
    <p:extLst>
      <p:ext uri="{BB962C8B-B14F-4D97-AF65-F5344CB8AC3E}">
        <p14:creationId xmlns:p14="http://schemas.microsoft.com/office/powerpoint/2010/main" val="683345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CF211-79EC-A966-9DEB-EEFA628C766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902EC2C-B2F7-04F8-91EC-AB52849DFB5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573D744-3DD6-F832-A4FD-FA4C9EF166D8}"/>
              </a:ext>
            </a:extLst>
          </p:cNvPr>
          <p:cNvSpPr>
            <a:spLocks noGrp="1"/>
          </p:cNvSpPr>
          <p:nvPr>
            <p:ph type="dt" sz="half" idx="10"/>
          </p:nvPr>
        </p:nvSpPr>
        <p:spPr/>
        <p:txBody>
          <a:bodyPr/>
          <a:lstStyle/>
          <a:p>
            <a:fld id="{8F02FA5E-585C-4C83-8AFA-F6ABB6703307}" type="datetimeFigureOut">
              <a:rPr lang="en-US" smtClean="0"/>
              <a:t>10/25/2025</a:t>
            </a:fld>
            <a:endParaRPr lang="en-US"/>
          </a:p>
        </p:txBody>
      </p:sp>
      <p:sp>
        <p:nvSpPr>
          <p:cNvPr id="5" name="Footer Placeholder 4">
            <a:extLst>
              <a:ext uri="{FF2B5EF4-FFF2-40B4-BE49-F238E27FC236}">
                <a16:creationId xmlns:a16="http://schemas.microsoft.com/office/drawing/2014/main" id="{30EDF1D1-DF96-FE7A-ACF8-F23600750B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DBFFEF-3DF2-AD12-124F-979AA26249E5}"/>
              </a:ext>
            </a:extLst>
          </p:cNvPr>
          <p:cNvSpPr>
            <a:spLocks noGrp="1"/>
          </p:cNvSpPr>
          <p:nvPr>
            <p:ph type="sldNum" sz="quarter" idx="12"/>
          </p:nvPr>
        </p:nvSpPr>
        <p:spPr/>
        <p:txBody>
          <a:bodyPr/>
          <a:lstStyle/>
          <a:p>
            <a:fld id="{DA0443E1-30A8-4532-992B-132183190527}" type="slidenum">
              <a:rPr lang="en-US" smtClean="0"/>
              <a:t>‹#›</a:t>
            </a:fld>
            <a:endParaRPr lang="en-US"/>
          </a:p>
        </p:txBody>
      </p:sp>
    </p:spTree>
    <p:extLst>
      <p:ext uri="{BB962C8B-B14F-4D97-AF65-F5344CB8AC3E}">
        <p14:creationId xmlns:p14="http://schemas.microsoft.com/office/powerpoint/2010/main" val="16304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463A1-1B0A-A2C3-97E1-F239316CD77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A65C097-63CF-0519-1AA6-BC90B3CC1D8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037921-4AC2-C9C1-9358-B9862E1F868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161C00B-09BB-B412-7693-D08E22E45C7C}"/>
              </a:ext>
            </a:extLst>
          </p:cNvPr>
          <p:cNvSpPr>
            <a:spLocks noGrp="1"/>
          </p:cNvSpPr>
          <p:nvPr>
            <p:ph type="dt" sz="half" idx="10"/>
          </p:nvPr>
        </p:nvSpPr>
        <p:spPr/>
        <p:txBody>
          <a:bodyPr/>
          <a:lstStyle/>
          <a:p>
            <a:fld id="{8F02FA5E-585C-4C83-8AFA-F6ABB6703307}" type="datetimeFigureOut">
              <a:rPr lang="en-US" smtClean="0"/>
              <a:t>10/25/2025</a:t>
            </a:fld>
            <a:endParaRPr lang="en-US"/>
          </a:p>
        </p:txBody>
      </p:sp>
      <p:sp>
        <p:nvSpPr>
          <p:cNvPr id="6" name="Footer Placeholder 5">
            <a:extLst>
              <a:ext uri="{FF2B5EF4-FFF2-40B4-BE49-F238E27FC236}">
                <a16:creationId xmlns:a16="http://schemas.microsoft.com/office/drawing/2014/main" id="{900D25EB-A3E9-1B38-C873-15FC9DA81D6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909310-EA11-352F-39AE-26FCEED034DF}"/>
              </a:ext>
            </a:extLst>
          </p:cNvPr>
          <p:cNvSpPr>
            <a:spLocks noGrp="1"/>
          </p:cNvSpPr>
          <p:nvPr>
            <p:ph type="sldNum" sz="quarter" idx="12"/>
          </p:nvPr>
        </p:nvSpPr>
        <p:spPr/>
        <p:txBody>
          <a:bodyPr/>
          <a:lstStyle/>
          <a:p>
            <a:fld id="{DA0443E1-30A8-4532-992B-132183190527}" type="slidenum">
              <a:rPr lang="en-US" smtClean="0"/>
              <a:t>‹#›</a:t>
            </a:fld>
            <a:endParaRPr lang="en-US"/>
          </a:p>
        </p:txBody>
      </p:sp>
    </p:spTree>
    <p:extLst>
      <p:ext uri="{BB962C8B-B14F-4D97-AF65-F5344CB8AC3E}">
        <p14:creationId xmlns:p14="http://schemas.microsoft.com/office/powerpoint/2010/main" val="4922631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E945A-C7A5-1043-3B87-BF048B1DE5B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F52DE52-76FC-6EE4-4BCB-F7ACC32D90F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A0759D4-D5C8-BDE9-6F53-23AE70D1107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A7AFA0-2DEB-095F-C07A-8B5B4116DF0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EBA38-9CD8-873D-42D5-D63511990E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00A2F4D-73DE-5C02-965B-1A9EB4E6EE31}"/>
              </a:ext>
            </a:extLst>
          </p:cNvPr>
          <p:cNvSpPr>
            <a:spLocks noGrp="1"/>
          </p:cNvSpPr>
          <p:nvPr>
            <p:ph type="dt" sz="half" idx="10"/>
          </p:nvPr>
        </p:nvSpPr>
        <p:spPr/>
        <p:txBody>
          <a:bodyPr/>
          <a:lstStyle/>
          <a:p>
            <a:fld id="{8F02FA5E-585C-4C83-8AFA-F6ABB6703307}" type="datetimeFigureOut">
              <a:rPr lang="en-US" smtClean="0"/>
              <a:t>10/25/2025</a:t>
            </a:fld>
            <a:endParaRPr lang="en-US"/>
          </a:p>
        </p:txBody>
      </p:sp>
      <p:sp>
        <p:nvSpPr>
          <p:cNvPr id="8" name="Footer Placeholder 7">
            <a:extLst>
              <a:ext uri="{FF2B5EF4-FFF2-40B4-BE49-F238E27FC236}">
                <a16:creationId xmlns:a16="http://schemas.microsoft.com/office/drawing/2014/main" id="{34AC0A7B-51D6-860B-FBE4-F5AD18D5856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A3D94BB-94BA-BD77-E656-BD8AD49E0689}"/>
              </a:ext>
            </a:extLst>
          </p:cNvPr>
          <p:cNvSpPr>
            <a:spLocks noGrp="1"/>
          </p:cNvSpPr>
          <p:nvPr>
            <p:ph type="sldNum" sz="quarter" idx="12"/>
          </p:nvPr>
        </p:nvSpPr>
        <p:spPr/>
        <p:txBody>
          <a:bodyPr/>
          <a:lstStyle/>
          <a:p>
            <a:fld id="{DA0443E1-30A8-4532-992B-132183190527}" type="slidenum">
              <a:rPr lang="en-US" smtClean="0"/>
              <a:t>‹#›</a:t>
            </a:fld>
            <a:endParaRPr lang="en-US"/>
          </a:p>
        </p:txBody>
      </p:sp>
    </p:spTree>
    <p:extLst>
      <p:ext uri="{BB962C8B-B14F-4D97-AF65-F5344CB8AC3E}">
        <p14:creationId xmlns:p14="http://schemas.microsoft.com/office/powerpoint/2010/main" val="28898705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8DC9F-13FD-617A-D851-650FBC31DDD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410CDF0-1CB3-3367-94CA-A7B54E0F11A9}"/>
              </a:ext>
            </a:extLst>
          </p:cNvPr>
          <p:cNvSpPr>
            <a:spLocks noGrp="1"/>
          </p:cNvSpPr>
          <p:nvPr>
            <p:ph type="dt" sz="half" idx="10"/>
          </p:nvPr>
        </p:nvSpPr>
        <p:spPr/>
        <p:txBody>
          <a:bodyPr/>
          <a:lstStyle/>
          <a:p>
            <a:fld id="{8F02FA5E-585C-4C83-8AFA-F6ABB6703307}" type="datetimeFigureOut">
              <a:rPr lang="en-US" smtClean="0"/>
              <a:t>10/25/2025</a:t>
            </a:fld>
            <a:endParaRPr lang="en-US"/>
          </a:p>
        </p:txBody>
      </p:sp>
      <p:sp>
        <p:nvSpPr>
          <p:cNvPr id="4" name="Footer Placeholder 3">
            <a:extLst>
              <a:ext uri="{FF2B5EF4-FFF2-40B4-BE49-F238E27FC236}">
                <a16:creationId xmlns:a16="http://schemas.microsoft.com/office/drawing/2014/main" id="{D83B6E34-927F-1D21-83CE-7519F591028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6BF10B2-80FF-43DA-F546-306F5AE138CF}"/>
              </a:ext>
            </a:extLst>
          </p:cNvPr>
          <p:cNvSpPr>
            <a:spLocks noGrp="1"/>
          </p:cNvSpPr>
          <p:nvPr>
            <p:ph type="sldNum" sz="quarter" idx="12"/>
          </p:nvPr>
        </p:nvSpPr>
        <p:spPr/>
        <p:txBody>
          <a:bodyPr/>
          <a:lstStyle/>
          <a:p>
            <a:fld id="{DA0443E1-30A8-4532-992B-132183190527}" type="slidenum">
              <a:rPr lang="en-US" smtClean="0"/>
              <a:t>‹#›</a:t>
            </a:fld>
            <a:endParaRPr lang="en-US"/>
          </a:p>
        </p:txBody>
      </p:sp>
    </p:spTree>
    <p:extLst>
      <p:ext uri="{BB962C8B-B14F-4D97-AF65-F5344CB8AC3E}">
        <p14:creationId xmlns:p14="http://schemas.microsoft.com/office/powerpoint/2010/main" val="2976638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29485E2-2430-B585-7203-DAEAC4A066B9}"/>
              </a:ext>
            </a:extLst>
          </p:cNvPr>
          <p:cNvSpPr>
            <a:spLocks noGrp="1"/>
          </p:cNvSpPr>
          <p:nvPr>
            <p:ph type="dt" sz="half" idx="10"/>
          </p:nvPr>
        </p:nvSpPr>
        <p:spPr/>
        <p:txBody>
          <a:bodyPr/>
          <a:lstStyle/>
          <a:p>
            <a:fld id="{8F02FA5E-585C-4C83-8AFA-F6ABB6703307}" type="datetimeFigureOut">
              <a:rPr lang="en-US" smtClean="0"/>
              <a:t>10/25/2025</a:t>
            </a:fld>
            <a:endParaRPr lang="en-US"/>
          </a:p>
        </p:txBody>
      </p:sp>
      <p:sp>
        <p:nvSpPr>
          <p:cNvPr id="3" name="Footer Placeholder 2">
            <a:extLst>
              <a:ext uri="{FF2B5EF4-FFF2-40B4-BE49-F238E27FC236}">
                <a16:creationId xmlns:a16="http://schemas.microsoft.com/office/drawing/2014/main" id="{136169D3-7E9D-764E-57D6-FF6B980F2DE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2F83435-4A0D-A0DB-D5AA-673390880327}"/>
              </a:ext>
            </a:extLst>
          </p:cNvPr>
          <p:cNvSpPr>
            <a:spLocks noGrp="1"/>
          </p:cNvSpPr>
          <p:nvPr>
            <p:ph type="sldNum" sz="quarter" idx="12"/>
          </p:nvPr>
        </p:nvSpPr>
        <p:spPr/>
        <p:txBody>
          <a:bodyPr/>
          <a:lstStyle/>
          <a:p>
            <a:fld id="{DA0443E1-30A8-4532-992B-132183190527}" type="slidenum">
              <a:rPr lang="en-US" smtClean="0"/>
              <a:t>‹#›</a:t>
            </a:fld>
            <a:endParaRPr lang="en-US"/>
          </a:p>
        </p:txBody>
      </p:sp>
    </p:spTree>
    <p:extLst>
      <p:ext uri="{BB962C8B-B14F-4D97-AF65-F5344CB8AC3E}">
        <p14:creationId xmlns:p14="http://schemas.microsoft.com/office/powerpoint/2010/main" val="41262430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DB7BB-F664-1DAF-37D8-3374820882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BFAD7B7-8C19-038A-BAB6-4C8777C98C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624AAF4-9966-B61A-C087-DB96220F20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4DB6C6-EB43-CBDF-1469-0B0FD4CD01B1}"/>
              </a:ext>
            </a:extLst>
          </p:cNvPr>
          <p:cNvSpPr>
            <a:spLocks noGrp="1"/>
          </p:cNvSpPr>
          <p:nvPr>
            <p:ph type="dt" sz="half" idx="10"/>
          </p:nvPr>
        </p:nvSpPr>
        <p:spPr/>
        <p:txBody>
          <a:bodyPr/>
          <a:lstStyle/>
          <a:p>
            <a:fld id="{8F02FA5E-585C-4C83-8AFA-F6ABB6703307}" type="datetimeFigureOut">
              <a:rPr lang="en-US" smtClean="0"/>
              <a:t>10/25/2025</a:t>
            </a:fld>
            <a:endParaRPr lang="en-US"/>
          </a:p>
        </p:txBody>
      </p:sp>
      <p:sp>
        <p:nvSpPr>
          <p:cNvPr id="6" name="Footer Placeholder 5">
            <a:extLst>
              <a:ext uri="{FF2B5EF4-FFF2-40B4-BE49-F238E27FC236}">
                <a16:creationId xmlns:a16="http://schemas.microsoft.com/office/drawing/2014/main" id="{C965C3A4-07B1-9CEF-D519-CDB1112B58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42988E-2568-CF08-CFF1-E7CEB77B9BA1}"/>
              </a:ext>
            </a:extLst>
          </p:cNvPr>
          <p:cNvSpPr>
            <a:spLocks noGrp="1"/>
          </p:cNvSpPr>
          <p:nvPr>
            <p:ph type="sldNum" sz="quarter" idx="12"/>
          </p:nvPr>
        </p:nvSpPr>
        <p:spPr/>
        <p:txBody>
          <a:bodyPr/>
          <a:lstStyle/>
          <a:p>
            <a:fld id="{DA0443E1-30A8-4532-992B-132183190527}" type="slidenum">
              <a:rPr lang="en-US" smtClean="0"/>
              <a:t>‹#›</a:t>
            </a:fld>
            <a:endParaRPr lang="en-US"/>
          </a:p>
        </p:txBody>
      </p:sp>
    </p:spTree>
    <p:extLst>
      <p:ext uri="{BB962C8B-B14F-4D97-AF65-F5344CB8AC3E}">
        <p14:creationId xmlns:p14="http://schemas.microsoft.com/office/powerpoint/2010/main" val="37676452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B6913-3F40-D6E0-57D3-D5D65FC526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F3AD43B-FFBC-F6BD-C162-32952B26320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6A8BDA0-1FD4-B8C4-1130-5180683E26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34D698-2CAE-C25E-2355-A8F954667681}"/>
              </a:ext>
            </a:extLst>
          </p:cNvPr>
          <p:cNvSpPr>
            <a:spLocks noGrp="1"/>
          </p:cNvSpPr>
          <p:nvPr>
            <p:ph type="dt" sz="half" idx="10"/>
          </p:nvPr>
        </p:nvSpPr>
        <p:spPr/>
        <p:txBody>
          <a:bodyPr/>
          <a:lstStyle/>
          <a:p>
            <a:fld id="{8F02FA5E-585C-4C83-8AFA-F6ABB6703307}" type="datetimeFigureOut">
              <a:rPr lang="en-US" smtClean="0"/>
              <a:t>10/25/2025</a:t>
            </a:fld>
            <a:endParaRPr lang="en-US"/>
          </a:p>
        </p:txBody>
      </p:sp>
      <p:sp>
        <p:nvSpPr>
          <p:cNvPr id="6" name="Footer Placeholder 5">
            <a:extLst>
              <a:ext uri="{FF2B5EF4-FFF2-40B4-BE49-F238E27FC236}">
                <a16:creationId xmlns:a16="http://schemas.microsoft.com/office/drawing/2014/main" id="{18D976B6-C412-434B-6204-62E9F7F743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B7EDBC-19DD-04FE-1AAB-ADFC971A4787}"/>
              </a:ext>
            </a:extLst>
          </p:cNvPr>
          <p:cNvSpPr>
            <a:spLocks noGrp="1"/>
          </p:cNvSpPr>
          <p:nvPr>
            <p:ph type="sldNum" sz="quarter" idx="12"/>
          </p:nvPr>
        </p:nvSpPr>
        <p:spPr/>
        <p:txBody>
          <a:bodyPr/>
          <a:lstStyle/>
          <a:p>
            <a:fld id="{DA0443E1-30A8-4532-992B-132183190527}" type="slidenum">
              <a:rPr lang="en-US" smtClean="0"/>
              <a:t>‹#›</a:t>
            </a:fld>
            <a:endParaRPr lang="en-US"/>
          </a:p>
        </p:txBody>
      </p:sp>
    </p:spTree>
    <p:extLst>
      <p:ext uri="{BB962C8B-B14F-4D97-AF65-F5344CB8AC3E}">
        <p14:creationId xmlns:p14="http://schemas.microsoft.com/office/powerpoint/2010/main" val="12251365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5B336-CC3C-05AA-0F27-3D749949FF9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B6A0CC8-82C3-4D3E-B61B-D5EF90E2920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CFE89B-EEB6-15FD-9DA9-04DAE7C1AE6F}"/>
              </a:ext>
            </a:extLst>
          </p:cNvPr>
          <p:cNvSpPr>
            <a:spLocks noGrp="1"/>
          </p:cNvSpPr>
          <p:nvPr>
            <p:ph type="dt" sz="half" idx="10"/>
          </p:nvPr>
        </p:nvSpPr>
        <p:spPr/>
        <p:txBody>
          <a:bodyPr/>
          <a:lstStyle/>
          <a:p>
            <a:fld id="{8F02FA5E-585C-4C83-8AFA-F6ABB6703307}" type="datetimeFigureOut">
              <a:rPr lang="en-US" smtClean="0"/>
              <a:t>10/25/2025</a:t>
            </a:fld>
            <a:endParaRPr lang="en-US"/>
          </a:p>
        </p:txBody>
      </p:sp>
      <p:sp>
        <p:nvSpPr>
          <p:cNvPr id="5" name="Footer Placeholder 4">
            <a:extLst>
              <a:ext uri="{FF2B5EF4-FFF2-40B4-BE49-F238E27FC236}">
                <a16:creationId xmlns:a16="http://schemas.microsoft.com/office/drawing/2014/main" id="{A2C77B26-D246-BC73-B0E0-CA58D0A687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35B480-2F03-20FF-5354-D7C1F2B7E300}"/>
              </a:ext>
            </a:extLst>
          </p:cNvPr>
          <p:cNvSpPr>
            <a:spLocks noGrp="1"/>
          </p:cNvSpPr>
          <p:nvPr>
            <p:ph type="sldNum" sz="quarter" idx="12"/>
          </p:nvPr>
        </p:nvSpPr>
        <p:spPr/>
        <p:txBody>
          <a:bodyPr/>
          <a:lstStyle/>
          <a:p>
            <a:fld id="{DA0443E1-30A8-4532-992B-132183190527}" type="slidenum">
              <a:rPr lang="en-US" smtClean="0"/>
              <a:t>‹#›</a:t>
            </a:fld>
            <a:endParaRPr lang="en-US"/>
          </a:p>
        </p:txBody>
      </p:sp>
    </p:spTree>
    <p:extLst>
      <p:ext uri="{BB962C8B-B14F-4D97-AF65-F5344CB8AC3E}">
        <p14:creationId xmlns:p14="http://schemas.microsoft.com/office/powerpoint/2010/main" val="2843126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9BDA255-F904-AC56-116B-68F5B30B988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38E6515-CB08-99F4-EF71-F115F5C673B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B56DD5-417B-699F-1D83-7CDC602D4609}"/>
              </a:ext>
            </a:extLst>
          </p:cNvPr>
          <p:cNvSpPr>
            <a:spLocks noGrp="1"/>
          </p:cNvSpPr>
          <p:nvPr>
            <p:ph type="dt" sz="half" idx="10"/>
          </p:nvPr>
        </p:nvSpPr>
        <p:spPr/>
        <p:txBody>
          <a:bodyPr/>
          <a:lstStyle/>
          <a:p>
            <a:fld id="{8F02FA5E-585C-4C83-8AFA-F6ABB6703307}" type="datetimeFigureOut">
              <a:rPr lang="en-US" smtClean="0"/>
              <a:t>10/25/2025</a:t>
            </a:fld>
            <a:endParaRPr lang="en-US"/>
          </a:p>
        </p:txBody>
      </p:sp>
      <p:sp>
        <p:nvSpPr>
          <p:cNvPr id="5" name="Footer Placeholder 4">
            <a:extLst>
              <a:ext uri="{FF2B5EF4-FFF2-40B4-BE49-F238E27FC236}">
                <a16:creationId xmlns:a16="http://schemas.microsoft.com/office/drawing/2014/main" id="{DD216A18-7D8C-681E-3BDF-E8381DA8D4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8FD18A-F822-789C-29D7-0A42C6217515}"/>
              </a:ext>
            </a:extLst>
          </p:cNvPr>
          <p:cNvSpPr>
            <a:spLocks noGrp="1"/>
          </p:cNvSpPr>
          <p:nvPr>
            <p:ph type="sldNum" sz="quarter" idx="12"/>
          </p:nvPr>
        </p:nvSpPr>
        <p:spPr/>
        <p:txBody>
          <a:bodyPr/>
          <a:lstStyle/>
          <a:p>
            <a:fld id="{DA0443E1-30A8-4532-992B-132183190527}" type="slidenum">
              <a:rPr lang="en-US" smtClean="0"/>
              <a:t>‹#›</a:t>
            </a:fld>
            <a:endParaRPr lang="en-US"/>
          </a:p>
        </p:txBody>
      </p:sp>
    </p:spTree>
    <p:extLst>
      <p:ext uri="{BB962C8B-B14F-4D97-AF65-F5344CB8AC3E}">
        <p14:creationId xmlns:p14="http://schemas.microsoft.com/office/powerpoint/2010/main" val="15087449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3EA0BE7-71AD-FF6C-37F7-D240A7C32D0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0B96787-B0D8-A513-862F-BA24A5E7929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D00A5F-525E-FD0F-610D-D444A060B3E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02FA5E-585C-4C83-8AFA-F6ABB6703307}" type="datetimeFigureOut">
              <a:rPr lang="en-US" smtClean="0"/>
              <a:t>10/25/2025</a:t>
            </a:fld>
            <a:endParaRPr lang="en-US"/>
          </a:p>
        </p:txBody>
      </p:sp>
      <p:sp>
        <p:nvSpPr>
          <p:cNvPr id="5" name="Footer Placeholder 4">
            <a:extLst>
              <a:ext uri="{FF2B5EF4-FFF2-40B4-BE49-F238E27FC236}">
                <a16:creationId xmlns:a16="http://schemas.microsoft.com/office/drawing/2014/main" id="{B319AF49-3EB9-D4A2-BF02-770FBA2A80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0970D14-2171-25F5-EB5F-36E7E005FD9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0443E1-30A8-4532-992B-132183190527}" type="slidenum">
              <a:rPr lang="en-US" smtClean="0"/>
              <a:t>‹#›</a:t>
            </a:fld>
            <a:endParaRPr lang="en-US"/>
          </a:p>
        </p:txBody>
      </p:sp>
    </p:spTree>
    <p:extLst>
      <p:ext uri="{BB962C8B-B14F-4D97-AF65-F5344CB8AC3E}">
        <p14:creationId xmlns:p14="http://schemas.microsoft.com/office/powerpoint/2010/main" val="40784401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77176-717E-A895-0D1D-2225668ED789}"/>
              </a:ext>
            </a:extLst>
          </p:cNvPr>
          <p:cNvSpPr>
            <a:spLocks noGrp="1"/>
          </p:cNvSpPr>
          <p:nvPr>
            <p:ph type="title"/>
          </p:nvPr>
        </p:nvSpPr>
        <p:spPr>
          <a:xfrm>
            <a:off x="1534696" y="342420"/>
            <a:ext cx="9520158" cy="2220027"/>
          </a:xfrm>
        </p:spPr>
        <p:txBody>
          <a:bodyPr>
            <a:normAutofit fontScale="90000"/>
          </a:bodyPr>
          <a:lstStyle/>
          <a:p>
            <a:pPr algn="ctr"/>
            <a:r>
              <a:rPr lang="en-US" sz="11100" dirty="0">
                <a:solidFill>
                  <a:srgbClr val="C00000"/>
                </a:solidFill>
              </a:rPr>
              <a:t>CSS</a:t>
            </a:r>
            <a:r>
              <a:rPr lang="en-US" dirty="0"/>
              <a:t>  </a:t>
            </a:r>
            <a:br>
              <a:rPr lang="en-US" dirty="0"/>
            </a:br>
            <a:r>
              <a:rPr lang="en-US" sz="10000" b="1" dirty="0">
                <a:solidFill>
                  <a:schemeClr val="accent1">
                    <a:lumMod val="75000"/>
                  </a:schemeClr>
                </a:solidFill>
              </a:rPr>
              <a:t>CO</a:t>
            </a:r>
            <a:r>
              <a:rPr lang="en-US" sz="10000" b="1" dirty="0">
                <a:solidFill>
                  <a:schemeClr val="accent5">
                    <a:lumMod val="60000"/>
                    <a:lumOff val="40000"/>
                  </a:schemeClr>
                </a:solidFill>
              </a:rPr>
              <a:t>LO</a:t>
            </a:r>
            <a:r>
              <a:rPr lang="en-US" sz="10000" b="1" dirty="0">
                <a:solidFill>
                  <a:schemeClr val="accent1">
                    <a:lumMod val="75000"/>
                  </a:schemeClr>
                </a:solidFill>
              </a:rPr>
              <a:t>RS</a:t>
            </a:r>
          </a:p>
        </p:txBody>
      </p:sp>
      <p:sp>
        <p:nvSpPr>
          <p:cNvPr id="3" name="Content Placeholder 2">
            <a:extLst>
              <a:ext uri="{FF2B5EF4-FFF2-40B4-BE49-F238E27FC236}">
                <a16:creationId xmlns:a16="http://schemas.microsoft.com/office/drawing/2014/main" id="{04AC1E71-94A3-2512-4F12-6B21B6B6B170}"/>
              </a:ext>
            </a:extLst>
          </p:cNvPr>
          <p:cNvSpPr>
            <a:spLocks noGrp="1"/>
          </p:cNvSpPr>
          <p:nvPr>
            <p:ph idx="1"/>
          </p:nvPr>
        </p:nvSpPr>
        <p:spPr>
          <a:xfrm>
            <a:off x="1428370" y="2679405"/>
            <a:ext cx="10150486" cy="3276038"/>
          </a:xfrm>
        </p:spPr>
        <p:txBody>
          <a:bodyPr>
            <a:noAutofit/>
          </a:bodyPr>
          <a:lstStyle/>
          <a:p>
            <a:pPr algn="l"/>
            <a:r>
              <a:rPr lang="en-US" sz="2200" dirty="0"/>
              <a:t>CSS supports over 140 color names.</a:t>
            </a:r>
          </a:p>
          <a:p>
            <a:pPr algn="l"/>
            <a:r>
              <a:rPr lang="en-US" sz="2200" dirty="0"/>
              <a:t>CSS </a:t>
            </a:r>
            <a:r>
              <a:rPr lang="en-US" sz="2200" b="0" i="0" dirty="0">
                <a:solidFill>
                  <a:srgbClr val="000000"/>
                </a:solidFill>
                <a:effectLst/>
                <a:latin typeface="Verdana" panose="020B0604030504040204" pitchFamily="34" charset="0"/>
              </a:rPr>
              <a:t>Colors are specified using predefined color names, or RGB, HEX, HSL, RGBA, HSLA values.</a:t>
            </a:r>
          </a:p>
          <a:p>
            <a:pPr algn="l"/>
            <a:r>
              <a:rPr lang="en-US" sz="2200" b="0" i="0" dirty="0">
                <a:solidFill>
                  <a:srgbClr val="000000"/>
                </a:solidFill>
                <a:effectLst/>
                <a:latin typeface="Verdana" panose="020B0604030504040204" pitchFamily="34" charset="0"/>
              </a:rPr>
              <a:t>In CSS, a color can be specified by using a predefined color name:</a:t>
            </a:r>
          </a:p>
          <a:p>
            <a:pPr marL="0" indent="0" algn="l">
              <a:buNone/>
            </a:pPr>
            <a:r>
              <a:rPr lang="en-US" sz="2200" dirty="0">
                <a:solidFill>
                  <a:srgbClr val="000000"/>
                </a:solidFill>
                <a:latin typeface="Verdana" panose="020B0604030504040204" pitchFamily="34" charset="0"/>
              </a:rPr>
              <a:t>	</a:t>
            </a:r>
            <a:r>
              <a:rPr lang="en-US" sz="2200" b="0" i="0" dirty="0">
                <a:solidFill>
                  <a:srgbClr val="0000CD"/>
                </a:solidFill>
                <a:effectLst/>
                <a:latin typeface="Consolas" panose="020B0609020204030204" pitchFamily="49" charset="0"/>
              </a:rPr>
              <a:t> &lt;</a:t>
            </a:r>
            <a:r>
              <a:rPr lang="en-US" sz="2200" b="0" i="0" dirty="0">
                <a:solidFill>
                  <a:srgbClr val="A52A2A"/>
                </a:solidFill>
                <a:effectLst/>
                <a:latin typeface="Consolas" panose="020B0609020204030204" pitchFamily="49" charset="0"/>
              </a:rPr>
              <a:t>h1</a:t>
            </a:r>
            <a:r>
              <a:rPr lang="en-US" sz="2200" b="0" i="0" dirty="0">
                <a:solidFill>
                  <a:srgbClr val="FF0000"/>
                </a:solidFill>
                <a:effectLst/>
                <a:latin typeface="Consolas" panose="020B0609020204030204" pitchFamily="49" charset="0"/>
              </a:rPr>
              <a:t> style</a:t>
            </a:r>
            <a:r>
              <a:rPr lang="en-US" sz="2200" b="0" i="0" dirty="0">
                <a:solidFill>
                  <a:srgbClr val="0000CD"/>
                </a:solidFill>
                <a:effectLst/>
                <a:latin typeface="Consolas" panose="020B0609020204030204" pitchFamily="49" charset="0"/>
              </a:rPr>
              <a:t>="color: red;"&gt;</a:t>
            </a:r>
            <a:r>
              <a:rPr lang="en-US" sz="2200" b="0" i="0" dirty="0">
                <a:solidFill>
                  <a:srgbClr val="000000"/>
                </a:solidFill>
                <a:effectLst/>
                <a:latin typeface="Consolas" panose="020B0609020204030204" pitchFamily="49" charset="0"/>
              </a:rPr>
              <a:t>Hello World</a:t>
            </a:r>
            <a:r>
              <a:rPr lang="en-US" sz="2200" b="0" i="0" dirty="0">
                <a:solidFill>
                  <a:srgbClr val="0000CD"/>
                </a:solidFill>
                <a:effectLst/>
                <a:latin typeface="Consolas" panose="020B0609020204030204" pitchFamily="49" charset="0"/>
              </a:rPr>
              <a:t>&lt;</a:t>
            </a:r>
            <a:r>
              <a:rPr lang="en-US" sz="2200" b="0" i="0" dirty="0">
                <a:solidFill>
                  <a:srgbClr val="A52A2A"/>
                </a:solidFill>
                <a:effectLst/>
                <a:latin typeface="Consolas" panose="020B0609020204030204" pitchFamily="49" charset="0"/>
              </a:rPr>
              <a:t>/h1</a:t>
            </a:r>
            <a:r>
              <a:rPr lang="en-US" sz="2200" b="0" i="0" dirty="0">
                <a:solidFill>
                  <a:srgbClr val="0000CD"/>
                </a:solidFill>
                <a:effectLst/>
                <a:latin typeface="Consolas" panose="020B0609020204030204" pitchFamily="49" charset="0"/>
              </a:rPr>
              <a:t>&gt;</a:t>
            </a:r>
            <a:endParaRPr lang="en-US" sz="2200" b="0" i="0" dirty="0">
              <a:solidFill>
                <a:srgbClr val="000000"/>
              </a:solidFill>
              <a:effectLst/>
              <a:latin typeface="Verdana" panose="020B0604030504040204" pitchFamily="34" charset="0"/>
            </a:endParaRPr>
          </a:p>
          <a:p>
            <a:pPr algn="l"/>
            <a:r>
              <a:rPr lang="en-US" sz="2200" b="0" i="0" dirty="0">
                <a:solidFill>
                  <a:srgbClr val="000000"/>
                </a:solidFill>
                <a:effectLst/>
                <a:latin typeface="Verdana" panose="020B0604030504040204" pitchFamily="34" charset="0"/>
              </a:rPr>
              <a:t>You can set the color of borders:</a:t>
            </a:r>
          </a:p>
          <a:p>
            <a:pPr marL="0" indent="0">
              <a:buNone/>
            </a:pPr>
            <a:r>
              <a:rPr lang="en-US" sz="2200" b="0" i="0" dirty="0">
                <a:solidFill>
                  <a:srgbClr val="FFFFFF"/>
                </a:solidFill>
                <a:effectLst/>
                <a:latin typeface="Verdana" panose="020B0604030504040204" pitchFamily="34" charset="0"/>
              </a:rPr>
              <a:t>	</a:t>
            </a:r>
            <a:r>
              <a:rPr lang="en-US" sz="2200" b="0" i="0" dirty="0">
                <a:solidFill>
                  <a:srgbClr val="0000CD"/>
                </a:solidFill>
                <a:effectLst/>
                <a:latin typeface="Consolas" panose="020B0609020204030204" pitchFamily="49" charset="0"/>
              </a:rPr>
              <a:t> &lt;</a:t>
            </a:r>
            <a:r>
              <a:rPr lang="en-US" sz="2200" b="0" i="0" dirty="0">
                <a:solidFill>
                  <a:srgbClr val="A52A2A"/>
                </a:solidFill>
                <a:effectLst/>
                <a:latin typeface="Consolas" panose="020B0609020204030204" pitchFamily="49" charset="0"/>
              </a:rPr>
              <a:t>h1</a:t>
            </a:r>
            <a:r>
              <a:rPr lang="en-US" sz="2200" b="0" i="0" dirty="0">
                <a:solidFill>
                  <a:srgbClr val="FF0000"/>
                </a:solidFill>
                <a:effectLst/>
                <a:latin typeface="Consolas" panose="020B0609020204030204" pitchFamily="49" charset="0"/>
              </a:rPr>
              <a:t> style</a:t>
            </a:r>
            <a:r>
              <a:rPr lang="en-US" sz="2200" b="0" i="0" dirty="0">
                <a:solidFill>
                  <a:srgbClr val="0000CD"/>
                </a:solidFill>
                <a:effectLst/>
                <a:latin typeface="Consolas" panose="020B0609020204030204" pitchFamily="49" charset="0"/>
              </a:rPr>
              <a:t>="border: 2px solid red;"&gt;</a:t>
            </a:r>
            <a:r>
              <a:rPr lang="en-US" sz="2200" b="0" i="0" dirty="0">
                <a:solidFill>
                  <a:srgbClr val="000000"/>
                </a:solidFill>
                <a:effectLst/>
                <a:latin typeface="Consolas" panose="020B0609020204030204" pitchFamily="49" charset="0"/>
              </a:rPr>
              <a:t>Hello World</a:t>
            </a:r>
            <a:r>
              <a:rPr lang="en-US" sz="2200" b="0" i="0" dirty="0">
                <a:solidFill>
                  <a:srgbClr val="0000CD"/>
                </a:solidFill>
                <a:effectLst/>
                <a:latin typeface="Consolas" panose="020B0609020204030204" pitchFamily="49" charset="0"/>
              </a:rPr>
              <a:t>&lt;</a:t>
            </a:r>
            <a:r>
              <a:rPr lang="en-US" sz="2200" b="0" i="0" dirty="0">
                <a:solidFill>
                  <a:srgbClr val="A52A2A"/>
                </a:solidFill>
                <a:effectLst/>
                <a:latin typeface="Consolas" panose="020B0609020204030204" pitchFamily="49" charset="0"/>
              </a:rPr>
              <a:t>/h1</a:t>
            </a:r>
            <a:r>
              <a:rPr lang="en-US" sz="2200" b="0" i="0" dirty="0">
                <a:solidFill>
                  <a:srgbClr val="0000CD"/>
                </a:solidFill>
                <a:effectLst/>
                <a:latin typeface="Consolas" panose="020B0609020204030204" pitchFamily="49" charset="0"/>
              </a:rPr>
              <a:t>&gt;</a:t>
            </a:r>
            <a:r>
              <a:rPr lang="en-US" sz="2200" dirty="0"/>
              <a:t/>
            </a:r>
            <a:br>
              <a:rPr lang="en-US" sz="2200" dirty="0"/>
            </a:br>
            <a:r>
              <a:rPr lang="en-US" sz="2200" b="0" i="0" dirty="0">
                <a:solidFill>
                  <a:srgbClr val="FFFFFF"/>
                </a:solidFill>
                <a:effectLst/>
                <a:latin typeface="Verdana" panose="020B0604030504040204" pitchFamily="34" charset="0"/>
              </a:rPr>
              <a:t/>
            </a:r>
            <a:br>
              <a:rPr lang="en-US" sz="2200" b="0" i="0" dirty="0">
                <a:solidFill>
                  <a:srgbClr val="FFFFFF"/>
                </a:solidFill>
                <a:effectLst/>
                <a:latin typeface="Verdana" panose="020B0604030504040204" pitchFamily="34" charset="0"/>
              </a:rPr>
            </a:br>
            <a:r>
              <a:rPr lang="en-US" sz="2200" dirty="0"/>
              <a:t/>
            </a:r>
            <a:br>
              <a:rPr lang="en-US" sz="2200" dirty="0"/>
            </a:br>
            <a:endParaRPr lang="en-US" sz="2200" dirty="0"/>
          </a:p>
        </p:txBody>
      </p:sp>
    </p:spTree>
    <p:extLst>
      <p:ext uri="{BB962C8B-B14F-4D97-AF65-F5344CB8AC3E}">
        <p14:creationId xmlns:p14="http://schemas.microsoft.com/office/powerpoint/2010/main" val="24655286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indent="0"/>
            <a:r>
              <a:rPr lang="en-US" dirty="0"/>
              <a:t>CSS Colors</a:t>
            </a:r>
            <a:br>
              <a:rPr lang="en-US" dirty="0"/>
            </a:br>
            <a:r>
              <a:rPr lang="en-US" dirty="0" err="1"/>
              <a:t>Colors</a:t>
            </a:r>
            <a:r>
              <a:rPr lang="en-US" dirty="0"/>
              <a:t> in CSS can be specified by the following methods:</a:t>
            </a:r>
          </a:p>
        </p:txBody>
      </p:sp>
      <p:sp>
        <p:nvSpPr>
          <p:cNvPr id="3" name="Content Placeholder 2"/>
          <p:cNvSpPr>
            <a:spLocks noGrp="1"/>
          </p:cNvSpPr>
          <p:nvPr>
            <p:ph idx="1"/>
          </p:nvPr>
        </p:nvSpPr>
        <p:spPr/>
        <p:txBody>
          <a:bodyPr>
            <a:normAutofit lnSpcReduction="10000"/>
          </a:bodyPr>
          <a:lstStyle/>
          <a:p>
            <a:pPr>
              <a:buFont typeface="Wingdings" panose="05000000000000000000" pitchFamily="2" charset="2"/>
              <a:buChar char="ü"/>
            </a:pPr>
            <a:endParaRPr lang="en-US" b="1" dirty="0">
              <a:solidFill>
                <a:schemeClr val="accent5">
                  <a:lumMod val="75000"/>
                </a:schemeClr>
              </a:solidFill>
            </a:endParaRPr>
          </a:p>
          <a:p>
            <a:pPr>
              <a:buFont typeface="Wingdings" panose="05000000000000000000" pitchFamily="2" charset="2"/>
              <a:buChar char="ü"/>
            </a:pPr>
            <a:r>
              <a:rPr lang="en-US" b="1" dirty="0">
                <a:solidFill>
                  <a:schemeClr val="accent5">
                    <a:lumMod val="75000"/>
                  </a:schemeClr>
                </a:solidFill>
              </a:rPr>
              <a:t>Hexadecimal colors</a:t>
            </a:r>
          </a:p>
          <a:p>
            <a:pPr>
              <a:buFont typeface="Wingdings" panose="05000000000000000000" pitchFamily="2" charset="2"/>
              <a:buChar char="ü"/>
            </a:pPr>
            <a:r>
              <a:rPr lang="en-US" b="1" dirty="0">
                <a:solidFill>
                  <a:schemeClr val="accent5">
                    <a:lumMod val="75000"/>
                  </a:schemeClr>
                </a:solidFill>
              </a:rPr>
              <a:t>Hexadecimal colors with transparency</a:t>
            </a:r>
          </a:p>
          <a:p>
            <a:pPr>
              <a:buFont typeface="Wingdings" panose="05000000000000000000" pitchFamily="2" charset="2"/>
              <a:buChar char="ü"/>
            </a:pPr>
            <a:r>
              <a:rPr lang="en-US" b="1" dirty="0">
                <a:solidFill>
                  <a:schemeClr val="accent5">
                    <a:lumMod val="75000"/>
                  </a:schemeClr>
                </a:solidFill>
              </a:rPr>
              <a:t>RGB colors</a:t>
            </a:r>
          </a:p>
          <a:p>
            <a:pPr>
              <a:buFont typeface="Wingdings" panose="05000000000000000000" pitchFamily="2" charset="2"/>
              <a:buChar char="ü"/>
            </a:pPr>
            <a:r>
              <a:rPr lang="en-US" b="1" dirty="0">
                <a:solidFill>
                  <a:schemeClr val="accent5">
                    <a:lumMod val="75000"/>
                  </a:schemeClr>
                </a:solidFill>
              </a:rPr>
              <a:t>RGBA colors</a:t>
            </a:r>
          </a:p>
          <a:p>
            <a:pPr>
              <a:buFont typeface="Wingdings" panose="05000000000000000000" pitchFamily="2" charset="2"/>
              <a:buChar char="ü"/>
            </a:pPr>
            <a:r>
              <a:rPr lang="en-US" b="1" dirty="0">
                <a:solidFill>
                  <a:schemeClr val="accent5">
                    <a:lumMod val="75000"/>
                  </a:schemeClr>
                </a:solidFill>
              </a:rPr>
              <a:t>HSL colors</a:t>
            </a:r>
          </a:p>
          <a:p>
            <a:pPr>
              <a:buFont typeface="Wingdings" panose="05000000000000000000" pitchFamily="2" charset="2"/>
              <a:buChar char="ü"/>
            </a:pPr>
            <a:r>
              <a:rPr lang="en-US" b="1" dirty="0">
                <a:solidFill>
                  <a:schemeClr val="accent5">
                    <a:lumMod val="75000"/>
                  </a:schemeClr>
                </a:solidFill>
              </a:rPr>
              <a:t>HSLA colors</a:t>
            </a:r>
          </a:p>
          <a:p>
            <a:pPr>
              <a:buFont typeface="Wingdings" panose="05000000000000000000" pitchFamily="2" charset="2"/>
              <a:buChar char="ü"/>
            </a:pPr>
            <a:r>
              <a:rPr lang="en-US" b="1" dirty="0">
                <a:solidFill>
                  <a:schemeClr val="accent5">
                    <a:lumMod val="75000"/>
                  </a:schemeClr>
                </a:solidFill>
              </a:rPr>
              <a:t>Predefined/Cross-browser color names</a:t>
            </a:r>
          </a:p>
          <a:p>
            <a:pPr>
              <a:buFont typeface="Wingdings" panose="05000000000000000000" pitchFamily="2" charset="2"/>
              <a:buChar char="ü"/>
            </a:pPr>
            <a:r>
              <a:rPr lang="en-US" b="1" dirty="0">
                <a:solidFill>
                  <a:schemeClr val="accent5">
                    <a:lumMod val="75000"/>
                  </a:schemeClr>
                </a:solidFill>
              </a:rPr>
              <a:t>With the </a:t>
            </a:r>
            <a:r>
              <a:rPr lang="en-US" b="1" i="1" dirty="0" err="1">
                <a:solidFill>
                  <a:srgbClr val="C00000"/>
                </a:solidFill>
              </a:rPr>
              <a:t>currentcolor</a:t>
            </a:r>
            <a:r>
              <a:rPr lang="en-US" b="1" dirty="0">
                <a:solidFill>
                  <a:schemeClr val="accent5">
                    <a:lumMod val="75000"/>
                  </a:schemeClr>
                </a:solidFill>
              </a:rPr>
              <a:t> keyword</a:t>
            </a:r>
          </a:p>
        </p:txBody>
      </p:sp>
    </p:spTree>
    <p:extLst>
      <p:ext uri="{BB962C8B-B14F-4D97-AF65-F5344CB8AC3E}">
        <p14:creationId xmlns:p14="http://schemas.microsoft.com/office/powerpoint/2010/main" val="24201826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07E9D-8E18-0738-2C84-83D1BBDA8B34}"/>
              </a:ext>
            </a:extLst>
          </p:cNvPr>
          <p:cNvSpPr>
            <a:spLocks noGrp="1"/>
          </p:cNvSpPr>
          <p:nvPr>
            <p:ph type="title"/>
          </p:nvPr>
        </p:nvSpPr>
        <p:spPr>
          <a:xfrm>
            <a:off x="1335921" y="1"/>
            <a:ext cx="9520158" cy="765544"/>
          </a:xfrm>
        </p:spPr>
        <p:txBody>
          <a:bodyPr/>
          <a:lstStyle/>
          <a:p>
            <a:r>
              <a:rPr lang="en-US" dirty="0"/>
              <a:t>USE CASE</a:t>
            </a:r>
          </a:p>
        </p:txBody>
      </p:sp>
      <p:sp>
        <p:nvSpPr>
          <p:cNvPr id="3" name="Content Placeholder 2">
            <a:extLst>
              <a:ext uri="{FF2B5EF4-FFF2-40B4-BE49-F238E27FC236}">
                <a16:creationId xmlns:a16="http://schemas.microsoft.com/office/drawing/2014/main" id="{2517DEE3-6A65-03A1-2BBA-560844C5C3D0}"/>
              </a:ext>
            </a:extLst>
          </p:cNvPr>
          <p:cNvSpPr>
            <a:spLocks noGrp="1"/>
          </p:cNvSpPr>
          <p:nvPr>
            <p:ph idx="1"/>
          </p:nvPr>
        </p:nvSpPr>
        <p:spPr>
          <a:xfrm>
            <a:off x="1335921" y="893136"/>
            <a:ext cx="11259879" cy="5730948"/>
          </a:xfrm>
        </p:spPr>
        <p:txBody>
          <a:bodyPr>
            <a:noAutofit/>
          </a:bodyPr>
          <a:lstStyle/>
          <a:p>
            <a:pPr marL="0" indent="0">
              <a:spcBef>
                <a:spcPts val="0"/>
              </a:spcBef>
              <a:spcAft>
                <a:spcPts val="0"/>
              </a:spcAft>
              <a:buFont typeface="Wingdings 2" panose="05020102010507070707" pitchFamily="18" charset="2"/>
              <a:buNone/>
              <a:tabLst>
                <a:tab pos="457200" algn="l"/>
              </a:tabLst>
              <a:defRPr/>
            </a:pPr>
            <a:r>
              <a:rPr lang="en-US" sz="2200" dirty="0">
                <a:solidFill>
                  <a:schemeClr val="bg1"/>
                </a:solidFill>
                <a:highlight>
                  <a:srgbClr val="008080"/>
                </a:highlight>
              </a:rPr>
              <a:t>BACKGROUND COLOR</a:t>
            </a:r>
            <a:endParaRPr lang="en-US" sz="2200" dirty="0">
              <a:solidFill>
                <a:schemeClr val="bg1"/>
              </a:solidFill>
              <a:latin typeface="Times New Roman" panose="02020603050405020304" pitchFamily="18" charset="0"/>
              <a:ea typeface="Times New Roman" panose="02020603050405020304" pitchFamily="18" charset="0"/>
            </a:endParaRPr>
          </a:p>
          <a:p>
            <a:pPr eaLnBrk="1" fontAlgn="auto" hangingPunct="1">
              <a:spcAft>
                <a:spcPts val="0"/>
              </a:spcAft>
              <a:defRPr/>
            </a:pPr>
            <a:r>
              <a:rPr lang="en-US" sz="2200" dirty="0"/>
              <a:t>You can set the background color for HTML elements:</a:t>
            </a:r>
          </a:p>
          <a:p>
            <a:pPr marL="0" indent="0" eaLnBrk="1" fontAlgn="auto" hangingPunct="1">
              <a:spcAft>
                <a:spcPts val="0"/>
              </a:spcAft>
              <a:buFont typeface="Wingdings 2" panose="05020102010507070707" pitchFamily="18" charset="2"/>
              <a:buNone/>
              <a:defRPr/>
            </a:pPr>
            <a:r>
              <a:rPr lang="en-US" sz="2200" b="1" dirty="0"/>
              <a:t>Example:</a:t>
            </a:r>
          </a:p>
          <a:p>
            <a:pPr marL="0" indent="0" eaLnBrk="1" fontAlgn="auto" hangingPunct="1">
              <a:spcAft>
                <a:spcPts val="0"/>
              </a:spcAft>
              <a:buFont typeface="Wingdings 2" panose="05020102010507070707" pitchFamily="18" charset="2"/>
              <a:buNone/>
              <a:defRPr/>
            </a:pPr>
            <a:r>
              <a:rPr lang="en-US" sz="2200" dirty="0">
                <a:solidFill>
                  <a:srgbClr val="C00000"/>
                </a:solidFill>
              </a:rPr>
              <a:t>&lt;h1</a:t>
            </a:r>
            <a:r>
              <a:rPr lang="en-US" sz="2200" dirty="0"/>
              <a:t> </a:t>
            </a:r>
            <a:r>
              <a:rPr lang="en-US" sz="2200" dirty="0">
                <a:solidFill>
                  <a:srgbClr val="FF0000"/>
                </a:solidFill>
              </a:rPr>
              <a:t>style</a:t>
            </a:r>
            <a:r>
              <a:rPr lang="en-US" sz="2200" dirty="0"/>
              <a:t>=</a:t>
            </a:r>
            <a:r>
              <a:rPr lang="en-US" sz="2200" dirty="0">
                <a:solidFill>
                  <a:srgbClr val="0070C0"/>
                </a:solidFill>
              </a:rPr>
              <a:t>"background-color: </a:t>
            </a:r>
            <a:r>
              <a:rPr lang="en-US" sz="2200" dirty="0" err="1">
                <a:solidFill>
                  <a:srgbClr val="0070C0"/>
                </a:solidFill>
              </a:rPr>
              <a:t>darkgreen</a:t>
            </a:r>
            <a:r>
              <a:rPr lang="en-US" sz="2200" dirty="0">
                <a:solidFill>
                  <a:srgbClr val="0070C0"/>
                </a:solidFill>
              </a:rPr>
              <a:t>;"</a:t>
            </a:r>
            <a:r>
              <a:rPr lang="en-US" sz="2200" dirty="0"/>
              <a:t>&gt; BACKGROUND COLOR </a:t>
            </a:r>
            <a:r>
              <a:rPr lang="en-US" sz="2200" dirty="0">
                <a:solidFill>
                  <a:srgbClr val="C00000"/>
                </a:solidFill>
              </a:rPr>
              <a:t>&lt;/h1&gt;</a:t>
            </a:r>
            <a:r>
              <a:rPr lang="en-US" sz="2200" dirty="0"/>
              <a:t/>
            </a:r>
            <a:br>
              <a:rPr lang="en-US" sz="2200" dirty="0"/>
            </a:br>
            <a:endParaRPr lang="en-US" sz="2200" dirty="0">
              <a:solidFill>
                <a:srgbClr val="7030A0"/>
              </a:solidFill>
            </a:endParaRPr>
          </a:p>
          <a:p>
            <a:pPr marL="0" indent="0" eaLnBrk="1" fontAlgn="auto" hangingPunct="1">
              <a:spcAft>
                <a:spcPts val="0"/>
              </a:spcAft>
              <a:buFont typeface="Wingdings 2" panose="05020102010507070707" pitchFamily="18" charset="2"/>
              <a:buNone/>
              <a:defRPr/>
            </a:pPr>
            <a:r>
              <a:rPr lang="en-US" sz="2200" dirty="0"/>
              <a:t>You can set the color of text:</a:t>
            </a:r>
          </a:p>
          <a:p>
            <a:pPr marL="0" indent="0" eaLnBrk="1" fontAlgn="auto" hangingPunct="1">
              <a:spcAft>
                <a:spcPts val="0"/>
              </a:spcAft>
              <a:buFont typeface="Wingdings 2" panose="05020102010507070707" pitchFamily="18" charset="2"/>
              <a:buNone/>
              <a:defRPr/>
            </a:pPr>
            <a:r>
              <a:rPr lang="en-US" sz="2200" b="1" dirty="0"/>
              <a:t>Example:</a:t>
            </a:r>
          </a:p>
          <a:p>
            <a:pPr marL="0" indent="0" eaLnBrk="1" fontAlgn="auto" hangingPunct="1">
              <a:spcAft>
                <a:spcPts val="0"/>
              </a:spcAft>
              <a:buFont typeface="Wingdings 2" panose="05020102010507070707" pitchFamily="18" charset="2"/>
              <a:buNone/>
              <a:defRPr/>
            </a:pPr>
            <a:r>
              <a:rPr lang="en-US" sz="2200" dirty="0">
                <a:solidFill>
                  <a:srgbClr val="FF0000"/>
                </a:solidFill>
              </a:rPr>
              <a:t>TEXT COLOR</a:t>
            </a:r>
            <a:endParaRPr lang="en-US" sz="2200" b="1" dirty="0">
              <a:solidFill>
                <a:srgbClr val="FF0000"/>
              </a:solidFill>
            </a:endParaRPr>
          </a:p>
          <a:p>
            <a:pPr marL="0" indent="0">
              <a:buNone/>
              <a:defRPr/>
            </a:pPr>
            <a:r>
              <a:rPr lang="en-US" sz="2200" dirty="0">
                <a:solidFill>
                  <a:srgbClr val="C00000"/>
                </a:solidFill>
              </a:rPr>
              <a:t>&lt;h1</a:t>
            </a:r>
            <a:r>
              <a:rPr lang="en-US" sz="2200" dirty="0"/>
              <a:t> </a:t>
            </a:r>
            <a:r>
              <a:rPr lang="en-US" sz="2200" dirty="0">
                <a:solidFill>
                  <a:srgbClr val="FF0000"/>
                </a:solidFill>
              </a:rPr>
              <a:t>style</a:t>
            </a:r>
            <a:r>
              <a:rPr lang="en-US" sz="2200" dirty="0"/>
              <a:t>=</a:t>
            </a:r>
            <a:r>
              <a:rPr lang="en-US" sz="2200" dirty="0">
                <a:solidFill>
                  <a:srgbClr val="0070C0"/>
                </a:solidFill>
              </a:rPr>
              <a:t>"color: red;"</a:t>
            </a:r>
            <a:r>
              <a:rPr lang="en-US" sz="2200" dirty="0">
                <a:solidFill>
                  <a:srgbClr val="C00000"/>
                </a:solidFill>
              </a:rPr>
              <a:t>&gt; </a:t>
            </a:r>
            <a:r>
              <a:rPr lang="en-US" sz="2200" dirty="0">
                <a:solidFill>
                  <a:schemeClr val="tx1">
                    <a:lumMod val="85000"/>
                    <a:lumOff val="15000"/>
                  </a:schemeClr>
                </a:solidFill>
              </a:rPr>
              <a:t>TEXT COLOR</a:t>
            </a:r>
            <a:r>
              <a:rPr lang="en-US" sz="2200" b="1" dirty="0">
                <a:solidFill>
                  <a:srgbClr val="FF0000"/>
                </a:solidFill>
              </a:rPr>
              <a:t> </a:t>
            </a:r>
            <a:r>
              <a:rPr lang="en-US" sz="2200" dirty="0">
                <a:solidFill>
                  <a:srgbClr val="C00000"/>
                </a:solidFill>
              </a:rPr>
              <a:t>&lt;/h1&gt;</a:t>
            </a:r>
            <a:r>
              <a:rPr lang="en-US" sz="2200" dirty="0"/>
              <a:t/>
            </a:r>
            <a:br>
              <a:rPr lang="en-US" sz="2200" dirty="0"/>
            </a:br>
            <a:endParaRPr lang="en-US" sz="2200" dirty="0"/>
          </a:p>
        </p:txBody>
      </p:sp>
    </p:spTree>
    <p:extLst>
      <p:ext uri="{BB962C8B-B14F-4D97-AF65-F5344CB8AC3E}">
        <p14:creationId xmlns:p14="http://schemas.microsoft.com/office/powerpoint/2010/main" val="21813187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B7399-4069-BD87-FD7C-9BA2E034C7B2}"/>
              </a:ext>
            </a:extLst>
          </p:cNvPr>
          <p:cNvSpPr>
            <a:spLocks noGrp="1"/>
          </p:cNvSpPr>
          <p:nvPr>
            <p:ph type="title"/>
          </p:nvPr>
        </p:nvSpPr>
        <p:spPr>
          <a:xfrm>
            <a:off x="1534696" y="102770"/>
            <a:ext cx="9520158" cy="652142"/>
          </a:xfrm>
        </p:spPr>
        <p:txBody>
          <a:bodyPr>
            <a:normAutofit fontScale="90000"/>
          </a:bodyPr>
          <a:lstStyle/>
          <a:p>
            <a:r>
              <a:rPr lang="en-US" dirty="0"/>
              <a:t>COLOR VALUES</a:t>
            </a:r>
          </a:p>
        </p:txBody>
      </p:sp>
      <p:sp>
        <p:nvSpPr>
          <p:cNvPr id="3" name="Content Placeholder 2">
            <a:extLst>
              <a:ext uri="{FF2B5EF4-FFF2-40B4-BE49-F238E27FC236}">
                <a16:creationId xmlns:a16="http://schemas.microsoft.com/office/drawing/2014/main" id="{6C8915FF-98B3-2DC6-9255-E1ADE2AC65E3}"/>
              </a:ext>
            </a:extLst>
          </p:cNvPr>
          <p:cNvSpPr>
            <a:spLocks noGrp="1"/>
          </p:cNvSpPr>
          <p:nvPr>
            <p:ph idx="1"/>
          </p:nvPr>
        </p:nvSpPr>
        <p:spPr>
          <a:xfrm>
            <a:off x="1534696" y="850605"/>
            <a:ext cx="10395034" cy="5103627"/>
          </a:xfrm>
        </p:spPr>
        <p:txBody>
          <a:bodyPr>
            <a:normAutofit/>
          </a:bodyPr>
          <a:lstStyle/>
          <a:p>
            <a:pPr eaLnBrk="1" fontAlgn="auto" hangingPunct="1">
              <a:spcAft>
                <a:spcPts val="0"/>
              </a:spcAft>
              <a:defRPr/>
            </a:pPr>
            <a:r>
              <a:rPr lang="en-US" dirty="0">
                <a:solidFill>
                  <a:srgbClr val="FF0000"/>
                </a:solidFill>
              </a:rPr>
              <a:t>Remember that the default font color is Black</a:t>
            </a:r>
          </a:p>
          <a:p>
            <a:pPr eaLnBrk="1" fontAlgn="auto" hangingPunct="1">
              <a:spcAft>
                <a:spcPts val="0"/>
              </a:spcAft>
              <a:defRPr/>
            </a:pPr>
            <a:r>
              <a:rPr lang="en-US" dirty="0"/>
              <a:t>In CSS, colors can also be specified using RGB values, HEX values (and others such as HSL, HSLA </a:t>
            </a:r>
            <a:r>
              <a:rPr lang="en-US" dirty="0" err="1"/>
              <a:t>etc</a:t>
            </a:r>
            <a:r>
              <a:rPr lang="en-US" dirty="0"/>
              <a:t>)</a:t>
            </a:r>
            <a:endParaRPr lang="en-US" dirty="0">
              <a:solidFill>
                <a:srgbClr val="0070C0"/>
              </a:solidFill>
            </a:endParaRPr>
          </a:p>
          <a:p>
            <a:pPr marL="0" indent="0" eaLnBrk="1" fontAlgn="auto" hangingPunct="1">
              <a:spcAft>
                <a:spcPts val="0"/>
              </a:spcAft>
              <a:buFont typeface="Wingdings 2" panose="05020102010507070707" pitchFamily="18" charset="2"/>
              <a:buNone/>
              <a:defRPr/>
            </a:pPr>
            <a:r>
              <a:rPr lang="en-US" b="1" dirty="0">
                <a:solidFill>
                  <a:schemeClr val="tx1">
                    <a:lumMod val="65000"/>
                    <a:lumOff val="35000"/>
                  </a:schemeClr>
                </a:solidFill>
              </a:rPr>
              <a:t>Example:</a:t>
            </a:r>
          </a:p>
          <a:p>
            <a:pPr marL="0" indent="0" eaLnBrk="1" fontAlgn="auto" hangingPunct="1">
              <a:spcAft>
                <a:spcPts val="0"/>
              </a:spcAft>
              <a:buFont typeface="Wingdings 2" panose="05020102010507070707" pitchFamily="18" charset="2"/>
              <a:buNone/>
              <a:defRPr/>
            </a:pPr>
            <a:r>
              <a:rPr lang="en-US" dirty="0"/>
              <a:t>Same as color name "Tomato":</a:t>
            </a:r>
          </a:p>
          <a:p>
            <a:pPr>
              <a:defRPr/>
            </a:pPr>
            <a:r>
              <a:rPr lang="en-US" b="1" dirty="0" err="1"/>
              <a:t>rgb</a:t>
            </a:r>
            <a:r>
              <a:rPr lang="en-US" b="1" dirty="0"/>
              <a:t>(255, 99, 71)</a:t>
            </a:r>
          </a:p>
          <a:p>
            <a:pPr>
              <a:defRPr/>
            </a:pPr>
            <a:r>
              <a:rPr lang="en-US" b="1" dirty="0"/>
              <a:t>#ff6347</a:t>
            </a:r>
          </a:p>
          <a:p>
            <a:pPr marL="0" indent="0">
              <a:buFont typeface="Wingdings 2" panose="05020102010507070707" pitchFamily="18" charset="2"/>
              <a:buNone/>
              <a:defRPr/>
            </a:pPr>
            <a:r>
              <a:rPr lang="en-US" dirty="0">
                <a:solidFill>
                  <a:srgbClr val="C00000"/>
                </a:solidFill>
              </a:rPr>
              <a:t>&lt;h1</a:t>
            </a:r>
            <a:r>
              <a:rPr lang="en-US" dirty="0"/>
              <a:t> </a:t>
            </a:r>
            <a:r>
              <a:rPr lang="en-US" dirty="0">
                <a:solidFill>
                  <a:srgbClr val="FF0000"/>
                </a:solidFill>
              </a:rPr>
              <a:t>style</a:t>
            </a:r>
            <a:r>
              <a:rPr lang="en-US" dirty="0"/>
              <a:t>=</a:t>
            </a:r>
            <a:r>
              <a:rPr lang="en-US" dirty="0">
                <a:solidFill>
                  <a:srgbClr val="0070C0"/>
                </a:solidFill>
              </a:rPr>
              <a:t>"</a:t>
            </a:r>
            <a:r>
              <a:rPr lang="en-US" dirty="0" err="1">
                <a:solidFill>
                  <a:srgbClr val="0070C0"/>
                </a:solidFill>
              </a:rPr>
              <a:t>background-color:rgb</a:t>
            </a:r>
            <a:r>
              <a:rPr lang="en-US" dirty="0">
                <a:solidFill>
                  <a:srgbClr val="0070C0"/>
                </a:solidFill>
              </a:rPr>
              <a:t>(255, 99, 71);"</a:t>
            </a:r>
            <a:r>
              <a:rPr lang="en-US" dirty="0">
                <a:solidFill>
                  <a:srgbClr val="C00000"/>
                </a:solidFill>
              </a:rPr>
              <a:t>&gt;</a:t>
            </a:r>
            <a:r>
              <a:rPr lang="en-US" dirty="0"/>
              <a:t>...</a:t>
            </a:r>
            <a:r>
              <a:rPr lang="en-US" dirty="0">
                <a:solidFill>
                  <a:srgbClr val="C00000"/>
                </a:solidFill>
              </a:rPr>
              <a:t>&lt;/h1&gt;</a:t>
            </a:r>
            <a:r>
              <a:rPr lang="en-US" dirty="0"/>
              <a:t/>
            </a:r>
            <a:br>
              <a:rPr lang="en-US" dirty="0"/>
            </a:br>
            <a:r>
              <a:rPr lang="en-US" dirty="0">
                <a:solidFill>
                  <a:srgbClr val="C00000"/>
                </a:solidFill>
              </a:rPr>
              <a:t>&lt;h1</a:t>
            </a:r>
            <a:r>
              <a:rPr lang="en-US" dirty="0"/>
              <a:t> </a:t>
            </a:r>
            <a:r>
              <a:rPr lang="en-US" dirty="0">
                <a:solidFill>
                  <a:srgbClr val="FF0000"/>
                </a:solidFill>
              </a:rPr>
              <a:t>style</a:t>
            </a:r>
            <a:r>
              <a:rPr lang="en-US" dirty="0"/>
              <a:t>=</a:t>
            </a:r>
            <a:r>
              <a:rPr lang="en-US" dirty="0">
                <a:solidFill>
                  <a:srgbClr val="0070C0"/>
                </a:solidFill>
              </a:rPr>
              <a:t>"background-color:#ff6347;"</a:t>
            </a:r>
            <a:r>
              <a:rPr lang="en-US" dirty="0">
                <a:solidFill>
                  <a:srgbClr val="C00000"/>
                </a:solidFill>
              </a:rPr>
              <a:t>&gt;</a:t>
            </a:r>
            <a:r>
              <a:rPr lang="en-US" dirty="0"/>
              <a:t>...</a:t>
            </a:r>
            <a:r>
              <a:rPr lang="en-US" dirty="0">
                <a:solidFill>
                  <a:srgbClr val="C00000"/>
                </a:solidFill>
              </a:rPr>
              <a:t>&lt;/h1&gt;</a:t>
            </a:r>
          </a:p>
          <a:p>
            <a:pPr marL="0" indent="0">
              <a:buFont typeface="Wingdings 2" panose="05020102010507070707" pitchFamily="18" charset="2"/>
              <a:buNone/>
              <a:defRPr/>
            </a:pPr>
            <a:r>
              <a:rPr lang="en-US" dirty="0">
                <a:solidFill>
                  <a:srgbClr val="C00000"/>
                </a:solidFill>
              </a:rPr>
              <a:t>&lt;h1</a:t>
            </a:r>
            <a:r>
              <a:rPr lang="en-US" dirty="0"/>
              <a:t> </a:t>
            </a:r>
            <a:r>
              <a:rPr lang="en-US" dirty="0">
                <a:solidFill>
                  <a:srgbClr val="FF0000"/>
                </a:solidFill>
              </a:rPr>
              <a:t>style</a:t>
            </a:r>
            <a:r>
              <a:rPr lang="en-US" dirty="0"/>
              <a:t>=</a:t>
            </a:r>
            <a:r>
              <a:rPr lang="en-US" dirty="0">
                <a:solidFill>
                  <a:srgbClr val="0070C0"/>
                </a:solidFill>
              </a:rPr>
              <a:t>"</a:t>
            </a:r>
            <a:r>
              <a:rPr lang="en-US" dirty="0" err="1">
                <a:solidFill>
                  <a:srgbClr val="0070C0"/>
                </a:solidFill>
              </a:rPr>
              <a:t>background-color:rgb</a:t>
            </a:r>
            <a:r>
              <a:rPr lang="en-US" dirty="0">
                <a:solidFill>
                  <a:srgbClr val="0070C0"/>
                </a:solidFill>
              </a:rPr>
              <a:t>(255, 99, 71,0.5);"</a:t>
            </a:r>
            <a:r>
              <a:rPr lang="en-US" dirty="0">
                <a:solidFill>
                  <a:srgbClr val="C00000"/>
                </a:solidFill>
              </a:rPr>
              <a:t>&gt;</a:t>
            </a:r>
            <a:r>
              <a:rPr lang="en-US" dirty="0"/>
              <a:t>...</a:t>
            </a:r>
            <a:r>
              <a:rPr lang="en-US" dirty="0">
                <a:solidFill>
                  <a:srgbClr val="C00000"/>
                </a:solidFill>
              </a:rPr>
              <a:t>&lt;/h1&gt;</a:t>
            </a:r>
            <a:endParaRPr lang="en-US" b="1" dirty="0">
              <a:solidFill>
                <a:srgbClr val="C00000"/>
              </a:solidFill>
            </a:endParaRPr>
          </a:p>
          <a:p>
            <a:pPr marL="0" indent="0">
              <a:buNone/>
            </a:pPr>
            <a:endParaRPr lang="en-US" dirty="0"/>
          </a:p>
        </p:txBody>
      </p:sp>
    </p:spTree>
    <p:extLst>
      <p:ext uri="{BB962C8B-B14F-4D97-AF65-F5344CB8AC3E}">
        <p14:creationId xmlns:p14="http://schemas.microsoft.com/office/powerpoint/2010/main" val="14471506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4A7A9-3F9E-4A2C-D702-BC44CB6108CE}"/>
              </a:ext>
            </a:extLst>
          </p:cNvPr>
          <p:cNvSpPr>
            <a:spLocks noGrp="1"/>
          </p:cNvSpPr>
          <p:nvPr>
            <p:ph type="title"/>
          </p:nvPr>
        </p:nvSpPr>
        <p:spPr>
          <a:xfrm>
            <a:off x="1534696" y="1"/>
            <a:ext cx="9520158" cy="1041990"/>
          </a:xfrm>
        </p:spPr>
        <p:txBody>
          <a:bodyPr>
            <a:normAutofit/>
          </a:bodyPr>
          <a:lstStyle/>
          <a:p>
            <a:r>
              <a:rPr lang="en-US" sz="4000" dirty="0"/>
              <a:t>CSS </a:t>
            </a:r>
            <a:r>
              <a:rPr lang="en-US" sz="4000" dirty="0">
                <a:solidFill>
                  <a:srgbClr val="C00000"/>
                </a:solidFill>
              </a:rPr>
              <a:t>R</a:t>
            </a:r>
            <a:r>
              <a:rPr lang="en-US" sz="4000" dirty="0">
                <a:solidFill>
                  <a:srgbClr val="00B050"/>
                </a:solidFill>
              </a:rPr>
              <a:t>G</a:t>
            </a:r>
            <a:r>
              <a:rPr lang="en-US" sz="4000" dirty="0">
                <a:solidFill>
                  <a:srgbClr val="00B0F0"/>
                </a:solidFill>
              </a:rPr>
              <a:t>B</a:t>
            </a:r>
            <a:r>
              <a:rPr lang="en-US" sz="4000" dirty="0"/>
              <a:t> COLORS</a:t>
            </a:r>
          </a:p>
        </p:txBody>
      </p:sp>
      <p:sp>
        <p:nvSpPr>
          <p:cNvPr id="3" name="Content Placeholder 2">
            <a:extLst>
              <a:ext uri="{FF2B5EF4-FFF2-40B4-BE49-F238E27FC236}">
                <a16:creationId xmlns:a16="http://schemas.microsoft.com/office/drawing/2014/main" id="{AFEEC121-FDE5-97AF-C031-4881BF39D795}"/>
              </a:ext>
            </a:extLst>
          </p:cNvPr>
          <p:cNvSpPr>
            <a:spLocks noGrp="1"/>
          </p:cNvSpPr>
          <p:nvPr>
            <p:ph idx="1"/>
          </p:nvPr>
        </p:nvSpPr>
        <p:spPr>
          <a:xfrm>
            <a:off x="1382233" y="1201478"/>
            <a:ext cx="10515600" cy="4264867"/>
          </a:xfrm>
        </p:spPr>
        <p:txBody>
          <a:bodyPr>
            <a:noAutofit/>
          </a:bodyPr>
          <a:lstStyle/>
          <a:p>
            <a:pPr marL="0" indent="0" algn="l">
              <a:buNone/>
            </a:pPr>
            <a:r>
              <a:rPr lang="en-US" sz="2200" b="0" i="0" dirty="0">
                <a:solidFill>
                  <a:srgbClr val="000000"/>
                </a:solidFill>
                <a:effectLst/>
                <a:latin typeface="Verdana" panose="020B0604030504040204" pitchFamily="34" charset="0"/>
              </a:rPr>
              <a:t>An RGB color value represents RED, GREEN, and BLUE light sources.</a:t>
            </a:r>
          </a:p>
          <a:p>
            <a:pPr marL="0" indent="0" algn="l">
              <a:buNone/>
            </a:pPr>
            <a:r>
              <a:rPr lang="en-US" sz="2200" dirty="0">
                <a:solidFill>
                  <a:srgbClr val="000000"/>
                </a:solidFill>
                <a:latin typeface="Verdana" panose="020B0604030504040204" pitchFamily="34" charset="0"/>
              </a:rPr>
              <a:t>	</a:t>
            </a:r>
            <a:r>
              <a:rPr lang="en-US" sz="2200" b="1" i="0" dirty="0">
                <a:solidFill>
                  <a:srgbClr val="000000"/>
                </a:solidFill>
                <a:effectLst/>
                <a:latin typeface="Consolas" panose="020B0609020204030204" pitchFamily="49" charset="0"/>
              </a:rPr>
              <a:t> </a:t>
            </a:r>
            <a:r>
              <a:rPr lang="en-US" sz="2200" b="1" i="0" dirty="0" err="1">
                <a:solidFill>
                  <a:srgbClr val="000000"/>
                </a:solidFill>
                <a:effectLst/>
                <a:latin typeface="Consolas" panose="020B0609020204030204" pitchFamily="49" charset="0"/>
              </a:rPr>
              <a:t>rgb</a:t>
            </a:r>
            <a:r>
              <a:rPr lang="en-US" sz="2200" b="1" i="0" dirty="0">
                <a:solidFill>
                  <a:srgbClr val="000000"/>
                </a:solidFill>
                <a:effectLst/>
                <a:latin typeface="Consolas" panose="020B0609020204030204" pitchFamily="49" charset="0"/>
              </a:rPr>
              <a:t>(</a:t>
            </a:r>
            <a:r>
              <a:rPr lang="en-US" sz="2200" b="1" i="1" dirty="0">
                <a:solidFill>
                  <a:srgbClr val="000000"/>
                </a:solidFill>
                <a:effectLst/>
                <a:latin typeface="Consolas" panose="020B0609020204030204" pitchFamily="49" charset="0"/>
              </a:rPr>
              <a:t>red,</a:t>
            </a:r>
            <a:r>
              <a:rPr lang="en-US" sz="2200" b="1" i="0" dirty="0">
                <a:solidFill>
                  <a:srgbClr val="000000"/>
                </a:solidFill>
                <a:effectLst/>
                <a:latin typeface="Consolas" panose="020B0609020204030204" pitchFamily="49" charset="0"/>
              </a:rPr>
              <a:t> </a:t>
            </a:r>
            <a:r>
              <a:rPr lang="en-US" sz="2200" b="1" i="1" dirty="0">
                <a:solidFill>
                  <a:srgbClr val="000000"/>
                </a:solidFill>
                <a:effectLst/>
                <a:latin typeface="Consolas" panose="020B0609020204030204" pitchFamily="49" charset="0"/>
              </a:rPr>
              <a:t>green</a:t>
            </a:r>
            <a:r>
              <a:rPr lang="en-US" sz="2200" b="1" i="0" dirty="0">
                <a:solidFill>
                  <a:srgbClr val="000000"/>
                </a:solidFill>
                <a:effectLst/>
                <a:latin typeface="Consolas" panose="020B0609020204030204" pitchFamily="49" charset="0"/>
              </a:rPr>
              <a:t>, </a:t>
            </a:r>
            <a:r>
              <a:rPr lang="en-US" sz="2200" b="1" i="1" dirty="0">
                <a:solidFill>
                  <a:srgbClr val="000000"/>
                </a:solidFill>
                <a:effectLst/>
                <a:latin typeface="Consolas" panose="020B0609020204030204" pitchFamily="49" charset="0"/>
              </a:rPr>
              <a:t>blue</a:t>
            </a:r>
            <a:r>
              <a:rPr lang="en-US" sz="2200" b="1" i="0" dirty="0">
                <a:solidFill>
                  <a:srgbClr val="000000"/>
                </a:solidFill>
                <a:effectLst/>
                <a:latin typeface="Consolas" panose="020B0609020204030204" pitchFamily="49" charset="0"/>
              </a:rPr>
              <a:t>)</a:t>
            </a:r>
          </a:p>
          <a:p>
            <a:pPr algn="l"/>
            <a:r>
              <a:rPr lang="en-US" sz="2200" b="0" i="0" dirty="0">
                <a:solidFill>
                  <a:srgbClr val="000000"/>
                </a:solidFill>
                <a:effectLst/>
                <a:latin typeface="Verdana" panose="020B0604030504040204" pitchFamily="34" charset="0"/>
              </a:rPr>
              <a:t>Each parameter (red, green, and blue) defines the intensity of the color between 0 and 255.</a:t>
            </a:r>
          </a:p>
          <a:p>
            <a:pPr algn="l"/>
            <a:r>
              <a:rPr lang="en-US" sz="2200" b="0" i="0" dirty="0">
                <a:solidFill>
                  <a:srgbClr val="000000"/>
                </a:solidFill>
                <a:effectLst/>
                <a:latin typeface="Verdana" panose="020B0604030504040204" pitchFamily="34" charset="0"/>
              </a:rPr>
              <a:t>For example, </a:t>
            </a:r>
            <a:r>
              <a:rPr lang="en-US" sz="2200" b="0" i="0" dirty="0" err="1">
                <a:solidFill>
                  <a:srgbClr val="000000"/>
                </a:solidFill>
                <a:effectLst/>
                <a:latin typeface="Verdana" panose="020B0604030504040204" pitchFamily="34" charset="0"/>
              </a:rPr>
              <a:t>rgb</a:t>
            </a:r>
            <a:r>
              <a:rPr lang="en-US" sz="2200" b="0" i="0" dirty="0">
                <a:solidFill>
                  <a:srgbClr val="000000"/>
                </a:solidFill>
                <a:effectLst/>
                <a:latin typeface="Verdana" panose="020B0604030504040204" pitchFamily="34" charset="0"/>
              </a:rPr>
              <a:t>(255, 0, 0) is displayed as red, because red is set to its highest value (255) and the others are set to 0.</a:t>
            </a:r>
          </a:p>
          <a:p>
            <a:pPr algn="l"/>
            <a:r>
              <a:rPr lang="en-US" sz="2200" b="0" i="0" dirty="0">
                <a:solidFill>
                  <a:srgbClr val="000000"/>
                </a:solidFill>
                <a:effectLst/>
                <a:latin typeface="Verdana" panose="020B0604030504040204" pitchFamily="34" charset="0"/>
              </a:rPr>
              <a:t>All the color parameters set to 0 will display </a:t>
            </a:r>
            <a:r>
              <a:rPr lang="en-US" sz="2200" b="1" i="1" dirty="0">
                <a:solidFill>
                  <a:srgbClr val="000000"/>
                </a:solidFill>
                <a:effectLst/>
                <a:latin typeface="Verdana" panose="020B0604030504040204" pitchFamily="34" charset="0"/>
              </a:rPr>
              <a:t>black</a:t>
            </a:r>
            <a:r>
              <a:rPr lang="en-US" sz="2200" b="0" i="0" dirty="0">
                <a:solidFill>
                  <a:srgbClr val="000000"/>
                </a:solidFill>
                <a:effectLst/>
                <a:latin typeface="Verdana" panose="020B0604030504040204" pitchFamily="34" charset="0"/>
              </a:rPr>
              <a:t>, like this: </a:t>
            </a:r>
            <a:r>
              <a:rPr lang="en-US" sz="2200" b="0" i="0" dirty="0" err="1">
                <a:solidFill>
                  <a:srgbClr val="000000"/>
                </a:solidFill>
                <a:effectLst/>
                <a:latin typeface="Verdana" panose="020B0604030504040204" pitchFamily="34" charset="0"/>
              </a:rPr>
              <a:t>rgb</a:t>
            </a:r>
            <a:r>
              <a:rPr lang="en-US" sz="2200" b="0" i="0" dirty="0">
                <a:solidFill>
                  <a:srgbClr val="000000"/>
                </a:solidFill>
                <a:effectLst/>
                <a:latin typeface="Verdana" panose="020B0604030504040204" pitchFamily="34" charset="0"/>
              </a:rPr>
              <a:t>(0, 0, 0) = black.</a:t>
            </a:r>
          </a:p>
          <a:p>
            <a:pPr algn="l"/>
            <a:r>
              <a:rPr lang="en-US" sz="2200" b="0" i="0" dirty="0">
                <a:solidFill>
                  <a:srgbClr val="000000"/>
                </a:solidFill>
                <a:effectLst/>
                <a:latin typeface="Verdana" panose="020B0604030504040204" pitchFamily="34" charset="0"/>
              </a:rPr>
              <a:t>All the color parameters set to 255 will display </a:t>
            </a:r>
            <a:r>
              <a:rPr lang="en-US" sz="2200" b="1" i="1" dirty="0">
                <a:solidFill>
                  <a:srgbClr val="000000"/>
                </a:solidFill>
                <a:effectLst/>
                <a:latin typeface="Verdana" panose="020B0604030504040204" pitchFamily="34" charset="0"/>
              </a:rPr>
              <a:t>White</a:t>
            </a:r>
            <a:r>
              <a:rPr lang="en-US" sz="2200" b="0" i="0" dirty="0">
                <a:solidFill>
                  <a:srgbClr val="000000"/>
                </a:solidFill>
                <a:effectLst/>
                <a:latin typeface="Verdana" panose="020B0604030504040204" pitchFamily="34" charset="0"/>
              </a:rPr>
              <a:t>, like this: </a:t>
            </a:r>
            <a:r>
              <a:rPr lang="en-US" sz="2200" b="0" i="0" dirty="0" err="1">
                <a:solidFill>
                  <a:srgbClr val="000000"/>
                </a:solidFill>
                <a:effectLst/>
                <a:latin typeface="Verdana" panose="020B0604030504040204" pitchFamily="34" charset="0"/>
              </a:rPr>
              <a:t>rgb</a:t>
            </a:r>
            <a:r>
              <a:rPr lang="en-US" sz="2200" b="0" i="0" dirty="0">
                <a:solidFill>
                  <a:srgbClr val="000000"/>
                </a:solidFill>
                <a:effectLst/>
                <a:latin typeface="Verdana" panose="020B0604030504040204" pitchFamily="34" charset="0"/>
              </a:rPr>
              <a:t>(255, 255, 255) = white.</a:t>
            </a:r>
          </a:p>
          <a:p>
            <a:pPr marL="0" indent="0">
              <a:buNone/>
            </a:pPr>
            <a:r>
              <a:rPr lang="en-US" sz="2200" dirty="0"/>
              <a:t/>
            </a:r>
            <a:br>
              <a:rPr lang="en-US" sz="2200" dirty="0"/>
            </a:br>
            <a:endParaRPr lang="en-US" sz="2200" b="0" i="0" dirty="0">
              <a:solidFill>
                <a:srgbClr val="000000"/>
              </a:solidFill>
              <a:effectLst/>
              <a:latin typeface="Verdana" panose="020B0604030504040204" pitchFamily="34" charset="0"/>
            </a:endParaRPr>
          </a:p>
          <a:p>
            <a:pPr marL="0" indent="0">
              <a:buNone/>
            </a:pPr>
            <a:r>
              <a:rPr lang="en-US" sz="2200" dirty="0"/>
              <a:t/>
            </a:r>
            <a:br>
              <a:rPr lang="en-US" sz="2200" dirty="0"/>
            </a:br>
            <a:endParaRPr lang="en-US" sz="2200" dirty="0"/>
          </a:p>
        </p:txBody>
      </p:sp>
    </p:spTree>
    <p:extLst>
      <p:ext uri="{BB962C8B-B14F-4D97-AF65-F5344CB8AC3E}">
        <p14:creationId xmlns:p14="http://schemas.microsoft.com/office/powerpoint/2010/main" val="5971214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611EC-D32E-5858-FF28-D23F57F4FF43}"/>
              </a:ext>
            </a:extLst>
          </p:cNvPr>
          <p:cNvSpPr>
            <a:spLocks noGrp="1"/>
          </p:cNvSpPr>
          <p:nvPr>
            <p:ph type="title"/>
          </p:nvPr>
        </p:nvSpPr>
        <p:spPr>
          <a:xfrm>
            <a:off x="1534696" y="223285"/>
            <a:ext cx="9520158" cy="797441"/>
          </a:xfrm>
        </p:spPr>
        <p:txBody>
          <a:bodyPr/>
          <a:lstStyle/>
          <a:p>
            <a:r>
              <a:rPr lang="en-US" dirty="0"/>
              <a:t>SOME </a:t>
            </a:r>
            <a:r>
              <a:rPr lang="en-US" sz="4500" dirty="0">
                <a:solidFill>
                  <a:srgbClr val="FF0000"/>
                </a:solidFill>
              </a:rPr>
              <a:t>R</a:t>
            </a:r>
            <a:r>
              <a:rPr lang="en-US" sz="4500" dirty="0">
                <a:solidFill>
                  <a:srgbClr val="00B050"/>
                </a:solidFill>
              </a:rPr>
              <a:t>G</a:t>
            </a:r>
            <a:r>
              <a:rPr lang="en-US" sz="4500" dirty="0">
                <a:solidFill>
                  <a:schemeClr val="accent5">
                    <a:lumMod val="60000"/>
                    <a:lumOff val="40000"/>
                  </a:schemeClr>
                </a:solidFill>
              </a:rPr>
              <a:t>B</a:t>
            </a:r>
            <a:r>
              <a:rPr lang="en-US" dirty="0"/>
              <a:t> COLORS MIX</a:t>
            </a:r>
          </a:p>
        </p:txBody>
      </p:sp>
      <p:pic>
        <p:nvPicPr>
          <p:cNvPr id="5" name="Content Placeholder 4">
            <a:extLst>
              <a:ext uri="{FF2B5EF4-FFF2-40B4-BE49-F238E27FC236}">
                <a16:creationId xmlns:a16="http://schemas.microsoft.com/office/drawing/2014/main" id="{D086F1C3-B7AC-77F0-9D20-D82499C29FB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0924" y="1807534"/>
            <a:ext cx="11322602" cy="4019107"/>
          </a:xfrm>
        </p:spPr>
      </p:pic>
    </p:spTree>
    <p:extLst>
      <p:ext uri="{BB962C8B-B14F-4D97-AF65-F5344CB8AC3E}">
        <p14:creationId xmlns:p14="http://schemas.microsoft.com/office/powerpoint/2010/main" val="14947052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71BB8-D449-26E3-609A-EE5F9C19B690}"/>
              </a:ext>
            </a:extLst>
          </p:cNvPr>
          <p:cNvSpPr>
            <a:spLocks noGrp="1"/>
          </p:cNvSpPr>
          <p:nvPr>
            <p:ph type="title"/>
          </p:nvPr>
        </p:nvSpPr>
        <p:spPr>
          <a:xfrm>
            <a:off x="1534696" y="382773"/>
            <a:ext cx="9520158" cy="1470982"/>
          </a:xfrm>
        </p:spPr>
        <p:txBody>
          <a:bodyPr>
            <a:noAutofit/>
          </a:bodyPr>
          <a:lstStyle/>
          <a:p>
            <a:r>
              <a:rPr lang="en-US" sz="4000" b="0" i="0" dirty="0">
                <a:solidFill>
                  <a:srgbClr val="000000"/>
                </a:solidFill>
                <a:effectLst/>
                <a:latin typeface="Segoe UI" panose="020B0502040204020203" pitchFamily="34" charset="0"/>
              </a:rPr>
              <a:t>RGBA : The alph</a:t>
            </a:r>
            <a:r>
              <a:rPr lang="en-US" sz="4000" dirty="0">
                <a:solidFill>
                  <a:srgbClr val="000000"/>
                </a:solidFill>
                <a:latin typeface="Segoe UI" panose="020B0502040204020203" pitchFamily="34" charset="0"/>
              </a:rPr>
              <a:t>a value</a:t>
            </a:r>
            <a:r>
              <a:rPr lang="en-US" sz="4000" b="0" i="0" dirty="0">
                <a:solidFill>
                  <a:srgbClr val="000000"/>
                </a:solidFill>
                <a:effectLst/>
                <a:latin typeface="Segoe UI" panose="020B0502040204020203" pitchFamily="34" charset="0"/>
              </a:rPr>
              <a:t> </a:t>
            </a:r>
            <a:br>
              <a:rPr lang="en-US" sz="4000" b="0" i="0" dirty="0">
                <a:solidFill>
                  <a:srgbClr val="000000"/>
                </a:solidFill>
                <a:effectLst/>
                <a:latin typeface="Segoe UI" panose="020B0502040204020203" pitchFamily="34" charset="0"/>
              </a:rPr>
            </a:br>
            <a:r>
              <a:rPr lang="en-US" sz="4000" dirty="0"/>
              <a:t/>
            </a:r>
            <a:br>
              <a:rPr lang="en-US" sz="4000" dirty="0"/>
            </a:br>
            <a:endParaRPr lang="en-US" sz="4000" dirty="0"/>
          </a:p>
        </p:txBody>
      </p:sp>
      <p:sp>
        <p:nvSpPr>
          <p:cNvPr id="3" name="Content Placeholder 2">
            <a:extLst>
              <a:ext uri="{FF2B5EF4-FFF2-40B4-BE49-F238E27FC236}">
                <a16:creationId xmlns:a16="http://schemas.microsoft.com/office/drawing/2014/main" id="{8E7038C1-DE46-5296-0840-B974331B70E2}"/>
              </a:ext>
            </a:extLst>
          </p:cNvPr>
          <p:cNvSpPr>
            <a:spLocks noGrp="1"/>
          </p:cNvSpPr>
          <p:nvPr>
            <p:ph idx="1"/>
          </p:nvPr>
        </p:nvSpPr>
        <p:spPr>
          <a:xfrm>
            <a:off x="1534696" y="988828"/>
            <a:ext cx="9778346" cy="4976037"/>
          </a:xfrm>
        </p:spPr>
        <p:txBody>
          <a:bodyPr>
            <a:noAutofit/>
          </a:bodyPr>
          <a:lstStyle/>
          <a:p>
            <a:pPr marL="0" indent="0" algn="l">
              <a:buNone/>
            </a:pPr>
            <a:r>
              <a:rPr lang="en-US" sz="2800" b="1" i="0" dirty="0">
                <a:solidFill>
                  <a:srgbClr val="000000"/>
                </a:solidFill>
                <a:effectLst/>
                <a:latin typeface="Arial" panose="020B0604020202020204" pitchFamily="34" charset="0"/>
                <a:cs typeface="Arial" panose="020B0604020202020204" pitchFamily="34" charset="0"/>
              </a:rPr>
              <a:t>	</a:t>
            </a:r>
            <a:r>
              <a:rPr lang="en-US" sz="2800" b="1" i="0" dirty="0" err="1">
                <a:solidFill>
                  <a:srgbClr val="000000"/>
                </a:solidFill>
                <a:effectLst/>
                <a:latin typeface="Arial" panose="020B0604020202020204" pitchFamily="34" charset="0"/>
                <a:cs typeface="Arial" panose="020B0604020202020204" pitchFamily="34" charset="0"/>
              </a:rPr>
              <a:t>rgba</a:t>
            </a:r>
            <a:r>
              <a:rPr lang="en-US" sz="2800" b="1" i="0" dirty="0">
                <a:solidFill>
                  <a:srgbClr val="000000"/>
                </a:solidFill>
                <a:effectLst/>
                <a:latin typeface="Arial" panose="020B0604020202020204" pitchFamily="34" charset="0"/>
                <a:cs typeface="Arial" panose="020B0604020202020204" pitchFamily="34" charset="0"/>
              </a:rPr>
              <a:t>(</a:t>
            </a:r>
            <a:r>
              <a:rPr lang="en-US" sz="2800" b="1" i="1" dirty="0">
                <a:solidFill>
                  <a:srgbClr val="FF0000"/>
                </a:solidFill>
                <a:effectLst/>
                <a:latin typeface="Arial" panose="020B0604020202020204" pitchFamily="34" charset="0"/>
                <a:cs typeface="Arial" panose="020B0604020202020204" pitchFamily="34" charset="0"/>
              </a:rPr>
              <a:t>red</a:t>
            </a:r>
            <a:r>
              <a:rPr lang="en-US" sz="2800" b="1" i="1" dirty="0">
                <a:solidFill>
                  <a:srgbClr val="000000"/>
                </a:solidFill>
                <a:effectLst/>
                <a:latin typeface="Arial" panose="020B0604020202020204" pitchFamily="34" charset="0"/>
                <a:cs typeface="Arial" panose="020B0604020202020204" pitchFamily="34" charset="0"/>
              </a:rPr>
              <a:t>,</a:t>
            </a:r>
            <a:r>
              <a:rPr lang="en-US" sz="2800" b="1" i="0" dirty="0">
                <a:solidFill>
                  <a:srgbClr val="000000"/>
                </a:solidFill>
                <a:effectLst/>
                <a:latin typeface="Arial" panose="020B0604020202020204" pitchFamily="34" charset="0"/>
                <a:cs typeface="Arial" panose="020B0604020202020204" pitchFamily="34" charset="0"/>
              </a:rPr>
              <a:t> </a:t>
            </a:r>
            <a:r>
              <a:rPr lang="en-US" sz="2800" b="1" i="1" dirty="0">
                <a:solidFill>
                  <a:srgbClr val="00B050"/>
                </a:solidFill>
                <a:effectLst/>
                <a:latin typeface="Arial" panose="020B0604020202020204" pitchFamily="34" charset="0"/>
                <a:cs typeface="Arial" panose="020B0604020202020204" pitchFamily="34" charset="0"/>
              </a:rPr>
              <a:t>green</a:t>
            </a:r>
            <a:r>
              <a:rPr lang="en-US" sz="2800" b="1" i="0" dirty="0">
                <a:solidFill>
                  <a:srgbClr val="000000"/>
                </a:solidFill>
                <a:effectLst/>
                <a:latin typeface="Arial" panose="020B0604020202020204" pitchFamily="34" charset="0"/>
                <a:cs typeface="Arial" panose="020B0604020202020204" pitchFamily="34" charset="0"/>
              </a:rPr>
              <a:t>, </a:t>
            </a:r>
            <a:r>
              <a:rPr lang="en-US" sz="2800" b="1" i="1" dirty="0">
                <a:solidFill>
                  <a:schemeClr val="accent5">
                    <a:lumMod val="60000"/>
                    <a:lumOff val="40000"/>
                  </a:schemeClr>
                </a:solidFill>
                <a:effectLst/>
                <a:latin typeface="Arial" panose="020B0604020202020204" pitchFamily="34" charset="0"/>
                <a:cs typeface="Arial" panose="020B0604020202020204" pitchFamily="34" charset="0"/>
              </a:rPr>
              <a:t>blue</a:t>
            </a:r>
            <a:r>
              <a:rPr lang="en-US" sz="2800" b="1" i="1" dirty="0">
                <a:solidFill>
                  <a:srgbClr val="000000"/>
                </a:solidFill>
                <a:effectLst/>
                <a:latin typeface="Arial" panose="020B0604020202020204" pitchFamily="34" charset="0"/>
                <a:cs typeface="Arial" panose="020B0604020202020204" pitchFamily="34" charset="0"/>
              </a:rPr>
              <a:t>, </a:t>
            </a:r>
            <a:r>
              <a:rPr lang="en-US" sz="2800" b="1" i="1" dirty="0">
                <a:solidFill>
                  <a:schemeClr val="bg1">
                    <a:lumMod val="50000"/>
                  </a:schemeClr>
                </a:solidFill>
                <a:effectLst/>
                <a:latin typeface="Arial" panose="020B0604020202020204" pitchFamily="34" charset="0"/>
                <a:cs typeface="Arial" panose="020B0604020202020204" pitchFamily="34" charset="0"/>
              </a:rPr>
              <a:t>alpha</a:t>
            </a:r>
            <a:r>
              <a:rPr lang="en-US" sz="2800" b="1" i="0" dirty="0">
                <a:solidFill>
                  <a:srgbClr val="000000"/>
                </a:solidFill>
                <a:effectLst/>
                <a:latin typeface="Arial" panose="020B0604020202020204" pitchFamily="34" charset="0"/>
                <a:cs typeface="Arial" panose="020B0604020202020204" pitchFamily="34" charset="0"/>
              </a:rPr>
              <a:t>)</a:t>
            </a:r>
          </a:p>
          <a:p>
            <a:pPr algn="l"/>
            <a:r>
              <a:rPr lang="en-US" sz="2800" b="0" i="0" dirty="0">
                <a:solidFill>
                  <a:srgbClr val="000000"/>
                </a:solidFill>
                <a:effectLst/>
                <a:latin typeface="Arial" panose="020B0604020202020204" pitchFamily="34" charset="0"/>
                <a:cs typeface="Arial" panose="020B0604020202020204" pitchFamily="34" charset="0"/>
              </a:rPr>
              <a:t>The alpha parameter is a number between 0.0 (fully transparent) and 1.0 (not transparent at all):</a:t>
            </a:r>
          </a:p>
          <a:p>
            <a:pPr algn="l"/>
            <a:r>
              <a:rPr lang="en-US" sz="2800" b="0" i="0" dirty="0">
                <a:solidFill>
                  <a:srgbClr val="000000"/>
                </a:solidFill>
                <a:effectLst/>
                <a:latin typeface="Arial" panose="020B0604020202020204" pitchFamily="34" charset="0"/>
                <a:cs typeface="Arial" panose="020B0604020202020204" pitchFamily="34" charset="0"/>
              </a:rPr>
              <a:t>RGBA color values are an extension of RGB color values with an alpha channel - which specifies the opacity for a color</a:t>
            </a:r>
          </a:p>
          <a:p>
            <a:pPr algn="l"/>
            <a:r>
              <a:rPr lang="en-US" sz="2800" dirty="0">
                <a:latin typeface="Arial" panose="020B0604020202020204" pitchFamily="34" charset="0"/>
                <a:cs typeface="Arial" panose="020B0604020202020204" pitchFamily="34" charset="0"/>
              </a:rPr>
              <a:t>An </a:t>
            </a:r>
            <a:r>
              <a:rPr lang="en-US" sz="2800" b="1" i="0" dirty="0" err="1">
                <a:solidFill>
                  <a:srgbClr val="1F2D3D"/>
                </a:solidFill>
                <a:effectLst/>
                <a:latin typeface="Arial" panose="020B0604020202020204" pitchFamily="34" charset="0"/>
                <a:cs typeface="Arial" panose="020B0604020202020204" pitchFamily="34" charset="0"/>
              </a:rPr>
              <a:t>rgba</a:t>
            </a:r>
            <a:r>
              <a:rPr lang="en-US" sz="2800" b="1" i="0" dirty="0">
                <a:solidFill>
                  <a:srgbClr val="1F2D3D"/>
                </a:solidFill>
                <a:effectLst/>
                <a:latin typeface="Arial" panose="020B0604020202020204" pitchFamily="34" charset="0"/>
                <a:cs typeface="Arial" panose="020B0604020202020204" pitchFamily="34" charset="0"/>
              </a:rPr>
              <a:t>(0, 0, 0, 0.2) </a:t>
            </a:r>
            <a:r>
              <a:rPr lang="en-US" sz="2800" i="0" dirty="0">
                <a:solidFill>
                  <a:srgbClr val="1F2D3D"/>
                </a:solidFill>
                <a:effectLst/>
                <a:latin typeface="Arial" panose="020B0604020202020204" pitchFamily="34" charset="0"/>
                <a:cs typeface="Arial" panose="020B0604020202020204" pitchFamily="34" charset="0"/>
              </a:rPr>
              <a:t>will give you the color </a:t>
            </a:r>
            <a:r>
              <a:rPr lang="en-US" sz="2800" b="1" i="1" dirty="0">
                <a:solidFill>
                  <a:srgbClr val="1F2D3D"/>
                </a:solidFill>
                <a:effectLst/>
                <a:latin typeface="Arial" panose="020B0604020202020204" pitchFamily="34" charset="0"/>
                <a:cs typeface="Arial" panose="020B0604020202020204" pitchFamily="34" charset="0"/>
              </a:rPr>
              <a:t>black</a:t>
            </a:r>
            <a:r>
              <a:rPr lang="en-US" sz="2800" b="1" i="0" dirty="0">
                <a:solidFill>
                  <a:srgbClr val="1F2D3D"/>
                </a:solidFill>
                <a:effectLst/>
                <a:latin typeface="Arial" panose="020B0604020202020204" pitchFamily="34" charset="0"/>
                <a:cs typeface="Arial" panose="020B0604020202020204" pitchFamily="34" charset="0"/>
              </a:rPr>
              <a:t> </a:t>
            </a:r>
            <a:r>
              <a:rPr lang="en-US" sz="2800" i="0" dirty="0">
                <a:solidFill>
                  <a:srgbClr val="1F2D3D"/>
                </a:solidFill>
                <a:effectLst/>
                <a:latin typeface="Arial" panose="020B0604020202020204" pitchFamily="34" charset="0"/>
                <a:cs typeface="Arial" panose="020B0604020202020204" pitchFamily="34" charset="0"/>
              </a:rPr>
              <a:t>which turns out to be </a:t>
            </a:r>
            <a:r>
              <a:rPr lang="en-US" sz="2800" i="1" dirty="0">
                <a:solidFill>
                  <a:schemeClr val="bg1">
                    <a:lumMod val="50000"/>
                  </a:schemeClr>
                </a:solidFill>
                <a:effectLst/>
                <a:latin typeface="Arial" panose="020B0604020202020204" pitchFamily="34" charset="0"/>
                <a:cs typeface="Arial" panose="020B0604020202020204" pitchFamily="34" charset="0"/>
              </a:rPr>
              <a:t>transparent</a:t>
            </a:r>
            <a:r>
              <a:rPr lang="en-US" sz="2800" i="0" dirty="0">
                <a:solidFill>
                  <a:srgbClr val="1F2D3D"/>
                </a:solidFill>
                <a:effectLst/>
                <a:latin typeface="Arial" panose="020B0604020202020204" pitchFamily="34" charset="0"/>
                <a:cs typeface="Arial" panose="020B0604020202020204" pitchFamily="34" charset="0"/>
              </a:rPr>
              <a:t> because the alpha value is set at 0.2 which is very transparent.</a:t>
            </a:r>
          </a:p>
          <a:p>
            <a:pPr marL="0" indent="0" algn="l">
              <a:buNone/>
            </a:pPr>
            <a:r>
              <a:rPr lang="en-US" sz="2800" dirty="0">
                <a:latin typeface="Arial" panose="020B0604020202020204" pitchFamily="34" charset="0"/>
                <a:cs typeface="Arial" panose="020B0604020202020204" pitchFamily="34" charset="0"/>
              </a:rPr>
              <a:t/>
            </a:r>
            <a:br>
              <a:rPr lang="en-US" sz="2800" dirty="0">
                <a:latin typeface="Arial" panose="020B0604020202020204" pitchFamily="34" charset="0"/>
                <a:cs typeface="Arial" panose="020B0604020202020204" pitchFamily="34" charset="0"/>
              </a:rPr>
            </a:br>
            <a:r>
              <a:rPr lang="en-US" sz="2800" dirty="0">
                <a:latin typeface="Arial" panose="020B0604020202020204" pitchFamily="34" charset="0"/>
                <a:cs typeface="Arial" panose="020B0604020202020204" pitchFamily="34" charset="0"/>
              </a:rPr>
              <a:t/>
            </a:r>
            <a:br>
              <a:rPr lang="en-US" sz="2800" dirty="0">
                <a:latin typeface="Arial" panose="020B0604020202020204" pitchFamily="34" charset="0"/>
                <a:cs typeface="Arial" panose="020B0604020202020204" pitchFamily="34" charset="0"/>
              </a:rPr>
            </a:br>
            <a:endParaRPr lang="en-US" sz="2800" b="1" i="0" dirty="0">
              <a:solidFill>
                <a:srgbClr val="000000"/>
              </a:solidFill>
              <a:effectLst/>
              <a:latin typeface="Arial" panose="020B0604020202020204" pitchFamily="34" charset="0"/>
              <a:cs typeface="Arial" panose="020B0604020202020204" pitchFamily="34" charset="0"/>
            </a:endParaRPr>
          </a:p>
          <a:p>
            <a:pPr marL="0" indent="0">
              <a:buNone/>
            </a:pPr>
            <a:r>
              <a:rPr lang="en-US" sz="2800" dirty="0">
                <a:latin typeface="Arial" panose="020B0604020202020204" pitchFamily="34" charset="0"/>
                <a:cs typeface="Arial" panose="020B0604020202020204" pitchFamily="34" charset="0"/>
              </a:rPr>
              <a:t/>
            </a:r>
            <a:br>
              <a:rPr lang="en-US" sz="2800" dirty="0">
                <a:latin typeface="Arial" panose="020B0604020202020204" pitchFamily="34" charset="0"/>
                <a:cs typeface="Arial" panose="020B0604020202020204" pitchFamily="34" charset="0"/>
              </a:rPr>
            </a:br>
            <a:endParaRPr 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505774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FF40B-717F-5046-8383-670E466CDA1C}"/>
              </a:ext>
            </a:extLst>
          </p:cNvPr>
          <p:cNvSpPr>
            <a:spLocks noGrp="1"/>
          </p:cNvSpPr>
          <p:nvPr>
            <p:ph type="title"/>
          </p:nvPr>
        </p:nvSpPr>
        <p:spPr>
          <a:xfrm>
            <a:off x="1534696" y="0"/>
            <a:ext cx="9520158" cy="701749"/>
          </a:xfrm>
        </p:spPr>
        <p:txBody>
          <a:bodyPr>
            <a:normAutofit/>
          </a:bodyPr>
          <a:lstStyle/>
          <a:p>
            <a:r>
              <a:rPr lang="en-US" sz="4000" dirty="0"/>
              <a:t>CSS </a:t>
            </a:r>
            <a:r>
              <a:rPr lang="en-US" sz="4000" dirty="0">
                <a:solidFill>
                  <a:srgbClr val="C00000"/>
                </a:solidFill>
              </a:rPr>
              <a:t>HEX</a:t>
            </a:r>
            <a:r>
              <a:rPr lang="en-US" sz="4000" dirty="0"/>
              <a:t> COLORS</a:t>
            </a:r>
          </a:p>
        </p:txBody>
      </p:sp>
      <p:sp>
        <p:nvSpPr>
          <p:cNvPr id="3" name="Content Placeholder 2">
            <a:extLst>
              <a:ext uri="{FF2B5EF4-FFF2-40B4-BE49-F238E27FC236}">
                <a16:creationId xmlns:a16="http://schemas.microsoft.com/office/drawing/2014/main" id="{C7E56CDB-07B3-0E5E-4692-011C1E8D8A93}"/>
              </a:ext>
            </a:extLst>
          </p:cNvPr>
          <p:cNvSpPr>
            <a:spLocks noGrp="1"/>
          </p:cNvSpPr>
          <p:nvPr>
            <p:ph idx="1"/>
          </p:nvPr>
        </p:nvSpPr>
        <p:spPr>
          <a:xfrm>
            <a:off x="1324708" y="857850"/>
            <a:ext cx="10785230" cy="4417110"/>
          </a:xfrm>
        </p:spPr>
        <p:txBody>
          <a:bodyPr>
            <a:noAutofit/>
          </a:bodyPr>
          <a:lstStyle/>
          <a:p>
            <a:r>
              <a:rPr lang="en-US" sz="2200" b="0" i="0" dirty="0">
                <a:solidFill>
                  <a:srgbClr val="000000"/>
                </a:solidFill>
                <a:effectLst/>
                <a:latin typeface="Verdana" panose="020B0604030504040204" pitchFamily="34" charset="0"/>
              </a:rPr>
              <a:t>In CSS, a color can be specified using a hexadecimal value in the form: </a:t>
            </a:r>
            <a:r>
              <a:rPr lang="en-US" altLang="en-US" sz="2400" b="1" dirty="0"/>
              <a:t>#</a:t>
            </a:r>
            <a:r>
              <a:rPr lang="en-US" altLang="en-US" sz="2400" b="1" i="1" dirty="0"/>
              <a:t>rrggbb </a:t>
            </a:r>
            <a:r>
              <a:rPr lang="en-US" altLang="en-US" sz="2400" i="1" dirty="0"/>
              <a:t> </a:t>
            </a:r>
            <a:r>
              <a:rPr lang="en-US" altLang="en-US" sz="2400" dirty="0"/>
              <a:t>or </a:t>
            </a:r>
            <a:r>
              <a:rPr lang="en-US" altLang="en-US" sz="2400" b="1" dirty="0"/>
              <a:t>#rgb</a:t>
            </a:r>
            <a:r>
              <a:rPr lang="en-US" altLang="en-US" sz="2400" dirty="0"/>
              <a:t> (if each of </a:t>
            </a:r>
            <a:r>
              <a:rPr lang="en-US" altLang="en-US" sz="2400" dirty="0" err="1"/>
              <a:t>rgb</a:t>
            </a:r>
            <a:r>
              <a:rPr lang="en-US" altLang="en-US" sz="2400" dirty="0"/>
              <a:t> are the same). </a:t>
            </a:r>
            <a:r>
              <a:rPr lang="en-US" altLang="en-US" sz="2400" b="1" i="1" dirty="0">
                <a:solidFill>
                  <a:schemeClr val="accent2">
                    <a:lumMod val="50000"/>
                  </a:schemeClr>
                </a:solidFill>
              </a:rPr>
              <a:t>It is called hexadecimal as it uses 6 decimal numbers to denote the color codes.</a:t>
            </a:r>
            <a:endParaRPr lang="en-US" sz="2200" b="1" i="1" dirty="0">
              <a:solidFill>
                <a:schemeClr val="accent2">
                  <a:lumMod val="50000"/>
                </a:schemeClr>
              </a:solidFill>
              <a:effectLst/>
              <a:latin typeface="Verdana" panose="020B0604030504040204" pitchFamily="34" charset="0"/>
            </a:endParaRPr>
          </a:p>
          <a:p>
            <a:pPr algn="l"/>
            <a:r>
              <a:rPr lang="en-US" sz="2200" b="0" i="0" dirty="0">
                <a:solidFill>
                  <a:srgbClr val="000000"/>
                </a:solidFill>
                <a:effectLst/>
                <a:latin typeface="Verdana" panose="020B0604030504040204" pitchFamily="34" charset="0"/>
              </a:rPr>
              <a:t>Where </a:t>
            </a:r>
            <a:r>
              <a:rPr lang="en-US" sz="2200" b="0" i="0" dirty="0" err="1">
                <a:solidFill>
                  <a:srgbClr val="000000"/>
                </a:solidFill>
                <a:effectLst/>
                <a:latin typeface="Verdana" panose="020B0604030504040204" pitchFamily="34" charset="0"/>
              </a:rPr>
              <a:t>rr</a:t>
            </a:r>
            <a:r>
              <a:rPr lang="en-US" sz="2200" b="0" i="0" dirty="0">
                <a:solidFill>
                  <a:srgbClr val="000000"/>
                </a:solidFill>
                <a:effectLst/>
                <a:latin typeface="Verdana" panose="020B0604030504040204" pitchFamily="34" charset="0"/>
              </a:rPr>
              <a:t> (red), gg (green) and bb (blue) are hexadecimal values between 00 and ff (same as decimal 0-255).</a:t>
            </a:r>
          </a:p>
          <a:p>
            <a:pPr algn="l"/>
            <a:r>
              <a:rPr lang="en-US" sz="2200" b="0" i="0" dirty="0">
                <a:solidFill>
                  <a:srgbClr val="000000"/>
                </a:solidFill>
                <a:effectLst/>
                <a:latin typeface="Verdana" panose="020B0604030504040204" pitchFamily="34" charset="0"/>
              </a:rPr>
              <a:t>For example, #ff0000 is displayed as </a:t>
            </a:r>
            <a:r>
              <a:rPr lang="en-US" sz="2200" b="1" i="1" dirty="0">
                <a:solidFill>
                  <a:srgbClr val="C00000"/>
                </a:solidFill>
                <a:effectLst/>
                <a:latin typeface="Verdana" panose="020B0604030504040204" pitchFamily="34" charset="0"/>
              </a:rPr>
              <a:t>red</a:t>
            </a:r>
            <a:r>
              <a:rPr lang="en-US" sz="2200" b="0" i="0" dirty="0">
                <a:solidFill>
                  <a:srgbClr val="000000"/>
                </a:solidFill>
                <a:effectLst/>
                <a:latin typeface="Verdana" panose="020B0604030504040204" pitchFamily="34" charset="0"/>
              </a:rPr>
              <a:t>, because red is set to its highest value (ff) and the others are set to the lowest value (00).</a:t>
            </a:r>
          </a:p>
          <a:p>
            <a:pPr algn="l"/>
            <a:r>
              <a:rPr lang="en-US" sz="2200" b="0" i="0" dirty="0">
                <a:solidFill>
                  <a:srgbClr val="000000"/>
                </a:solidFill>
                <a:effectLst/>
                <a:latin typeface="Verdana" panose="020B0604030504040204" pitchFamily="34" charset="0"/>
              </a:rPr>
              <a:t>To display </a:t>
            </a:r>
            <a:r>
              <a:rPr lang="en-US" sz="2200" b="1" i="1" dirty="0">
                <a:solidFill>
                  <a:srgbClr val="000000"/>
                </a:solidFill>
                <a:effectLst/>
                <a:latin typeface="Verdana" panose="020B0604030504040204" pitchFamily="34" charset="0"/>
              </a:rPr>
              <a:t>black</a:t>
            </a:r>
            <a:r>
              <a:rPr lang="en-US" sz="2200" b="0" i="0" dirty="0">
                <a:solidFill>
                  <a:srgbClr val="000000"/>
                </a:solidFill>
                <a:effectLst/>
                <a:latin typeface="Verdana" panose="020B0604030504040204" pitchFamily="34" charset="0"/>
              </a:rPr>
              <a:t>, set all values to 00, like this: #000000.</a:t>
            </a:r>
          </a:p>
          <a:p>
            <a:pPr algn="l"/>
            <a:r>
              <a:rPr lang="en-US" sz="2200" b="0" i="0" dirty="0">
                <a:solidFill>
                  <a:srgbClr val="000000"/>
                </a:solidFill>
                <a:effectLst/>
                <a:latin typeface="Verdana" panose="020B0604030504040204" pitchFamily="34" charset="0"/>
              </a:rPr>
              <a:t>To display </a:t>
            </a:r>
            <a:r>
              <a:rPr lang="en-US" sz="2200" b="1" i="1" dirty="0">
                <a:solidFill>
                  <a:srgbClr val="000000"/>
                </a:solidFill>
                <a:effectLst/>
                <a:latin typeface="Verdana" panose="020B0604030504040204" pitchFamily="34" charset="0"/>
              </a:rPr>
              <a:t>white</a:t>
            </a:r>
            <a:r>
              <a:rPr lang="en-US" sz="2200" b="0" i="0" dirty="0">
                <a:solidFill>
                  <a:srgbClr val="000000"/>
                </a:solidFill>
                <a:effectLst/>
                <a:latin typeface="Verdana" panose="020B0604030504040204" pitchFamily="34" charset="0"/>
              </a:rPr>
              <a:t>, set all values to ff, like this: #ffffff.  </a:t>
            </a:r>
          </a:p>
          <a:p>
            <a:r>
              <a:rPr lang="en-US" sz="2200" dirty="0"/>
              <a:t>Use the 3 digit HEX if all the values of the color code are same. </a:t>
            </a:r>
            <a:r>
              <a:rPr lang="en-US" sz="2200" dirty="0" err="1"/>
              <a:t>Eg</a:t>
            </a:r>
            <a:r>
              <a:rPr lang="en-US" sz="2200" dirty="0"/>
              <a:t>, #ff00cc will be #f0c. #bb5588 with be #b58. #ff99aa will be #f9a. </a:t>
            </a:r>
            <a:r>
              <a:rPr lang="en-US" sz="2200" dirty="0" err="1"/>
              <a:t>E.t.c</a:t>
            </a:r>
            <a:r>
              <a:rPr lang="en-US" sz="2200" dirty="0"/>
              <a:t>.</a:t>
            </a:r>
          </a:p>
          <a:p>
            <a:pPr marL="0" indent="0">
              <a:buNone/>
            </a:pPr>
            <a:r>
              <a:rPr lang="en-US" sz="2200" dirty="0"/>
              <a:t/>
            </a:r>
            <a:br>
              <a:rPr lang="en-US" sz="2200" dirty="0"/>
            </a:br>
            <a:r>
              <a:rPr lang="en-US" sz="2200" dirty="0"/>
              <a:t/>
            </a:r>
            <a:br>
              <a:rPr lang="en-US" sz="2200" dirty="0"/>
            </a:br>
            <a:r>
              <a:rPr lang="en-US" sz="2200" dirty="0"/>
              <a:t/>
            </a:r>
            <a:br>
              <a:rPr lang="en-US" sz="2200" dirty="0"/>
            </a:br>
            <a:endParaRPr lang="en-US" sz="2200" dirty="0"/>
          </a:p>
        </p:txBody>
      </p:sp>
    </p:spTree>
    <p:extLst>
      <p:ext uri="{BB962C8B-B14F-4D97-AF65-F5344CB8AC3E}">
        <p14:creationId xmlns:p14="http://schemas.microsoft.com/office/powerpoint/2010/main" val="24712764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D12B7-5DEC-E620-EBE4-319CDF1EBE80}"/>
              </a:ext>
            </a:extLst>
          </p:cNvPr>
          <p:cNvSpPr>
            <a:spLocks noGrp="1"/>
          </p:cNvSpPr>
          <p:nvPr>
            <p:ph type="title"/>
          </p:nvPr>
        </p:nvSpPr>
        <p:spPr>
          <a:xfrm>
            <a:off x="1335921" y="0"/>
            <a:ext cx="9520158" cy="1049235"/>
          </a:xfrm>
        </p:spPr>
        <p:txBody>
          <a:bodyPr/>
          <a:lstStyle/>
          <a:p>
            <a:r>
              <a:rPr lang="en-US" sz="3200" dirty="0"/>
              <a:t>CSS </a:t>
            </a:r>
            <a:r>
              <a:rPr lang="en-US" sz="3200" dirty="0">
                <a:solidFill>
                  <a:srgbClr val="C00000"/>
                </a:solidFill>
              </a:rPr>
              <a:t>HSL</a:t>
            </a:r>
            <a:r>
              <a:rPr lang="en-US" sz="3200" dirty="0"/>
              <a:t> COLORS : Hue, Saturation, &amp; Lightness</a:t>
            </a:r>
            <a:endParaRPr lang="en-US" dirty="0"/>
          </a:p>
        </p:txBody>
      </p:sp>
      <p:sp>
        <p:nvSpPr>
          <p:cNvPr id="3" name="Content Placeholder 2">
            <a:extLst>
              <a:ext uri="{FF2B5EF4-FFF2-40B4-BE49-F238E27FC236}">
                <a16:creationId xmlns:a16="http://schemas.microsoft.com/office/drawing/2014/main" id="{DB1ED744-DEC0-BE8E-A656-C94BBC42EAEF}"/>
              </a:ext>
            </a:extLst>
          </p:cNvPr>
          <p:cNvSpPr>
            <a:spLocks noGrp="1"/>
          </p:cNvSpPr>
          <p:nvPr>
            <p:ph idx="1"/>
          </p:nvPr>
        </p:nvSpPr>
        <p:spPr>
          <a:xfrm>
            <a:off x="1534696" y="1049236"/>
            <a:ext cx="9520158" cy="4417110"/>
          </a:xfrm>
        </p:spPr>
        <p:txBody>
          <a:bodyPr>
            <a:normAutofit fontScale="92500" lnSpcReduction="10000"/>
          </a:bodyPr>
          <a:lstStyle/>
          <a:p>
            <a:pPr>
              <a:buFont typeface="Wingdings" panose="05000000000000000000" pitchFamily="2" charset="2"/>
              <a:buChar char="Ø"/>
            </a:pPr>
            <a:r>
              <a:rPr lang="en-US" dirty="0"/>
              <a:t>The </a:t>
            </a:r>
            <a:r>
              <a:rPr lang="en-US" dirty="0">
                <a:solidFill>
                  <a:schemeClr val="accent5"/>
                </a:solidFill>
              </a:rPr>
              <a:t>Hue</a:t>
            </a:r>
            <a:r>
              <a:rPr lang="en-US" dirty="0"/>
              <a:t> color wheel is from 0 to 360. 0 is red, 120 is green and 240 is blue.</a:t>
            </a:r>
          </a:p>
          <a:p>
            <a:pPr>
              <a:buFont typeface="Wingdings" panose="05000000000000000000" pitchFamily="2" charset="2"/>
              <a:buChar char="Ø"/>
            </a:pPr>
            <a:r>
              <a:rPr lang="en-US" dirty="0"/>
              <a:t>The Saturation is the intensity of the color, it is in percentage value. Saturation 0% is completely gray while 100% means full or pure color, while 50% means gray but you can still see the color</a:t>
            </a:r>
          </a:p>
          <a:p>
            <a:pPr>
              <a:buFont typeface="Wingdings" panose="05000000000000000000" pitchFamily="2" charset="2"/>
              <a:buChar char="Ø"/>
            </a:pPr>
            <a:r>
              <a:rPr lang="en-US" dirty="0"/>
              <a:t>The Lightness is also in percentage, means how much light you want to give to the color. 0% is black and 100% is white. 50% is neither black or white</a:t>
            </a:r>
          </a:p>
          <a:p>
            <a:pPr marL="0" indent="0">
              <a:buNone/>
            </a:pPr>
            <a:r>
              <a:rPr lang="en-US" u="sng"/>
              <a:t>THE </a:t>
            </a:r>
            <a:r>
              <a:rPr lang="en-US" u="sng">
                <a:solidFill>
                  <a:schemeClr val="accent5"/>
                </a:solidFill>
              </a:rPr>
              <a:t>HSLA</a:t>
            </a:r>
            <a:endParaRPr lang="en-US" u="sng" dirty="0">
              <a:solidFill>
                <a:schemeClr val="accent5"/>
              </a:solidFill>
            </a:endParaRPr>
          </a:p>
          <a:p>
            <a:pPr marL="0" indent="0">
              <a:buNone/>
            </a:pPr>
            <a:r>
              <a:rPr lang="en-US" dirty="0">
                <a:solidFill>
                  <a:schemeClr val="tx1">
                    <a:lumMod val="85000"/>
                    <a:lumOff val="15000"/>
                  </a:schemeClr>
                </a:solidFill>
              </a:rPr>
              <a:t>The HSL also have a alpha value which denote the level of transparency. Ranges from 0.0 (full transparency) to 1.0 (not transparent)</a:t>
            </a:r>
          </a:p>
        </p:txBody>
      </p:sp>
    </p:spTree>
    <p:extLst>
      <p:ext uri="{BB962C8B-B14F-4D97-AF65-F5344CB8AC3E}">
        <p14:creationId xmlns:p14="http://schemas.microsoft.com/office/powerpoint/2010/main" val="28260306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0C16A-F7DD-1C60-1F62-94D4B3A5682A}"/>
              </a:ext>
            </a:extLst>
          </p:cNvPr>
          <p:cNvSpPr>
            <a:spLocks noGrp="1"/>
          </p:cNvSpPr>
          <p:nvPr>
            <p:ph type="title"/>
          </p:nvPr>
        </p:nvSpPr>
        <p:spPr>
          <a:xfrm>
            <a:off x="805101" y="222655"/>
            <a:ext cx="10635531" cy="829340"/>
          </a:xfrm>
        </p:spPr>
        <p:txBody>
          <a:bodyPr>
            <a:normAutofit fontScale="90000"/>
          </a:bodyPr>
          <a:lstStyle/>
          <a:p>
            <a:r>
              <a:rPr lang="en-GB" dirty="0"/>
              <a:t>Getting colour combination from </a:t>
            </a:r>
            <a:r>
              <a:rPr lang="en-GB" i="1" dirty="0">
                <a:solidFill>
                  <a:srgbClr val="FF0000"/>
                </a:solidFill>
              </a:rPr>
              <a:t>coolors.co</a:t>
            </a:r>
            <a:r>
              <a:rPr lang="en-GB" dirty="0"/>
              <a:t> &amp; </a:t>
            </a:r>
            <a:r>
              <a:rPr lang="en-GB" i="1" dirty="0">
                <a:solidFill>
                  <a:schemeClr val="accent5">
                    <a:lumMod val="75000"/>
                  </a:schemeClr>
                </a:solidFill>
              </a:rPr>
              <a:t>colorhunt.co</a:t>
            </a:r>
            <a:endParaRPr lang="en-US" i="1" dirty="0">
              <a:solidFill>
                <a:schemeClr val="accent5">
                  <a:lumMod val="75000"/>
                </a:schemeClr>
              </a:solidFill>
            </a:endParaRPr>
          </a:p>
        </p:txBody>
      </p:sp>
      <p:pic>
        <p:nvPicPr>
          <p:cNvPr id="4" name="Content Placeholder 3">
            <a:extLst>
              <a:ext uri="{FF2B5EF4-FFF2-40B4-BE49-F238E27FC236}">
                <a16:creationId xmlns:a16="http://schemas.microsoft.com/office/drawing/2014/main" id="{C0E2D924-D435-DBAC-78B6-022FB695E80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05102" y="1531089"/>
            <a:ext cx="10979346" cy="4274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713738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48450-8088-1F30-7785-7D55AF0A424F}"/>
              </a:ext>
            </a:extLst>
          </p:cNvPr>
          <p:cNvSpPr>
            <a:spLocks noGrp="1"/>
          </p:cNvSpPr>
          <p:nvPr>
            <p:ph type="title"/>
          </p:nvPr>
        </p:nvSpPr>
        <p:spPr>
          <a:xfrm>
            <a:off x="1534696" y="0"/>
            <a:ext cx="9520158" cy="1049235"/>
          </a:xfrm>
        </p:spPr>
        <p:txBody>
          <a:bodyPr/>
          <a:lstStyle/>
          <a:p>
            <a:r>
              <a:rPr lang="en-US" dirty="0"/>
              <a:t>MS Paint Tool</a:t>
            </a:r>
          </a:p>
        </p:txBody>
      </p:sp>
      <p:pic>
        <p:nvPicPr>
          <p:cNvPr id="4" name="Content Placeholder 3">
            <a:extLst>
              <a:ext uri="{FF2B5EF4-FFF2-40B4-BE49-F238E27FC236}">
                <a16:creationId xmlns:a16="http://schemas.microsoft.com/office/drawing/2014/main" id="{44CC0A82-E86B-7B3A-9EBE-FF6268F8E09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56660" y="1040236"/>
            <a:ext cx="10345479" cy="5009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990996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21E8D-48FE-3276-FCBA-2E1406C9A64F}"/>
              </a:ext>
            </a:extLst>
          </p:cNvPr>
          <p:cNvSpPr>
            <a:spLocks noGrp="1"/>
          </p:cNvSpPr>
          <p:nvPr>
            <p:ph type="ctrTitle"/>
          </p:nvPr>
        </p:nvSpPr>
        <p:spPr>
          <a:xfrm>
            <a:off x="2493105" y="802298"/>
            <a:ext cx="8561747" cy="3961088"/>
          </a:xfrm>
        </p:spPr>
        <p:txBody>
          <a:bodyPr>
            <a:normAutofit/>
          </a:bodyPr>
          <a:lstStyle/>
          <a:p>
            <a:pPr algn="ctr"/>
            <a:r>
              <a:rPr lang="en-US" sz="10000" dirty="0">
                <a:latin typeface="Algerian" panose="04020705040A02060702" pitchFamily="82" charset="0"/>
              </a:rPr>
              <a:t>CSS</a:t>
            </a:r>
            <a:r>
              <a:rPr lang="en-US" dirty="0"/>
              <a:t> </a:t>
            </a:r>
            <a:r>
              <a:rPr lang="en-US" sz="5000" dirty="0">
                <a:solidFill>
                  <a:srgbClr val="C00000"/>
                </a:solidFill>
              </a:rPr>
              <a:t>BACKGROUND</a:t>
            </a:r>
            <a:r>
              <a:rPr lang="en-US" sz="5000" dirty="0"/>
              <a:t> </a:t>
            </a:r>
            <a:r>
              <a:rPr lang="en-US" sz="5000" dirty="0">
                <a:solidFill>
                  <a:srgbClr val="0070C0"/>
                </a:solidFill>
              </a:rPr>
              <a:t>PROPERTIES</a:t>
            </a:r>
            <a:r>
              <a:rPr lang="en-US" sz="5000" dirty="0"/>
              <a:t> &amp; </a:t>
            </a:r>
            <a:r>
              <a:rPr lang="en-US" sz="5000" dirty="0">
                <a:solidFill>
                  <a:schemeClr val="accent5">
                    <a:lumMod val="75000"/>
                  </a:schemeClr>
                </a:solidFill>
              </a:rPr>
              <a:t>BOX MODEL</a:t>
            </a:r>
            <a:r>
              <a:rPr lang="en-US" sz="5000" dirty="0"/>
              <a:t> (border, margin and padding)</a:t>
            </a:r>
          </a:p>
        </p:txBody>
      </p:sp>
    </p:spTree>
    <p:extLst>
      <p:ext uri="{BB962C8B-B14F-4D97-AF65-F5344CB8AC3E}">
        <p14:creationId xmlns:p14="http://schemas.microsoft.com/office/powerpoint/2010/main" val="5246128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CD55B-86AA-D41F-05D4-1668E73DD5AA}"/>
              </a:ext>
            </a:extLst>
          </p:cNvPr>
          <p:cNvSpPr>
            <a:spLocks noGrp="1"/>
          </p:cNvSpPr>
          <p:nvPr>
            <p:ph type="title"/>
          </p:nvPr>
        </p:nvSpPr>
        <p:spPr>
          <a:xfrm>
            <a:off x="1534696" y="0"/>
            <a:ext cx="9520158" cy="1049235"/>
          </a:xfrm>
        </p:spPr>
        <p:txBody>
          <a:bodyPr/>
          <a:lstStyle/>
          <a:p>
            <a:r>
              <a:rPr lang="en-US" b="1" u="sng" dirty="0"/>
              <a:t>Styling Your Page Background</a:t>
            </a:r>
          </a:p>
        </p:txBody>
      </p:sp>
      <p:sp>
        <p:nvSpPr>
          <p:cNvPr id="3" name="Content Placeholder 2">
            <a:extLst>
              <a:ext uri="{FF2B5EF4-FFF2-40B4-BE49-F238E27FC236}">
                <a16:creationId xmlns:a16="http://schemas.microsoft.com/office/drawing/2014/main" id="{733F851E-C8B4-FD2E-32C4-66AABA66AE75}"/>
              </a:ext>
            </a:extLst>
          </p:cNvPr>
          <p:cNvSpPr>
            <a:spLocks noGrp="1"/>
          </p:cNvSpPr>
          <p:nvPr>
            <p:ph idx="1"/>
          </p:nvPr>
        </p:nvSpPr>
        <p:spPr>
          <a:xfrm>
            <a:off x="1534696" y="1318438"/>
            <a:ext cx="9520158" cy="4147908"/>
          </a:xfrm>
        </p:spPr>
        <p:txBody>
          <a:bodyPr>
            <a:noAutofit/>
          </a:bodyPr>
          <a:lstStyle/>
          <a:p>
            <a:pPr fontAlgn="auto">
              <a:spcAft>
                <a:spcPts val="0"/>
              </a:spcAft>
              <a:defRPr/>
            </a:pPr>
            <a:r>
              <a:rPr lang="en-US" sz="2800" dirty="0">
                <a:latin typeface="+mj-lt"/>
              </a:rPr>
              <a:t>The background of your webpage is the part underneath the webpage contents area*</a:t>
            </a:r>
          </a:p>
          <a:p>
            <a:pPr fontAlgn="auto">
              <a:spcAft>
                <a:spcPts val="0"/>
              </a:spcAft>
              <a:defRPr/>
            </a:pPr>
            <a:r>
              <a:rPr lang="en-US" sz="2800" dirty="0">
                <a:latin typeface="+mj-lt"/>
              </a:rPr>
              <a:t>The CSS background properties are used to define the background effects.</a:t>
            </a:r>
          </a:p>
          <a:p>
            <a:pPr fontAlgn="auto">
              <a:spcAft>
                <a:spcPts val="0"/>
              </a:spcAft>
              <a:defRPr/>
            </a:pPr>
            <a:r>
              <a:rPr lang="en-US" sz="2800" dirty="0">
                <a:solidFill>
                  <a:srgbClr val="C00000"/>
                </a:solidFill>
                <a:latin typeface="Consolas" pitchFamily="49" charset="0"/>
                <a:ea typeface="Verdana" pitchFamily="34" charset="0"/>
                <a:cs typeface="Courier New" pitchFamily="49" charset="0"/>
              </a:rPr>
              <a:t>background-color</a:t>
            </a:r>
            <a:r>
              <a:rPr lang="en-US" sz="2800" dirty="0">
                <a:ea typeface="Verdana" pitchFamily="34" charset="0"/>
                <a:cs typeface="Verdana" pitchFamily="34" charset="0"/>
              </a:rPr>
              <a:t>: Sets a solid color for the background.</a:t>
            </a:r>
          </a:p>
          <a:p>
            <a:pPr fontAlgn="auto">
              <a:spcAft>
                <a:spcPts val="0"/>
              </a:spcAft>
              <a:defRPr/>
            </a:pPr>
            <a:r>
              <a:rPr lang="en-US" sz="2800" dirty="0">
                <a:solidFill>
                  <a:srgbClr val="C00000"/>
                </a:solidFill>
                <a:latin typeface="Consolas" pitchFamily="49" charset="0"/>
                <a:ea typeface="Verdana" pitchFamily="34" charset="0"/>
                <a:cs typeface="Courier New" pitchFamily="49" charset="0"/>
              </a:rPr>
              <a:t>background-image</a:t>
            </a:r>
            <a:r>
              <a:rPr lang="en-US" sz="2800" dirty="0">
                <a:latin typeface="Courier New" pitchFamily="49" charset="0"/>
                <a:ea typeface="Verdana" pitchFamily="34" charset="0"/>
                <a:cs typeface="Courier New" pitchFamily="49" charset="0"/>
              </a:rPr>
              <a:t>:</a:t>
            </a:r>
            <a:r>
              <a:rPr lang="en-US" sz="2800" dirty="0">
                <a:ea typeface="Verdana" pitchFamily="34" charset="0"/>
                <a:cs typeface="Verdana" pitchFamily="34" charset="0"/>
              </a:rPr>
              <a:t> Specifies a background image to appear in the background of the element. </a:t>
            </a:r>
          </a:p>
          <a:p>
            <a:pPr marL="0" indent="0">
              <a:buNone/>
            </a:pPr>
            <a:endParaRPr lang="en-US" sz="2800" dirty="0"/>
          </a:p>
        </p:txBody>
      </p:sp>
    </p:spTree>
    <p:extLst>
      <p:ext uri="{BB962C8B-B14F-4D97-AF65-F5344CB8AC3E}">
        <p14:creationId xmlns:p14="http://schemas.microsoft.com/office/powerpoint/2010/main" val="34619441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14003-81FA-BC87-C137-17A75DF844FB}"/>
              </a:ext>
            </a:extLst>
          </p:cNvPr>
          <p:cNvSpPr>
            <a:spLocks noGrp="1"/>
          </p:cNvSpPr>
          <p:nvPr>
            <p:ph type="title"/>
          </p:nvPr>
        </p:nvSpPr>
        <p:spPr>
          <a:xfrm>
            <a:off x="1534696" y="116958"/>
            <a:ext cx="9520158" cy="850606"/>
          </a:xfrm>
        </p:spPr>
        <p:txBody>
          <a:bodyPr>
            <a:normAutofit/>
          </a:bodyPr>
          <a:lstStyle/>
          <a:p>
            <a:r>
              <a:rPr lang="en-US" dirty="0"/>
              <a:t>Background Image vs. Image</a:t>
            </a:r>
          </a:p>
        </p:txBody>
      </p:sp>
      <p:pic>
        <p:nvPicPr>
          <p:cNvPr id="4" name="Content Placeholder 3">
            <a:extLst>
              <a:ext uri="{FF2B5EF4-FFF2-40B4-BE49-F238E27FC236}">
                <a16:creationId xmlns:a16="http://schemas.microsoft.com/office/drawing/2014/main" id="{36CED4AF-4920-7E72-B7B8-1777643B31C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34696" y="1250581"/>
            <a:ext cx="3643360" cy="48578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9">
            <a:extLst>
              <a:ext uri="{FF2B5EF4-FFF2-40B4-BE49-F238E27FC236}">
                <a16:creationId xmlns:a16="http://schemas.microsoft.com/office/drawing/2014/main" id="{23A78516-B337-FFFA-FCF6-5323FB05263A}"/>
              </a:ext>
            </a:extLst>
          </p:cNvPr>
          <p:cNvSpPr txBox="1">
            <a:spLocks noChangeArrowheads="1"/>
          </p:cNvSpPr>
          <p:nvPr/>
        </p:nvSpPr>
        <p:spPr bwMode="auto">
          <a:xfrm>
            <a:off x="4918592" y="1606641"/>
            <a:ext cx="40126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r>
              <a:rPr lang="en-US" altLang="en-US" dirty="0"/>
              <a:t>&lt;---------------------- Background Image</a:t>
            </a:r>
          </a:p>
        </p:txBody>
      </p:sp>
      <p:sp>
        <p:nvSpPr>
          <p:cNvPr id="6" name="TextBox 10">
            <a:extLst>
              <a:ext uri="{FF2B5EF4-FFF2-40B4-BE49-F238E27FC236}">
                <a16:creationId xmlns:a16="http://schemas.microsoft.com/office/drawing/2014/main" id="{3506D180-75BF-479E-13F5-98C8C44FBC33}"/>
              </a:ext>
            </a:extLst>
          </p:cNvPr>
          <p:cNvSpPr txBox="1">
            <a:spLocks noChangeArrowheads="1"/>
          </p:cNvSpPr>
          <p:nvPr/>
        </p:nvSpPr>
        <p:spPr bwMode="auto">
          <a:xfrm>
            <a:off x="3356376" y="2664443"/>
            <a:ext cx="34996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r>
              <a:rPr lang="en-US" altLang="en-US" dirty="0">
                <a:sym typeface="Wingdings" panose="05000000000000000000" pitchFamily="2" charset="2"/>
              </a:rPr>
              <a:t>&lt;---------------------------------</a:t>
            </a:r>
            <a:r>
              <a:rPr lang="en-US" altLang="en-US" dirty="0"/>
              <a:t>Image</a:t>
            </a:r>
          </a:p>
        </p:txBody>
      </p:sp>
      <p:sp>
        <p:nvSpPr>
          <p:cNvPr id="7" name="TextBox 12">
            <a:extLst>
              <a:ext uri="{FF2B5EF4-FFF2-40B4-BE49-F238E27FC236}">
                <a16:creationId xmlns:a16="http://schemas.microsoft.com/office/drawing/2014/main" id="{2DB8D916-D1D0-2688-9044-C3E89F81808A}"/>
              </a:ext>
            </a:extLst>
          </p:cNvPr>
          <p:cNvSpPr txBox="1"/>
          <p:nvPr/>
        </p:nvSpPr>
        <p:spPr>
          <a:xfrm>
            <a:off x="5997243" y="3785649"/>
            <a:ext cx="5570980" cy="1692771"/>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buFont typeface="Wingdings" pitchFamily="2" charset="2"/>
              <a:buChar char="§"/>
              <a:defRPr/>
            </a:pPr>
            <a:r>
              <a:rPr lang="en-US" sz="2600" dirty="0">
                <a:latin typeface="+mj-lt"/>
                <a:cs typeface="Arial" charset="0"/>
              </a:rPr>
              <a:t>With background-image, other elements can sit on the background</a:t>
            </a:r>
          </a:p>
          <a:p>
            <a:pPr>
              <a:buFont typeface="Wingdings" pitchFamily="2" charset="2"/>
              <a:buChar char="§"/>
              <a:defRPr/>
            </a:pPr>
            <a:r>
              <a:rPr lang="en-US" sz="2600" dirty="0">
                <a:latin typeface="+mj-lt"/>
                <a:cs typeface="Arial" charset="0"/>
              </a:rPr>
              <a:t>An image (</a:t>
            </a:r>
            <a:r>
              <a:rPr lang="en-US" sz="2600" dirty="0" err="1">
                <a:latin typeface="+mj-lt"/>
                <a:cs typeface="Arial" charset="0"/>
              </a:rPr>
              <a:t>img</a:t>
            </a:r>
            <a:r>
              <a:rPr lang="en-US" sz="2600" dirty="0">
                <a:latin typeface="+mj-lt"/>
                <a:cs typeface="Arial" charset="0"/>
              </a:rPr>
              <a:t>) can even sit on the background!</a:t>
            </a:r>
          </a:p>
        </p:txBody>
      </p:sp>
    </p:spTree>
    <p:extLst>
      <p:ext uri="{BB962C8B-B14F-4D97-AF65-F5344CB8AC3E}">
        <p14:creationId xmlns:p14="http://schemas.microsoft.com/office/powerpoint/2010/main" val="12657467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0EA9D-F31B-BC59-E783-80F7D6310AFF}"/>
              </a:ext>
            </a:extLst>
          </p:cNvPr>
          <p:cNvSpPr>
            <a:spLocks noGrp="1"/>
          </p:cNvSpPr>
          <p:nvPr>
            <p:ph type="title"/>
          </p:nvPr>
        </p:nvSpPr>
        <p:spPr>
          <a:xfrm>
            <a:off x="1534696" y="0"/>
            <a:ext cx="9520158" cy="850605"/>
          </a:xfrm>
        </p:spPr>
        <p:txBody>
          <a:bodyPr/>
          <a:lstStyle/>
          <a:p>
            <a:r>
              <a:rPr lang="en-US" dirty="0"/>
              <a:t>Background Properties</a:t>
            </a:r>
          </a:p>
        </p:txBody>
      </p:sp>
      <p:sp>
        <p:nvSpPr>
          <p:cNvPr id="3" name="Content Placeholder 2">
            <a:extLst>
              <a:ext uri="{FF2B5EF4-FFF2-40B4-BE49-F238E27FC236}">
                <a16:creationId xmlns:a16="http://schemas.microsoft.com/office/drawing/2014/main" id="{3CBBF2C6-F624-E77C-3A49-E184E5D86483}"/>
              </a:ext>
            </a:extLst>
          </p:cNvPr>
          <p:cNvSpPr>
            <a:spLocks noGrp="1"/>
          </p:cNvSpPr>
          <p:nvPr>
            <p:ph idx="1"/>
          </p:nvPr>
        </p:nvSpPr>
        <p:spPr>
          <a:xfrm>
            <a:off x="1190847" y="1148316"/>
            <a:ext cx="10154093" cy="4582633"/>
          </a:xfrm>
        </p:spPr>
        <p:txBody>
          <a:bodyPr>
            <a:noAutofit/>
          </a:bodyPr>
          <a:lstStyle/>
          <a:p>
            <a:r>
              <a:rPr lang="en-US" altLang="en-US" sz="2400" dirty="0">
                <a:solidFill>
                  <a:srgbClr val="C00000"/>
                </a:solidFill>
                <a:latin typeface="Courier New" panose="02070309020205020404" pitchFamily="49" charset="0"/>
                <a:ea typeface="Verdana" panose="020B0604030504040204" pitchFamily="34" charset="0"/>
                <a:cs typeface="Courier New" panose="02070309020205020404" pitchFamily="49" charset="0"/>
              </a:rPr>
              <a:t>background-position: </a:t>
            </a:r>
            <a:r>
              <a:rPr lang="en-US" altLang="en-US" sz="2400" dirty="0">
                <a:solidFill>
                  <a:schemeClr val="tx1"/>
                </a:solidFill>
                <a:ea typeface="Verdana" panose="020B0604030504040204" pitchFamily="34" charset="0"/>
                <a:cs typeface="Courier New" panose="02070309020205020404" pitchFamily="49" charset="0"/>
              </a:rPr>
              <a:t>Specifies the position that the background should appear inside the element background.</a:t>
            </a:r>
          </a:p>
          <a:p>
            <a:r>
              <a:rPr lang="en-US" altLang="en-US" sz="2400" dirty="0">
                <a:solidFill>
                  <a:srgbClr val="C00000"/>
                </a:solidFill>
                <a:latin typeface="Courier New" panose="02070309020205020404" pitchFamily="49" charset="0"/>
                <a:ea typeface="Verdana" panose="020B0604030504040204" pitchFamily="34" charset="0"/>
                <a:cs typeface="Courier New" panose="02070309020205020404" pitchFamily="49" charset="0"/>
              </a:rPr>
              <a:t>background-size: </a:t>
            </a:r>
            <a:r>
              <a:rPr lang="en-US" altLang="en-US" sz="2400" dirty="0">
                <a:solidFill>
                  <a:schemeClr val="tx1"/>
                </a:solidFill>
                <a:ea typeface="Verdana" panose="020B0604030504040204" pitchFamily="34" charset="0"/>
                <a:cs typeface="Courier New" panose="02070309020205020404" pitchFamily="49" charset="0"/>
              </a:rPr>
              <a:t>Specifies the dimension of the background image within the container</a:t>
            </a:r>
            <a:r>
              <a:rPr lang="en-US" altLang="en-US" sz="2400" dirty="0">
                <a:solidFill>
                  <a:srgbClr val="C00000"/>
                </a:solidFill>
                <a:latin typeface="Courier New" panose="02070309020205020404" pitchFamily="49" charset="0"/>
                <a:ea typeface="Verdana" panose="020B0604030504040204" pitchFamily="34" charset="0"/>
                <a:cs typeface="Courier New" panose="02070309020205020404" pitchFamily="49" charset="0"/>
              </a:rPr>
              <a:t> cover / contain / width and height</a:t>
            </a:r>
          </a:p>
          <a:p>
            <a:r>
              <a:rPr lang="en-US" altLang="en-US" sz="2400" dirty="0">
                <a:solidFill>
                  <a:srgbClr val="C00000"/>
                </a:solidFill>
                <a:latin typeface="Courier New" panose="02070309020205020404" pitchFamily="49" charset="0"/>
                <a:ea typeface="Verdana" panose="020B0604030504040204" pitchFamily="34" charset="0"/>
                <a:cs typeface="Courier New" panose="02070309020205020404" pitchFamily="49" charset="0"/>
              </a:rPr>
              <a:t>background-repeat</a:t>
            </a:r>
            <a:r>
              <a:rPr lang="en-US" altLang="en-US" sz="2400" dirty="0">
                <a:solidFill>
                  <a:srgbClr val="C00000"/>
                </a:solidFill>
                <a:ea typeface="Verdana" panose="020B0604030504040204" pitchFamily="34" charset="0"/>
                <a:cs typeface="Courier New" panose="02070309020205020404" pitchFamily="49" charset="0"/>
              </a:rPr>
              <a:t>: </a:t>
            </a:r>
            <a:r>
              <a:rPr lang="en-US" altLang="en-US" sz="2400" dirty="0">
                <a:solidFill>
                  <a:schemeClr val="tx1"/>
                </a:solidFill>
                <a:ea typeface="Verdana" panose="020B0604030504040204" pitchFamily="34" charset="0"/>
                <a:cs typeface="Courier New" panose="02070309020205020404" pitchFamily="49" charset="0"/>
              </a:rPr>
              <a:t>Specifies whether the background should be repeated (tiled) or not. Can be applied to repeat tiled background</a:t>
            </a:r>
          </a:p>
          <a:p>
            <a:r>
              <a:rPr lang="en-US" altLang="en-US" sz="2400" dirty="0">
                <a:solidFill>
                  <a:srgbClr val="C00000"/>
                </a:solidFill>
                <a:latin typeface="Courier New" panose="02070309020205020404" pitchFamily="49" charset="0"/>
                <a:ea typeface="Verdana" panose="020B0604030504040204" pitchFamily="34" charset="0"/>
                <a:cs typeface="Courier New" panose="02070309020205020404" pitchFamily="49" charset="0"/>
              </a:rPr>
              <a:t>background-attachment</a:t>
            </a:r>
            <a:r>
              <a:rPr lang="en-US" altLang="en-US" sz="2400" dirty="0">
                <a:solidFill>
                  <a:schemeClr val="tx1"/>
                </a:solidFill>
                <a:ea typeface="Verdana" panose="020B0604030504040204" pitchFamily="34" charset="0"/>
                <a:cs typeface="Courier New" panose="02070309020205020404" pitchFamily="49" charset="0"/>
              </a:rPr>
              <a:t>: Specifies the behavior of an element's background when its content scrolls. (Scroll with content or fixed?)</a:t>
            </a:r>
          </a:p>
          <a:p>
            <a:pPr marL="0" indent="0">
              <a:buNone/>
            </a:pPr>
            <a:endParaRPr lang="en-US" sz="2400" dirty="0"/>
          </a:p>
        </p:txBody>
      </p:sp>
    </p:spTree>
    <p:extLst>
      <p:ext uri="{BB962C8B-B14F-4D97-AF65-F5344CB8AC3E}">
        <p14:creationId xmlns:p14="http://schemas.microsoft.com/office/powerpoint/2010/main" val="8371647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83E89-0F34-9E86-C0D2-BE0DB2BB5F86}"/>
              </a:ext>
            </a:extLst>
          </p:cNvPr>
          <p:cNvSpPr>
            <a:spLocks noGrp="1"/>
          </p:cNvSpPr>
          <p:nvPr>
            <p:ph type="title"/>
          </p:nvPr>
        </p:nvSpPr>
        <p:spPr>
          <a:xfrm>
            <a:off x="1534696" y="0"/>
            <a:ext cx="9520158" cy="744279"/>
          </a:xfrm>
        </p:spPr>
        <p:txBody>
          <a:bodyPr/>
          <a:lstStyle/>
          <a:p>
            <a:r>
              <a:rPr lang="en-US" b="1" u="sng" dirty="0"/>
              <a:t>Background-color</a:t>
            </a:r>
          </a:p>
        </p:txBody>
      </p:sp>
      <p:sp>
        <p:nvSpPr>
          <p:cNvPr id="4" name="Content Placeholder 2">
            <a:extLst>
              <a:ext uri="{FF2B5EF4-FFF2-40B4-BE49-F238E27FC236}">
                <a16:creationId xmlns:a16="http://schemas.microsoft.com/office/drawing/2014/main" id="{9CC2A54A-9DF5-95BC-8CFA-CDD8E11ADB71}"/>
              </a:ext>
            </a:extLst>
          </p:cNvPr>
          <p:cNvSpPr txBox="1">
            <a:spLocks/>
          </p:cNvSpPr>
          <p:nvPr/>
        </p:nvSpPr>
        <p:spPr>
          <a:xfrm>
            <a:off x="1392866" y="988828"/>
            <a:ext cx="10568762" cy="4477517"/>
          </a:xfrm>
          <a:prstGeom prst="rect">
            <a:avLst/>
          </a:prstGeom>
        </p:spPr>
        <p:txBody>
          <a:bodyPr vert="horz" lIns="91440" tIns="45720" rIns="91440" bIns="45720" rtlCol="0" anchor="t">
            <a:no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lnSpc>
                <a:spcPct val="100000"/>
              </a:lnSpc>
              <a:buFont typeface="Wingdings 2" panose="05020102010507070707" pitchFamily="18" charset="2"/>
              <a:buNone/>
            </a:pPr>
            <a:r>
              <a:rPr lang="en-US" altLang="en-US" sz="2400" dirty="0"/>
              <a:t>The </a:t>
            </a:r>
            <a:r>
              <a:rPr lang="en-US" altLang="en-US" sz="2400" dirty="0">
                <a:solidFill>
                  <a:srgbClr val="FF0000"/>
                </a:solidFill>
              </a:rPr>
              <a:t>background-color</a:t>
            </a:r>
            <a:r>
              <a:rPr lang="en-US" altLang="en-US" sz="2400" dirty="0"/>
              <a:t> property specifies the background color of an element. Note that you can use any of the named, </a:t>
            </a:r>
            <a:r>
              <a:rPr lang="en-US" altLang="en-US" sz="2400" dirty="0" err="1"/>
              <a:t>rgb</a:t>
            </a:r>
            <a:r>
              <a:rPr lang="en-US" altLang="en-US" sz="2400" dirty="0"/>
              <a:t>, </a:t>
            </a:r>
            <a:r>
              <a:rPr lang="en-US" altLang="en-US" sz="2400" dirty="0" err="1"/>
              <a:t>rgba</a:t>
            </a:r>
            <a:r>
              <a:rPr lang="en-US" altLang="en-US" sz="2400" dirty="0"/>
              <a:t>, hex, </a:t>
            </a:r>
            <a:r>
              <a:rPr lang="en-US" altLang="en-US" sz="2400" dirty="0" err="1"/>
              <a:t>hsl</a:t>
            </a:r>
            <a:r>
              <a:rPr lang="en-US" altLang="en-US" sz="2400" dirty="0"/>
              <a:t> color methods to specify a background-color.</a:t>
            </a:r>
            <a:endParaRPr lang="en-US" altLang="en-US" sz="2400" dirty="0">
              <a:solidFill>
                <a:srgbClr val="C00000"/>
              </a:solidFill>
            </a:endParaRPr>
          </a:p>
          <a:p>
            <a:pPr marL="914400" lvl="2" indent="0">
              <a:lnSpc>
                <a:spcPct val="100000"/>
              </a:lnSpc>
              <a:buNone/>
            </a:pPr>
            <a:r>
              <a:rPr lang="en-US" altLang="en-US" sz="2000" dirty="0">
                <a:solidFill>
                  <a:srgbClr val="C00000"/>
                </a:solidFill>
              </a:rPr>
              <a:t>div</a:t>
            </a:r>
            <a:r>
              <a:rPr lang="en-US" altLang="en-US" sz="2000" dirty="0"/>
              <a:t> {</a:t>
            </a:r>
            <a:br>
              <a:rPr lang="en-US" altLang="en-US" sz="2000" dirty="0"/>
            </a:br>
            <a:r>
              <a:rPr lang="en-US" altLang="en-US" sz="2000" dirty="0"/>
              <a:t>    </a:t>
            </a:r>
            <a:r>
              <a:rPr lang="en-US" altLang="en-US" sz="2000" dirty="0">
                <a:solidFill>
                  <a:srgbClr val="FF0000"/>
                </a:solidFill>
              </a:rPr>
              <a:t>background-color</a:t>
            </a:r>
            <a:r>
              <a:rPr lang="en-US" altLang="en-US" sz="2000" dirty="0">
                <a:solidFill>
                  <a:srgbClr val="0070C0"/>
                </a:solidFill>
              </a:rPr>
              <a:t>: blue</a:t>
            </a:r>
            <a:r>
              <a:rPr lang="en-US" altLang="en-US" sz="2000" dirty="0"/>
              <a:t>;</a:t>
            </a:r>
          </a:p>
          <a:p>
            <a:pPr marL="914400" lvl="2" indent="0">
              <a:lnSpc>
                <a:spcPct val="100000"/>
              </a:lnSpc>
              <a:buNone/>
            </a:pPr>
            <a:r>
              <a:rPr lang="en-US" altLang="en-US" sz="2000" dirty="0">
                <a:solidFill>
                  <a:srgbClr val="FF0000"/>
                </a:solidFill>
              </a:rPr>
              <a:t>    opacity</a:t>
            </a:r>
            <a:r>
              <a:rPr lang="en-US" altLang="en-US" sz="2000" dirty="0">
                <a:solidFill>
                  <a:srgbClr val="0070C0"/>
                </a:solidFill>
              </a:rPr>
              <a:t>: 0.2</a:t>
            </a:r>
            <a:r>
              <a:rPr lang="en-US" altLang="en-US" sz="2000" dirty="0"/>
              <a:t>;</a:t>
            </a:r>
            <a:br>
              <a:rPr lang="en-US" altLang="en-US" sz="2000" dirty="0"/>
            </a:br>
            <a:r>
              <a:rPr lang="en-US" altLang="en-US" sz="2000" dirty="0"/>
              <a:t>}</a:t>
            </a:r>
            <a:br>
              <a:rPr lang="en-US" altLang="en-US" sz="2000" dirty="0"/>
            </a:br>
            <a:r>
              <a:rPr lang="en-US" altLang="en-US" sz="2000" dirty="0"/>
              <a:t/>
            </a:r>
            <a:br>
              <a:rPr lang="en-US" altLang="en-US" sz="2000" dirty="0"/>
            </a:br>
            <a:r>
              <a:rPr lang="en-US" altLang="en-US" sz="2000" b="1" dirty="0"/>
              <a:t>Syntax:</a:t>
            </a:r>
          </a:p>
          <a:p>
            <a:pPr marL="0" indent="0">
              <a:lnSpc>
                <a:spcPct val="100000"/>
              </a:lnSpc>
              <a:buFont typeface="Wingdings 2" panose="05020102010507070707" pitchFamily="18" charset="2"/>
              <a:buNone/>
            </a:pPr>
            <a:r>
              <a:rPr lang="en-US" altLang="en-US" sz="2400" dirty="0"/>
              <a:t>background-color: </a:t>
            </a:r>
            <a:r>
              <a:rPr lang="en-US" altLang="en-US" sz="2400" i="1" dirty="0" err="1">
                <a:solidFill>
                  <a:srgbClr val="0070C0"/>
                </a:solidFill>
              </a:rPr>
              <a:t>color</a:t>
            </a:r>
            <a:r>
              <a:rPr lang="en-US" altLang="en-US" sz="2400" dirty="0" err="1">
                <a:solidFill>
                  <a:srgbClr val="0070C0"/>
                </a:solidFill>
              </a:rPr>
              <a:t>|transparent</a:t>
            </a:r>
            <a:r>
              <a:rPr lang="en-US" altLang="en-US" sz="2400" dirty="0">
                <a:solidFill>
                  <a:srgbClr val="0070C0"/>
                </a:solidFill>
              </a:rPr>
              <a:t>.</a:t>
            </a:r>
          </a:p>
          <a:p>
            <a:pPr marL="0" indent="0">
              <a:lnSpc>
                <a:spcPct val="100000"/>
              </a:lnSpc>
              <a:buFont typeface="Wingdings 2" panose="05020102010507070707" pitchFamily="18" charset="2"/>
              <a:buNone/>
            </a:pPr>
            <a:r>
              <a:rPr lang="en-US" altLang="en-US" dirty="0"/>
              <a:t>Background color can also have the </a:t>
            </a:r>
            <a:r>
              <a:rPr lang="en-US" altLang="en-US" b="1" i="1" dirty="0"/>
              <a:t>transparent</a:t>
            </a:r>
            <a:r>
              <a:rPr lang="en-US" altLang="en-US" dirty="0"/>
              <a:t> value which makes the element have no pre-defined color. We can make the default white background of the input field to take on another color (maybe our set background-color), by setting the input field background property to transparent. input {</a:t>
            </a:r>
            <a:r>
              <a:rPr lang="en-US" altLang="en-US" dirty="0">
                <a:solidFill>
                  <a:srgbClr val="FF0000"/>
                </a:solidFill>
              </a:rPr>
              <a:t>background: transparent;</a:t>
            </a:r>
            <a:r>
              <a:rPr lang="en-US" altLang="en-US" dirty="0"/>
              <a:t>}</a:t>
            </a:r>
            <a:endParaRPr lang="en-US" altLang="en-US" dirty="0">
              <a:solidFill>
                <a:srgbClr val="FF0000"/>
              </a:solidFill>
            </a:endParaRPr>
          </a:p>
        </p:txBody>
      </p:sp>
    </p:spTree>
    <p:extLst>
      <p:ext uri="{BB962C8B-B14F-4D97-AF65-F5344CB8AC3E}">
        <p14:creationId xmlns:p14="http://schemas.microsoft.com/office/powerpoint/2010/main" val="21919787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8A2D5-A0FB-59D5-DB2E-33EDE5128258}"/>
              </a:ext>
            </a:extLst>
          </p:cNvPr>
          <p:cNvSpPr>
            <a:spLocks noGrp="1"/>
          </p:cNvSpPr>
          <p:nvPr>
            <p:ph type="title"/>
          </p:nvPr>
        </p:nvSpPr>
        <p:spPr>
          <a:xfrm>
            <a:off x="1534696" y="1"/>
            <a:ext cx="9520158" cy="609600"/>
          </a:xfrm>
        </p:spPr>
        <p:txBody>
          <a:bodyPr>
            <a:normAutofit fontScale="90000"/>
          </a:bodyPr>
          <a:lstStyle/>
          <a:p>
            <a:r>
              <a:rPr lang="en-US" b="1" u="sng" dirty="0"/>
              <a:t>Background-image</a:t>
            </a:r>
          </a:p>
        </p:txBody>
      </p:sp>
      <p:sp>
        <p:nvSpPr>
          <p:cNvPr id="3" name="Content Placeholder 2">
            <a:extLst>
              <a:ext uri="{FF2B5EF4-FFF2-40B4-BE49-F238E27FC236}">
                <a16:creationId xmlns:a16="http://schemas.microsoft.com/office/drawing/2014/main" id="{FA4ED699-8301-C4A8-B882-D5476AA958A6}"/>
              </a:ext>
            </a:extLst>
          </p:cNvPr>
          <p:cNvSpPr>
            <a:spLocks noGrp="1"/>
          </p:cNvSpPr>
          <p:nvPr>
            <p:ph idx="1"/>
          </p:nvPr>
        </p:nvSpPr>
        <p:spPr>
          <a:xfrm>
            <a:off x="1534696" y="744279"/>
            <a:ext cx="10256810" cy="4084112"/>
          </a:xfrm>
        </p:spPr>
        <p:txBody>
          <a:bodyPr>
            <a:noAutofit/>
          </a:bodyPr>
          <a:lstStyle/>
          <a:p>
            <a:pPr marL="0" indent="0">
              <a:buFont typeface="Wingdings 2" panose="05020102010507070707" pitchFamily="18" charset="2"/>
              <a:buNone/>
            </a:pPr>
            <a:r>
              <a:rPr lang="en-US" altLang="en-US" sz="2400" dirty="0"/>
              <a:t>The </a:t>
            </a:r>
            <a:r>
              <a:rPr lang="en-US" altLang="en-US" sz="2400" dirty="0">
                <a:solidFill>
                  <a:srgbClr val="FF0000"/>
                </a:solidFill>
              </a:rPr>
              <a:t>background-image</a:t>
            </a:r>
            <a:r>
              <a:rPr lang="en-US" altLang="en-US" sz="2400" dirty="0"/>
              <a:t> property specifies an image to use as the background of an element. By default, the background-image is placed at the top-left corner of an element and repeated both vertically horizontally.</a:t>
            </a:r>
          </a:p>
          <a:p>
            <a:pPr marL="0" indent="0">
              <a:buFont typeface="Wingdings 2" panose="05020102010507070707" pitchFamily="18" charset="2"/>
              <a:buNone/>
            </a:pPr>
            <a:r>
              <a:rPr lang="en-US" altLang="en-US" sz="2400" b="1" u="sng" dirty="0">
                <a:solidFill>
                  <a:srgbClr val="0070C0"/>
                </a:solidFill>
              </a:rPr>
              <a:t>NOTE</a:t>
            </a:r>
            <a:r>
              <a:rPr lang="en-US" altLang="en-US" sz="2400" dirty="0"/>
              <a:t>: Always set a background color as a fallback incase the background-image becomes unavailable for some reasons.</a:t>
            </a:r>
          </a:p>
          <a:p>
            <a:pPr marL="0" indent="0">
              <a:buFont typeface="Wingdings 2" panose="05020102010507070707" pitchFamily="18" charset="2"/>
              <a:buNone/>
            </a:pPr>
            <a:r>
              <a:rPr lang="en-US" altLang="en-US" sz="2400" b="1" dirty="0"/>
              <a:t>Example:</a:t>
            </a:r>
          </a:p>
          <a:p>
            <a:pPr marL="914400" lvl="2" indent="0">
              <a:buNone/>
            </a:pPr>
            <a:r>
              <a:rPr lang="en-US" altLang="en-US" sz="2000" dirty="0">
                <a:solidFill>
                  <a:srgbClr val="C00000"/>
                </a:solidFill>
              </a:rPr>
              <a:t>body</a:t>
            </a:r>
            <a:r>
              <a:rPr lang="en-US" altLang="en-US" sz="2000" dirty="0"/>
              <a:t> {</a:t>
            </a:r>
          </a:p>
          <a:p>
            <a:pPr marL="914400" lvl="2" indent="0">
              <a:buNone/>
            </a:pPr>
            <a:r>
              <a:rPr lang="en-US" altLang="en-US" sz="2000" dirty="0"/>
              <a:t>    </a:t>
            </a:r>
            <a:r>
              <a:rPr lang="en-US" altLang="en-US" sz="2000" dirty="0">
                <a:solidFill>
                  <a:srgbClr val="FF0000"/>
                </a:solidFill>
              </a:rPr>
              <a:t>background-image</a:t>
            </a:r>
            <a:r>
              <a:rPr lang="en-US" altLang="en-US" sz="2000" dirty="0"/>
              <a:t>: </a:t>
            </a:r>
            <a:r>
              <a:rPr lang="en-US" altLang="en-US" sz="2000" dirty="0" err="1">
                <a:solidFill>
                  <a:srgbClr val="0070C0"/>
                </a:solidFill>
              </a:rPr>
              <a:t>url</a:t>
            </a:r>
            <a:r>
              <a:rPr lang="en-US" altLang="en-US" sz="2000" dirty="0">
                <a:solidFill>
                  <a:srgbClr val="0070C0"/>
                </a:solidFill>
              </a:rPr>
              <a:t>("paper.gif")</a:t>
            </a:r>
            <a:r>
              <a:rPr lang="en-US" altLang="en-US" sz="2000" dirty="0"/>
              <a:t>;</a:t>
            </a:r>
          </a:p>
          <a:p>
            <a:pPr marL="914400" lvl="2" indent="0">
              <a:buNone/>
            </a:pPr>
            <a:r>
              <a:rPr lang="en-US" altLang="en-US" sz="2000" dirty="0"/>
              <a:t>}</a:t>
            </a:r>
          </a:p>
          <a:p>
            <a:pPr marL="0" indent="0">
              <a:buFont typeface="Wingdings 2" panose="05020102010507070707" pitchFamily="18" charset="2"/>
              <a:buNone/>
            </a:pPr>
            <a:r>
              <a:rPr lang="en-US" altLang="en-US" sz="2400" b="1" u="sng" dirty="0">
                <a:solidFill>
                  <a:srgbClr val="DA670F"/>
                </a:solidFill>
              </a:rPr>
              <a:t>Note</a:t>
            </a:r>
            <a:r>
              <a:rPr lang="en-US" altLang="en-US" sz="2400" u="sng" dirty="0">
                <a:solidFill>
                  <a:srgbClr val="DA670F"/>
                </a:solidFill>
              </a:rPr>
              <a:t>:</a:t>
            </a:r>
            <a:r>
              <a:rPr lang="en-US" altLang="en-US" sz="2400" u="sng" dirty="0"/>
              <a:t> </a:t>
            </a:r>
            <a:r>
              <a:rPr lang="en-US" altLang="en-US" sz="2400" dirty="0"/>
              <a:t>  When using a background image, use an image that does not disturb the text.</a:t>
            </a:r>
          </a:p>
          <a:p>
            <a:pPr marL="0" indent="0">
              <a:buNone/>
            </a:pPr>
            <a:endParaRPr lang="en-US" sz="2400" dirty="0"/>
          </a:p>
        </p:txBody>
      </p:sp>
    </p:spTree>
    <p:extLst>
      <p:ext uri="{BB962C8B-B14F-4D97-AF65-F5344CB8AC3E}">
        <p14:creationId xmlns:p14="http://schemas.microsoft.com/office/powerpoint/2010/main" val="10229782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FB7FE-56C3-0B9B-B3F2-2D2BD1A5E720}"/>
              </a:ext>
            </a:extLst>
          </p:cNvPr>
          <p:cNvSpPr>
            <a:spLocks noGrp="1"/>
          </p:cNvSpPr>
          <p:nvPr>
            <p:ph type="title"/>
          </p:nvPr>
        </p:nvSpPr>
        <p:spPr>
          <a:xfrm>
            <a:off x="1534696" y="1"/>
            <a:ext cx="9520158" cy="754912"/>
          </a:xfrm>
        </p:spPr>
        <p:txBody>
          <a:bodyPr/>
          <a:lstStyle/>
          <a:p>
            <a:r>
              <a:rPr lang="en-US" b="1" u="sng" dirty="0"/>
              <a:t>Background-repeat</a:t>
            </a:r>
          </a:p>
        </p:txBody>
      </p:sp>
      <p:sp>
        <p:nvSpPr>
          <p:cNvPr id="3" name="Content Placeholder 2">
            <a:extLst>
              <a:ext uri="{FF2B5EF4-FFF2-40B4-BE49-F238E27FC236}">
                <a16:creationId xmlns:a16="http://schemas.microsoft.com/office/drawing/2014/main" id="{85E9CA79-40F7-58E7-B407-65F65F518B19}"/>
              </a:ext>
            </a:extLst>
          </p:cNvPr>
          <p:cNvSpPr>
            <a:spLocks noGrp="1"/>
          </p:cNvSpPr>
          <p:nvPr>
            <p:ph idx="1"/>
          </p:nvPr>
        </p:nvSpPr>
        <p:spPr>
          <a:xfrm>
            <a:off x="1534696" y="1073888"/>
            <a:ext cx="10267444" cy="4805917"/>
          </a:xfrm>
        </p:spPr>
        <p:txBody>
          <a:bodyPr>
            <a:normAutofit fontScale="92500" lnSpcReduction="10000"/>
          </a:bodyPr>
          <a:lstStyle/>
          <a:p>
            <a:pPr marL="0" indent="0">
              <a:buFont typeface="Wingdings 2" panose="05020102010507070707" pitchFamily="18" charset="2"/>
              <a:buNone/>
            </a:pPr>
            <a:r>
              <a:rPr lang="en-US" altLang="en-US" sz="2100" dirty="0"/>
              <a:t>By default, the </a:t>
            </a:r>
            <a:r>
              <a:rPr lang="en-US" altLang="en-US" sz="2100" dirty="0">
                <a:solidFill>
                  <a:srgbClr val="FF0000"/>
                </a:solidFill>
              </a:rPr>
              <a:t>background-image</a:t>
            </a:r>
            <a:r>
              <a:rPr lang="en-US" altLang="en-US" sz="2100" dirty="0"/>
              <a:t> property repeats an image both horizontally and vertically. Some images should be repeated only horizontally or vertically, or they will look strange:</a:t>
            </a:r>
          </a:p>
          <a:p>
            <a:pPr marL="0" indent="0">
              <a:buFont typeface="Wingdings 2" panose="05020102010507070707" pitchFamily="18" charset="2"/>
              <a:buNone/>
            </a:pPr>
            <a:r>
              <a:rPr lang="en-US" altLang="en-US" sz="2100" b="1" dirty="0"/>
              <a:t>Example:</a:t>
            </a:r>
          </a:p>
          <a:p>
            <a:pPr marL="0" indent="0">
              <a:buFont typeface="Wingdings 2" panose="05020102010507070707" pitchFamily="18" charset="2"/>
              <a:buNone/>
            </a:pPr>
            <a:r>
              <a:rPr lang="en-US" altLang="en-US" dirty="0">
                <a:solidFill>
                  <a:srgbClr val="C00000"/>
                </a:solidFill>
              </a:rPr>
              <a:t>body</a:t>
            </a:r>
            <a:r>
              <a:rPr lang="en-US" altLang="en-US" dirty="0"/>
              <a:t> {</a:t>
            </a:r>
          </a:p>
          <a:p>
            <a:pPr marL="0" indent="0">
              <a:buFont typeface="Wingdings 2" panose="05020102010507070707" pitchFamily="18" charset="2"/>
              <a:buNone/>
            </a:pPr>
            <a:r>
              <a:rPr lang="en-US" altLang="en-US" dirty="0"/>
              <a:t>    </a:t>
            </a:r>
            <a:r>
              <a:rPr lang="en-US" altLang="en-US" dirty="0">
                <a:solidFill>
                  <a:srgbClr val="FF0000"/>
                </a:solidFill>
              </a:rPr>
              <a:t>background-image</a:t>
            </a:r>
            <a:r>
              <a:rPr lang="en-US" altLang="en-US" dirty="0"/>
              <a:t>: </a:t>
            </a:r>
            <a:r>
              <a:rPr lang="en-US" altLang="en-US" dirty="0" err="1">
                <a:solidFill>
                  <a:srgbClr val="0070C0"/>
                </a:solidFill>
              </a:rPr>
              <a:t>url</a:t>
            </a:r>
            <a:r>
              <a:rPr lang="en-US" altLang="en-US" dirty="0">
                <a:solidFill>
                  <a:srgbClr val="0070C0"/>
                </a:solidFill>
              </a:rPr>
              <a:t>(“alumni.png")</a:t>
            </a:r>
            <a:r>
              <a:rPr lang="en-US" altLang="en-US" dirty="0"/>
              <a:t>;</a:t>
            </a:r>
          </a:p>
          <a:p>
            <a:pPr marL="0" indent="0">
              <a:buNone/>
            </a:pPr>
            <a:r>
              <a:rPr lang="en-US" altLang="en-US" dirty="0"/>
              <a:t>    </a:t>
            </a:r>
            <a:r>
              <a:rPr lang="en-US" altLang="en-US" dirty="0">
                <a:solidFill>
                  <a:srgbClr val="FF0000"/>
                </a:solidFill>
              </a:rPr>
              <a:t>background-repeat</a:t>
            </a:r>
            <a:r>
              <a:rPr lang="en-US" altLang="en-US" dirty="0"/>
              <a:t>: </a:t>
            </a:r>
            <a:r>
              <a:rPr lang="en-US" altLang="en-US" dirty="0">
                <a:solidFill>
                  <a:srgbClr val="0070C0"/>
                </a:solidFill>
              </a:rPr>
              <a:t>repeat-x</a:t>
            </a:r>
            <a:r>
              <a:rPr lang="en-US" altLang="en-US" dirty="0"/>
              <a:t>;  OR  </a:t>
            </a:r>
            <a:r>
              <a:rPr lang="en-US" altLang="en-US" dirty="0">
                <a:solidFill>
                  <a:srgbClr val="FF0000"/>
                </a:solidFill>
              </a:rPr>
              <a:t>background-repeat</a:t>
            </a:r>
            <a:r>
              <a:rPr lang="en-US" altLang="en-US" dirty="0"/>
              <a:t>: </a:t>
            </a:r>
            <a:r>
              <a:rPr lang="en-US" altLang="en-US" dirty="0">
                <a:solidFill>
                  <a:srgbClr val="0070C0"/>
                </a:solidFill>
              </a:rPr>
              <a:t>repeat-y</a:t>
            </a:r>
            <a:r>
              <a:rPr lang="en-US" altLang="en-US" dirty="0"/>
              <a:t>;</a:t>
            </a:r>
          </a:p>
          <a:p>
            <a:pPr marL="0" indent="0">
              <a:buFont typeface="Wingdings 2" panose="05020102010507070707" pitchFamily="18" charset="2"/>
              <a:buNone/>
            </a:pPr>
            <a:r>
              <a:rPr lang="en-US" altLang="en-US" dirty="0"/>
              <a:t>}</a:t>
            </a:r>
          </a:p>
          <a:p>
            <a:pPr marL="0" indent="0">
              <a:buFont typeface="Wingdings 2" panose="05020102010507070707" pitchFamily="18" charset="2"/>
              <a:buNone/>
            </a:pPr>
            <a:r>
              <a:rPr lang="en-US" altLang="en-US" b="1" u="sng" dirty="0">
                <a:solidFill>
                  <a:srgbClr val="DA670F"/>
                </a:solidFill>
              </a:rPr>
              <a:t>Tip: </a:t>
            </a:r>
            <a:r>
              <a:rPr lang="en-US" altLang="en-US" dirty="0"/>
              <a:t>To repeat an image vertically, set background-repeat: repeat-y;</a:t>
            </a:r>
          </a:p>
          <a:p>
            <a:pPr marL="0" indent="0">
              <a:buFont typeface="Wingdings 2" panose="05020102010507070707" pitchFamily="18" charset="2"/>
              <a:buNone/>
            </a:pPr>
            <a:r>
              <a:rPr lang="en-US" altLang="en-US" dirty="0"/>
              <a:t>Also, background image can only be shown once.</a:t>
            </a:r>
          </a:p>
          <a:p>
            <a:pPr marL="0" indent="0">
              <a:buFont typeface="Wingdings 2" panose="05020102010507070707" pitchFamily="18" charset="2"/>
              <a:buNone/>
            </a:pPr>
            <a:r>
              <a:rPr lang="en-US" altLang="en-US" dirty="0"/>
              <a:t>    </a:t>
            </a:r>
            <a:r>
              <a:rPr lang="en-US" altLang="en-US" dirty="0">
                <a:solidFill>
                  <a:srgbClr val="FF0000"/>
                </a:solidFill>
              </a:rPr>
              <a:t>background-image</a:t>
            </a:r>
            <a:r>
              <a:rPr lang="en-US" altLang="en-US" dirty="0"/>
              <a:t>: </a:t>
            </a:r>
            <a:r>
              <a:rPr lang="en-US" altLang="en-US" dirty="0" err="1">
                <a:solidFill>
                  <a:srgbClr val="0070C0"/>
                </a:solidFill>
              </a:rPr>
              <a:t>url</a:t>
            </a:r>
            <a:r>
              <a:rPr lang="en-US" altLang="en-US" dirty="0">
                <a:solidFill>
                  <a:srgbClr val="0070C0"/>
                </a:solidFill>
              </a:rPr>
              <a:t>(“alumni.png");</a:t>
            </a:r>
          </a:p>
          <a:p>
            <a:pPr marL="0" indent="0">
              <a:buFont typeface="Wingdings 2" panose="05020102010507070707" pitchFamily="18" charset="2"/>
              <a:buNone/>
            </a:pPr>
            <a:r>
              <a:rPr lang="en-US" altLang="en-US" dirty="0"/>
              <a:t>    </a:t>
            </a:r>
            <a:r>
              <a:rPr lang="en-US" altLang="en-US" dirty="0">
                <a:solidFill>
                  <a:srgbClr val="FF0000"/>
                </a:solidFill>
              </a:rPr>
              <a:t>background-repeat</a:t>
            </a:r>
            <a:r>
              <a:rPr lang="en-US" altLang="en-US" dirty="0"/>
              <a:t>: </a:t>
            </a:r>
            <a:r>
              <a:rPr lang="en-US" altLang="en-US" dirty="0">
                <a:solidFill>
                  <a:srgbClr val="0070C0"/>
                </a:solidFill>
              </a:rPr>
              <a:t>no-repeat</a:t>
            </a:r>
            <a:r>
              <a:rPr lang="en-US" altLang="en-US" dirty="0"/>
              <a:t>;</a:t>
            </a:r>
          </a:p>
          <a:p>
            <a:pPr marL="0" indent="0">
              <a:buNone/>
            </a:pPr>
            <a:endParaRPr lang="en-US" dirty="0"/>
          </a:p>
        </p:txBody>
      </p:sp>
    </p:spTree>
    <p:extLst>
      <p:ext uri="{BB962C8B-B14F-4D97-AF65-F5344CB8AC3E}">
        <p14:creationId xmlns:p14="http://schemas.microsoft.com/office/powerpoint/2010/main" val="28397355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13A60-6D84-5AEC-6AED-E71BEF4FC7B6}"/>
              </a:ext>
            </a:extLst>
          </p:cNvPr>
          <p:cNvSpPr>
            <a:spLocks noGrp="1"/>
          </p:cNvSpPr>
          <p:nvPr>
            <p:ph type="title"/>
          </p:nvPr>
        </p:nvSpPr>
        <p:spPr>
          <a:xfrm>
            <a:off x="1534696" y="0"/>
            <a:ext cx="9520158" cy="701749"/>
          </a:xfrm>
        </p:spPr>
        <p:txBody>
          <a:bodyPr/>
          <a:lstStyle/>
          <a:p>
            <a:r>
              <a:rPr lang="en-US" b="1" u="sng" dirty="0"/>
              <a:t>Background-position</a:t>
            </a:r>
          </a:p>
        </p:txBody>
      </p:sp>
      <p:sp>
        <p:nvSpPr>
          <p:cNvPr id="3" name="Content Placeholder 2">
            <a:extLst>
              <a:ext uri="{FF2B5EF4-FFF2-40B4-BE49-F238E27FC236}">
                <a16:creationId xmlns:a16="http://schemas.microsoft.com/office/drawing/2014/main" id="{E174C0D9-C9CB-ADEF-B212-03840CEEF4D8}"/>
              </a:ext>
            </a:extLst>
          </p:cNvPr>
          <p:cNvSpPr>
            <a:spLocks noGrp="1"/>
          </p:cNvSpPr>
          <p:nvPr>
            <p:ph idx="1"/>
          </p:nvPr>
        </p:nvSpPr>
        <p:spPr>
          <a:xfrm>
            <a:off x="1534696" y="1031358"/>
            <a:ext cx="9746448" cy="4434987"/>
          </a:xfrm>
        </p:spPr>
        <p:txBody>
          <a:bodyPr>
            <a:noAutofit/>
          </a:bodyPr>
          <a:lstStyle/>
          <a:p>
            <a:pPr marL="0" indent="0">
              <a:buFont typeface="Wingdings 2" panose="05020102010507070707" pitchFamily="18" charset="2"/>
              <a:buNone/>
            </a:pPr>
            <a:r>
              <a:rPr lang="en-US" altLang="en-US" sz="2400" dirty="0"/>
              <a:t>The background-position property of an image specifies where the image will be positioned in our webpage.  </a:t>
            </a:r>
          </a:p>
          <a:p>
            <a:pPr marL="0" indent="0">
              <a:buFont typeface="Wingdings 2" panose="05020102010507070707" pitchFamily="18" charset="2"/>
              <a:buNone/>
            </a:pPr>
            <a:r>
              <a:rPr lang="en-GB" altLang="en-US" sz="2400" dirty="0"/>
              <a:t>Background-position: top | bottom | </a:t>
            </a:r>
            <a:r>
              <a:rPr lang="en-GB" altLang="en-US" sz="2400" dirty="0" err="1"/>
              <a:t>center</a:t>
            </a:r>
            <a:r>
              <a:rPr lang="en-GB" altLang="en-US" sz="2400" dirty="0"/>
              <a:t>  (optionally combined with left | right)</a:t>
            </a:r>
            <a:endParaRPr lang="en-US" altLang="en-US" sz="2400" dirty="0"/>
          </a:p>
          <a:p>
            <a:pPr marL="0" indent="0">
              <a:buFont typeface="Wingdings 2" panose="05020102010507070707" pitchFamily="18" charset="2"/>
              <a:buNone/>
            </a:pPr>
            <a:r>
              <a:rPr lang="en-US" altLang="en-US" sz="2400" b="1" u="sng" dirty="0"/>
              <a:t>Example:</a:t>
            </a:r>
          </a:p>
          <a:p>
            <a:pPr marL="0" indent="0">
              <a:lnSpc>
                <a:spcPct val="100000"/>
              </a:lnSpc>
              <a:buFont typeface="Wingdings 2" panose="05020102010507070707" pitchFamily="18" charset="2"/>
              <a:buNone/>
            </a:pPr>
            <a:r>
              <a:rPr lang="en-US" altLang="en-US" sz="2400" dirty="0">
                <a:solidFill>
                  <a:srgbClr val="C00000"/>
                </a:solidFill>
              </a:rPr>
              <a:t>body</a:t>
            </a:r>
            <a:r>
              <a:rPr lang="en-US" altLang="en-US" sz="2400" dirty="0"/>
              <a:t> {</a:t>
            </a:r>
          </a:p>
          <a:p>
            <a:pPr marL="0" indent="0">
              <a:lnSpc>
                <a:spcPct val="100000"/>
              </a:lnSpc>
              <a:buFont typeface="Wingdings 2" panose="05020102010507070707" pitchFamily="18" charset="2"/>
              <a:buNone/>
            </a:pPr>
            <a:r>
              <a:rPr lang="en-US" altLang="en-US" sz="2400" dirty="0"/>
              <a:t>    </a:t>
            </a:r>
            <a:r>
              <a:rPr lang="en-US" altLang="en-US" sz="2400" dirty="0">
                <a:solidFill>
                  <a:srgbClr val="FF0000"/>
                </a:solidFill>
              </a:rPr>
              <a:t>background-image</a:t>
            </a:r>
            <a:r>
              <a:rPr lang="en-US" altLang="en-US" sz="2400" dirty="0"/>
              <a:t>: </a:t>
            </a:r>
            <a:r>
              <a:rPr lang="en-US" altLang="en-US" sz="2400" dirty="0" err="1">
                <a:solidFill>
                  <a:srgbClr val="0070C0"/>
                </a:solidFill>
              </a:rPr>
              <a:t>url</a:t>
            </a:r>
            <a:r>
              <a:rPr lang="en-US" altLang="en-US" sz="2400" dirty="0">
                <a:solidFill>
                  <a:srgbClr val="0070C0"/>
                </a:solidFill>
              </a:rPr>
              <a:t>("img_tree.png")</a:t>
            </a:r>
            <a:r>
              <a:rPr lang="en-US" altLang="en-US" sz="2400" dirty="0"/>
              <a:t>;</a:t>
            </a:r>
          </a:p>
          <a:p>
            <a:pPr marL="0" indent="0">
              <a:lnSpc>
                <a:spcPct val="100000"/>
              </a:lnSpc>
              <a:buFont typeface="Wingdings 2" panose="05020102010507070707" pitchFamily="18" charset="2"/>
              <a:buNone/>
            </a:pPr>
            <a:r>
              <a:rPr lang="en-US" altLang="en-US" sz="2400" dirty="0"/>
              <a:t>    </a:t>
            </a:r>
            <a:r>
              <a:rPr lang="en-US" altLang="en-US" sz="2400" dirty="0">
                <a:solidFill>
                  <a:srgbClr val="FF0000"/>
                </a:solidFill>
              </a:rPr>
              <a:t>background-repeat</a:t>
            </a:r>
            <a:r>
              <a:rPr lang="en-US" altLang="en-US" sz="2400" dirty="0"/>
              <a:t>: </a:t>
            </a:r>
            <a:r>
              <a:rPr lang="en-US" altLang="en-US" sz="2400" dirty="0">
                <a:solidFill>
                  <a:srgbClr val="0070C0"/>
                </a:solidFill>
              </a:rPr>
              <a:t>no-repeat</a:t>
            </a:r>
            <a:r>
              <a:rPr lang="en-US" altLang="en-US" sz="2400" dirty="0"/>
              <a:t>;</a:t>
            </a:r>
          </a:p>
          <a:p>
            <a:pPr marL="0" indent="0">
              <a:lnSpc>
                <a:spcPct val="100000"/>
              </a:lnSpc>
              <a:buFont typeface="Wingdings 2" panose="05020102010507070707" pitchFamily="18" charset="2"/>
              <a:buNone/>
            </a:pPr>
            <a:r>
              <a:rPr lang="en-US" altLang="en-US" sz="2400" dirty="0"/>
              <a:t>    </a:t>
            </a:r>
            <a:r>
              <a:rPr lang="en-US" altLang="en-US" sz="2400" dirty="0">
                <a:solidFill>
                  <a:srgbClr val="FF0000"/>
                </a:solidFill>
              </a:rPr>
              <a:t>background-position</a:t>
            </a:r>
            <a:r>
              <a:rPr lang="en-US" altLang="en-US" sz="2400" dirty="0"/>
              <a:t>: </a:t>
            </a:r>
            <a:r>
              <a:rPr lang="en-US" altLang="en-US" sz="2400" dirty="0">
                <a:solidFill>
                  <a:srgbClr val="0070C0"/>
                </a:solidFill>
              </a:rPr>
              <a:t>right top</a:t>
            </a:r>
            <a:r>
              <a:rPr lang="en-US" altLang="en-US" sz="2400" dirty="0"/>
              <a:t>;</a:t>
            </a:r>
          </a:p>
          <a:p>
            <a:pPr marL="0" indent="0">
              <a:lnSpc>
                <a:spcPct val="100000"/>
              </a:lnSpc>
              <a:buFont typeface="Wingdings 2" panose="05020102010507070707" pitchFamily="18" charset="2"/>
              <a:buNone/>
            </a:pPr>
            <a:r>
              <a:rPr lang="en-US" altLang="en-US" sz="2400" dirty="0"/>
              <a:t>}</a:t>
            </a:r>
          </a:p>
          <a:p>
            <a:pPr marL="0" indent="0">
              <a:buNone/>
            </a:pPr>
            <a:endParaRPr lang="en-US" sz="2400" dirty="0"/>
          </a:p>
        </p:txBody>
      </p:sp>
    </p:spTree>
    <p:extLst>
      <p:ext uri="{BB962C8B-B14F-4D97-AF65-F5344CB8AC3E}">
        <p14:creationId xmlns:p14="http://schemas.microsoft.com/office/powerpoint/2010/main" val="18897448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25B24-AA19-1E54-09CD-23D4C32173E5}"/>
              </a:ext>
            </a:extLst>
          </p:cNvPr>
          <p:cNvSpPr>
            <a:spLocks noGrp="1"/>
          </p:cNvSpPr>
          <p:nvPr>
            <p:ph type="title"/>
          </p:nvPr>
        </p:nvSpPr>
        <p:spPr>
          <a:xfrm>
            <a:off x="1534696" y="0"/>
            <a:ext cx="9520158" cy="935665"/>
          </a:xfrm>
        </p:spPr>
        <p:txBody>
          <a:bodyPr/>
          <a:lstStyle/>
          <a:p>
            <a:r>
              <a:rPr lang="en-US" b="1" u="sng" dirty="0"/>
              <a:t>Background-attachment</a:t>
            </a:r>
          </a:p>
        </p:txBody>
      </p:sp>
      <p:sp>
        <p:nvSpPr>
          <p:cNvPr id="3" name="Content Placeholder 2">
            <a:extLst>
              <a:ext uri="{FF2B5EF4-FFF2-40B4-BE49-F238E27FC236}">
                <a16:creationId xmlns:a16="http://schemas.microsoft.com/office/drawing/2014/main" id="{147F961D-259A-7EEE-B803-85B186F0C6D6}"/>
              </a:ext>
            </a:extLst>
          </p:cNvPr>
          <p:cNvSpPr>
            <a:spLocks noGrp="1"/>
          </p:cNvSpPr>
          <p:nvPr>
            <p:ph idx="1"/>
          </p:nvPr>
        </p:nvSpPr>
        <p:spPr>
          <a:xfrm>
            <a:off x="1534696" y="1127052"/>
            <a:ext cx="9520158" cy="4774018"/>
          </a:xfrm>
        </p:spPr>
        <p:txBody>
          <a:bodyPr>
            <a:normAutofit/>
          </a:bodyPr>
          <a:lstStyle/>
          <a:p>
            <a:pPr marL="0" indent="0">
              <a:buFont typeface="Wingdings 2" panose="05020102010507070707" pitchFamily="18" charset="2"/>
              <a:buNone/>
            </a:pPr>
            <a:r>
              <a:rPr lang="en-US" altLang="en-US" sz="2400" dirty="0"/>
              <a:t>The background-attachment property specifies whether the background image should be fixed or scroll (i.e. will not scroll with the rest of the page)</a:t>
            </a:r>
          </a:p>
          <a:p>
            <a:pPr marL="0" indent="0">
              <a:buFont typeface="Wingdings 2" panose="05020102010507070707" pitchFamily="18" charset="2"/>
              <a:buNone/>
            </a:pPr>
            <a:r>
              <a:rPr lang="en-US" altLang="en-US" sz="2400" b="1" dirty="0"/>
              <a:t>Example:</a:t>
            </a:r>
          </a:p>
          <a:p>
            <a:pPr marL="0" indent="0">
              <a:buFont typeface="Wingdings 2" panose="05020102010507070707" pitchFamily="18" charset="2"/>
              <a:buNone/>
            </a:pPr>
            <a:r>
              <a:rPr lang="en-US" altLang="en-US" sz="2000" dirty="0">
                <a:solidFill>
                  <a:srgbClr val="C00000"/>
                </a:solidFill>
              </a:rPr>
              <a:t>body</a:t>
            </a:r>
            <a:r>
              <a:rPr lang="en-US" altLang="en-US" sz="2000" dirty="0"/>
              <a:t> {</a:t>
            </a:r>
          </a:p>
          <a:p>
            <a:pPr marL="0" indent="0">
              <a:buFont typeface="Wingdings 2" panose="05020102010507070707" pitchFamily="18" charset="2"/>
              <a:buNone/>
            </a:pPr>
            <a:r>
              <a:rPr lang="en-US" altLang="en-US" sz="2000" dirty="0"/>
              <a:t>    </a:t>
            </a:r>
            <a:r>
              <a:rPr lang="en-US" altLang="en-US" sz="2000" dirty="0">
                <a:solidFill>
                  <a:srgbClr val="FF0000"/>
                </a:solidFill>
              </a:rPr>
              <a:t>background-image</a:t>
            </a:r>
            <a:r>
              <a:rPr lang="en-US" altLang="en-US" sz="2000" dirty="0"/>
              <a:t>: </a:t>
            </a:r>
            <a:r>
              <a:rPr lang="en-US" altLang="en-US" sz="2000" dirty="0" err="1">
                <a:solidFill>
                  <a:srgbClr val="0070C0"/>
                </a:solidFill>
              </a:rPr>
              <a:t>url</a:t>
            </a:r>
            <a:r>
              <a:rPr lang="en-US" altLang="en-US" sz="2000" dirty="0">
                <a:solidFill>
                  <a:srgbClr val="0070C0"/>
                </a:solidFill>
              </a:rPr>
              <a:t>("img_tree.png")</a:t>
            </a:r>
            <a:r>
              <a:rPr lang="en-US" altLang="en-US" sz="2000" dirty="0"/>
              <a:t>;</a:t>
            </a:r>
          </a:p>
          <a:p>
            <a:pPr marL="0" indent="0">
              <a:buFont typeface="Wingdings 2" panose="05020102010507070707" pitchFamily="18" charset="2"/>
              <a:buNone/>
            </a:pPr>
            <a:r>
              <a:rPr lang="en-US" altLang="en-US" sz="2000" dirty="0"/>
              <a:t>    </a:t>
            </a:r>
            <a:r>
              <a:rPr lang="en-US" altLang="en-US" sz="2000" dirty="0">
                <a:solidFill>
                  <a:srgbClr val="FF0000"/>
                </a:solidFill>
              </a:rPr>
              <a:t>background-repeat</a:t>
            </a:r>
            <a:r>
              <a:rPr lang="en-US" altLang="en-US" sz="2000" dirty="0"/>
              <a:t>: </a:t>
            </a:r>
            <a:r>
              <a:rPr lang="en-US" altLang="en-US" sz="2000" dirty="0">
                <a:solidFill>
                  <a:srgbClr val="0070C0"/>
                </a:solidFill>
              </a:rPr>
              <a:t>no-repeat</a:t>
            </a:r>
            <a:r>
              <a:rPr lang="en-US" altLang="en-US" sz="2000" dirty="0"/>
              <a:t>;</a:t>
            </a:r>
          </a:p>
          <a:p>
            <a:pPr marL="0" indent="0">
              <a:buFont typeface="Wingdings 2" panose="05020102010507070707" pitchFamily="18" charset="2"/>
              <a:buNone/>
            </a:pPr>
            <a:r>
              <a:rPr lang="en-US" altLang="en-US" sz="2000" dirty="0"/>
              <a:t>    </a:t>
            </a:r>
            <a:r>
              <a:rPr lang="en-US" altLang="en-US" sz="2000" dirty="0">
                <a:solidFill>
                  <a:srgbClr val="FF0000"/>
                </a:solidFill>
              </a:rPr>
              <a:t>background-position</a:t>
            </a:r>
            <a:r>
              <a:rPr lang="en-US" altLang="en-US" sz="2000" dirty="0"/>
              <a:t>: </a:t>
            </a:r>
            <a:r>
              <a:rPr lang="en-US" altLang="en-US" sz="2000" dirty="0">
                <a:solidFill>
                  <a:srgbClr val="0070C0"/>
                </a:solidFill>
              </a:rPr>
              <a:t>right top</a:t>
            </a:r>
            <a:r>
              <a:rPr lang="en-US" altLang="en-US" sz="2000" dirty="0"/>
              <a:t>;</a:t>
            </a:r>
          </a:p>
          <a:p>
            <a:pPr marL="0" indent="0">
              <a:buFont typeface="Wingdings 2" panose="05020102010507070707" pitchFamily="18" charset="2"/>
              <a:buNone/>
            </a:pPr>
            <a:r>
              <a:rPr lang="en-US" altLang="en-US" sz="2000" dirty="0"/>
              <a:t>    </a:t>
            </a:r>
            <a:r>
              <a:rPr lang="en-US" altLang="en-US" sz="2000" dirty="0">
                <a:solidFill>
                  <a:srgbClr val="FF0000"/>
                </a:solidFill>
              </a:rPr>
              <a:t>background-attachment</a:t>
            </a:r>
            <a:r>
              <a:rPr lang="en-US" altLang="en-US" sz="2000" dirty="0"/>
              <a:t>: </a:t>
            </a:r>
            <a:r>
              <a:rPr lang="en-US" altLang="en-US" sz="2000" dirty="0">
                <a:solidFill>
                  <a:srgbClr val="0070C0"/>
                </a:solidFill>
              </a:rPr>
              <a:t>fixed</a:t>
            </a:r>
            <a:r>
              <a:rPr lang="en-US" altLang="en-US" sz="2000" dirty="0"/>
              <a:t>;</a:t>
            </a:r>
          </a:p>
          <a:p>
            <a:pPr marL="0" indent="0">
              <a:buFont typeface="Wingdings 2" panose="05020102010507070707" pitchFamily="18" charset="2"/>
              <a:buNone/>
            </a:pPr>
            <a:r>
              <a:rPr lang="en-US" altLang="en-US" sz="2000" dirty="0"/>
              <a:t>}</a:t>
            </a:r>
          </a:p>
          <a:p>
            <a:pPr marL="0" indent="0">
              <a:buFont typeface="Wingdings 2" panose="05020102010507070707" pitchFamily="18" charset="2"/>
              <a:buNone/>
            </a:pPr>
            <a:r>
              <a:rPr lang="en-US" altLang="en-US" sz="2000" b="1" dirty="0"/>
              <a:t>Syntax:</a:t>
            </a:r>
          </a:p>
          <a:p>
            <a:pPr marL="0" indent="0">
              <a:buFont typeface="Wingdings 2" panose="05020102010507070707" pitchFamily="18" charset="2"/>
              <a:buNone/>
            </a:pPr>
            <a:r>
              <a:rPr lang="en-US" altLang="en-US" sz="2000" dirty="0"/>
              <a:t>background-attachment: </a:t>
            </a:r>
            <a:r>
              <a:rPr lang="en-US" altLang="en-US" sz="2000" i="1" dirty="0" err="1"/>
              <a:t>scroll</a:t>
            </a:r>
            <a:r>
              <a:rPr lang="en-US" altLang="en-US" sz="2000" dirty="0" err="1"/>
              <a:t>|fixed</a:t>
            </a:r>
            <a:endParaRPr lang="en-US" altLang="en-US" sz="2000" dirty="0"/>
          </a:p>
          <a:p>
            <a:pPr marL="0" indent="0">
              <a:buNone/>
            </a:pPr>
            <a:endParaRPr lang="en-US" dirty="0"/>
          </a:p>
        </p:txBody>
      </p:sp>
    </p:spTree>
    <p:extLst>
      <p:ext uri="{BB962C8B-B14F-4D97-AF65-F5344CB8AC3E}">
        <p14:creationId xmlns:p14="http://schemas.microsoft.com/office/powerpoint/2010/main" val="14040270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B466A-4B05-0652-BED1-62A3FF20C44F}"/>
              </a:ext>
            </a:extLst>
          </p:cNvPr>
          <p:cNvSpPr>
            <a:spLocks noGrp="1"/>
          </p:cNvSpPr>
          <p:nvPr>
            <p:ph type="title"/>
          </p:nvPr>
        </p:nvSpPr>
        <p:spPr>
          <a:xfrm>
            <a:off x="1534696" y="1"/>
            <a:ext cx="9520158" cy="512063"/>
          </a:xfrm>
        </p:spPr>
        <p:txBody>
          <a:bodyPr>
            <a:normAutofit fontScale="90000"/>
          </a:bodyPr>
          <a:lstStyle/>
          <a:p>
            <a:r>
              <a:rPr lang="en-US" b="1" u="sng" dirty="0"/>
              <a:t>Background-size</a:t>
            </a:r>
          </a:p>
        </p:txBody>
      </p:sp>
      <p:sp>
        <p:nvSpPr>
          <p:cNvPr id="3" name="Content Placeholder 2">
            <a:extLst>
              <a:ext uri="{FF2B5EF4-FFF2-40B4-BE49-F238E27FC236}">
                <a16:creationId xmlns:a16="http://schemas.microsoft.com/office/drawing/2014/main" id="{C2CEA529-01E2-DACC-E0D2-74C42F7D7C95}"/>
              </a:ext>
            </a:extLst>
          </p:cNvPr>
          <p:cNvSpPr>
            <a:spLocks noGrp="1"/>
          </p:cNvSpPr>
          <p:nvPr>
            <p:ph idx="1"/>
          </p:nvPr>
        </p:nvSpPr>
        <p:spPr>
          <a:xfrm>
            <a:off x="1534696" y="512064"/>
            <a:ext cx="10097323" cy="5583936"/>
          </a:xfrm>
        </p:spPr>
        <p:txBody>
          <a:bodyPr>
            <a:normAutofit/>
          </a:bodyPr>
          <a:lstStyle/>
          <a:p>
            <a:pPr marL="0" indent="0">
              <a:buFont typeface="Wingdings 2" panose="05020102010507070707" pitchFamily="18" charset="2"/>
              <a:buNone/>
            </a:pPr>
            <a:r>
              <a:rPr lang="en-US" altLang="en-US" sz="2200" dirty="0"/>
              <a:t>The background-size property specifies the size of the background image. This can be set using pixel. Width first 700px and height 500px. </a:t>
            </a:r>
          </a:p>
          <a:p>
            <a:pPr marL="0" indent="0">
              <a:buFont typeface="Wingdings 2" panose="05020102010507070707" pitchFamily="18" charset="2"/>
              <a:buNone/>
            </a:pPr>
            <a:r>
              <a:rPr lang="en-US" altLang="en-US" sz="2200" b="1" dirty="0"/>
              <a:t>Example:</a:t>
            </a:r>
          </a:p>
          <a:p>
            <a:pPr marL="2286000" lvl="5" indent="0">
              <a:buNone/>
            </a:pPr>
            <a:r>
              <a:rPr lang="en-US" altLang="en-US" b="1" dirty="0">
                <a:solidFill>
                  <a:srgbClr val="C00000"/>
                </a:solidFill>
              </a:rPr>
              <a:t>body</a:t>
            </a:r>
            <a:r>
              <a:rPr lang="en-US" altLang="en-US" b="1" dirty="0"/>
              <a:t> {</a:t>
            </a:r>
          </a:p>
          <a:p>
            <a:pPr marL="2286000" lvl="5" indent="0">
              <a:buNone/>
            </a:pPr>
            <a:r>
              <a:rPr lang="en-US" altLang="en-US" b="1" dirty="0"/>
              <a:t>    </a:t>
            </a:r>
            <a:r>
              <a:rPr lang="en-US" altLang="en-US" b="1" dirty="0">
                <a:solidFill>
                  <a:srgbClr val="FF0000"/>
                </a:solidFill>
              </a:rPr>
              <a:t>background-image</a:t>
            </a:r>
            <a:r>
              <a:rPr lang="en-US" altLang="en-US" b="1" dirty="0"/>
              <a:t>: </a:t>
            </a:r>
            <a:r>
              <a:rPr lang="en-US" altLang="en-US" b="1" dirty="0" err="1">
                <a:solidFill>
                  <a:srgbClr val="0070C0"/>
                </a:solidFill>
              </a:rPr>
              <a:t>url</a:t>
            </a:r>
            <a:r>
              <a:rPr lang="en-US" altLang="en-US" b="1" dirty="0">
                <a:solidFill>
                  <a:srgbClr val="0070C0"/>
                </a:solidFill>
              </a:rPr>
              <a:t>("img_tree.png")</a:t>
            </a:r>
            <a:r>
              <a:rPr lang="en-US" altLang="en-US" b="1" dirty="0"/>
              <a:t>;</a:t>
            </a:r>
          </a:p>
          <a:p>
            <a:pPr marL="2286000" lvl="5" indent="0">
              <a:buNone/>
            </a:pPr>
            <a:r>
              <a:rPr lang="en-US" altLang="en-US" b="1" dirty="0"/>
              <a:t>    </a:t>
            </a:r>
            <a:r>
              <a:rPr lang="en-US" altLang="en-US" b="1" dirty="0">
                <a:solidFill>
                  <a:srgbClr val="FF0000"/>
                </a:solidFill>
              </a:rPr>
              <a:t>background-repeat</a:t>
            </a:r>
            <a:r>
              <a:rPr lang="en-US" altLang="en-US" b="1" dirty="0"/>
              <a:t>: </a:t>
            </a:r>
            <a:r>
              <a:rPr lang="en-US" altLang="en-US" b="1" dirty="0">
                <a:solidFill>
                  <a:srgbClr val="0070C0"/>
                </a:solidFill>
              </a:rPr>
              <a:t>no-repeat</a:t>
            </a:r>
            <a:r>
              <a:rPr lang="en-US" altLang="en-US" b="1" dirty="0"/>
              <a:t>;</a:t>
            </a:r>
          </a:p>
          <a:p>
            <a:pPr marL="2286000" lvl="5" indent="0">
              <a:buNone/>
            </a:pPr>
            <a:r>
              <a:rPr lang="en-US" altLang="en-US" b="1" dirty="0"/>
              <a:t>    </a:t>
            </a:r>
            <a:r>
              <a:rPr lang="en-US" altLang="en-US" b="1" dirty="0">
                <a:solidFill>
                  <a:srgbClr val="FF0000"/>
                </a:solidFill>
              </a:rPr>
              <a:t>background-attachment</a:t>
            </a:r>
            <a:r>
              <a:rPr lang="en-US" altLang="en-US" b="1" dirty="0"/>
              <a:t>: </a:t>
            </a:r>
            <a:r>
              <a:rPr lang="en-US" altLang="en-US" b="1" dirty="0">
                <a:solidFill>
                  <a:srgbClr val="0070C0"/>
                </a:solidFill>
              </a:rPr>
              <a:t>fixed</a:t>
            </a:r>
            <a:r>
              <a:rPr lang="en-US" altLang="en-US" b="1" dirty="0"/>
              <a:t>;</a:t>
            </a:r>
          </a:p>
          <a:p>
            <a:pPr marL="2286000" lvl="5" indent="0">
              <a:buNone/>
            </a:pPr>
            <a:r>
              <a:rPr lang="en-US" altLang="en-US" b="1" dirty="0">
                <a:solidFill>
                  <a:srgbClr val="FF0000"/>
                </a:solidFill>
              </a:rPr>
              <a:t>    background-size</a:t>
            </a:r>
            <a:r>
              <a:rPr lang="en-US" altLang="en-US" b="1" dirty="0"/>
              <a:t>: </a:t>
            </a:r>
            <a:r>
              <a:rPr lang="en-US" altLang="en-US" b="1" dirty="0">
                <a:solidFill>
                  <a:srgbClr val="0070C0"/>
                </a:solidFill>
              </a:rPr>
              <a:t>700px  500px; </a:t>
            </a:r>
          </a:p>
          <a:p>
            <a:pPr marL="2286000" lvl="5" indent="0">
              <a:buNone/>
            </a:pPr>
            <a:r>
              <a:rPr lang="en-US" altLang="en-US" b="1" dirty="0"/>
              <a:t>}</a:t>
            </a:r>
          </a:p>
          <a:p>
            <a:pPr marL="0" indent="0">
              <a:buFont typeface="Wingdings 2" panose="05020102010507070707" pitchFamily="18" charset="2"/>
              <a:buNone/>
            </a:pPr>
            <a:r>
              <a:rPr lang="en-US" altLang="en-US" sz="2000" dirty="0">
                <a:solidFill>
                  <a:srgbClr val="0070C0"/>
                </a:solidFill>
              </a:rPr>
              <a:t>Othe</a:t>
            </a:r>
            <a:r>
              <a:rPr lang="en-US" altLang="en-US" dirty="0">
                <a:solidFill>
                  <a:srgbClr val="0070C0"/>
                </a:solidFill>
              </a:rPr>
              <a:t>r background-size values are: </a:t>
            </a:r>
            <a:r>
              <a:rPr lang="en-US" altLang="en-US" sz="2000" dirty="0"/>
              <a:t>background-size:  auto | cover | contain | width height</a:t>
            </a:r>
          </a:p>
          <a:p>
            <a:pPr marL="0" indent="0">
              <a:buNone/>
            </a:pPr>
            <a:r>
              <a:rPr lang="en-US" dirty="0"/>
              <a:t>The </a:t>
            </a:r>
            <a:r>
              <a:rPr lang="en-US" b="1" i="1" u="sng" dirty="0"/>
              <a:t>cover</a:t>
            </a:r>
            <a:r>
              <a:rPr lang="en-US" dirty="0"/>
              <a:t> value tells the browser to cover the whole area of an element while the </a:t>
            </a:r>
            <a:r>
              <a:rPr lang="en-US" b="1" i="1" u="sng" dirty="0"/>
              <a:t>contain</a:t>
            </a:r>
            <a:r>
              <a:rPr lang="en-US" dirty="0"/>
              <a:t> tell the browser to show the whole image. The </a:t>
            </a:r>
            <a:r>
              <a:rPr lang="en-US" b="1" i="1" u="sng" dirty="0"/>
              <a:t>auto </a:t>
            </a:r>
            <a:r>
              <a:rPr lang="en-US" dirty="0"/>
              <a:t>tells the browser to calculate the size based on the actual size of the image. It fits automatically.</a:t>
            </a:r>
            <a:endParaRPr lang="en-US" b="1" i="1" u="sng" dirty="0"/>
          </a:p>
        </p:txBody>
      </p:sp>
    </p:spTree>
    <p:extLst>
      <p:ext uri="{BB962C8B-B14F-4D97-AF65-F5344CB8AC3E}">
        <p14:creationId xmlns:p14="http://schemas.microsoft.com/office/powerpoint/2010/main" val="32384921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43B8C-9910-7699-3896-F5F2EC39F322}"/>
              </a:ext>
            </a:extLst>
          </p:cNvPr>
          <p:cNvSpPr>
            <a:spLocks noGrp="1"/>
          </p:cNvSpPr>
          <p:nvPr>
            <p:ph type="title"/>
          </p:nvPr>
        </p:nvSpPr>
        <p:spPr>
          <a:xfrm>
            <a:off x="1534696" y="0"/>
            <a:ext cx="9520158" cy="850605"/>
          </a:xfrm>
        </p:spPr>
        <p:txBody>
          <a:bodyPr>
            <a:normAutofit/>
          </a:bodyPr>
          <a:lstStyle/>
          <a:p>
            <a:r>
              <a:rPr lang="en-US" sz="4000" dirty="0"/>
              <a:t>Background Shorthand</a:t>
            </a:r>
          </a:p>
        </p:txBody>
      </p:sp>
      <p:sp>
        <p:nvSpPr>
          <p:cNvPr id="3" name="Content Placeholder 2">
            <a:extLst>
              <a:ext uri="{FF2B5EF4-FFF2-40B4-BE49-F238E27FC236}">
                <a16:creationId xmlns:a16="http://schemas.microsoft.com/office/drawing/2014/main" id="{7F8AB247-44DD-FCF5-84D8-EF4D3E0D1A44}"/>
              </a:ext>
            </a:extLst>
          </p:cNvPr>
          <p:cNvSpPr>
            <a:spLocks noGrp="1"/>
          </p:cNvSpPr>
          <p:nvPr>
            <p:ph idx="1"/>
          </p:nvPr>
        </p:nvSpPr>
        <p:spPr>
          <a:xfrm>
            <a:off x="1534695" y="999460"/>
            <a:ext cx="10490727" cy="4912242"/>
          </a:xfrm>
        </p:spPr>
        <p:txBody>
          <a:bodyPr>
            <a:noAutofit/>
          </a:bodyPr>
          <a:lstStyle/>
          <a:p>
            <a:r>
              <a:rPr lang="en-US" altLang="en-US" sz="2200" dirty="0">
                <a:solidFill>
                  <a:schemeClr val="accent5">
                    <a:lumMod val="75000"/>
                  </a:schemeClr>
                </a:solidFill>
                <a:latin typeface="Consolas" panose="020B0609020204030204" pitchFamily="49" charset="0"/>
                <a:ea typeface="Verdana" panose="020B0604030504040204" pitchFamily="34" charset="0"/>
                <a:cs typeface="Courier New" panose="02070309020205020404" pitchFamily="49" charset="0"/>
              </a:rPr>
              <a:t>background-color</a:t>
            </a:r>
          </a:p>
          <a:p>
            <a:r>
              <a:rPr lang="en-US" altLang="en-US" sz="2200" dirty="0">
                <a:solidFill>
                  <a:schemeClr val="accent5">
                    <a:lumMod val="75000"/>
                  </a:schemeClr>
                </a:solidFill>
                <a:latin typeface="Consolas" panose="020B0609020204030204" pitchFamily="49" charset="0"/>
                <a:ea typeface="Verdana" panose="020B0604030504040204" pitchFamily="34" charset="0"/>
                <a:cs typeface="Courier New" panose="02070309020205020404" pitchFamily="49" charset="0"/>
              </a:rPr>
              <a:t>background-image</a:t>
            </a:r>
          </a:p>
          <a:p>
            <a:r>
              <a:rPr lang="en-US" altLang="en-US" sz="2200" dirty="0">
                <a:solidFill>
                  <a:schemeClr val="accent5">
                    <a:lumMod val="75000"/>
                  </a:schemeClr>
                </a:solidFill>
                <a:latin typeface="Consolas" panose="020B0609020204030204" pitchFamily="49" charset="0"/>
                <a:ea typeface="Verdana" panose="020B0604030504040204" pitchFamily="34" charset="0"/>
                <a:cs typeface="Courier New" panose="02070309020205020404" pitchFamily="49" charset="0"/>
              </a:rPr>
              <a:t>background-position</a:t>
            </a:r>
          </a:p>
          <a:p>
            <a:r>
              <a:rPr lang="en-GB" altLang="en-US" sz="2200" dirty="0">
                <a:solidFill>
                  <a:schemeClr val="accent5">
                    <a:lumMod val="75000"/>
                  </a:schemeClr>
                </a:solidFill>
                <a:latin typeface="Consolas" panose="020B0609020204030204" pitchFamily="49" charset="0"/>
                <a:ea typeface="Verdana" panose="020B0604030504040204" pitchFamily="34" charset="0"/>
                <a:cs typeface="Courier New" panose="02070309020205020404" pitchFamily="49" charset="0"/>
              </a:rPr>
              <a:t>Background-size</a:t>
            </a:r>
            <a:endParaRPr lang="en-US" altLang="en-US" sz="2200" dirty="0">
              <a:solidFill>
                <a:schemeClr val="accent5">
                  <a:lumMod val="75000"/>
                </a:schemeClr>
              </a:solidFill>
              <a:latin typeface="Consolas" panose="020B0609020204030204" pitchFamily="49" charset="0"/>
              <a:ea typeface="Verdana" panose="020B0604030504040204" pitchFamily="34" charset="0"/>
              <a:cs typeface="Courier New" panose="02070309020205020404" pitchFamily="49" charset="0"/>
            </a:endParaRPr>
          </a:p>
          <a:p>
            <a:r>
              <a:rPr lang="en-US" altLang="en-US" sz="2200" dirty="0">
                <a:solidFill>
                  <a:schemeClr val="accent5">
                    <a:lumMod val="75000"/>
                  </a:schemeClr>
                </a:solidFill>
                <a:latin typeface="Consolas" panose="020B0609020204030204" pitchFamily="49" charset="0"/>
                <a:ea typeface="Verdana" panose="020B0604030504040204" pitchFamily="34" charset="0"/>
                <a:cs typeface="Courier New" panose="02070309020205020404" pitchFamily="49" charset="0"/>
              </a:rPr>
              <a:t>background-repeat</a:t>
            </a:r>
          </a:p>
          <a:p>
            <a:r>
              <a:rPr lang="en-US" altLang="en-US" sz="2200" dirty="0">
                <a:solidFill>
                  <a:schemeClr val="accent5">
                    <a:lumMod val="75000"/>
                  </a:schemeClr>
                </a:solidFill>
                <a:latin typeface="Consolas" panose="020B0609020204030204" pitchFamily="49" charset="0"/>
                <a:ea typeface="Verdana" panose="020B0604030504040204" pitchFamily="34" charset="0"/>
                <a:cs typeface="Courier New" panose="02070309020205020404" pitchFamily="49" charset="0"/>
              </a:rPr>
              <a:t>background-attachment</a:t>
            </a:r>
          </a:p>
          <a:p>
            <a:pPr lvl="1">
              <a:buNone/>
            </a:pPr>
            <a:r>
              <a:rPr lang="en-US" altLang="en-US" sz="2000" b="1" dirty="0">
                <a:solidFill>
                  <a:srgbClr val="C00000"/>
                </a:solidFill>
                <a:latin typeface="Consolas" panose="020B0609020204030204" pitchFamily="49" charset="0"/>
                <a:ea typeface="Verdana" panose="020B0604030504040204" pitchFamily="34" charset="0"/>
                <a:cs typeface="Courier New" panose="02070309020205020404" pitchFamily="49" charset="0"/>
              </a:rPr>
              <a:t>body{</a:t>
            </a:r>
          </a:p>
          <a:p>
            <a:pPr lvl="1">
              <a:buNone/>
            </a:pPr>
            <a:r>
              <a:rPr lang="en-US" altLang="en-US" sz="2000" b="1" dirty="0">
                <a:solidFill>
                  <a:srgbClr val="C00000"/>
                </a:solidFill>
                <a:latin typeface="Consolas" panose="020B0609020204030204" pitchFamily="49" charset="0"/>
                <a:ea typeface="Verdana" panose="020B0604030504040204" pitchFamily="34" charset="0"/>
                <a:cs typeface="Courier New" panose="02070309020205020404" pitchFamily="49" charset="0"/>
              </a:rPr>
              <a:t> background: </a:t>
            </a:r>
            <a:r>
              <a:rPr lang="en-US" altLang="en-US" sz="2000" b="1" dirty="0">
                <a:solidFill>
                  <a:schemeClr val="accent5">
                    <a:lumMod val="75000"/>
                  </a:schemeClr>
                </a:solidFill>
                <a:latin typeface="Consolas" panose="020B0609020204030204" pitchFamily="49" charset="0"/>
                <a:ea typeface="Verdana" panose="020B0604030504040204" pitchFamily="34" charset="0"/>
                <a:cs typeface="Courier New" panose="02070309020205020404" pitchFamily="49" charset="0"/>
              </a:rPr>
              <a:t>#</a:t>
            </a:r>
            <a:r>
              <a:rPr lang="en-US" altLang="en-US" sz="2000" b="1" u="sng" dirty="0">
                <a:solidFill>
                  <a:schemeClr val="accent5">
                    <a:lumMod val="75000"/>
                  </a:schemeClr>
                </a:solidFill>
                <a:latin typeface="Consolas" panose="020B0609020204030204" pitchFamily="49" charset="0"/>
                <a:ea typeface="Verdana" panose="020B0604030504040204" pitchFamily="34" charset="0"/>
                <a:cs typeface="Courier New" panose="02070309020205020404" pitchFamily="49" charset="0"/>
              </a:rPr>
              <a:t>ff0000</a:t>
            </a:r>
            <a:r>
              <a:rPr lang="en-US" altLang="en-US" sz="2000" b="1" dirty="0">
                <a:solidFill>
                  <a:schemeClr val="accent5">
                    <a:lumMod val="75000"/>
                  </a:schemeClr>
                </a:solidFill>
                <a:latin typeface="Consolas" panose="020B0609020204030204" pitchFamily="49" charset="0"/>
                <a:ea typeface="Verdana" panose="020B0604030504040204" pitchFamily="34" charset="0"/>
                <a:cs typeface="Courier New" panose="02070309020205020404" pitchFamily="49" charset="0"/>
              </a:rPr>
              <a:t> </a:t>
            </a:r>
            <a:r>
              <a:rPr lang="en-US" altLang="en-US" sz="2000" b="1" u="sng" dirty="0" err="1">
                <a:solidFill>
                  <a:srgbClr val="00B0F0"/>
                </a:solidFill>
                <a:latin typeface="Consolas" panose="020B0609020204030204" pitchFamily="49" charset="0"/>
                <a:ea typeface="Verdana" panose="020B0604030504040204" pitchFamily="34" charset="0"/>
                <a:cs typeface="Courier New" panose="02070309020205020404" pitchFamily="49" charset="0"/>
              </a:rPr>
              <a:t>url</a:t>
            </a:r>
            <a:r>
              <a:rPr lang="en-US" altLang="en-US" sz="2000" b="1" u="sng" dirty="0">
                <a:solidFill>
                  <a:srgbClr val="00B0F0"/>
                </a:solidFill>
                <a:latin typeface="Consolas" panose="020B0609020204030204" pitchFamily="49" charset="0"/>
                <a:ea typeface="Verdana" panose="020B0604030504040204" pitchFamily="34" charset="0"/>
                <a:cs typeface="Courier New" panose="02070309020205020404" pitchFamily="49" charset="0"/>
              </a:rPr>
              <a:t>(“cars.png")</a:t>
            </a:r>
            <a:r>
              <a:rPr lang="en-US" altLang="en-US" sz="2000" b="1" dirty="0">
                <a:solidFill>
                  <a:schemeClr val="accent3">
                    <a:lumMod val="75000"/>
                  </a:schemeClr>
                </a:solidFill>
                <a:latin typeface="Consolas" panose="020B0609020204030204" pitchFamily="49" charset="0"/>
                <a:ea typeface="Verdana" panose="020B0604030504040204" pitchFamily="34" charset="0"/>
                <a:cs typeface="Courier New" panose="02070309020205020404" pitchFamily="49" charset="0"/>
              </a:rPr>
              <a:t> </a:t>
            </a:r>
            <a:r>
              <a:rPr lang="en-US" altLang="en-US" sz="2000" b="1" u="sng" dirty="0">
                <a:solidFill>
                  <a:schemeClr val="accent3">
                    <a:lumMod val="75000"/>
                  </a:schemeClr>
                </a:solidFill>
                <a:latin typeface="Consolas" panose="020B0609020204030204" pitchFamily="49" charset="0"/>
                <a:ea typeface="Verdana" panose="020B0604030504040204" pitchFamily="34" charset="0"/>
                <a:cs typeface="Courier New" panose="02070309020205020404" pitchFamily="49" charset="0"/>
              </a:rPr>
              <a:t>right</a:t>
            </a:r>
            <a:r>
              <a:rPr lang="en-US" altLang="en-US" sz="2000" b="1" u="sng" dirty="0">
                <a:solidFill>
                  <a:srgbClr val="C00000"/>
                </a:solidFill>
                <a:latin typeface="Consolas" panose="020B0609020204030204" pitchFamily="49" charset="0"/>
                <a:ea typeface="Verdana" panose="020B0604030504040204" pitchFamily="34" charset="0"/>
                <a:cs typeface="Courier New" panose="02070309020205020404" pitchFamily="49" charset="0"/>
              </a:rPr>
              <a:t> </a:t>
            </a:r>
            <a:r>
              <a:rPr lang="en-US" altLang="en-US" sz="2000" b="1" u="sng" dirty="0">
                <a:solidFill>
                  <a:schemeClr val="accent3">
                    <a:lumMod val="75000"/>
                  </a:schemeClr>
                </a:solidFill>
                <a:latin typeface="Consolas" panose="020B0609020204030204" pitchFamily="49" charset="0"/>
                <a:ea typeface="Verdana" panose="020B0604030504040204" pitchFamily="34" charset="0"/>
                <a:cs typeface="Courier New" panose="02070309020205020404" pitchFamily="49" charset="0"/>
              </a:rPr>
              <a:t>top</a:t>
            </a:r>
            <a:r>
              <a:rPr lang="en-US" altLang="en-US" sz="2000" b="1" dirty="0">
                <a:solidFill>
                  <a:srgbClr val="0070C0"/>
                </a:solidFill>
                <a:latin typeface="Consolas" panose="020B0609020204030204" pitchFamily="49" charset="0"/>
                <a:ea typeface="Verdana" panose="020B0604030504040204" pitchFamily="34" charset="0"/>
                <a:cs typeface="Courier New" panose="02070309020205020404" pitchFamily="49" charset="0"/>
              </a:rPr>
              <a:t> </a:t>
            </a:r>
            <a:r>
              <a:rPr lang="en-US" altLang="en-US" sz="2000" b="1" u="sng" dirty="0">
                <a:solidFill>
                  <a:srgbClr val="0070C0"/>
                </a:solidFill>
                <a:latin typeface="Consolas" panose="020B0609020204030204" pitchFamily="49" charset="0"/>
                <a:ea typeface="Verdana" panose="020B0604030504040204" pitchFamily="34" charset="0"/>
                <a:cs typeface="Courier New" panose="02070309020205020404" pitchFamily="49" charset="0"/>
              </a:rPr>
              <a:t>cover</a:t>
            </a:r>
            <a:r>
              <a:rPr lang="en-US" altLang="en-US" sz="2000" b="1" dirty="0">
                <a:solidFill>
                  <a:schemeClr val="tx2">
                    <a:lumMod val="75000"/>
                  </a:schemeClr>
                </a:solidFill>
                <a:latin typeface="Consolas" panose="020B0609020204030204" pitchFamily="49" charset="0"/>
                <a:ea typeface="Verdana" panose="020B0604030504040204" pitchFamily="34" charset="0"/>
                <a:cs typeface="Courier New" panose="02070309020205020404" pitchFamily="49" charset="0"/>
              </a:rPr>
              <a:t> </a:t>
            </a:r>
            <a:r>
              <a:rPr lang="en-US" altLang="en-US" sz="2000" b="1" u="sng" dirty="0">
                <a:solidFill>
                  <a:schemeClr val="accent1">
                    <a:lumMod val="75000"/>
                  </a:schemeClr>
                </a:solidFill>
                <a:latin typeface="Consolas" panose="020B0609020204030204" pitchFamily="49" charset="0"/>
                <a:ea typeface="Verdana" panose="020B0604030504040204" pitchFamily="34" charset="0"/>
                <a:cs typeface="Courier New" panose="02070309020205020404" pitchFamily="49" charset="0"/>
              </a:rPr>
              <a:t>no-repeat</a:t>
            </a:r>
            <a:r>
              <a:rPr lang="en-US" altLang="en-US" sz="2000" b="1" dirty="0">
                <a:solidFill>
                  <a:schemeClr val="accent1">
                    <a:lumMod val="75000"/>
                  </a:schemeClr>
                </a:solidFill>
                <a:latin typeface="Consolas" panose="020B0609020204030204" pitchFamily="49" charset="0"/>
                <a:ea typeface="Verdana" panose="020B0604030504040204" pitchFamily="34" charset="0"/>
                <a:cs typeface="Courier New" panose="02070309020205020404" pitchFamily="49" charset="0"/>
              </a:rPr>
              <a:t> </a:t>
            </a:r>
            <a:r>
              <a:rPr lang="en-US" altLang="en-US" sz="2000" b="1" u="sng" dirty="0">
                <a:solidFill>
                  <a:srgbClr val="FF0000"/>
                </a:solidFill>
                <a:latin typeface="Consolas" panose="020B0609020204030204" pitchFamily="49" charset="0"/>
                <a:ea typeface="Verdana" panose="020B0604030504040204" pitchFamily="34" charset="0"/>
                <a:cs typeface="Courier New" panose="02070309020205020404" pitchFamily="49" charset="0"/>
              </a:rPr>
              <a:t>fixed</a:t>
            </a:r>
            <a:r>
              <a:rPr lang="en-US" altLang="en-US" sz="2000" b="1" dirty="0">
                <a:solidFill>
                  <a:srgbClr val="C00000"/>
                </a:solidFill>
                <a:latin typeface="Consolas" panose="020B0609020204030204" pitchFamily="49" charset="0"/>
                <a:ea typeface="Verdana" panose="020B0604030504040204" pitchFamily="34" charset="0"/>
                <a:cs typeface="Courier New" panose="02070309020205020404" pitchFamily="49" charset="0"/>
              </a:rPr>
              <a:t>;</a:t>
            </a:r>
          </a:p>
          <a:p>
            <a:pPr lvl="1">
              <a:buNone/>
            </a:pPr>
            <a:r>
              <a:rPr lang="en-US" altLang="en-US" sz="2000" b="1" dirty="0">
                <a:solidFill>
                  <a:srgbClr val="C00000"/>
                </a:solidFill>
                <a:latin typeface="Consolas" panose="020B0609020204030204" pitchFamily="49" charset="0"/>
                <a:ea typeface="Verdana" panose="020B0604030504040204" pitchFamily="34" charset="0"/>
                <a:cs typeface="Courier New" panose="02070309020205020404" pitchFamily="49" charset="0"/>
              </a:rPr>
              <a:t>}</a:t>
            </a:r>
          </a:p>
          <a:p>
            <a:pPr marL="0" indent="0">
              <a:lnSpc>
                <a:spcPct val="100000"/>
              </a:lnSpc>
              <a:buNone/>
            </a:pPr>
            <a:r>
              <a:rPr lang="en-US" b="1" i="1" dirty="0">
                <a:solidFill>
                  <a:schemeClr val="accent6">
                    <a:lumMod val="75000"/>
                  </a:schemeClr>
                </a:solidFill>
              </a:rPr>
              <a:t>Note that it doesn’t matter if any one of the values above is missing, so far the order of arrangement is maintained.</a:t>
            </a:r>
          </a:p>
        </p:txBody>
      </p:sp>
      <p:sp>
        <p:nvSpPr>
          <p:cNvPr id="4" name="TextBox 12">
            <a:extLst>
              <a:ext uri="{FF2B5EF4-FFF2-40B4-BE49-F238E27FC236}">
                <a16:creationId xmlns:a16="http://schemas.microsoft.com/office/drawing/2014/main" id="{EE2B1D2A-26D5-658C-D009-4F4E3F76BCCE}"/>
              </a:ext>
            </a:extLst>
          </p:cNvPr>
          <p:cNvSpPr txBox="1"/>
          <p:nvPr/>
        </p:nvSpPr>
        <p:spPr>
          <a:xfrm>
            <a:off x="6730409" y="1138142"/>
            <a:ext cx="5295014" cy="1292662"/>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buFont typeface="Wingdings" pitchFamily="2" charset="2"/>
              <a:buChar char="§"/>
              <a:defRPr/>
            </a:pPr>
            <a:r>
              <a:rPr lang="en-US" sz="2600" dirty="0">
                <a:latin typeface="+mj-lt"/>
                <a:cs typeface="Arial" charset="0"/>
              </a:rPr>
              <a:t>Note that this order must be followed when using the background properties shorthand</a:t>
            </a:r>
          </a:p>
        </p:txBody>
      </p:sp>
    </p:spTree>
    <p:extLst>
      <p:ext uri="{BB962C8B-B14F-4D97-AF65-F5344CB8AC3E}">
        <p14:creationId xmlns:p14="http://schemas.microsoft.com/office/powerpoint/2010/main" val="35194441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CD32271-50B5-D69F-2C63-C5400886B496}"/>
              </a:ext>
            </a:extLst>
          </p:cNvPr>
          <p:cNvSpPr>
            <a:spLocks noGrp="1"/>
          </p:cNvSpPr>
          <p:nvPr>
            <p:ph idx="1"/>
          </p:nvPr>
        </p:nvSpPr>
        <p:spPr>
          <a:xfrm>
            <a:off x="1534696" y="457200"/>
            <a:ext cx="9520158" cy="5009145"/>
          </a:xfrm>
        </p:spPr>
        <p:txBody>
          <a:bodyPr>
            <a:normAutofit/>
          </a:bodyPr>
          <a:lstStyle/>
          <a:p>
            <a:pPr marL="0" indent="0" algn="ctr">
              <a:buNone/>
            </a:pPr>
            <a:r>
              <a:rPr lang="en-US" sz="10000" dirty="0">
                <a:latin typeface="Algerian" panose="04020705040A02060702" pitchFamily="82" charset="0"/>
              </a:rPr>
              <a:t>CSS</a:t>
            </a:r>
            <a:r>
              <a:rPr lang="en-US" sz="6000" dirty="0"/>
              <a:t> </a:t>
            </a:r>
            <a:r>
              <a:rPr lang="en-US" sz="6000" dirty="0">
                <a:solidFill>
                  <a:schemeClr val="accent5">
                    <a:lumMod val="75000"/>
                  </a:schemeClr>
                </a:solidFill>
              </a:rPr>
              <a:t>BOX MODEL</a:t>
            </a:r>
            <a:r>
              <a:rPr lang="en-US" sz="6000" dirty="0"/>
              <a:t> (border, margin and padding)</a:t>
            </a:r>
          </a:p>
        </p:txBody>
      </p:sp>
    </p:spTree>
    <p:extLst>
      <p:ext uri="{BB962C8B-B14F-4D97-AF65-F5344CB8AC3E}">
        <p14:creationId xmlns:p14="http://schemas.microsoft.com/office/powerpoint/2010/main" val="7133478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54A56-5019-12DA-FA3B-87AEB43A4869}"/>
              </a:ext>
            </a:extLst>
          </p:cNvPr>
          <p:cNvSpPr>
            <a:spLocks noGrp="1"/>
          </p:cNvSpPr>
          <p:nvPr>
            <p:ph type="title"/>
          </p:nvPr>
        </p:nvSpPr>
        <p:spPr>
          <a:xfrm>
            <a:off x="1534696" y="1"/>
            <a:ext cx="9520158" cy="595422"/>
          </a:xfrm>
        </p:spPr>
        <p:txBody>
          <a:bodyPr>
            <a:normAutofit fontScale="90000"/>
          </a:bodyPr>
          <a:lstStyle/>
          <a:p>
            <a:r>
              <a:rPr lang="en-US" b="1" dirty="0"/>
              <a:t>BOX MODEL</a:t>
            </a:r>
          </a:p>
        </p:txBody>
      </p:sp>
      <p:sp>
        <p:nvSpPr>
          <p:cNvPr id="3" name="Content Placeholder 2">
            <a:extLst>
              <a:ext uri="{FF2B5EF4-FFF2-40B4-BE49-F238E27FC236}">
                <a16:creationId xmlns:a16="http://schemas.microsoft.com/office/drawing/2014/main" id="{9CD5AA39-3E60-B763-CCFC-B952B4C4936D}"/>
              </a:ext>
            </a:extLst>
          </p:cNvPr>
          <p:cNvSpPr>
            <a:spLocks noGrp="1"/>
          </p:cNvSpPr>
          <p:nvPr>
            <p:ph idx="1"/>
          </p:nvPr>
        </p:nvSpPr>
        <p:spPr>
          <a:xfrm>
            <a:off x="1534696" y="914402"/>
            <a:ext cx="9520158" cy="4551944"/>
          </a:xfrm>
        </p:spPr>
        <p:txBody>
          <a:bodyPr>
            <a:normAutofit/>
          </a:bodyPr>
          <a:lstStyle/>
          <a:p>
            <a:pPr marL="0" indent="0">
              <a:buNone/>
            </a:pPr>
            <a:r>
              <a:rPr lang="en-US" altLang="en-US" sz="2200" dirty="0">
                <a:latin typeface="Times New Roman" panose="02020603050405020304" pitchFamily="18" charset="0"/>
                <a:cs typeface="Times New Roman" panose="02020603050405020304" pitchFamily="18" charset="0"/>
              </a:rPr>
              <a:t>The model describes the space of the content taken by an element.  An element can be considered as a box. It is represented by a box and each box has four edges</a:t>
            </a:r>
          </a:p>
          <a:p>
            <a:pPr marL="0" indent="0" algn="l">
              <a:buNone/>
            </a:pPr>
            <a:r>
              <a:rPr lang="en-US" sz="2200" b="0" i="0" dirty="0">
                <a:solidFill>
                  <a:srgbClr val="000000"/>
                </a:solidFill>
                <a:effectLst/>
                <a:latin typeface="Times New Roman" panose="02020603050405020304" pitchFamily="18" charset="0"/>
                <a:cs typeface="Times New Roman" panose="02020603050405020304" pitchFamily="18" charset="0"/>
              </a:rPr>
              <a:t>The CSS box model is essentially a box that wraps around every HTML element. It consists of: content, padding, borders and margins. The image below illustrates the box model:</a:t>
            </a:r>
            <a:br>
              <a:rPr lang="en-US" sz="2200" b="0" i="0" dirty="0">
                <a:solidFill>
                  <a:srgbClr val="000000"/>
                </a:solidFill>
                <a:effectLst/>
                <a:latin typeface="Times New Roman" panose="02020603050405020304" pitchFamily="18" charset="0"/>
                <a:cs typeface="Times New Roman" panose="02020603050405020304" pitchFamily="18" charset="0"/>
              </a:rPr>
            </a:br>
            <a:endParaRPr lang="en-US" altLang="en-US" sz="2200" dirty="0">
              <a:latin typeface="Times New Roman" panose="02020603050405020304" pitchFamily="18" charset="0"/>
              <a:cs typeface="Times New Roman" panose="02020603050405020304" pitchFamily="18" charset="0"/>
            </a:endParaRPr>
          </a:p>
          <a:p>
            <a:pPr marL="0" indent="0">
              <a:buNone/>
            </a:pPr>
            <a:endParaRPr lang="en-US" sz="22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04A297D-0195-85B3-1766-788B7A2438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26651" y="3276727"/>
            <a:ext cx="8792802" cy="3326092"/>
          </a:xfrm>
          <a:prstGeom prst="rect">
            <a:avLst/>
          </a:prstGeom>
        </p:spPr>
      </p:pic>
    </p:spTree>
    <p:extLst>
      <p:ext uri="{BB962C8B-B14F-4D97-AF65-F5344CB8AC3E}">
        <p14:creationId xmlns:p14="http://schemas.microsoft.com/office/powerpoint/2010/main" val="21459108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A2E11CDC-9808-3EF2-4D12-DEE803293692}"/>
              </a:ext>
            </a:extLst>
          </p:cNvPr>
          <p:cNvSpPr txBox="1">
            <a:spLocks/>
          </p:cNvSpPr>
          <p:nvPr/>
        </p:nvSpPr>
        <p:spPr>
          <a:xfrm>
            <a:off x="1509824" y="386316"/>
            <a:ext cx="3576084" cy="5858540"/>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a:buFont typeface="Wingdings" pitchFamily="2" charset="2"/>
              <a:buChar char="§"/>
              <a:defRPr/>
            </a:pPr>
            <a:r>
              <a:rPr lang="en-US" altLang="en-US" dirty="0">
                <a:solidFill>
                  <a:schemeClr val="tx1">
                    <a:lumMod val="75000"/>
                    <a:lumOff val="25000"/>
                  </a:schemeClr>
                </a:solidFill>
              </a:rPr>
              <a:t>The </a:t>
            </a:r>
            <a:r>
              <a:rPr lang="en-US" altLang="en-US" b="1" i="1" dirty="0">
                <a:solidFill>
                  <a:srgbClr val="FF0000"/>
                </a:solidFill>
              </a:rPr>
              <a:t>content</a:t>
            </a:r>
            <a:r>
              <a:rPr lang="en-US" altLang="en-US" dirty="0">
                <a:solidFill>
                  <a:schemeClr val="tx1">
                    <a:lumMod val="75000"/>
                    <a:lumOff val="25000"/>
                  </a:schemeClr>
                </a:solidFill>
              </a:rPr>
              <a:t> of the box are the texts and images which appears in our browser.</a:t>
            </a:r>
          </a:p>
          <a:p>
            <a:pPr>
              <a:buFont typeface="Wingdings" pitchFamily="2" charset="2"/>
              <a:buChar char="§"/>
              <a:defRPr/>
            </a:pPr>
            <a:r>
              <a:rPr lang="en-US" altLang="en-US" dirty="0">
                <a:solidFill>
                  <a:schemeClr val="tx1">
                    <a:lumMod val="75000"/>
                    <a:lumOff val="25000"/>
                  </a:schemeClr>
                </a:solidFill>
              </a:rPr>
              <a:t>The </a:t>
            </a:r>
            <a:r>
              <a:rPr lang="en-US" altLang="en-US" b="1" i="1" dirty="0">
                <a:solidFill>
                  <a:srgbClr val="FF0000"/>
                </a:solidFill>
              </a:rPr>
              <a:t>border</a:t>
            </a:r>
            <a:r>
              <a:rPr lang="en-US" altLang="en-US" dirty="0">
                <a:solidFill>
                  <a:schemeClr val="tx1">
                    <a:lumMod val="75000"/>
                    <a:lumOff val="25000"/>
                  </a:schemeClr>
                </a:solidFill>
              </a:rPr>
              <a:t> is what wrap our content and by default, it is invisible until we apply color to make it visible.</a:t>
            </a:r>
          </a:p>
          <a:p>
            <a:pPr>
              <a:buFont typeface="Wingdings" pitchFamily="2" charset="2"/>
              <a:buChar char="§"/>
              <a:defRPr/>
            </a:pPr>
            <a:r>
              <a:rPr lang="en-US" dirty="0">
                <a:solidFill>
                  <a:schemeClr val="tx1">
                    <a:lumMod val="75000"/>
                    <a:lumOff val="25000"/>
                  </a:schemeClr>
                </a:solidFill>
              </a:rPr>
              <a:t>The </a:t>
            </a:r>
            <a:r>
              <a:rPr lang="en-US" b="1" i="1" dirty="0">
                <a:solidFill>
                  <a:srgbClr val="FF0000"/>
                </a:solidFill>
              </a:rPr>
              <a:t>padding</a:t>
            </a:r>
            <a:r>
              <a:rPr lang="en-US" dirty="0">
                <a:solidFill>
                  <a:schemeClr val="tx1">
                    <a:lumMod val="75000"/>
                    <a:lumOff val="25000"/>
                  </a:schemeClr>
                </a:solidFill>
              </a:rPr>
              <a:t> is the area inside the box, between the content and the border.</a:t>
            </a:r>
            <a:endParaRPr lang="en-US" altLang="en-US" dirty="0">
              <a:solidFill>
                <a:schemeClr val="tx1">
                  <a:lumMod val="75000"/>
                  <a:lumOff val="25000"/>
                </a:schemeClr>
              </a:solidFill>
            </a:endParaRPr>
          </a:p>
          <a:p>
            <a:pPr>
              <a:buFont typeface="Wingdings" pitchFamily="2" charset="2"/>
              <a:buChar char="§"/>
              <a:defRPr/>
            </a:pPr>
            <a:r>
              <a:rPr lang="en-US" altLang="en-US" dirty="0">
                <a:solidFill>
                  <a:schemeClr val="tx1">
                    <a:lumMod val="75000"/>
                    <a:lumOff val="25000"/>
                  </a:schemeClr>
                </a:solidFill>
              </a:rPr>
              <a:t>The </a:t>
            </a:r>
            <a:r>
              <a:rPr lang="en-US" altLang="en-US" b="1" i="1" dirty="0">
                <a:solidFill>
                  <a:srgbClr val="FF0000"/>
                </a:solidFill>
              </a:rPr>
              <a:t>margin</a:t>
            </a:r>
            <a:r>
              <a:rPr lang="en-US" altLang="en-US" dirty="0">
                <a:solidFill>
                  <a:schemeClr val="tx1">
                    <a:lumMod val="75000"/>
                    <a:lumOff val="25000"/>
                  </a:schemeClr>
                </a:solidFill>
              </a:rPr>
              <a:t> is the area outside the box between the border and other surrounding elements.</a:t>
            </a:r>
          </a:p>
          <a:p>
            <a:pPr marL="0" indent="0">
              <a:buFont typeface="Arial" panose="020B0604020202020204" pitchFamily="34" charset="0"/>
              <a:buNone/>
            </a:pPr>
            <a:endParaRPr lang="en-US" dirty="0"/>
          </a:p>
        </p:txBody>
      </p:sp>
      <p:pic>
        <p:nvPicPr>
          <p:cNvPr id="5" name="Picture 4">
            <a:extLst>
              <a:ext uri="{FF2B5EF4-FFF2-40B4-BE49-F238E27FC236}">
                <a16:creationId xmlns:a16="http://schemas.microsoft.com/office/drawing/2014/main" id="{CA54B54A-5545-E624-5197-5AEC48BEF4F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573621" y="503662"/>
            <a:ext cx="5920174" cy="5920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720362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C3417-7C18-CFC5-74C1-0C08F723F32F}"/>
              </a:ext>
            </a:extLst>
          </p:cNvPr>
          <p:cNvSpPr>
            <a:spLocks noGrp="1"/>
          </p:cNvSpPr>
          <p:nvPr>
            <p:ph type="title"/>
          </p:nvPr>
        </p:nvSpPr>
        <p:spPr>
          <a:xfrm>
            <a:off x="1534696" y="0"/>
            <a:ext cx="9520158" cy="712381"/>
          </a:xfrm>
        </p:spPr>
        <p:txBody>
          <a:bodyPr/>
          <a:lstStyle/>
          <a:p>
            <a:r>
              <a:rPr lang="en-US" b="1" u="sng" dirty="0"/>
              <a:t>Border Properties</a:t>
            </a:r>
          </a:p>
        </p:txBody>
      </p:sp>
      <p:sp>
        <p:nvSpPr>
          <p:cNvPr id="3" name="Content Placeholder 2">
            <a:extLst>
              <a:ext uri="{FF2B5EF4-FFF2-40B4-BE49-F238E27FC236}">
                <a16:creationId xmlns:a16="http://schemas.microsoft.com/office/drawing/2014/main" id="{18A8C1C5-6598-59FC-E15C-FB548D4FCD60}"/>
              </a:ext>
            </a:extLst>
          </p:cNvPr>
          <p:cNvSpPr>
            <a:spLocks noGrp="1"/>
          </p:cNvSpPr>
          <p:nvPr>
            <p:ph idx="1"/>
          </p:nvPr>
        </p:nvSpPr>
        <p:spPr>
          <a:xfrm>
            <a:off x="1435395" y="935666"/>
            <a:ext cx="10643191" cy="5316278"/>
          </a:xfrm>
        </p:spPr>
        <p:txBody>
          <a:bodyPr>
            <a:normAutofit/>
          </a:bodyPr>
          <a:lstStyle/>
          <a:p>
            <a:pPr marL="0" indent="0">
              <a:buNone/>
              <a:defRPr/>
            </a:pPr>
            <a:r>
              <a:rPr lang="en-US" altLang="en-US" sz="2600" b="1" dirty="0">
                <a:solidFill>
                  <a:schemeClr val="accent6">
                    <a:lumMod val="50000"/>
                  </a:schemeClr>
                </a:solidFill>
                <a:cs typeface="Courier New" pitchFamily="49" charset="0"/>
              </a:rPr>
              <a:t>The CSS border property allow you to set the width, style, and color of an element border.</a:t>
            </a:r>
          </a:p>
          <a:p>
            <a:pPr>
              <a:defRPr/>
            </a:pPr>
            <a:r>
              <a:rPr lang="en-US" altLang="en-US" sz="2800" b="1" dirty="0">
                <a:solidFill>
                  <a:schemeClr val="accent4">
                    <a:lumMod val="75000"/>
                  </a:schemeClr>
                </a:solidFill>
                <a:cs typeface="Courier New" pitchFamily="49" charset="0"/>
              </a:rPr>
              <a:t>border-width</a:t>
            </a:r>
            <a:r>
              <a:rPr lang="en-US" altLang="en-US" sz="2800" b="1" dirty="0">
                <a:solidFill>
                  <a:schemeClr val="tx1"/>
                </a:solidFill>
                <a:cs typeface="Courier New" pitchFamily="49" charset="0"/>
              </a:rPr>
              <a:t>: </a:t>
            </a:r>
            <a:r>
              <a:rPr lang="en-US" altLang="en-US" sz="2300" dirty="0">
                <a:solidFill>
                  <a:schemeClr val="tx1"/>
                </a:solidFill>
                <a:cs typeface="Courier New" pitchFamily="49" charset="0"/>
              </a:rPr>
              <a:t>This specify the width of all four corners of the element border. It can be set as:-</a:t>
            </a:r>
            <a:r>
              <a:rPr lang="en-US" altLang="en-US" sz="2300" b="1" dirty="0">
                <a:solidFill>
                  <a:schemeClr val="tx1"/>
                </a:solidFill>
                <a:cs typeface="Courier New" pitchFamily="49" charset="0"/>
              </a:rPr>
              <a:t> </a:t>
            </a:r>
            <a:r>
              <a:rPr lang="en-US" altLang="en-US" sz="2300" dirty="0">
                <a:solidFill>
                  <a:schemeClr val="tx1"/>
                </a:solidFill>
                <a:cs typeface="Courier New" pitchFamily="49" charset="0"/>
              </a:rPr>
              <a:t>thin, medium, thick, pixel(</a:t>
            </a:r>
            <a:r>
              <a:rPr lang="en-US" altLang="en-US" sz="2300" dirty="0" err="1">
                <a:solidFill>
                  <a:schemeClr val="tx1"/>
                </a:solidFill>
                <a:cs typeface="Courier New" pitchFamily="49" charset="0"/>
              </a:rPr>
              <a:t>px</a:t>
            </a:r>
            <a:r>
              <a:rPr lang="en-US" altLang="en-US" sz="2300" dirty="0">
                <a:solidFill>
                  <a:schemeClr val="tx1"/>
                </a:solidFill>
                <a:cs typeface="Courier New" pitchFamily="49" charset="0"/>
              </a:rPr>
              <a:t>).</a:t>
            </a:r>
          </a:p>
          <a:p>
            <a:pPr marL="0" indent="0">
              <a:buNone/>
              <a:defRPr/>
            </a:pPr>
            <a:r>
              <a:rPr lang="en-US" altLang="en-US" sz="2300" dirty="0">
                <a:solidFill>
                  <a:schemeClr val="tx1"/>
                </a:solidFill>
                <a:cs typeface="Courier New" pitchFamily="49" charset="0"/>
              </a:rPr>
              <a:t>	</a:t>
            </a:r>
            <a:r>
              <a:rPr lang="en-US" altLang="en-US" sz="1900" u="sng" dirty="0">
                <a:solidFill>
                  <a:schemeClr val="tx1"/>
                </a:solidFill>
                <a:cs typeface="Courier New" pitchFamily="49" charset="0"/>
              </a:rPr>
              <a:t>SPECIFIC SIDE BORDER-WIDTHS</a:t>
            </a:r>
          </a:p>
          <a:p>
            <a:pPr marL="0" indent="0">
              <a:buNone/>
              <a:defRPr/>
            </a:pPr>
            <a:r>
              <a:rPr lang="en-US" altLang="en-US" sz="2300" dirty="0">
                <a:solidFill>
                  <a:schemeClr val="tx1"/>
                </a:solidFill>
                <a:cs typeface="Courier New" pitchFamily="49" charset="0"/>
              </a:rPr>
              <a:t>Th border-width can also be set to specific side, and it goes in a clockwise direction. Top-right-bottom-left. E.g</a:t>
            </a:r>
            <a:r>
              <a:rPr lang="en-US" altLang="en-US" sz="2300" b="1" dirty="0">
                <a:solidFill>
                  <a:srgbClr val="FF0000"/>
                </a:solidFill>
                <a:cs typeface="Courier New" pitchFamily="49" charset="0"/>
              </a:rPr>
              <a:t>., p{border-width: 30px 20px 15px 5px;}  </a:t>
            </a:r>
            <a:r>
              <a:rPr lang="en-US" altLang="en-US" sz="2300" dirty="0">
                <a:solidFill>
                  <a:schemeClr val="tx1"/>
                </a:solidFill>
                <a:cs typeface="Courier New" pitchFamily="49" charset="0"/>
              </a:rPr>
              <a:t>OR  </a:t>
            </a:r>
            <a:r>
              <a:rPr lang="en-US" altLang="en-US" sz="2300" b="1" dirty="0">
                <a:solidFill>
                  <a:srgbClr val="FF0000"/>
                </a:solidFill>
                <a:cs typeface="Courier New" pitchFamily="49" charset="0"/>
              </a:rPr>
              <a:t>div{border-width: 20px 10px}</a:t>
            </a:r>
          </a:p>
          <a:p>
            <a:pPr>
              <a:defRPr/>
            </a:pPr>
            <a:r>
              <a:rPr lang="en-US" altLang="en-US" sz="2800" b="1" dirty="0">
                <a:solidFill>
                  <a:schemeClr val="accent4">
                    <a:lumMod val="75000"/>
                  </a:schemeClr>
                </a:solidFill>
                <a:cs typeface="Courier New" pitchFamily="49" charset="0"/>
              </a:rPr>
              <a:t>border-color</a:t>
            </a:r>
            <a:r>
              <a:rPr lang="en-US" altLang="en-US" sz="2800" b="1" dirty="0">
                <a:solidFill>
                  <a:schemeClr val="tx1"/>
                </a:solidFill>
                <a:cs typeface="Courier New" pitchFamily="49" charset="0"/>
              </a:rPr>
              <a:t>: </a:t>
            </a:r>
            <a:r>
              <a:rPr lang="en-US" altLang="en-US" sz="2300" dirty="0">
                <a:solidFill>
                  <a:schemeClr val="tx1"/>
                </a:solidFill>
                <a:cs typeface="Courier New" pitchFamily="49" charset="0"/>
              </a:rPr>
              <a:t>This specify the colors of all four sides of the element border. It can be set as:-</a:t>
            </a:r>
            <a:r>
              <a:rPr lang="en-US" altLang="en-US" sz="2300" b="1" dirty="0">
                <a:solidFill>
                  <a:schemeClr val="tx1"/>
                </a:solidFill>
                <a:cs typeface="Courier New" pitchFamily="49" charset="0"/>
              </a:rPr>
              <a:t> </a:t>
            </a:r>
            <a:r>
              <a:rPr lang="en-US" altLang="en-US" sz="2300" dirty="0">
                <a:solidFill>
                  <a:schemeClr val="tx1"/>
                </a:solidFill>
                <a:cs typeface="Courier New" pitchFamily="49" charset="0"/>
              </a:rPr>
              <a:t>named colors, </a:t>
            </a:r>
            <a:r>
              <a:rPr lang="en-US" altLang="en-US" sz="2300" dirty="0" err="1">
                <a:solidFill>
                  <a:schemeClr val="tx1"/>
                </a:solidFill>
                <a:cs typeface="Courier New" pitchFamily="49" charset="0"/>
              </a:rPr>
              <a:t>rgb</a:t>
            </a:r>
            <a:r>
              <a:rPr lang="en-US" altLang="en-US" sz="2300" dirty="0">
                <a:solidFill>
                  <a:schemeClr val="tx1"/>
                </a:solidFill>
                <a:cs typeface="Courier New" pitchFamily="49" charset="0"/>
              </a:rPr>
              <a:t>, Hex, HSL. </a:t>
            </a:r>
          </a:p>
          <a:p>
            <a:pPr marL="0" indent="0">
              <a:buNone/>
              <a:defRPr/>
            </a:pPr>
            <a:r>
              <a:rPr lang="en-US" altLang="en-US" sz="2300" dirty="0">
                <a:solidFill>
                  <a:schemeClr val="tx1"/>
                </a:solidFill>
                <a:cs typeface="Courier New" pitchFamily="49" charset="0"/>
              </a:rPr>
              <a:t>	</a:t>
            </a:r>
            <a:r>
              <a:rPr lang="en-US" altLang="en-US" sz="1900" u="sng" dirty="0">
                <a:solidFill>
                  <a:schemeClr val="tx1"/>
                </a:solidFill>
                <a:cs typeface="Courier New" pitchFamily="49" charset="0"/>
              </a:rPr>
              <a:t>SPECIFIC SIDE BORDER-COLORS</a:t>
            </a:r>
          </a:p>
          <a:p>
            <a:pPr marL="0" indent="0">
              <a:buNone/>
              <a:defRPr/>
            </a:pPr>
            <a:r>
              <a:rPr lang="en-US" altLang="en-US" sz="2300" dirty="0">
                <a:solidFill>
                  <a:schemeClr val="tx1"/>
                </a:solidFill>
                <a:cs typeface="Courier New" pitchFamily="49" charset="0"/>
              </a:rPr>
              <a:t>Th border-width can also be set to specific side, and it goes in a clockwise direction. Top-right-bottom-left. E.g</a:t>
            </a:r>
            <a:r>
              <a:rPr lang="en-US" altLang="en-US" sz="2300" b="1" dirty="0">
                <a:solidFill>
                  <a:srgbClr val="FF0000"/>
                </a:solidFill>
                <a:cs typeface="Courier New" pitchFamily="49" charset="0"/>
              </a:rPr>
              <a:t>., p{border-color: red green blue yellow;}</a:t>
            </a:r>
          </a:p>
          <a:p>
            <a:pPr marL="0" indent="0">
              <a:buNone/>
            </a:pPr>
            <a:endParaRPr lang="en-US" dirty="0"/>
          </a:p>
        </p:txBody>
      </p:sp>
    </p:spTree>
    <p:extLst>
      <p:ext uri="{BB962C8B-B14F-4D97-AF65-F5344CB8AC3E}">
        <p14:creationId xmlns:p14="http://schemas.microsoft.com/office/powerpoint/2010/main" val="26531413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A06418-5CDA-2C18-9DD4-8E3CE93A7CDC}"/>
              </a:ext>
            </a:extLst>
          </p:cNvPr>
          <p:cNvSpPr>
            <a:spLocks noGrp="1"/>
          </p:cNvSpPr>
          <p:nvPr>
            <p:ph idx="1"/>
          </p:nvPr>
        </p:nvSpPr>
        <p:spPr>
          <a:xfrm>
            <a:off x="1534696" y="372140"/>
            <a:ext cx="10458830" cy="5890437"/>
          </a:xfrm>
        </p:spPr>
        <p:txBody>
          <a:bodyPr>
            <a:normAutofit/>
          </a:bodyPr>
          <a:lstStyle/>
          <a:p>
            <a:pPr>
              <a:defRPr/>
            </a:pPr>
            <a:r>
              <a:rPr lang="en-US" altLang="en-US" sz="2600" b="1" dirty="0">
                <a:solidFill>
                  <a:schemeClr val="accent4">
                    <a:lumMod val="75000"/>
                  </a:schemeClr>
                </a:solidFill>
                <a:cs typeface="Courier New" pitchFamily="49" charset="0"/>
              </a:rPr>
              <a:t>border-style</a:t>
            </a:r>
            <a:r>
              <a:rPr lang="en-US" altLang="en-US" sz="2400" b="1" dirty="0">
                <a:solidFill>
                  <a:schemeClr val="tx1"/>
                </a:solidFill>
                <a:cs typeface="Courier New" pitchFamily="49" charset="0"/>
              </a:rPr>
              <a:t>: </a:t>
            </a:r>
            <a:r>
              <a:rPr lang="en-US" altLang="en-US" sz="2000" dirty="0">
                <a:solidFill>
                  <a:schemeClr val="tx1"/>
                </a:solidFill>
                <a:cs typeface="Courier New" pitchFamily="49" charset="0"/>
              </a:rPr>
              <a:t>This specify the styles of all four sides of the element border. It can be set as:-</a:t>
            </a:r>
            <a:r>
              <a:rPr lang="en-US" altLang="en-US" sz="2000" b="1" dirty="0">
                <a:solidFill>
                  <a:schemeClr val="tx1"/>
                </a:solidFill>
                <a:cs typeface="Courier New" pitchFamily="49" charset="0"/>
              </a:rPr>
              <a:t> </a:t>
            </a:r>
            <a:r>
              <a:rPr lang="en-US" altLang="en-US" sz="2000" dirty="0">
                <a:solidFill>
                  <a:schemeClr val="tx1"/>
                </a:solidFill>
                <a:cs typeface="Courier New" pitchFamily="49" charset="0"/>
              </a:rPr>
              <a:t>dotted, solid, dashed, and double, inset, outset, groove, ridge. div{border-style: double; or none; or solid;}</a:t>
            </a:r>
          </a:p>
          <a:p>
            <a:pPr marL="0" indent="0">
              <a:buNone/>
              <a:defRPr/>
            </a:pPr>
            <a:r>
              <a:rPr lang="en-US" altLang="en-US" sz="2000" dirty="0">
                <a:solidFill>
                  <a:schemeClr val="tx1"/>
                </a:solidFill>
                <a:cs typeface="Courier New" pitchFamily="49" charset="0"/>
              </a:rPr>
              <a:t>	</a:t>
            </a:r>
            <a:r>
              <a:rPr lang="en-US" altLang="en-US" sz="1800" u="sng" dirty="0">
                <a:solidFill>
                  <a:schemeClr val="tx1"/>
                </a:solidFill>
                <a:cs typeface="Courier New" pitchFamily="49" charset="0"/>
              </a:rPr>
              <a:t>SPECIFIC SIDE BORDER-STYLE</a:t>
            </a:r>
          </a:p>
          <a:p>
            <a:pPr marL="0" indent="0">
              <a:buNone/>
              <a:defRPr/>
            </a:pPr>
            <a:r>
              <a:rPr lang="en-US" altLang="en-US" sz="2000" dirty="0">
                <a:solidFill>
                  <a:schemeClr val="tx1"/>
                </a:solidFill>
                <a:cs typeface="Courier New" pitchFamily="49" charset="0"/>
              </a:rPr>
              <a:t>Th border-style property is used to set specific side, and </a:t>
            </a:r>
            <a:r>
              <a:rPr lang="en-US" altLang="en-US" dirty="0">
                <a:cs typeface="Courier New" pitchFamily="49" charset="0"/>
              </a:rPr>
              <a:t>it is written as:- border-bottom-style, border-left-style, border-right-style, </a:t>
            </a:r>
            <a:r>
              <a:rPr lang="en-US" altLang="en-US" dirty="0" err="1">
                <a:cs typeface="Courier New" pitchFamily="49" charset="0"/>
              </a:rPr>
              <a:t>e.t.c</a:t>
            </a:r>
            <a:r>
              <a:rPr lang="en-US" altLang="en-US" sz="2000" dirty="0">
                <a:solidFill>
                  <a:schemeClr val="tx1"/>
                </a:solidFill>
                <a:cs typeface="Courier New" pitchFamily="49" charset="0"/>
              </a:rPr>
              <a:t>. E.g</a:t>
            </a:r>
            <a:r>
              <a:rPr lang="en-US" altLang="en-US" sz="2000" b="1" dirty="0">
                <a:solidFill>
                  <a:srgbClr val="FF0000"/>
                </a:solidFill>
                <a:cs typeface="Courier New" pitchFamily="49" charset="0"/>
              </a:rPr>
              <a:t>., p{</a:t>
            </a:r>
            <a:r>
              <a:rPr lang="en-US" altLang="en-US" sz="2000" b="1" dirty="0" err="1">
                <a:solidFill>
                  <a:srgbClr val="FF0000"/>
                </a:solidFill>
                <a:cs typeface="Courier New" pitchFamily="49" charset="0"/>
              </a:rPr>
              <a:t>border-top-style:dashed</a:t>
            </a:r>
            <a:r>
              <a:rPr lang="en-US" altLang="en-US" sz="2000" b="1" dirty="0">
                <a:solidFill>
                  <a:srgbClr val="FF0000"/>
                </a:solidFill>
                <a:cs typeface="Courier New" pitchFamily="49" charset="0"/>
              </a:rPr>
              <a:t>;}  </a:t>
            </a:r>
            <a:r>
              <a:rPr lang="en-US" altLang="en-US" sz="2000" dirty="0">
                <a:solidFill>
                  <a:schemeClr val="tx1"/>
                </a:solidFill>
                <a:cs typeface="Courier New" pitchFamily="49" charset="0"/>
              </a:rPr>
              <a:t>OR  </a:t>
            </a:r>
            <a:r>
              <a:rPr lang="en-US" altLang="en-US" sz="2000" b="1" dirty="0">
                <a:solidFill>
                  <a:srgbClr val="FF0000"/>
                </a:solidFill>
                <a:cs typeface="Courier New" pitchFamily="49" charset="0"/>
              </a:rPr>
              <a:t>div{border-bottom-style: groove}</a:t>
            </a:r>
          </a:p>
          <a:p>
            <a:pPr marL="0" indent="0">
              <a:buNone/>
              <a:defRPr/>
            </a:pPr>
            <a:endParaRPr lang="en-US" altLang="en-US" sz="2000" b="1" dirty="0">
              <a:solidFill>
                <a:srgbClr val="FF0000"/>
              </a:solidFill>
              <a:cs typeface="Courier New" pitchFamily="49" charset="0"/>
            </a:endParaRPr>
          </a:p>
          <a:p>
            <a:pPr marL="0" indent="0">
              <a:buNone/>
              <a:defRPr/>
            </a:pPr>
            <a:r>
              <a:rPr lang="en-US" altLang="en-US" sz="2200" b="1" u="sng" dirty="0">
                <a:cs typeface="Courier New" pitchFamily="49" charset="0"/>
              </a:rPr>
              <a:t>ROUNDED BORDER</a:t>
            </a:r>
            <a:endParaRPr lang="en-US" altLang="en-US" sz="2200" b="1" u="sng" dirty="0">
              <a:solidFill>
                <a:schemeClr val="tx1"/>
              </a:solidFill>
              <a:cs typeface="Courier New" pitchFamily="49" charset="0"/>
            </a:endParaRPr>
          </a:p>
          <a:p>
            <a:pPr>
              <a:defRPr/>
            </a:pPr>
            <a:r>
              <a:rPr lang="en-US" altLang="en-US" sz="2400" b="1" dirty="0">
                <a:solidFill>
                  <a:schemeClr val="accent4">
                    <a:lumMod val="75000"/>
                  </a:schemeClr>
                </a:solidFill>
                <a:cs typeface="Courier New" pitchFamily="49" charset="0"/>
              </a:rPr>
              <a:t>border-radius</a:t>
            </a:r>
            <a:r>
              <a:rPr lang="en-US" altLang="en-US" sz="2400" b="1" dirty="0">
                <a:solidFill>
                  <a:schemeClr val="tx1"/>
                </a:solidFill>
                <a:cs typeface="Courier New" pitchFamily="49" charset="0"/>
              </a:rPr>
              <a:t>: </a:t>
            </a:r>
            <a:r>
              <a:rPr lang="en-US" altLang="en-US" sz="2300" dirty="0">
                <a:solidFill>
                  <a:schemeClr val="tx1"/>
                </a:solidFill>
                <a:cs typeface="Courier New" pitchFamily="49" charset="0"/>
              </a:rPr>
              <a:t>used in creating rounded borders. Can be specified in </a:t>
            </a:r>
            <a:r>
              <a:rPr lang="en-US" altLang="en-US" sz="2300" dirty="0" err="1">
                <a:solidFill>
                  <a:schemeClr val="tx1"/>
                </a:solidFill>
                <a:cs typeface="Courier New" pitchFamily="49" charset="0"/>
              </a:rPr>
              <a:t>px</a:t>
            </a:r>
            <a:r>
              <a:rPr lang="en-US" altLang="en-US" sz="2300" dirty="0">
                <a:solidFill>
                  <a:schemeClr val="tx1"/>
                </a:solidFill>
                <a:cs typeface="Courier New" pitchFamily="49" charset="0"/>
              </a:rPr>
              <a:t> or %, </a:t>
            </a:r>
            <a:r>
              <a:rPr lang="en-US" altLang="en-US" sz="2300" dirty="0" err="1">
                <a:solidFill>
                  <a:schemeClr val="tx1"/>
                </a:solidFill>
                <a:cs typeface="Courier New" pitchFamily="49" charset="0"/>
              </a:rPr>
              <a:t>eg</a:t>
            </a:r>
            <a:r>
              <a:rPr lang="en-US" altLang="en-US" sz="2300" dirty="0">
                <a:solidFill>
                  <a:schemeClr val="tx1"/>
                </a:solidFill>
                <a:cs typeface="Courier New" pitchFamily="49" charset="0"/>
              </a:rPr>
              <a:t> 5px . To create a complete round box, the element must have equal width and height, border-radius must be 50%</a:t>
            </a:r>
          </a:p>
          <a:p>
            <a:pPr marL="0" indent="0">
              <a:buNone/>
              <a:defRPr/>
            </a:pPr>
            <a:r>
              <a:rPr lang="en-US" altLang="en-US" sz="2300" b="1" dirty="0">
                <a:solidFill>
                  <a:schemeClr val="tx1"/>
                </a:solidFill>
                <a:cs typeface="Courier New" pitchFamily="49" charset="0"/>
              </a:rPr>
              <a:t>Note that you can also be able to control each corner of the border usin</a:t>
            </a:r>
            <a:r>
              <a:rPr lang="en-US" altLang="en-US" sz="2300" b="1" dirty="0">
                <a:cs typeface="Courier New" pitchFamily="49" charset="0"/>
              </a:rPr>
              <a:t>g % or pixels</a:t>
            </a:r>
            <a:r>
              <a:rPr lang="en-US" altLang="en-US" sz="2300" b="1" dirty="0">
                <a:solidFill>
                  <a:schemeClr val="tx1"/>
                </a:solidFill>
                <a:cs typeface="Courier New" pitchFamily="49" charset="0"/>
              </a:rPr>
              <a:t>:</a:t>
            </a:r>
          </a:p>
          <a:p>
            <a:pPr lvl="1">
              <a:defRPr/>
            </a:pPr>
            <a:r>
              <a:rPr lang="en-GB" altLang="en-US" sz="2300" dirty="0">
                <a:solidFill>
                  <a:schemeClr val="accent4">
                    <a:lumMod val="75000"/>
                  </a:schemeClr>
                </a:solidFill>
                <a:cs typeface="Courier New" pitchFamily="49" charset="0"/>
              </a:rPr>
              <a:t>border-radius</a:t>
            </a:r>
            <a:r>
              <a:rPr lang="en-GB" altLang="en-US" sz="2300" dirty="0">
                <a:solidFill>
                  <a:schemeClr val="tx1"/>
                </a:solidFill>
                <a:cs typeface="Courier New" pitchFamily="49" charset="0"/>
              </a:rPr>
              <a:t>: 50% 0 50px 10%;</a:t>
            </a:r>
          </a:p>
          <a:p>
            <a:endParaRPr lang="en-US" altLang="en-US" sz="2000" b="1" dirty="0">
              <a:solidFill>
                <a:schemeClr val="accent4">
                  <a:lumMod val="75000"/>
                </a:schemeClr>
              </a:solidFill>
              <a:cs typeface="Courier New" pitchFamily="49" charset="0"/>
            </a:endParaRPr>
          </a:p>
          <a:p>
            <a:endParaRPr lang="en-US" dirty="0"/>
          </a:p>
        </p:txBody>
      </p:sp>
    </p:spTree>
    <p:extLst>
      <p:ext uri="{BB962C8B-B14F-4D97-AF65-F5344CB8AC3E}">
        <p14:creationId xmlns:p14="http://schemas.microsoft.com/office/powerpoint/2010/main" val="9711040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82A9D-1B6B-B897-F829-BAFB307BEAD4}"/>
              </a:ext>
            </a:extLst>
          </p:cNvPr>
          <p:cNvSpPr>
            <a:spLocks noGrp="1"/>
          </p:cNvSpPr>
          <p:nvPr>
            <p:ph type="title"/>
          </p:nvPr>
        </p:nvSpPr>
        <p:spPr>
          <a:xfrm>
            <a:off x="1534696" y="1"/>
            <a:ext cx="9520158" cy="808074"/>
          </a:xfrm>
        </p:spPr>
        <p:txBody>
          <a:bodyPr>
            <a:normAutofit/>
          </a:bodyPr>
          <a:lstStyle/>
          <a:p>
            <a:r>
              <a:rPr lang="en-US" sz="3600" u="sng" dirty="0"/>
              <a:t>Border Shorthand</a:t>
            </a:r>
          </a:p>
        </p:txBody>
      </p:sp>
      <p:sp>
        <p:nvSpPr>
          <p:cNvPr id="3" name="Content Placeholder 2">
            <a:extLst>
              <a:ext uri="{FF2B5EF4-FFF2-40B4-BE49-F238E27FC236}">
                <a16:creationId xmlns:a16="http://schemas.microsoft.com/office/drawing/2014/main" id="{3F144F0E-982A-A2A5-2424-2DF5618B1D1C}"/>
              </a:ext>
            </a:extLst>
          </p:cNvPr>
          <p:cNvSpPr>
            <a:spLocks noGrp="1"/>
          </p:cNvSpPr>
          <p:nvPr>
            <p:ph idx="1"/>
          </p:nvPr>
        </p:nvSpPr>
        <p:spPr>
          <a:xfrm>
            <a:off x="1534696" y="1137684"/>
            <a:ext cx="9520158" cy="4774018"/>
          </a:xfrm>
        </p:spPr>
        <p:txBody>
          <a:bodyPr>
            <a:noAutofit/>
          </a:bodyPr>
          <a:lstStyle/>
          <a:p>
            <a:pPr>
              <a:lnSpc>
                <a:spcPct val="100000"/>
              </a:lnSpc>
            </a:pPr>
            <a:r>
              <a:rPr lang="en-US" altLang="en-US" sz="2800" dirty="0"/>
              <a:t>We can specify </a:t>
            </a:r>
            <a:r>
              <a:rPr lang="en-US" altLang="en-US" sz="2800" dirty="0">
                <a:solidFill>
                  <a:srgbClr val="FF0000"/>
                </a:solidFill>
              </a:rPr>
              <a:t>border</a:t>
            </a:r>
            <a:r>
              <a:rPr lang="en-US" altLang="en-US" sz="2800" dirty="0"/>
              <a:t> using the CSS </a:t>
            </a:r>
            <a:r>
              <a:rPr lang="en-US" altLang="en-US" sz="2800" dirty="0">
                <a:solidFill>
                  <a:srgbClr val="FF0000"/>
                </a:solidFill>
              </a:rPr>
              <a:t>borde</a:t>
            </a:r>
            <a:r>
              <a:rPr lang="en-US" altLang="en-US" sz="2800" dirty="0"/>
              <a:t>r property. This property needs three values to display border properly. They are: The </a:t>
            </a:r>
            <a:r>
              <a:rPr lang="en-US" altLang="en-US" sz="2800" dirty="0">
                <a:solidFill>
                  <a:srgbClr val="0070C0"/>
                </a:solidFill>
              </a:rPr>
              <a:t>width (</a:t>
            </a:r>
            <a:r>
              <a:rPr lang="en-US" altLang="en-US" sz="2800" dirty="0" err="1">
                <a:solidFill>
                  <a:srgbClr val="0070C0"/>
                </a:solidFill>
              </a:rPr>
              <a:t>px</a:t>
            </a:r>
            <a:r>
              <a:rPr lang="en-US" altLang="en-US" sz="2800" dirty="0">
                <a:solidFill>
                  <a:srgbClr val="0070C0"/>
                </a:solidFill>
              </a:rPr>
              <a:t>)</a:t>
            </a:r>
            <a:r>
              <a:rPr lang="en-US" altLang="en-US" sz="2800" dirty="0"/>
              <a:t> of the border, </a:t>
            </a:r>
            <a:r>
              <a:rPr lang="en-US" altLang="en-US" sz="2800" dirty="0">
                <a:solidFill>
                  <a:srgbClr val="0070C0"/>
                </a:solidFill>
              </a:rPr>
              <a:t>style</a:t>
            </a:r>
            <a:r>
              <a:rPr lang="en-US" altLang="en-US" sz="2800" dirty="0"/>
              <a:t> (solid, dashed, dotted, double) of the border and the </a:t>
            </a:r>
            <a:r>
              <a:rPr lang="en-US" altLang="en-US" sz="2800" dirty="0">
                <a:solidFill>
                  <a:srgbClr val="0070C0"/>
                </a:solidFill>
              </a:rPr>
              <a:t>color</a:t>
            </a:r>
            <a:r>
              <a:rPr lang="en-US" altLang="en-US" sz="2800" dirty="0"/>
              <a:t> of the border.</a:t>
            </a:r>
          </a:p>
          <a:p>
            <a:pPr marL="0" indent="0">
              <a:lnSpc>
                <a:spcPct val="100000"/>
              </a:lnSpc>
              <a:buNone/>
            </a:pPr>
            <a:r>
              <a:rPr lang="en-GB" altLang="en-US" sz="2800" dirty="0">
                <a:solidFill>
                  <a:schemeClr val="accent5">
                    <a:lumMod val="75000"/>
                  </a:schemeClr>
                </a:solidFill>
              </a:rPr>
              <a:t>All elements have some imaginary border ; specifying the border style allows you to make the imaginary border “Real” hence the most important  property is the </a:t>
            </a:r>
            <a:r>
              <a:rPr lang="en-GB" altLang="en-US" sz="2800" b="1" i="1" dirty="0">
                <a:solidFill>
                  <a:schemeClr val="bg2">
                    <a:lumMod val="25000"/>
                  </a:schemeClr>
                </a:solidFill>
              </a:rPr>
              <a:t>style</a:t>
            </a:r>
            <a:r>
              <a:rPr lang="en-GB" altLang="en-US" sz="2800" dirty="0">
                <a:solidFill>
                  <a:schemeClr val="accent5">
                    <a:lumMod val="75000"/>
                  </a:schemeClr>
                </a:solidFill>
              </a:rPr>
              <a:t>. If you omit it, </a:t>
            </a:r>
            <a:r>
              <a:rPr lang="en-GB" altLang="en-US" sz="2800" dirty="0" err="1">
                <a:solidFill>
                  <a:schemeClr val="accent5">
                    <a:lumMod val="75000"/>
                  </a:schemeClr>
                </a:solidFill>
              </a:rPr>
              <a:t>colors</a:t>
            </a:r>
            <a:r>
              <a:rPr lang="en-GB" altLang="en-US" sz="2800" dirty="0">
                <a:solidFill>
                  <a:schemeClr val="accent5">
                    <a:lumMod val="75000"/>
                  </a:schemeClr>
                </a:solidFill>
              </a:rPr>
              <a:t> , width etc </a:t>
            </a:r>
            <a:r>
              <a:rPr lang="en-GB" altLang="en-US" sz="2800" u="sng" dirty="0">
                <a:solidFill>
                  <a:srgbClr val="FF0000"/>
                </a:solidFill>
              </a:rPr>
              <a:t>won’t work </a:t>
            </a:r>
            <a:r>
              <a:rPr lang="en-GB" altLang="en-US" sz="2800" dirty="0">
                <a:solidFill>
                  <a:schemeClr val="accent5">
                    <a:lumMod val="75000"/>
                  </a:schemeClr>
                </a:solidFill>
              </a:rPr>
              <a:t>– you would be trying to </a:t>
            </a:r>
            <a:r>
              <a:rPr lang="en-GB" altLang="en-US" sz="2800" dirty="0" err="1">
                <a:solidFill>
                  <a:schemeClr val="accent5">
                    <a:lumMod val="75000"/>
                  </a:schemeClr>
                </a:solidFill>
              </a:rPr>
              <a:t>color</a:t>
            </a:r>
            <a:r>
              <a:rPr lang="en-GB" altLang="en-US" sz="2800" dirty="0">
                <a:solidFill>
                  <a:schemeClr val="accent5">
                    <a:lumMod val="75000"/>
                  </a:schemeClr>
                </a:solidFill>
              </a:rPr>
              <a:t> an invisible border!</a:t>
            </a:r>
            <a:endParaRPr lang="en-US" altLang="en-US" sz="2800" dirty="0">
              <a:solidFill>
                <a:schemeClr val="accent5">
                  <a:lumMod val="75000"/>
                </a:schemeClr>
              </a:solidFill>
            </a:endParaRPr>
          </a:p>
          <a:p>
            <a:pPr marL="0" indent="0">
              <a:buNone/>
            </a:pPr>
            <a:endParaRPr lang="en-US" sz="2800" dirty="0"/>
          </a:p>
        </p:txBody>
      </p:sp>
    </p:spTree>
    <p:extLst>
      <p:ext uri="{BB962C8B-B14F-4D97-AF65-F5344CB8AC3E}">
        <p14:creationId xmlns:p14="http://schemas.microsoft.com/office/powerpoint/2010/main" val="743038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0131E-AE99-B75E-F636-C9BB61A458B8}"/>
              </a:ext>
            </a:extLst>
          </p:cNvPr>
          <p:cNvSpPr>
            <a:spLocks noGrp="1"/>
          </p:cNvSpPr>
          <p:nvPr>
            <p:ph type="title"/>
          </p:nvPr>
        </p:nvSpPr>
        <p:spPr>
          <a:xfrm>
            <a:off x="1534696" y="124036"/>
            <a:ext cx="5871944" cy="1049235"/>
          </a:xfrm>
        </p:spPr>
        <p:txBody>
          <a:bodyPr/>
          <a:lstStyle/>
          <a:p>
            <a:r>
              <a:rPr lang="en-GB" b="1" u="sng" dirty="0"/>
              <a:t>EXERCISE – </a:t>
            </a:r>
            <a:r>
              <a:rPr lang="en-GB" b="1" u="sng" dirty="0">
                <a:solidFill>
                  <a:srgbClr val="C00000"/>
                </a:solidFill>
              </a:rPr>
              <a:t>10 mins</a:t>
            </a:r>
            <a:endParaRPr lang="en-US" b="1" u="sng" dirty="0">
              <a:solidFill>
                <a:srgbClr val="C00000"/>
              </a:solidFill>
            </a:endParaRPr>
          </a:p>
        </p:txBody>
      </p:sp>
      <p:sp>
        <p:nvSpPr>
          <p:cNvPr id="3" name="Content Placeholder 2">
            <a:extLst>
              <a:ext uri="{FF2B5EF4-FFF2-40B4-BE49-F238E27FC236}">
                <a16:creationId xmlns:a16="http://schemas.microsoft.com/office/drawing/2014/main" id="{5DE379AE-4684-FE1B-8B09-5B8DE6ACBF6D}"/>
              </a:ext>
            </a:extLst>
          </p:cNvPr>
          <p:cNvSpPr>
            <a:spLocks noGrp="1"/>
          </p:cNvSpPr>
          <p:nvPr>
            <p:ph idx="1"/>
          </p:nvPr>
        </p:nvSpPr>
        <p:spPr>
          <a:xfrm>
            <a:off x="1534696" y="1522449"/>
            <a:ext cx="6609844" cy="4073480"/>
          </a:xfrm>
        </p:spPr>
        <p:txBody>
          <a:bodyPr>
            <a:noAutofit/>
          </a:bodyPr>
          <a:lstStyle/>
          <a:p>
            <a:r>
              <a:rPr lang="en-US" altLang="en-US" sz="2600" dirty="0"/>
              <a:t>Objectives:</a:t>
            </a:r>
          </a:p>
          <a:p>
            <a:pPr lvl="1"/>
            <a:r>
              <a:rPr lang="en-US" altLang="en-US" sz="2600" dirty="0"/>
              <a:t>Understand how to use the border properties especially the border-radius.</a:t>
            </a:r>
          </a:p>
          <a:p>
            <a:pPr lvl="1"/>
            <a:r>
              <a:rPr lang="en-US" altLang="en-US" sz="2600" dirty="0"/>
              <a:t>Demonstrate the use of id and class, background color property</a:t>
            </a:r>
          </a:p>
          <a:p>
            <a:r>
              <a:rPr lang="en-GB" altLang="en-US" sz="2600" dirty="0"/>
              <a:t>Achieve as close as possible. The picture shown is an image hence output may not exactly look like this </a:t>
            </a:r>
            <a:endParaRPr lang="en-US" altLang="en-US" sz="2600" dirty="0"/>
          </a:p>
          <a:p>
            <a:pPr marL="0" indent="0">
              <a:buNone/>
            </a:pPr>
            <a:endParaRPr lang="en-US" sz="2600" dirty="0"/>
          </a:p>
        </p:txBody>
      </p:sp>
      <p:pic>
        <p:nvPicPr>
          <p:cNvPr id="6" name="Picture 5">
            <a:extLst>
              <a:ext uri="{FF2B5EF4-FFF2-40B4-BE49-F238E27FC236}">
                <a16:creationId xmlns:a16="http://schemas.microsoft.com/office/drawing/2014/main" id="{B349C9D3-14E2-D187-330D-CEC1F05479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16351" y="648653"/>
            <a:ext cx="1835184" cy="5299739"/>
          </a:xfrm>
          <a:prstGeom prst="rect">
            <a:avLst/>
          </a:prstGeom>
        </p:spPr>
      </p:pic>
    </p:spTree>
    <p:extLst>
      <p:ext uri="{BB962C8B-B14F-4D97-AF65-F5344CB8AC3E}">
        <p14:creationId xmlns:p14="http://schemas.microsoft.com/office/powerpoint/2010/main" val="19172197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4F916-8E30-AF9D-053D-DC6AC1E605B7}"/>
              </a:ext>
            </a:extLst>
          </p:cNvPr>
          <p:cNvSpPr>
            <a:spLocks noGrp="1"/>
          </p:cNvSpPr>
          <p:nvPr>
            <p:ph type="title"/>
          </p:nvPr>
        </p:nvSpPr>
        <p:spPr>
          <a:xfrm>
            <a:off x="1534696" y="1"/>
            <a:ext cx="9520158" cy="1105785"/>
          </a:xfrm>
        </p:spPr>
        <p:txBody>
          <a:bodyPr/>
          <a:lstStyle/>
          <a:p>
            <a:r>
              <a:rPr lang="en-US" b="1" dirty="0"/>
              <a:t>PADDING</a:t>
            </a:r>
          </a:p>
        </p:txBody>
      </p:sp>
      <p:sp>
        <p:nvSpPr>
          <p:cNvPr id="3" name="Content Placeholder 2">
            <a:extLst>
              <a:ext uri="{FF2B5EF4-FFF2-40B4-BE49-F238E27FC236}">
                <a16:creationId xmlns:a16="http://schemas.microsoft.com/office/drawing/2014/main" id="{C82811AB-AEA4-224D-CE38-B2687FF4346F}"/>
              </a:ext>
            </a:extLst>
          </p:cNvPr>
          <p:cNvSpPr>
            <a:spLocks noGrp="1"/>
          </p:cNvSpPr>
          <p:nvPr>
            <p:ph idx="1"/>
          </p:nvPr>
        </p:nvSpPr>
        <p:spPr>
          <a:xfrm>
            <a:off x="1534695" y="1275908"/>
            <a:ext cx="10076058" cy="4657060"/>
          </a:xfrm>
        </p:spPr>
        <p:txBody>
          <a:bodyPr>
            <a:noAutofit/>
          </a:bodyPr>
          <a:lstStyle/>
          <a:p>
            <a:pPr marL="0" indent="0">
              <a:buNone/>
            </a:pPr>
            <a:r>
              <a:rPr lang="en-US" sz="2300" dirty="0"/>
              <a:t>Recall that this is the area between the content and the border.</a:t>
            </a:r>
          </a:p>
          <a:p>
            <a:pPr>
              <a:defRPr/>
            </a:pPr>
            <a:r>
              <a:rPr lang="en-US" altLang="en-US" sz="2300" dirty="0">
                <a:latin typeface="+mj-lt"/>
              </a:rPr>
              <a:t>We can also apply a different amount of padding on different sides using the </a:t>
            </a:r>
            <a:r>
              <a:rPr lang="en-US" altLang="en-US" sz="2300" dirty="0">
                <a:solidFill>
                  <a:srgbClr val="FF0000"/>
                </a:solidFill>
                <a:latin typeface="+mj-lt"/>
              </a:rPr>
              <a:t>padding-top</a:t>
            </a:r>
            <a:r>
              <a:rPr lang="en-US" altLang="en-US" sz="2300" dirty="0">
                <a:latin typeface="+mj-lt"/>
              </a:rPr>
              <a:t>, </a:t>
            </a:r>
            <a:r>
              <a:rPr lang="en-US" altLang="en-US" sz="2300" dirty="0">
                <a:solidFill>
                  <a:srgbClr val="FF0000"/>
                </a:solidFill>
                <a:latin typeface="+mj-lt"/>
              </a:rPr>
              <a:t>padding-right</a:t>
            </a:r>
            <a:r>
              <a:rPr lang="en-US" altLang="en-US" sz="2300" dirty="0">
                <a:latin typeface="+mj-lt"/>
              </a:rPr>
              <a:t>, </a:t>
            </a:r>
            <a:r>
              <a:rPr lang="en-US" altLang="en-US" sz="2300" dirty="0">
                <a:solidFill>
                  <a:srgbClr val="FF0000"/>
                </a:solidFill>
                <a:latin typeface="+mj-lt"/>
              </a:rPr>
              <a:t>padding-bottom, padding-left</a:t>
            </a:r>
            <a:r>
              <a:rPr lang="en-US" altLang="en-US" sz="2300" dirty="0">
                <a:latin typeface="+mj-lt"/>
              </a:rPr>
              <a:t> properties.</a:t>
            </a:r>
          </a:p>
          <a:p>
            <a:pPr fontAlgn="auto">
              <a:spcAft>
                <a:spcPts val="0"/>
              </a:spcAft>
              <a:defRPr/>
            </a:pPr>
            <a:r>
              <a:rPr lang="en-US" sz="2300" dirty="0">
                <a:latin typeface="+mj-lt"/>
                <a:cs typeface="Courier New" pitchFamily="49" charset="0"/>
              </a:rPr>
              <a:t>The shorthand padding property combines for all sides as </a:t>
            </a:r>
            <a:r>
              <a:rPr lang="en-US" sz="2300" dirty="0">
                <a:solidFill>
                  <a:srgbClr val="C00000"/>
                </a:solidFill>
                <a:latin typeface="Consolas" pitchFamily="49" charset="0"/>
                <a:cs typeface="Courier New" pitchFamily="49" charset="0"/>
              </a:rPr>
              <a:t>.box{</a:t>
            </a:r>
            <a:r>
              <a:rPr lang="en-US" sz="2300" b="1" dirty="0">
                <a:solidFill>
                  <a:srgbClr val="C00000"/>
                </a:solidFill>
                <a:latin typeface="Consolas" pitchFamily="49" charset="0"/>
                <a:cs typeface="Courier New" pitchFamily="49" charset="0"/>
              </a:rPr>
              <a:t>padding</a:t>
            </a:r>
            <a:r>
              <a:rPr lang="en-US" sz="2300" dirty="0">
                <a:solidFill>
                  <a:srgbClr val="C00000"/>
                </a:solidFill>
                <a:latin typeface="Consolas" pitchFamily="49" charset="0"/>
                <a:cs typeface="Courier New" pitchFamily="49" charset="0"/>
              </a:rPr>
              <a:t>:</a:t>
            </a:r>
            <a:r>
              <a:rPr lang="en-US" sz="2300" dirty="0">
                <a:solidFill>
                  <a:srgbClr val="C00000"/>
                </a:solidFill>
                <a:latin typeface="Consolas" pitchFamily="49" charset="0"/>
              </a:rPr>
              <a:t> </a:t>
            </a:r>
            <a:r>
              <a:rPr lang="en-US" sz="2300" dirty="0">
                <a:solidFill>
                  <a:srgbClr val="C00000"/>
                </a:solidFill>
                <a:latin typeface="Consolas" pitchFamily="49" charset="0"/>
                <a:cs typeface="Courier New" pitchFamily="49" charset="0"/>
              </a:rPr>
              <a:t>100px 150px 100px 80px;}</a:t>
            </a:r>
            <a:r>
              <a:rPr lang="en-US" sz="2300" dirty="0">
                <a:latin typeface="+mj-lt"/>
                <a:cs typeface="Courier New" pitchFamily="49" charset="0"/>
              </a:rPr>
              <a:t> representing top, right, bottom, left</a:t>
            </a:r>
          </a:p>
          <a:p>
            <a:pPr fontAlgn="auto">
              <a:spcAft>
                <a:spcPts val="0"/>
              </a:spcAft>
              <a:defRPr/>
            </a:pPr>
            <a:r>
              <a:rPr lang="en-US" sz="2300" dirty="0">
                <a:latin typeface="+mj-lt"/>
                <a:cs typeface="Courier New" pitchFamily="49" charset="0"/>
              </a:rPr>
              <a:t>A missing value makes use of the adjacent value. Example: </a:t>
            </a:r>
            <a:r>
              <a:rPr lang="en-US" sz="2300" b="1" dirty="0">
                <a:solidFill>
                  <a:srgbClr val="C00000"/>
                </a:solidFill>
                <a:latin typeface="Consolas" pitchFamily="49" charset="0"/>
                <a:cs typeface="Courier New" pitchFamily="49" charset="0"/>
              </a:rPr>
              <a:t>padding</a:t>
            </a:r>
            <a:r>
              <a:rPr lang="en-US" sz="2300" dirty="0">
                <a:solidFill>
                  <a:srgbClr val="C00000"/>
                </a:solidFill>
                <a:latin typeface="Consolas" pitchFamily="49" charset="0"/>
                <a:cs typeface="Courier New" pitchFamily="49" charset="0"/>
              </a:rPr>
              <a:t>:100px 50px </a:t>
            </a:r>
            <a:r>
              <a:rPr lang="en-US" sz="2300" dirty="0">
                <a:latin typeface="+mj-lt"/>
                <a:cs typeface="Courier New" pitchFamily="49" charset="0"/>
              </a:rPr>
              <a:t>uses 100px for the top and bottom, while it uses 50px for the right and left. However, if we have three values, the middle value will be set for left and right.</a:t>
            </a:r>
          </a:p>
          <a:p>
            <a:pPr marL="0" indent="0">
              <a:buNone/>
            </a:pPr>
            <a:endParaRPr lang="en-US" sz="2300" dirty="0"/>
          </a:p>
        </p:txBody>
      </p:sp>
    </p:spTree>
    <p:extLst>
      <p:ext uri="{BB962C8B-B14F-4D97-AF65-F5344CB8AC3E}">
        <p14:creationId xmlns:p14="http://schemas.microsoft.com/office/powerpoint/2010/main" val="11372650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7C81D-78FC-8F69-F53E-7EA2CAF76C6F}"/>
              </a:ext>
            </a:extLst>
          </p:cNvPr>
          <p:cNvSpPr>
            <a:spLocks noGrp="1"/>
          </p:cNvSpPr>
          <p:nvPr>
            <p:ph type="title"/>
          </p:nvPr>
        </p:nvSpPr>
        <p:spPr>
          <a:xfrm>
            <a:off x="1534696" y="287079"/>
            <a:ext cx="9520158" cy="818707"/>
          </a:xfrm>
        </p:spPr>
        <p:txBody>
          <a:bodyPr>
            <a:normAutofit fontScale="90000"/>
          </a:bodyPr>
          <a:lstStyle/>
          <a:p>
            <a:r>
              <a:rPr lang="en-US" b="1" i="0" u="sng" dirty="0">
                <a:solidFill>
                  <a:srgbClr val="000000"/>
                </a:solidFill>
                <a:effectLst/>
                <a:latin typeface="Segoe UI" panose="020B0502040204020203" pitchFamily="34" charset="0"/>
              </a:rPr>
              <a:t>Padding and Element Width</a:t>
            </a:r>
            <a:br>
              <a:rPr lang="en-US" b="1" i="0" u="sng" dirty="0">
                <a:solidFill>
                  <a:srgbClr val="000000"/>
                </a:solidFill>
                <a:effectLst/>
                <a:latin typeface="Segoe UI" panose="020B0502040204020203" pitchFamily="34" charset="0"/>
              </a:rPr>
            </a:br>
            <a:endParaRPr lang="en-US" b="1" u="sng" dirty="0"/>
          </a:p>
        </p:txBody>
      </p:sp>
      <p:sp>
        <p:nvSpPr>
          <p:cNvPr id="3" name="Content Placeholder 2">
            <a:extLst>
              <a:ext uri="{FF2B5EF4-FFF2-40B4-BE49-F238E27FC236}">
                <a16:creationId xmlns:a16="http://schemas.microsoft.com/office/drawing/2014/main" id="{86E25D2D-0301-9AA6-19C0-3F408CCDE951}"/>
              </a:ext>
            </a:extLst>
          </p:cNvPr>
          <p:cNvSpPr>
            <a:spLocks noGrp="1"/>
          </p:cNvSpPr>
          <p:nvPr>
            <p:ph idx="1"/>
          </p:nvPr>
        </p:nvSpPr>
        <p:spPr>
          <a:xfrm>
            <a:off x="1534696" y="893136"/>
            <a:ext cx="9520158" cy="4573210"/>
          </a:xfrm>
        </p:spPr>
        <p:txBody>
          <a:bodyPr>
            <a:noAutofit/>
          </a:bodyPr>
          <a:lstStyle/>
          <a:p>
            <a:pPr marL="0" indent="0">
              <a:buNone/>
            </a:pPr>
            <a:r>
              <a:rPr lang="en-US" sz="2200" dirty="0"/>
              <a:t>The CSS width property specifies the width of the element's content area. The content area is the portion inside the padding, border, and margin of an element (the box model).</a:t>
            </a:r>
          </a:p>
          <a:p>
            <a:pPr marL="0" indent="0">
              <a:buNone/>
            </a:pPr>
            <a:r>
              <a:rPr lang="en-US" sz="2200" dirty="0"/>
              <a:t>So, if an element has a specified width, the padding added to that element will be added to the total width of the element. Example, if you set the width of an element at 300px and padding at 25px, the actual width of that element will be </a:t>
            </a:r>
            <a:r>
              <a:rPr lang="en-US" sz="2200" b="1" dirty="0"/>
              <a:t>350px</a:t>
            </a:r>
            <a:r>
              <a:rPr lang="en-US" sz="2200" dirty="0"/>
              <a:t> because the padding will add 25px to the </a:t>
            </a:r>
            <a:r>
              <a:rPr lang="en-US" sz="2200" dirty="0">
                <a:solidFill>
                  <a:srgbClr val="0070C0"/>
                </a:solidFill>
              </a:rPr>
              <a:t>right</a:t>
            </a:r>
            <a:r>
              <a:rPr lang="en-US" sz="2200" dirty="0"/>
              <a:t> and </a:t>
            </a:r>
            <a:r>
              <a:rPr lang="en-US" sz="2200" dirty="0">
                <a:solidFill>
                  <a:srgbClr val="0070C0"/>
                </a:solidFill>
              </a:rPr>
              <a:t>left</a:t>
            </a:r>
            <a:r>
              <a:rPr lang="en-US" sz="2200" dirty="0"/>
              <a:t> sides of the element box.</a:t>
            </a:r>
          </a:p>
          <a:p>
            <a:pPr marL="0" indent="0">
              <a:buNone/>
            </a:pPr>
            <a:r>
              <a:rPr lang="en-US" sz="2200" dirty="0"/>
              <a:t>However, you can use the </a:t>
            </a:r>
            <a:r>
              <a:rPr lang="en-US" sz="2200" b="1" i="1" dirty="0">
                <a:solidFill>
                  <a:srgbClr val="C00000"/>
                </a:solidFill>
              </a:rPr>
              <a:t>box-sizing</a:t>
            </a:r>
            <a:r>
              <a:rPr lang="en-US" sz="2200" dirty="0"/>
              <a:t> </a:t>
            </a:r>
            <a:r>
              <a:rPr lang="en-US" sz="2200" dirty="0">
                <a:solidFill>
                  <a:srgbClr val="0070C0"/>
                </a:solidFill>
              </a:rPr>
              <a:t>property </a:t>
            </a:r>
            <a:r>
              <a:rPr lang="en-US" sz="2200" dirty="0"/>
              <a:t>set to</a:t>
            </a:r>
            <a:r>
              <a:rPr lang="en-US" sz="2200" b="1" i="1" dirty="0">
                <a:solidFill>
                  <a:srgbClr val="C00000"/>
                </a:solidFill>
              </a:rPr>
              <a:t> border-box </a:t>
            </a:r>
            <a:r>
              <a:rPr lang="en-US" sz="2200" dirty="0"/>
              <a:t>to keep the width at 300px. This make the element to maintain its actual width; if padding is increased, the available content space will decrease.</a:t>
            </a:r>
          </a:p>
        </p:txBody>
      </p:sp>
    </p:spTree>
    <p:extLst>
      <p:ext uri="{BB962C8B-B14F-4D97-AF65-F5344CB8AC3E}">
        <p14:creationId xmlns:p14="http://schemas.microsoft.com/office/powerpoint/2010/main" val="30723484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91B686-1894-BAEE-A21F-D4C791D46D92}"/>
              </a:ext>
            </a:extLst>
          </p:cNvPr>
          <p:cNvSpPr>
            <a:spLocks noGrp="1"/>
          </p:cNvSpPr>
          <p:nvPr>
            <p:ph idx="1"/>
          </p:nvPr>
        </p:nvSpPr>
        <p:spPr>
          <a:xfrm>
            <a:off x="1534696" y="180753"/>
            <a:ext cx="4770411" cy="5677787"/>
          </a:xfrm>
        </p:spPr>
        <p:txBody>
          <a:bodyPr>
            <a:noAutofit/>
          </a:bodyPr>
          <a:lstStyle/>
          <a:p>
            <a:pPr marL="0" indent="0">
              <a:buNone/>
            </a:pPr>
            <a:r>
              <a:rPr lang="en-US" sz="2400" b="1" i="1" u="sng" dirty="0"/>
              <a:t>Example</a:t>
            </a:r>
          </a:p>
          <a:p>
            <a:pPr marL="0" indent="0">
              <a:buNone/>
            </a:pPr>
            <a:r>
              <a:rPr lang="en-US" sz="2400" dirty="0"/>
              <a:t>Here, the &lt;div&gt; element is given a width of 300px. However, the actual width of the &lt;div&gt; element will be 350px (300px + 25px of left padding + 25px of right padding):</a:t>
            </a:r>
          </a:p>
          <a:p>
            <a:pPr marL="0" indent="0">
              <a:buNone/>
            </a:pPr>
            <a:endParaRPr lang="en-US" sz="2400" dirty="0"/>
          </a:p>
          <a:p>
            <a:pPr marL="0" indent="0">
              <a:lnSpc>
                <a:spcPct val="100000"/>
              </a:lnSpc>
              <a:buNone/>
            </a:pPr>
            <a:r>
              <a:rPr lang="en-US" sz="2400" dirty="0">
                <a:solidFill>
                  <a:srgbClr val="C00000"/>
                </a:solidFill>
              </a:rPr>
              <a:t>div {</a:t>
            </a:r>
          </a:p>
          <a:p>
            <a:pPr marL="0" indent="0">
              <a:lnSpc>
                <a:spcPct val="100000"/>
              </a:lnSpc>
              <a:buNone/>
            </a:pPr>
            <a:r>
              <a:rPr lang="en-US" sz="2400" dirty="0">
                <a:solidFill>
                  <a:srgbClr val="C00000"/>
                </a:solidFill>
              </a:rPr>
              <a:t>  width: 300px;</a:t>
            </a:r>
          </a:p>
          <a:p>
            <a:pPr marL="0" indent="0">
              <a:lnSpc>
                <a:spcPct val="100000"/>
              </a:lnSpc>
              <a:buNone/>
            </a:pPr>
            <a:r>
              <a:rPr lang="en-US" sz="2400" dirty="0">
                <a:solidFill>
                  <a:srgbClr val="C00000"/>
                </a:solidFill>
              </a:rPr>
              <a:t>  padding: 25px;</a:t>
            </a:r>
          </a:p>
          <a:p>
            <a:pPr marL="0" indent="0">
              <a:lnSpc>
                <a:spcPct val="100000"/>
              </a:lnSpc>
              <a:buNone/>
            </a:pPr>
            <a:r>
              <a:rPr lang="en-US" sz="2400" dirty="0">
                <a:solidFill>
                  <a:srgbClr val="C00000"/>
                </a:solidFill>
              </a:rPr>
              <a:t>  background-color: red;</a:t>
            </a:r>
          </a:p>
          <a:p>
            <a:pPr marL="0" indent="0">
              <a:lnSpc>
                <a:spcPct val="100000"/>
              </a:lnSpc>
              <a:buNone/>
            </a:pPr>
            <a:r>
              <a:rPr lang="en-US" sz="2400" dirty="0">
                <a:solidFill>
                  <a:srgbClr val="C00000"/>
                </a:solidFill>
              </a:rPr>
              <a:t>}</a:t>
            </a:r>
          </a:p>
        </p:txBody>
      </p:sp>
      <p:sp>
        <p:nvSpPr>
          <p:cNvPr id="4" name="Content Placeholder 2">
            <a:extLst>
              <a:ext uri="{FF2B5EF4-FFF2-40B4-BE49-F238E27FC236}">
                <a16:creationId xmlns:a16="http://schemas.microsoft.com/office/drawing/2014/main" id="{E3A08A20-111F-F2BF-9BA8-99A1C63DDD71}"/>
              </a:ext>
            </a:extLst>
          </p:cNvPr>
          <p:cNvSpPr txBox="1">
            <a:spLocks/>
          </p:cNvSpPr>
          <p:nvPr/>
        </p:nvSpPr>
        <p:spPr>
          <a:xfrm>
            <a:off x="7077803" y="779721"/>
            <a:ext cx="4770411" cy="5677787"/>
          </a:xfrm>
          <a:prstGeom prst="rect">
            <a:avLst/>
          </a:prstGeom>
        </p:spPr>
        <p:txBody>
          <a:bodyPr vert="horz" lIns="91440" tIns="45720" rIns="91440" bIns="45720" rtlCol="0" anchor="t">
            <a:no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buFont typeface="Arial" panose="020B0604020202020204" pitchFamily="34" charset="0"/>
              <a:buNone/>
            </a:pPr>
            <a:r>
              <a:rPr lang="en-US" sz="2400" dirty="0"/>
              <a:t>Use the box-sizing property to keep the width at 300px, no matter the amount of padding:</a:t>
            </a:r>
          </a:p>
          <a:p>
            <a:pPr marL="0" indent="0">
              <a:buFont typeface="Arial" panose="020B0604020202020204" pitchFamily="34" charset="0"/>
              <a:buNone/>
            </a:pPr>
            <a:endParaRPr lang="en-US" sz="2400" dirty="0"/>
          </a:p>
          <a:p>
            <a:pPr marL="0" indent="0">
              <a:buFont typeface="Arial" panose="020B0604020202020204" pitchFamily="34" charset="0"/>
              <a:buNone/>
            </a:pPr>
            <a:r>
              <a:rPr lang="en-US" sz="2400" dirty="0">
                <a:solidFill>
                  <a:srgbClr val="C00000"/>
                </a:solidFill>
              </a:rPr>
              <a:t>div {</a:t>
            </a:r>
          </a:p>
          <a:p>
            <a:pPr marL="0" indent="0">
              <a:buFont typeface="Arial" panose="020B0604020202020204" pitchFamily="34" charset="0"/>
              <a:buNone/>
            </a:pPr>
            <a:r>
              <a:rPr lang="en-US" sz="2400" dirty="0">
                <a:solidFill>
                  <a:srgbClr val="C00000"/>
                </a:solidFill>
              </a:rPr>
              <a:t>  width: 300px;</a:t>
            </a:r>
          </a:p>
          <a:p>
            <a:pPr marL="0" indent="0">
              <a:buFont typeface="Arial" panose="020B0604020202020204" pitchFamily="34" charset="0"/>
              <a:buNone/>
            </a:pPr>
            <a:r>
              <a:rPr lang="en-US" sz="2400" dirty="0">
                <a:solidFill>
                  <a:srgbClr val="C00000"/>
                </a:solidFill>
              </a:rPr>
              <a:t>  padding: 25px;</a:t>
            </a:r>
          </a:p>
          <a:p>
            <a:pPr marL="0" indent="0">
              <a:buNone/>
            </a:pPr>
            <a:r>
              <a:rPr lang="en-US" sz="2400" dirty="0">
                <a:solidFill>
                  <a:srgbClr val="C00000"/>
                </a:solidFill>
              </a:rPr>
              <a:t>  background-color: red;</a:t>
            </a:r>
          </a:p>
          <a:p>
            <a:pPr marL="0" indent="0">
              <a:buFont typeface="Arial" panose="020B0604020202020204" pitchFamily="34" charset="0"/>
              <a:buNone/>
            </a:pPr>
            <a:r>
              <a:rPr lang="en-US" sz="2400" dirty="0">
                <a:solidFill>
                  <a:srgbClr val="C00000"/>
                </a:solidFill>
              </a:rPr>
              <a:t>  box-sizing: border-box;</a:t>
            </a:r>
          </a:p>
          <a:p>
            <a:pPr marL="0" indent="0">
              <a:buFont typeface="Arial" panose="020B0604020202020204" pitchFamily="34" charset="0"/>
              <a:buNone/>
            </a:pPr>
            <a:r>
              <a:rPr lang="en-US" sz="2400" dirty="0">
                <a:solidFill>
                  <a:srgbClr val="C00000"/>
                </a:solidFill>
              </a:rPr>
              <a:t>}</a:t>
            </a:r>
          </a:p>
        </p:txBody>
      </p:sp>
    </p:spTree>
    <p:extLst>
      <p:ext uri="{BB962C8B-B14F-4D97-AF65-F5344CB8AC3E}">
        <p14:creationId xmlns:p14="http://schemas.microsoft.com/office/powerpoint/2010/main" val="8867241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BA4CD-3EBC-94FD-851B-4D642BCE2789}"/>
              </a:ext>
            </a:extLst>
          </p:cNvPr>
          <p:cNvSpPr>
            <a:spLocks noGrp="1"/>
          </p:cNvSpPr>
          <p:nvPr>
            <p:ph type="title"/>
          </p:nvPr>
        </p:nvSpPr>
        <p:spPr>
          <a:xfrm>
            <a:off x="1534696" y="1"/>
            <a:ext cx="9520158" cy="723014"/>
          </a:xfrm>
        </p:spPr>
        <p:txBody>
          <a:bodyPr/>
          <a:lstStyle/>
          <a:p>
            <a:r>
              <a:rPr lang="en-US" b="1" dirty="0"/>
              <a:t>MARGIN</a:t>
            </a:r>
          </a:p>
        </p:txBody>
      </p:sp>
      <p:sp>
        <p:nvSpPr>
          <p:cNvPr id="3" name="Content Placeholder 2">
            <a:extLst>
              <a:ext uri="{FF2B5EF4-FFF2-40B4-BE49-F238E27FC236}">
                <a16:creationId xmlns:a16="http://schemas.microsoft.com/office/drawing/2014/main" id="{14E9FFAF-DB68-AAD6-EB64-F87E574DFBCE}"/>
              </a:ext>
            </a:extLst>
          </p:cNvPr>
          <p:cNvSpPr>
            <a:spLocks noGrp="1"/>
          </p:cNvSpPr>
          <p:nvPr>
            <p:ph idx="1"/>
          </p:nvPr>
        </p:nvSpPr>
        <p:spPr>
          <a:xfrm>
            <a:off x="1307805" y="839972"/>
            <a:ext cx="10132828" cy="4626373"/>
          </a:xfrm>
        </p:spPr>
        <p:txBody>
          <a:bodyPr>
            <a:noAutofit/>
          </a:bodyPr>
          <a:lstStyle/>
          <a:p>
            <a:pPr>
              <a:defRPr/>
            </a:pPr>
            <a:r>
              <a:rPr lang="en-US" sz="2600" i="1" dirty="0">
                <a:latin typeface="+mj-lt"/>
              </a:rPr>
              <a:t>Recall that the Margin is the area between the border and the other surrounding elements.</a:t>
            </a:r>
            <a:endParaRPr lang="en-US" altLang="en-US" sz="2600" dirty="0">
              <a:solidFill>
                <a:schemeClr val="accent1"/>
              </a:solidFill>
              <a:latin typeface="+mj-lt"/>
            </a:endParaRPr>
          </a:p>
          <a:p>
            <a:pPr>
              <a:defRPr/>
            </a:pPr>
            <a:r>
              <a:rPr lang="en-US" altLang="en-US" sz="2300" dirty="0">
                <a:latin typeface="+mj-lt"/>
              </a:rPr>
              <a:t>We can also apply a different amount of margin on different sides using the </a:t>
            </a:r>
            <a:r>
              <a:rPr lang="en-US" altLang="en-US" sz="2300" dirty="0">
                <a:solidFill>
                  <a:srgbClr val="FF0000"/>
                </a:solidFill>
                <a:latin typeface="+mj-lt"/>
              </a:rPr>
              <a:t>margin-top</a:t>
            </a:r>
            <a:r>
              <a:rPr lang="en-US" altLang="en-US" sz="2300" dirty="0">
                <a:latin typeface="+mj-lt"/>
              </a:rPr>
              <a:t>, </a:t>
            </a:r>
            <a:r>
              <a:rPr lang="en-US" altLang="en-US" sz="2300" dirty="0">
                <a:solidFill>
                  <a:srgbClr val="FF0000"/>
                </a:solidFill>
                <a:latin typeface="+mj-lt"/>
              </a:rPr>
              <a:t>margin-right</a:t>
            </a:r>
            <a:r>
              <a:rPr lang="en-US" altLang="en-US" sz="2300" dirty="0">
                <a:latin typeface="+mj-lt"/>
              </a:rPr>
              <a:t>, </a:t>
            </a:r>
            <a:r>
              <a:rPr lang="en-US" altLang="en-US" sz="2300" dirty="0">
                <a:solidFill>
                  <a:srgbClr val="FF0000"/>
                </a:solidFill>
                <a:latin typeface="+mj-lt"/>
              </a:rPr>
              <a:t>margin-bottom, and margin-left</a:t>
            </a:r>
            <a:r>
              <a:rPr lang="en-US" altLang="en-US" sz="2300" dirty="0">
                <a:latin typeface="+mj-lt"/>
              </a:rPr>
              <a:t> properties.</a:t>
            </a:r>
          </a:p>
          <a:p>
            <a:pPr fontAlgn="auto">
              <a:spcAft>
                <a:spcPts val="0"/>
              </a:spcAft>
              <a:defRPr/>
            </a:pPr>
            <a:r>
              <a:rPr lang="en-US" sz="2300" dirty="0">
                <a:latin typeface="+mj-lt"/>
                <a:cs typeface="Courier New" pitchFamily="49" charset="0"/>
              </a:rPr>
              <a:t>The shorthand margin property combines for all sides as </a:t>
            </a:r>
            <a:r>
              <a:rPr lang="en-US" sz="2300" dirty="0">
                <a:solidFill>
                  <a:srgbClr val="C00000"/>
                </a:solidFill>
                <a:latin typeface="Consolas" pitchFamily="49" charset="0"/>
                <a:cs typeface="Courier New" pitchFamily="49" charset="0"/>
              </a:rPr>
              <a:t>.box{</a:t>
            </a:r>
            <a:r>
              <a:rPr lang="en-US" sz="2300" b="1" dirty="0">
                <a:solidFill>
                  <a:srgbClr val="C00000"/>
                </a:solidFill>
                <a:latin typeface="Consolas" pitchFamily="49" charset="0"/>
                <a:cs typeface="Courier New" pitchFamily="49" charset="0"/>
              </a:rPr>
              <a:t>margin</a:t>
            </a:r>
            <a:r>
              <a:rPr lang="en-US" sz="2300" dirty="0">
                <a:solidFill>
                  <a:srgbClr val="C00000"/>
                </a:solidFill>
                <a:latin typeface="Consolas" pitchFamily="49" charset="0"/>
                <a:cs typeface="Courier New" pitchFamily="49" charset="0"/>
              </a:rPr>
              <a:t>:</a:t>
            </a:r>
            <a:r>
              <a:rPr lang="en-US" sz="2300" dirty="0">
                <a:solidFill>
                  <a:srgbClr val="C00000"/>
                </a:solidFill>
                <a:latin typeface="Consolas" pitchFamily="49" charset="0"/>
              </a:rPr>
              <a:t> </a:t>
            </a:r>
            <a:r>
              <a:rPr lang="en-US" sz="2300" dirty="0">
                <a:solidFill>
                  <a:srgbClr val="C00000"/>
                </a:solidFill>
                <a:latin typeface="Consolas" pitchFamily="49" charset="0"/>
                <a:cs typeface="Courier New" pitchFamily="49" charset="0"/>
              </a:rPr>
              <a:t>100px 150px 100px 80px;}</a:t>
            </a:r>
            <a:r>
              <a:rPr lang="en-US" sz="2300" dirty="0">
                <a:latin typeface="+mj-lt"/>
                <a:cs typeface="Courier New" pitchFamily="49" charset="0"/>
              </a:rPr>
              <a:t> representing top, right, bottom, left</a:t>
            </a:r>
          </a:p>
          <a:p>
            <a:pPr fontAlgn="auto">
              <a:spcAft>
                <a:spcPts val="0"/>
              </a:spcAft>
              <a:defRPr/>
            </a:pPr>
            <a:r>
              <a:rPr lang="en-US" sz="2300" dirty="0">
                <a:latin typeface="+mj-lt"/>
                <a:cs typeface="Courier New" pitchFamily="49" charset="0"/>
              </a:rPr>
              <a:t>A missing value makes use of the adjacent value. Example: </a:t>
            </a:r>
            <a:r>
              <a:rPr lang="en-US" sz="2300" dirty="0">
                <a:solidFill>
                  <a:srgbClr val="C00000"/>
                </a:solidFill>
                <a:latin typeface="Consolas" pitchFamily="49" charset="0"/>
                <a:cs typeface="Courier New" pitchFamily="49" charset="0"/>
              </a:rPr>
              <a:t>margin:100px 50px </a:t>
            </a:r>
            <a:r>
              <a:rPr lang="en-US" sz="2300" dirty="0">
                <a:latin typeface="+mj-lt"/>
                <a:cs typeface="Courier New" pitchFamily="49" charset="0"/>
              </a:rPr>
              <a:t>uses 100px for the top and bottom, while it uses 50px for the right and left. </a:t>
            </a:r>
            <a:r>
              <a:rPr lang="en-US" sz="2400" dirty="0">
                <a:solidFill>
                  <a:srgbClr val="0070C0"/>
                </a:solidFill>
                <a:latin typeface="+mj-lt"/>
                <a:cs typeface="Courier New" pitchFamily="49" charset="0"/>
              </a:rPr>
              <a:t>However, if we have three values, the middle value will be set for left and right.</a:t>
            </a:r>
            <a:endParaRPr lang="en-US" sz="2300" dirty="0">
              <a:solidFill>
                <a:srgbClr val="0070C0"/>
              </a:solidFill>
              <a:latin typeface="+mj-lt"/>
              <a:cs typeface="Courier New" pitchFamily="49" charset="0"/>
            </a:endParaRPr>
          </a:p>
          <a:p>
            <a:pPr marL="0" indent="0">
              <a:buNone/>
            </a:pPr>
            <a:endParaRPr lang="en-US" sz="2300" dirty="0"/>
          </a:p>
        </p:txBody>
      </p:sp>
    </p:spTree>
    <p:extLst>
      <p:ext uri="{BB962C8B-B14F-4D97-AF65-F5344CB8AC3E}">
        <p14:creationId xmlns:p14="http://schemas.microsoft.com/office/powerpoint/2010/main" val="32740502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95965-574F-07EF-AF8B-446E7FE0032C}"/>
              </a:ext>
            </a:extLst>
          </p:cNvPr>
          <p:cNvSpPr>
            <a:spLocks noGrp="1"/>
          </p:cNvSpPr>
          <p:nvPr>
            <p:ph type="title"/>
          </p:nvPr>
        </p:nvSpPr>
        <p:spPr>
          <a:xfrm>
            <a:off x="1534696" y="251627"/>
            <a:ext cx="9520158" cy="587136"/>
          </a:xfrm>
        </p:spPr>
        <p:txBody>
          <a:bodyPr>
            <a:noAutofit/>
          </a:bodyPr>
          <a:lstStyle/>
          <a:p>
            <a:r>
              <a:rPr lang="en-US" sz="4000" dirty="0"/>
              <a:t>Margin </a:t>
            </a:r>
            <a:r>
              <a:rPr lang="en-US" sz="4000" b="1" i="1" dirty="0"/>
              <a:t>auto</a:t>
            </a:r>
            <a:r>
              <a:rPr lang="en-US" sz="4000" dirty="0"/>
              <a:t> and </a:t>
            </a:r>
            <a:r>
              <a:rPr lang="en-US" sz="4000" b="1" i="1" dirty="0"/>
              <a:t>inherit</a:t>
            </a:r>
            <a:r>
              <a:rPr lang="en-US" sz="4000" dirty="0"/>
              <a:t> value</a:t>
            </a:r>
          </a:p>
        </p:txBody>
      </p:sp>
      <p:sp>
        <p:nvSpPr>
          <p:cNvPr id="3" name="Content Placeholder 2">
            <a:extLst>
              <a:ext uri="{FF2B5EF4-FFF2-40B4-BE49-F238E27FC236}">
                <a16:creationId xmlns:a16="http://schemas.microsoft.com/office/drawing/2014/main" id="{38C72668-3E8C-BA89-1C16-54C2C987AD62}"/>
              </a:ext>
            </a:extLst>
          </p:cNvPr>
          <p:cNvSpPr>
            <a:spLocks noGrp="1"/>
          </p:cNvSpPr>
          <p:nvPr>
            <p:ph idx="1"/>
          </p:nvPr>
        </p:nvSpPr>
        <p:spPr>
          <a:xfrm>
            <a:off x="1534696" y="999460"/>
            <a:ext cx="4685351" cy="5528931"/>
          </a:xfrm>
        </p:spPr>
        <p:txBody>
          <a:bodyPr>
            <a:normAutofit fontScale="92500" lnSpcReduction="20000"/>
          </a:bodyPr>
          <a:lstStyle/>
          <a:p>
            <a:pPr marL="0" indent="0">
              <a:buNone/>
            </a:pPr>
            <a:r>
              <a:rPr lang="en-US" sz="2400" b="1" i="1" dirty="0"/>
              <a:t>Auto:</a:t>
            </a:r>
          </a:p>
          <a:p>
            <a:pPr marL="0" indent="0">
              <a:buNone/>
            </a:pPr>
            <a:r>
              <a:rPr lang="en-US" dirty="0"/>
              <a:t>You can set the margin property to auto to </a:t>
            </a:r>
            <a:r>
              <a:rPr lang="en-US" b="1" i="1" dirty="0">
                <a:solidFill>
                  <a:schemeClr val="accent5">
                    <a:lumMod val="75000"/>
                  </a:schemeClr>
                </a:solidFill>
              </a:rPr>
              <a:t>horizontally</a:t>
            </a:r>
            <a:r>
              <a:rPr lang="en-US" dirty="0"/>
              <a:t> center the element within its container. The element will then take up the specified width, and the remaining space will be split equally between the left and right margins.</a:t>
            </a:r>
          </a:p>
          <a:p>
            <a:pPr marL="0" indent="0">
              <a:buNone/>
            </a:pPr>
            <a:r>
              <a:rPr lang="en-US" b="1" u="sng" dirty="0"/>
              <a:t>Example</a:t>
            </a:r>
            <a:endParaRPr lang="en-US" dirty="0"/>
          </a:p>
          <a:p>
            <a:pPr marL="0" indent="0">
              <a:buNone/>
            </a:pPr>
            <a:r>
              <a:rPr lang="en-US" dirty="0">
                <a:solidFill>
                  <a:srgbClr val="C00000"/>
                </a:solidFill>
              </a:rPr>
              <a:t>div {</a:t>
            </a:r>
          </a:p>
          <a:p>
            <a:pPr marL="0" indent="0">
              <a:buNone/>
            </a:pPr>
            <a:r>
              <a:rPr lang="en-US" dirty="0">
                <a:solidFill>
                  <a:srgbClr val="C00000"/>
                </a:solidFill>
              </a:rPr>
              <a:t>  width: 300px;</a:t>
            </a:r>
          </a:p>
          <a:p>
            <a:pPr marL="0" indent="0">
              <a:buNone/>
            </a:pPr>
            <a:r>
              <a:rPr lang="en-US" dirty="0">
                <a:solidFill>
                  <a:srgbClr val="C00000"/>
                </a:solidFill>
              </a:rPr>
              <a:t>  margin: auto;</a:t>
            </a:r>
          </a:p>
          <a:p>
            <a:pPr marL="0" indent="0">
              <a:buNone/>
            </a:pPr>
            <a:r>
              <a:rPr lang="en-US" dirty="0">
                <a:solidFill>
                  <a:srgbClr val="C00000"/>
                </a:solidFill>
              </a:rPr>
              <a:t>  border: 1px solid red;</a:t>
            </a:r>
          </a:p>
          <a:p>
            <a:pPr marL="0" indent="0">
              <a:buNone/>
            </a:pPr>
            <a:r>
              <a:rPr lang="en-US" dirty="0">
                <a:solidFill>
                  <a:srgbClr val="C00000"/>
                </a:solidFill>
              </a:rPr>
              <a:t>}</a:t>
            </a:r>
          </a:p>
        </p:txBody>
      </p:sp>
      <p:sp>
        <p:nvSpPr>
          <p:cNvPr id="5" name="Content Placeholder 2">
            <a:extLst>
              <a:ext uri="{FF2B5EF4-FFF2-40B4-BE49-F238E27FC236}">
                <a16:creationId xmlns:a16="http://schemas.microsoft.com/office/drawing/2014/main" id="{50C3D0F9-74FC-022B-CE1F-B72922E54399}"/>
              </a:ext>
            </a:extLst>
          </p:cNvPr>
          <p:cNvSpPr txBox="1">
            <a:spLocks/>
          </p:cNvSpPr>
          <p:nvPr/>
        </p:nvSpPr>
        <p:spPr>
          <a:xfrm>
            <a:off x="6684399" y="838763"/>
            <a:ext cx="4685351" cy="5528931"/>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buFont typeface="Arial" panose="020B0604020202020204" pitchFamily="34" charset="0"/>
              <a:buNone/>
            </a:pPr>
            <a:r>
              <a:rPr lang="en-US" sz="2400" b="1" i="1" dirty="0"/>
              <a:t>Inherit:</a:t>
            </a:r>
          </a:p>
          <a:p>
            <a:pPr marL="0" indent="0">
              <a:buFont typeface="Arial" panose="020B0604020202020204" pitchFamily="34" charset="0"/>
              <a:buNone/>
            </a:pPr>
            <a:r>
              <a:rPr lang="en-US" dirty="0"/>
              <a:t>This allows the child element of the div, say &lt;p&gt; to inherit the margin value of the parent, say &lt;div&gt; .</a:t>
            </a:r>
          </a:p>
          <a:p>
            <a:pPr marL="0" indent="0">
              <a:buFont typeface="Arial" panose="020B0604020202020204" pitchFamily="34" charset="0"/>
              <a:buNone/>
            </a:pPr>
            <a:r>
              <a:rPr lang="en-US" b="1" u="sng" dirty="0"/>
              <a:t>Example:</a:t>
            </a:r>
          </a:p>
          <a:p>
            <a:pPr marL="0" indent="0">
              <a:lnSpc>
                <a:spcPct val="110000"/>
              </a:lnSpc>
              <a:buFont typeface="Arial" panose="020B0604020202020204" pitchFamily="34" charset="0"/>
              <a:buNone/>
            </a:pPr>
            <a:r>
              <a:rPr lang="en-US" dirty="0">
                <a:solidFill>
                  <a:srgbClr val="C00000"/>
                </a:solidFill>
              </a:rPr>
              <a:t>div {</a:t>
            </a:r>
          </a:p>
          <a:p>
            <a:pPr marL="0" indent="0">
              <a:lnSpc>
                <a:spcPct val="110000"/>
              </a:lnSpc>
              <a:buFont typeface="Arial" panose="020B0604020202020204" pitchFamily="34" charset="0"/>
              <a:buNone/>
            </a:pPr>
            <a:r>
              <a:rPr lang="en-US" dirty="0">
                <a:solidFill>
                  <a:srgbClr val="C00000"/>
                </a:solidFill>
              </a:rPr>
              <a:t>  border: 1px solid red;</a:t>
            </a:r>
          </a:p>
          <a:p>
            <a:pPr marL="0" indent="0">
              <a:lnSpc>
                <a:spcPct val="110000"/>
              </a:lnSpc>
              <a:buFont typeface="Arial" panose="020B0604020202020204" pitchFamily="34" charset="0"/>
              <a:buNone/>
            </a:pPr>
            <a:r>
              <a:rPr lang="en-US" dirty="0">
                <a:solidFill>
                  <a:srgbClr val="C00000"/>
                </a:solidFill>
              </a:rPr>
              <a:t>  margin-left: 100px;</a:t>
            </a:r>
          </a:p>
          <a:p>
            <a:pPr marL="0" indent="0">
              <a:lnSpc>
                <a:spcPct val="110000"/>
              </a:lnSpc>
              <a:buFont typeface="Arial" panose="020B0604020202020204" pitchFamily="34" charset="0"/>
              <a:buNone/>
            </a:pPr>
            <a:r>
              <a:rPr lang="en-US" dirty="0">
                <a:solidFill>
                  <a:srgbClr val="C00000"/>
                </a:solidFill>
              </a:rPr>
              <a:t>}</a:t>
            </a:r>
          </a:p>
          <a:p>
            <a:pPr marL="0" indent="0">
              <a:lnSpc>
                <a:spcPct val="110000"/>
              </a:lnSpc>
              <a:buFont typeface="Arial" panose="020B0604020202020204" pitchFamily="34" charset="0"/>
              <a:buNone/>
            </a:pPr>
            <a:r>
              <a:rPr lang="en-US" dirty="0">
                <a:solidFill>
                  <a:srgbClr val="C00000"/>
                </a:solidFill>
              </a:rPr>
              <a:t>div p {</a:t>
            </a:r>
          </a:p>
          <a:p>
            <a:pPr marL="0" indent="0">
              <a:lnSpc>
                <a:spcPct val="110000"/>
              </a:lnSpc>
              <a:buFont typeface="Arial" panose="020B0604020202020204" pitchFamily="34" charset="0"/>
              <a:buNone/>
            </a:pPr>
            <a:r>
              <a:rPr lang="en-US" dirty="0">
                <a:solidFill>
                  <a:srgbClr val="C00000"/>
                </a:solidFill>
              </a:rPr>
              <a:t>  margin-left: inherit;</a:t>
            </a:r>
          </a:p>
          <a:p>
            <a:pPr marL="0" indent="0">
              <a:lnSpc>
                <a:spcPct val="110000"/>
              </a:lnSpc>
              <a:buFont typeface="Arial" panose="020B0604020202020204" pitchFamily="34" charset="0"/>
              <a:buNone/>
            </a:pPr>
            <a:r>
              <a:rPr lang="en-US" dirty="0">
                <a:solidFill>
                  <a:srgbClr val="C00000"/>
                </a:solidFill>
              </a:rPr>
              <a:t>}</a:t>
            </a:r>
          </a:p>
        </p:txBody>
      </p:sp>
    </p:spTree>
    <p:extLst>
      <p:ext uri="{BB962C8B-B14F-4D97-AF65-F5344CB8AC3E}">
        <p14:creationId xmlns:p14="http://schemas.microsoft.com/office/powerpoint/2010/main" val="18452107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B1443-C35A-9F9A-742D-B1A2CEFF5D4F}"/>
              </a:ext>
            </a:extLst>
          </p:cNvPr>
          <p:cNvSpPr>
            <a:spLocks noGrp="1"/>
          </p:cNvSpPr>
          <p:nvPr>
            <p:ph type="title"/>
          </p:nvPr>
        </p:nvSpPr>
        <p:spPr>
          <a:xfrm>
            <a:off x="1534696" y="1"/>
            <a:ext cx="9520158" cy="723014"/>
          </a:xfrm>
        </p:spPr>
        <p:txBody>
          <a:bodyPr/>
          <a:lstStyle/>
          <a:p>
            <a:r>
              <a:rPr lang="en-US" b="1" u="sng" dirty="0"/>
              <a:t>More on Width: Tips for calculating width</a:t>
            </a:r>
          </a:p>
        </p:txBody>
      </p:sp>
      <p:sp>
        <p:nvSpPr>
          <p:cNvPr id="3" name="Content Placeholder 2">
            <a:extLst>
              <a:ext uri="{FF2B5EF4-FFF2-40B4-BE49-F238E27FC236}">
                <a16:creationId xmlns:a16="http://schemas.microsoft.com/office/drawing/2014/main" id="{AF79E7E7-2BCF-E365-1316-257513B13D0F}"/>
              </a:ext>
            </a:extLst>
          </p:cNvPr>
          <p:cNvSpPr>
            <a:spLocks noGrp="1"/>
          </p:cNvSpPr>
          <p:nvPr>
            <p:ph idx="1"/>
          </p:nvPr>
        </p:nvSpPr>
        <p:spPr>
          <a:xfrm>
            <a:off x="1534696" y="903767"/>
            <a:ext cx="9520158" cy="5231219"/>
          </a:xfrm>
        </p:spPr>
        <p:txBody>
          <a:bodyPr>
            <a:normAutofit/>
          </a:bodyPr>
          <a:lstStyle/>
          <a:p>
            <a:pPr>
              <a:lnSpc>
                <a:spcPct val="100000"/>
              </a:lnSpc>
              <a:buFont typeface="Wingdings" panose="05000000000000000000" pitchFamily="2" charset="2"/>
              <a:buChar char="v"/>
            </a:pPr>
            <a:r>
              <a:rPr lang="en-US" altLang="en-US" sz="2200" dirty="0"/>
              <a:t>When you set the width and height properties of an element with CSS, you just set the width and height of the </a:t>
            </a:r>
            <a:r>
              <a:rPr lang="en-US" altLang="en-US" sz="2200" b="1" dirty="0"/>
              <a:t>content area</a:t>
            </a:r>
            <a:r>
              <a:rPr lang="en-US" altLang="en-US" sz="2200" dirty="0"/>
              <a:t>. </a:t>
            </a:r>
          </a:p>
          <a:p>
            <a:pPr>
              <a:lnSpc>
                <a:spcPct val="100000"/>
              </a:lnSpc>
              <a:buFont typeface="Wingdings" panose="05000000000000000000" pitchFamily="2" charset="2"/>
              <a:buChar char="v"/>
            </a:pPr>
            <a:r>
              <a:rPr lang="en-US" altLang="en-US" sz="2200" dirty="0"/>
              <a:t>To calculate the full size of an element, you must also add padding, borders, and margins.</a:t>
            </a:r>
          </a:p>
          <a:p>
            <a:pPr>
              <a:lnSpc>
                <a:spcPct val="100000"/>
              </a:lnSpc>
              <a:buFont typeface="Wingdings" panose="05000000000000000000" pitchFamily="2" charset="2"/>
              <a:buChar char="v"/>
            </a:pPr>
            <a:r>
              <a:rPr lang="en-US" altLang="en-US" sz="2200" dirty="0"/>
              <a:t>The total width of an element should be calculated like this:</a:t>
            </a:r>
          </a:p>
          <a:p>
            <a:pPr>
              <a:lnSpc>
                <a:spcPct val="100000"/>
              </a:lnSpc>
              <a:buFont typeface="Wingdings" panose="05000000000000000000" pitchFamily="2" charset="2"/>
              <a:buChar char="v"/>
            </a:pPr>
            <a:r>
              <a:rPr lang="en-US" altLang="en-US" sz="2200" b="1" dirty="0"/>
              <a:t>Total element width </a:t>
            </a:r>
            <a:r>
              <a:rPr lang="en-US" altLang="en-US" sz="2200" dirty="0"/>
              <a:t>= width + left padding + right padding + left border + right border </a:t>
            </a:r>
          </a:p>
          <a:p>
            <a:pPr>
              <a:lnSpc>
                <a:spcPct val="100000"/>
              </a:lnSpc>
              <a:buFont typeface="Wingdings" panose="05000000000000000000" pitchFamily="2" charset="2"/>
              <a:buChar char="v"/>
            </a:pPr>
            <a:r>
              <a:rPr lang="en-US" altLang="en-US" sz="2200" dirty="0"/>
              <a:t>Assume we want to style a &lt;div&gt; element to have a total width of 350px:</a:t>
            </a:r>
          </a:p>
          <a:p>
            <a:pPr>
              <a:lnSpc>
                <a:spcPct val="100000"/>
              </a:lnSpc>
              <a:buFont typeface="Wingdings" panose="05000000000000000000" pitchFamily="2" charset="2"/>
              <a:buChar char="v"/>
            </a:pPr>
            <a:r>
              <a:rPr lang="en-US" altLang="en-US" sz="2200" dirty="0"/>
              <a:t>Here is the calculation: 320px (width)  + 20px (left + right padding) + 10px (left + right border)</a:t>
            </a:r>
            <a:br>
              <a:rPr lang="en-US" altLang="en-US" sz="2200" dirty="0"/>
            </a:br>
            <a:r>
              <a:rPr lang="en-US" altLang="en-US" sz="2200" dirty="0"/>
              <a:t>+ 0px (left + right margin) </a:t>
            </a:r>
            <a:r>
              <a:rPr lang="en-US" altLang="en-US" sz="2200" b="1" dirty="0"/>
              <a:t>= 350px</a:t>
            </a:r>
          </a:p>
          <a:p>
            <a:pPr>
              <a:buFont typeface="Wingdings" panose="05000000000000000000" pitchFamily="2" charset="2"/>
              <a:buChar char="v"/>
            </a:pPr>
            <a:r>
              <a:rPr lang="en-US" sz="2200" dirty="0"/>
              <a:t> Total element height = height + top padding + bottom padding + top border + bottom border</a:t>
            </a:r>
          </a:p>
        </p:txBody>
      </p:sp>
    </p:spTree>
    <p:extLst>
      <p:ext uri="{BB962C8B-B14F-4D97-AF65-F5344CB8AC3E}">
        <p14:creationId xmlns:p14="http://schemas.microsoft.com/office/powerpoint/2010/main" val="15242906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9FBE9-5722-4354-92BF-E49085D4CA14}"/>
              </a:ext>
            </a:extLst>
          </p:cNvPr>
          <p:cNvSpPr>
            <a:spLocks noGrp="1"/>
          </p:cNvSpPr>
          <p:nvPr>
            <p:ph type="title"/>
          </p:nvPr>
        </p:nvSpPr>
        <p:spPr>
          <a:xfrm>
            <a:off x="1158949" y="1"/>
            <a:ext cx="9520158" cy="531628"/>
          </a:xfrm>
        </p:spPr>
        <p:txBody>
          <a:bodyPr>
            <a:normAutofit fontScale="90000"/>
          </a:bodyPr>
          <a:lstStyle/>
          <a:p>
            <a:r>
              <a:rPr lang="en-US" b="1" u="sng" dirty="0"/>
              <a:t>Min-height, min-width &amp; max-height, max-width</a:t>
            </a:r>
          </a:p>
        </p:txBody>
      </p:sp>
      <p:sp>
        <p:nvSpPr>
          <p:cNvPr id="3" name="Content Placeholder 2">
            <a:extLst>
              <a:ext uri="{FF2B5EF4-FFF2-40B4-BE49-F238E27FC236}">
                <a16:creationId xmlns:a16="http://schemas.microsoft.com/office/drawing/2014/main" id="{15BD1AD9-E326-85FA-4838-0C97F6F5912C}"/>
              </a:ext>
            </a:extLst>
          </p:cNvPr>
          <p:cNvSpPr>
            <a:spLocks noGrp="1"/>
          </p:cNvSpPr>
          <p:nvPr>
            <p:ph idx="1"/>
          </p:nvPr>
        </p:nvSpPr>
        <p:spPr>
          <a:xfrm>
            <a:off x="255181" y="584791"/>
            <a:ext cx="11802140" cy="5688418"/>
          </a:xfrm>
        </p:spPr>
        <p:txBody>
          <a:bodyPr>
            <a:normAutofit fontScale="92500"/>
          </a:bodyPr>
          <a:lstStyle/>
          <a:p>
            <a:pPr>
              <a:defRPr/>
            </a:pPr>
            <a:r>
              <a:rPr lang="en-US" sz="2200" dirty="0">
                <a:latin typeface="+mj-lt"/>
                <a:cs typeface="Courier New" pitchFamily="49" charset="0"/>
              </a:rPr>
              <a:t>Min-height can be used to specify the minimum height of an element content box. Starting height of an element. </a:t>
            </a:r>
            <a:r>
              <a:rPr lang="en-US" sz="2000" b="0" i="0" dirty="0">
                <a:solidFill>
                  <a:srgbClr val="333333"/>
                </a:solidFill>
                <a:effectLst/>
                <a:highlight>
                  <a:srgbClr val="FFFFFF"/>
                </a:highlight>
                <a:latin typeface="inter-regular"/>
              </a:rPr>
              <a:t>It will be applied when the content is smaller than the minimum height; otherwise, if the content is larger, this property has no effect. </a:t>
            </a:r>
            <a:r>
              <a:rPr lang="en-US" b="1" i="1" dirty="0">
                <a:solidFill>
                  <a:srgbClr val="333333"/>
                </a:solidFill>
                <a:highlight>
                  <a:srgbClr val="FFFFFF"/>
                </a:highlight>
                <a:latin typeface="inter-regular"/>
              </a:rPr>
              <a:t>V</a:t>
            </a:r>
            <a:r>
              <a:rPr lang="en-US" sz="2000" b="1" i="1" dirty="0">
                <a:solidFill>
                  <a:srgbClr val="333333"/>
                </a:solidFill>
                <a:effectLst/>
                <a:highlight>
                  <a:srgbClr val="FFFFFF"/>
                </a:highlight>
                <a:latin typeface="inter-regular"/>
              </a:rPr>
              <a:t>alues are </a:t>
            </a:r>
            <a:r>
              <a:rPr lang="en-US" sz="2000" b="1" i="1" dirty="0">
                <a:solidFill>
                  <a:srgbClr val="0070C0"/>
                </a:solidFill>
                <a:effectLst/>
                <a:latin typeface="inter-regular"/>
              </a:rPr>
              <a:t>min-height: </a:t>
            </a:r>
            <a:r>
              <a:rPr lang="en-US" sz="2000" b="1" i="1" dirty="0">
                <a:solidFill>
                  <a:srgbClr val="FF0000"/>
                </a:solidFill>
                <a:effectLst/>
                <a:latin typeface="inter-regular"/>
              </a:rPr>
              <a:t>none | length | initial | inherit;  </a:t>
            </a:r>
            <a:endParaRPr lang="en-US" sz="2200" b="1" i="1" dirty="0">
              <a:solidFill>
                <a:srgbClr val="FF0000"/>
              </a:solidFill>
              <a:latin typeface="+mj-lt"/>
              <a:cs typeface="Courier New" pitchFamily="49" charset="0"/>
            </a:endParaRPr>
          </a:p>
          <a:p>
            <a:pPr>
              <a:defRPr/>
            </a:pPr>
            <a:r>
              <a:rPr lang="en-US" sz="2200" dirty="0">
                <a:latin typeface="+mj-lt"/>
                <a:cs typeface="Courier New" pitchFamily="49" charset="0"/>
              </a:rPr>
              <a:t>It sets the maximum height of the element's content box. It means that the height of the content box can be smaller than the max-height value, but cannot be greater. It sets the upper bound on the element's height. When the content is larger than the maximum height, it will overflow. If the content is smaller than the max-height, this property does not affect it. </a:t>
            </a:r>
            <a:r>
              <a:rPr lang="en-US" sz="2400" b="1" i="1" dirty="0">
                <a:solidFill>
                  <a:srgbClr val="333333"/>
                </a:solidFill>
                <a:highlight>
                  <a:srgbClr val="FFFFFF"/>
                </a:highlight>
                <a:latin typeface="inter-regular"/>
              </a:rPr>
              <a:t>V</a:t>
            </a:r>
            <a:r>
              <a:rPr lang="en-US" sz="2400" b="1" i="1" dirty="0">
                <a:solidFill>
                  <a:srgbClr val="333333"/>
                </a:solidFill>
                <a:effectLst/>
                <a:highlight>
                  <a:srgbClr val="FFFFFF"/>
                </a:highlight>
                <a:latin typeface="inter-regular"/>
              </a:rPr>
              <a:t>alues are </a:t>
            </a:r>
            <a:r>
              <a:rPr lang="en-US" sz="2400" b="1" i="1" dirty="0">
                <a:solidFill>
                  <a:srgbClr val="0070C0"/>
                </a:solidFill>
                <a:effectLst/>
                <a:latin typeface="inter-regular"/>
              </a:rPr>
              <a:t>max-height: </a:t>
            </a:r>
            <a:r>
              <a:rPr lang="en-US" sz="2400" b="1" i="1" dirty="0">
                <a:solidFill>
                  <a:srgbClr val="FF0000"/>
                </a:solidFill>
                <a:effectLst/>
                <a:latin typeface="inter-regular"/>
              </a:rPr>
              <a:t>none | length | initial | inherit;  </a:t>
            </a:r>
            <a:endParaRPr lang="en-US" sz="2200" dirty="0">
              <a:latin typeface="+mj-lt"/>
              <a:cs typeface="Courier New" pitchFamily="49" charset="0"/>
            </a:endParaRPr>
          </a:p>
          <a:p>
            <a:pPr>
              <a:defRPr/>
            </a:pPr>
            <a:r>
              <a:rPr lang="en-US" sz="2200" dirty="0">
                <a:latin typeface="+mj-lt"/>
                <a:cs typeface="Courier New" pitchFamily="49" charset="0"/>
              </a:rPr>
              <a:t>It is used to set the minimum width of the element's content box. It means that the width of the content box can be greater than the min-width value, but cannot be shorter. It sets the lower bound on the element's width. It will be applied when the content is smaller than the minimum width; otherwise, if the content is larger, this property has no effect. </a:t>
            </a:r>
            <a:r>
              <a:rPr lang="en-US" sz="2400" b="1" i="1" dirty="0">
                <a:solidFill>
                  <a:srgbClr val="333333"/>
                </a:solidFill>
                <a:highlight>
                  <a:srgbClr val="FFFFFF"/>
                </a:highlight>
                <a:latin typeface="inter-regular"/>
              </a:rPr>
              <a:t>V</a:t>
            </a:r>
            <a:r>
              <a:rPr lang="en-US" sz="2400" b="1" i="1" dirty="0">
                <a:solidFill>
                  <a:srgbClr val="333333"/>
                </a:solidFill>
                <a:effectLst/>
                <a:highlight>
                  <a:srgbClr val="FFFFFF"/>
                </a:highlight>
                <a:latin typeface="inter-regular"/>
              </a:rPr>
              <a:t>alues are </a:t>
            </a:r>
            <a:r>
              <a:rPr lang="en-US" sz="2400" b="1" i="1" dirty="0">
                <a:solidFill>
                  <a:srgbClr val="0070C0"/>
                </a:solidFill>
                <a:effectLst/>
                <a:latin typeface="inter-regular"/>
              </a:rPr>
              <a:t>min-width: </a:t>
            </a:r>
            <a:r>
              <a:rPr lang="en-US" sz="2400" b="1" i="1" dirty="0">
                <a:solidFill>
                  <a:srgbClr val="FF0000"/>
                </a:solidFill>
                <a:effectLst/>
                <a:latin typeface="inter-regular"/>
              </a:rPr>
              <a:t>none | length | initial | inherit;  </a:t>
            </a:r>
            <a:endParaRPr lang="en-US" sz="2200" dirty="0">
              <a:latin typeface="+mj-lt"/>
              <a:cs typeface="Courier New" pitchFamily="49" charset="0"/>
            </a:endParaRPr>
          </a:p>
          <a:p>
            <a:pPr>
              <a:defRPr/>
            </a:pPr>
            <a:r>
              <a:rPr lang="en-US" sz="2200" dirty="0">
                <a:latin typeface="+mj-lt"/>
                <a:cs typeface="Courier New" pitchFamily="49" charset="0"/>
              </a:rPr>
              <a:t>Max-width set the maximum width of the element's content box. It means that the width of the content box can be smaller than the max-width value, but cannot be greater. It sets the upper bound on the element's width. When the content is larger than the maximum width, then it will automatically change the height of the element. If the content is smaller than the max-width, this property has no effect. </a:t>
            </a:r>
            <a:r>
              <a:rPr lang="en-US" sz="2400" b="1" i="1" dirty="0">
                <a:solidFill>
                  <a:srgbClr val="333333"/>
                </a:solidFill>
                <a:highlight>
                  <a:srgbClr val="FFFFFF"/>
                </a:highlight>
                <a:latin typeface="inter-regular"/>
              </a:rPr>
              <a:t>V</a:t>
            </a:r>
            <a:r>
              <a:rPr lang="en-US" sz="2400" b="1" i="1" dirty="0">
                <a:solidFill>
                  <a:srgbClr val="333333"/>
                </a:solidFill>
                <a:effectLst/>
                <a:highlight>
                  <a:srgbClr val="FFFFFF"/>
                </a:highlight>
                <a:latin typeface="inter-regular"/>
              </a:rPr>
              <a:t>alues are </a:t>
            </a:r>
            <a:r>
              <a:rPr lang="en-US" sz="2400" b="1" i="1" dirty="0">
                <a:solidFill>
                  <a:srgbClr val="0070C0"/>
                </a:solidFill>
                <a:effectLst/>
                <a:latin typeface="inter-regular"/>
              </a:rPr>
              <a:t>max-width:</a:t>
            </a:r>
            <a:r>
              <a:rPr lang="en-US" sz="2400" b="1" i="1" dirty="0">
                <a:solidFill>
                  <a:srgbClr val="000000"/>
                </a:solidFill>
                <a:effectLst/>
                <a:latin typeface="inter-regular"/>
              </a:rPr>
              <a:t> </a:t>
            </a:r>
            <a:r>
              <a:rPr lang="en-US" sz="2400" b="1" i="1" dirty="0">
                <a:solidFill>
                  <a:srgbClr val="FF0000"/>
                </a:solidFill>
                <a:effectLst/>
                <a:latin typeface="inter-regular"/>
              </a:rPr>
              <a:t>none | length | initial | inherit;  </a:t>
            </a:r>
            <a:endParaRPr lang="en-US" sz="2800" b="1" i="1" dirty="0">
              <a:solidFill>
                <a:srgbClr val="FF0000"/>
              </a:solidFill>
              <a:latin typeface="+mj-lt"/>
              <a:cs typeface="Courier New" pitchFamily="49" charset="0"/>
            </a:endParaRPr>
          </a:p>
          <a:p>
            <a:pPr>
              <a:defRPr/>
            </a:pPr>
            <a:endParaRPr lang="en-US" sz="2200" dirty="0">
              <a:latin typeface="+mj-lt"/>
              <a:cs typeface="Courier New" pitchFamily="49" charset="0"/>
            </a:endParaRPr>
          </a:p>
        </p:txBody>
      </p:sp>
    </p:spTree>
    <p:extLst>
      <p:ext uri="{BB962C8B-B14F-4D97-AF65-F5344CB8AC3E}">
        <p14:creationId xmlns:p14="http://schemas.microsoft.com/office/powerpoint/2010/main" val="14379541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DDC80-4E61-16EB-CDA8-9529EC6BB6A6}"/>
              </a:ext>
            </a:extLst>
          </p:cNvPr>
          <p:cNvSpPr>
            <a:spLocks noGrp="1"/>
          </p:cNvSpPr>
          <p:nvPr>
            <p:ph type="title"/>
          </p:nvPr>
        </p:nvSpPr>
        <p:spPr>
          <a:xfrm>
            <a:off x="1534696" y="148857"/>
            <a:ext cx="9520158" cy="691115"/>
          </a:xfrm>
        </p:spPr>
        <p:txBody>
          <a:bodyPr>
            <a:normAutofit/>
          </a:bodyPr>
          <a:lstStyle/>
          <a:p>
            <a:r>
              <a:rPr lang="en-US" sz="3600" b="1" u="sng" dirty="0"/>
              <a:t>The CSS Display Property</a:t>
            </a:r>
          </a:p>
        </p:txBody>
      </p:sp>
      <p:sp>
        <p:nvSpPr>
          <p:cNvPr id="3" name="Content Placeholder 2">
            <a:extLst>
              <a:ext uri="{FF2B5EF4-FFF2-40B4-BE49-F238E27FC236}">
                <a16:creationId xmlns:a16="http://schemas.microsoft.com/office/drawing/2014/main" id="{6DC0FD6C-48CA-B554-DC6D-79410D0A84A7}"/>
              </a:ext>
            </a:extLst>
          </p:cNvPr>
          <p:cNvSpPr>
            <a:spLocks noGrp="1"/>
          </p:cNvSpPr>
          <p:nvPr>
            <p:ph idx="1"/>
          </p:nvPr>
        </p:nvSpPr>
        <p:spPr>
          <a:xfrm>
            <a:off x="1169581" y="1020725"/>
            <a:ext cx="10600659" cy="5103628"/>
          </a:xfrm>
        </p:spPr>
        <p:txBody>
          <a:bodyPr>
            <a:noAutofit/>
          </a:bodyPr>
          <a:lstStyle/>
          <a:p>
            <a:r>
              <a:rPr lang="en-US" altLang="en-US" sz="2200" dirty="0"/>
              <a:t>The display property is the most important CSS property for controlling layout. The display property can be used to specify how the browser renders an element; it can be used to convert an inline element to a block level and vice versa. </a:t>
            </a:r>
          </a:p>
          <a:p>
            <a:r>
              <a:rPr lang="en-US" altLang="en-US" sz="2200" dirty="0">
                <a:solidFill>
                  <a:srgbClr val="FF0000"/>
                </a:solidFill>
              </a:rPr>
              <a:t>The display property is used to change the default display behavior of HTML elements.</a:t>
            </a:r>
          </a:p>
          <a:p>
            <a:r>
              <a:rPr lang="en-US" altLang="en-US" sz="2200" dirty="0"/>
              <a:t>To convert an inline element like span to a block-level element, use </a:t>
            </a:r>
            <a:r>
              <a:rPr lang="en-US" altLang="en-US" sz="2200" b="1" dirty="0">
                <a:solidFill>
                  <a:srgbClr val="C00000"/>
                </a:solidFill>
                <a:latin typeface="Consolas" panose="020B0609020204030204" pitchFamily="49" charset="0"/>
              </a:rPr>
              <a:t>display: block</a:t>
            </a:r>
          </a:p>
          <a:p>
            <a:r>
              <a:rPr lang="en-US" altLang="en-US" sz="2200" dirty="0"/>
              <a:t>To convert a block element like &lt;p&gt; to an inline  element, use </a:t>
            </a:r>
            <a:r>
              <a:rPr lang="en-US" altLang="en-US" sz="2200" b="1" dirty="0">
                <a:solidFill>
                  <a:srgbClr val="C00000"/>
                </a:solidFill>
                <a:latin typeface="Consolas" panose="020B0609020204030204" pitchFamily="49" charset="0"/>
              </a:rPr>
              <a:t>display: inline</a:t>
            </a:r>
          </a:p>
          <a:p>
            <a:r>
              <a:rPr lang="en-US" altLang="en-US" sz="2200" b="1" dirty="0"/>
              <a:t>Recall</a:t>
            </a:r>
            <a:r>
              <a:rPr lang="en-US" altLang="en-US" sz="2200" dirty="0"/>
              <a:t> that inline elements </a:t>
            </a:r>
            <a:r>
              <a:rPr lang="en-US" altLang="en-US" sz="2200" b="1" i="1" dirty="0"/>
              <a:t>DO NOT </a:t>
            </a:r>
            <a:r>
              <a:rPr lang="en-US" altLang="en-US" sz="2200" dirty="0"/>
              <a:t>respond to width and height, there is a 3</a:t>
            </a:r>
            <a:r>
              <a:rPr lang="en-US" altLang="en-US" sz="2200" baseline="30000" dirty="0"/>
              <a:t>rd</a:t>
            </a:r>
            <a:r>
              <a:rPr lang="en-US" altLang="en-US" sz="2200" dirty="0"/>
              <a:t> value of display that allows you to specify width and height on inline elements.</a:t>
            </a:r>
          </a:p>
          <a:p>
            <a:r>
              <a:rPr lang="en-US" altLang="en-US" sz="2200" b="1" dirty="0">
                <a:solidFill>
                  <a:srgbClr val="C00000"/>
                </a:solidFill>
                <a:latin typeface="Consolas" panose="020B0609020204030204" pitchFamily="49" charset="0"/>
              </a:rPr>
              <a:t>display: inline-block;</a:t>
            </a:r>
          </a:p>
          <a:p>
            <a:pPr marL="0" indent="0">
              <a:buNone/>
            </a:pPr>
            <a:endParaRPr lang="en-US" sz="2200" dirty="0"/>
          </a:p>
        </p:txBody>
      </p:sp>
    </p:spTree>
    <p:extLst>
      <p:ext uri="{BB962C8B-B14F-4D97-AF65-F5344CB8AC3E}">
        <p14:creationId xmlns:p14="http://schemas.microsoft.com/office/powerpoint/2010/main" val="26463208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A94-DAEC-DCD3-E1E8-770D41C6E355}"/>
              </a:ext>
            </a:extLst>
          </p:cNvPr>
          <p:cNvSpPr>
            <a:spLocks noGrp="1"/>
          </p:cNvSpPr>
          <p:nvPr>
            <p:ph type="title"/>
          </p:nvPr>
        </p:nvSpPr>
        <p:spPr>
          <a:xfrm>
            <a:off x="1534696" y="0"/>
            <a:ext cx="9520158" cy="776177"/>
          </a:xfrm>
        </p:spPr>
        <p:txBody>
          <a:bodyPr/>
          <a:lstStyle/>
          <a:p>
            <a:r>
              <a:rPr lang="en-US" b="1" dirty="0"/>
              <a:t>Other Display Properties</a:t>
            </a:r>
          </a:p>
        </p:txBody>
      </p:sp>
      <p:sp>
        <p:nvSpPr>
          <p:cNvPr id="3" name="Content Placeholder 2">
            <a:extLst>
              <a:ext uri="{FF2B5EF4-FFF2-40B4-BE49-F238E27FC236}">
                <a16:creationId xmlns:a16="http://schemas.microsoft.com/office/drawing/2014/main" id="{B06F2664-FA3A-511F-CB39-AC8B499329C0}"/>
              </a:ext>
            </a:extLst>
          </p:cNvPr>
          <p:cNvSpPr>
            <a:spLocks noGrp="1"/>
          </p:cNvSpPr>
          <p:nvPr>
            <p:ph idx="1"/>
          </p:nvPr>
        </p:nvSpPr>
        <p:spPr>
          <a:xfrm>
            <a:off x="1414130" y="1066602"/>
            <a:ext cx="9640724" cy="4685612"/>
          </a:xfrm>
        </p:spPr>
        <p:txBody>
          <a:bodyPr>
            <a:normAutofit/>
          </a:bodyPr>
          <a:lstStyle/>
          <a:p>
            <a:pPr marL="0" indent="0">
              <a:buNone/>
            </a:pPr>
            <a:r>
              <a:rPr lang="en-US" altLang="en-US" sz="2400" dirty="0"/>
              <a:t>Inline-block makes the element behave like a typical inline element in terms of just occupying the space it needs </a:t>
            </a:r>
            <a:r>
              <a:rPr lang="en-US" altLang="en-US" sz="2400" b="1" i="1" dirty="0">
                <a:solidFill>
                  <a:schemeClr val="accent5">
                    <a:lumMod val="75000"/>
                  </a:schemeClr>
                </a:solidFill>
              </a:rPr>
              <a:t>but will respond to width and height.</a:t>
            </a:r>
          </a:p>
          <a:p>
            <a:r>
              <a:rPr lang="en-US" altLang="en-US" sz="2400" dirty="0"/>
              <a:t>We can leverage this property to create an appropriate navigation bar</a:t>
            </a:r>
          </a:p>
          <a:p>
            <a:pPr marL="0" indent="0">
              <a:buNone/>
            </a:pPr>
            <a:r>
              <a:rPr lang="en-US" sz="2200" b="1" dirty="0"/>
              <a:t>Flex:        </a:t>
            </a:r>
            <a:r>
              <a:rPr lang="en-US" sz="2200" dirty="0"/>
              <a:t>Displays an element as a block-level flex container</a:t>
            </a:r>
          </a:p>
          <a:p>
            <a:pPr marL="0" indent="0">
              <a:buNone/>
            </a:pPr>
            <a:r>
              <a:rPr lang="en-US" sz="2200" b="1" dirty="0"/>
              <a:t>Grid:</a:t>
            </a:r>
            <a:r>
              <a:rPr lang="en-US" sz="2200" dirty="0"/>
              <a:t>	  Displays an element as a block-level grid container</a:t>
            </a:r>
          </a:p>
          <a:p>
            <a:pPr marL="0" indent="0">
              <a:buNone/>
            </a:pPr>
            <a:r>
              <a:rPr lang="en-US" sz="2200" b="1" u="sng" dirty="0"/>
              <a:t>Display: none; </a:t>
            </a:r>
            <a:r>
              <a:rPr lang="en-US" sz="2200" b="1" dirty="0"/>
              <a:t> </a:t>
            </a:r>
            <a:r>
              <a:rPr lang="en-US" sz="2200" dirty="0"/>
              <a:t>The </a:t>
            </a:r>
            <a:r>
              <a:rPr lang="en-US" sz="2200" b="1" i="1" dirty="0"/>
              <a:t>display: none; </a:t>
            </a:r>
            <a:r>
              <a:rPr lang="en-US" sz="2200" dirty="0"/>
              <a:t>is commonly used with JavaScript to hide and show elements without deleting and recreating them. We also have </a:t>
            </a:r>
            <a:r>
              <a:rPr lang="en-US" sz="2200" i="1" dirty="0">
                <a:solidFill>
                  <a:srgbClr val="FF0000"/>
                </a:solidFill>
              </a:rPr>
              <a:t>visibility: hidden;</a:t>
            </a:r>
          </a:p>
        </p:txBody>
      </p:sp>
    </p:spTree>
    <p:extLst>
      <p:ext uri="{BB962C8B-B14F-4D97-AF65-F5344CB8AC3E}">
        <p14:creationId xmlns:p14="http://schemas.microsoft.com/office/powerpoint/2010/main" val="31742867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327A4-CB04-0EF9-0076-4011CE75D3B7}"/>
              </a:ext>
            </a:extLst>
          </p:cNvPr>
          <p:cNvSpPr>
            <a:spLocks noGrp="1"/>
          </p:cNvSpPr>
          <p:nvPr>
            <p:ph type="title"/>
          </p:nvPr>
        </p:nvSpPr>
        <p:spPr>
          <a:xfrm>
            <a:off x="1609124" y="209096"/>
            <a:ext cx="9520158" cy="800998"/>
          </a:xfrm>
        </p:spPr>
        <p:txBody>
          <a:bodyPr>
            <a:normAutofit/>
          </a:bodyPr>
          <a:lstStyle/>
          <a:p>
            <a:r>
              <a:rPr lang="en-US" sz="3000" b="1" u="sng" dirty="0"/>
              <a:t>The Display Property: For creating a navigation bar</a:t>
            </a:r>
          </a:p>
        </p:txBody>
      </p:sp>
      <p:sp>
        <p:nvSpPr>
          <p:cNvPr id="3" name="Content Placeholder 2">
            <a:extLst>
              <a:ext uri="{FF2B5EF4-FFF2-40B4-BE49-F238E27FC236}">
                <a16:creationId xmlns:a16="http://schemas.microsoft.com/office/drawing/2014/main" id="{65EE34C1-A58F-03A5-3D4E-E44E280C4EB2}"/>
              </a:ext>
            </a:extLst>
          </p:cNvPr>
          <p:cNvSpPr>
            <a:spLocks noGrp="1"/>
          </p:cNvSpPr>
          <p:nvPr>
            <p:ph idx="1"/>
          </p:nvPr>
        </p:nvSpPr>
        <p:spPr>
          <a:xfrm>
            <a:off x="1162555" y="1339702"/>
            <a:ext cx="10788439" cy="4784651"/>
          </a:xfrm>
        </p:spPr>
        <p:txBody>
          <a:bodyPr>
            <a:normAutofit/>
          </a:bodyPr>
          <a:lstStyle/>
          <a:p>
            <a:pPr marL="0" indent="0">
              <a:buNone/>
            </a:pPr>
            <a:r>
              <a:rPr lang="en-US" altLang="en-US" sz="2400" dirty="0">
                <a:solidFill>
                  <a:schemeClr val="tx1"/>
                </a:solidFill>
              </a:rPr>
              <a:t>  By convention, navigations are usually placed within a &lt;</a:t>
            </a:r>
            <a:r>
              <a:rPr lang="en-US" altLang="en-US" sz="2400" dirty="0" err="1">
                <a:solidFill>
                  <a:schemeClr val="tx1"/>
                </a:solidFill>
              </a:rPr>
              <a:t>ul</a:t>
            </a:r>
            <a:r>
              <a:rPr lang="en-US" altLang="en-US" sz="2400" dirty="0">
                <a:solidFill>
                  <a:schemeClr val="tx1"/>
                </a:solidFill>
              </a:rPr>
              <a:t>&gt;…&lt;/</a:t>
            </a:r>
            <a:r>
              <a:rPr lang="en-US" altLang="en-US" sz="2400" dirty="0" err="1">
                <a:solidFill>
                  <a:schemeClr val="tx1"/>
                </a:solidFill>
              </a:rPr>
              <a:t>ul</a:t>
            </a:r>
            <a:r>
              <a:rPr lang="en-US" altLang="en-US" sz="2400" dirty="0">
                <a:solidFill>
                  <a:schemeClr val="tx1"/>
                </a:solidFill>
              </a:rPr>
              <a:t>&gt; tag.</a:t>
            </a:r>
          </a:p>
          <a:p>
            <a:pPr marL="914400" lvl="2" indent="0">
              <a:buNone/>
            </a:pPr>
            <a:r>
              <a:rPr lang="en-US" altLang="en-US" sz="2400" dirty="0">
                <a:solidFill>
                  <a:srgbClr val="C00000"/>
                </a:solidFill>
              </a:rPr>
              <a:t>&lt;</a:t>
            </a:r>
            <a:r>
              <a:rPr lang="en-US" altLang="en-US" sz="2400" dirty="0" err="1">
                <a:solidFill>
                  <a:srgbClr val="C00000"/>
                </a:solidFill>
              </a:rPr>
              <a:t>ul</a:t>
            </a:r>
            <a:r>
              <a:rPr lang="en-US" altLang="en-US" sz="2400" dirty="0">
                <a:solidFill>
                  <a:srgbClr val="C00000"/>
                </a:solidFill>
              </a:rPr>
              <a:t>&gt;</a:t>
            </a:r>
          </a:p>
          <a:p>
            <a:pPr marL="1371600" lvl="3" indent="0">
              <a:buNone/>
            </a:pPr>
            <a:r>
              <a:rPr lang="en-US" altLang="en-US" sz="2200" dirty="0">
                <a:solidFill>
                  <a:srgbClr val="C00000"/>
                </a:solidFill>
              </a:rPr>
              <a:t>&lt;li&gt; &lt;a </a:t>
            </a:r>
            <a:r>
              <a:rPr lang="en-US" altLang="en-US" sz="2200" dirty="0" err="1">
                <a:solidFill>
                  <a:srgbClr val="C00000"/>
                </a:solidFill>
              </a:rPr>
              <a:t>href</a:t>
            </a:r>
            <a:r>
              <a:rPr lang="en-US" altLang="en-US" sz="2200" dirty="0">
                <a:solidFill>
                  <a:srgbClr val="C00000"/>
                </a:solidFill>
              </a:rPr>
              <a:t>=“”&gt;Home&lt;/a&gt;&lt;/li&gt;</a:t>
            </a:r>
          </a:p>
          <a:p>
            <a:pPr marL="1371600" lvl="3" indent="0">
              <a:buNone/>
            </a:pPr>
            <a:r>
              <a:rPr lang="en-US" altLang="en-US" sz="2200" dirty="0">
                <a:solidFill>
                  <a:srgbClr val="C00000"/>
                </a:solidFill>
              </a:rPr>
              <a:t>&lt;li&gt; &lt;a </a:t>
            </a:r>
            <a:r>
              <a:rPr lang="en-US" altLang="en-US" sz="2200" dirty="0" err="1">
                <a:solidFill>
                  <a:srgbClr val="C00000"/>
                </a:solidFill>
              </a:rPr>
              <a:t>href</a:t>
            </a:r>
            <a:r>
              <a:rPr lang="en-US" altLang="en-US" sz="2200" dirty="0">
                <a:solidFill>
                  <a:srgbClr val="C00000"/>
                </a:solidFill>
              </a:rPr>
              <a:t>=“”&gt;About Us&lt;/a&gt;&lt;/li&gt;</a:t>
            </a:r>
          </a:p>
          <a:p>
            <a:pPr marL="1371600" lvl="3" indent="0">
              <a:buNone/>
            </a:pPr>
            <a:r>
              <a:rPr lang="en-US" altLang="en-US" sz="2200" dirty="0">
                <a:solidFill>
                  <a:srgbClr val="C00000"/>
                </a:solidFill>
              </a:rPr>
              <a:t>&lt;li&gt; &lt;a </a:t>
            </a:r>
            <a:r>
              <a:rPr lang="en-US" altLang="en-US" sz="2200" dirty="0" err="1">
                <a:solidFill>
                  <a:srgbClr val="C00000"/>
                </a:solidFill>
              </a:rPr>
              <a:t>href</a:t>
            </a:r>
            <a:r>
              <a:rPr lang="en-US" altLang="en-US" sz="2200" dirty="0">
                <a:solidFill>
                  <a:srgbClr val="C00000"/>
                </a:solidFill>
              </a:rPr>
              <a:t>=“”&gt;Contact Us&lt;/a&gt;&lt;/li&gt;</a:t>
            </a:r>
          </a:p>
          <a:p>
            <a:pPr marL="914400" lvl="2" indent="0">
              <a:buNone/>
            </a:pPr>
            <a:r>
              <a:rPr lang="en-US" altLang="en-US" sz="2400" dirty="0">
                <a:solidFill>
                  <a:srgbClr val="C00000"/>
                </a:solidFill>
              </a:rPr>
              <a:t>&lt;/</a:t>
            </a:r>
            <a:r>
              <a:rPr lang="en-US" altLang="en-US" sz="2400" dirty="0" err="1">
                <a:solidFill>
                  <a:srgbClr val="C00000"/>
                </a:solidFill>
              </a:rPr>
              <a:t>ul</a:t>
            </a:r>
            <a:r>
              <a:rPr lang="en-US" altLang="en-US" sz="2400" dirty="0">
                <a:solidFill>
                  <a:srgbClr val="C00000"/>
                </a:solidFill>
              </a:rPr>
              <a:t>&gt;</a:t>
            </a:r>
          </a:p>
          <a:p>
            <a:r>
              <a:rPr lang="en-US" altLang="en-US" sz="2400" dirty="0">
                <a:solidFill>
                  <a:schemeClr val="tx1"/>
                </a:solidFill>
              </a:rPr>
              <a:t>Since &lt;li&gt; is a block level element, we can use the </a:t>
            </a:r>
            <a:r>
              <a:rPr lang="en-US" altLang="en-US" sz="2800" b="1" i="1" dirty="0">
                <a:solidFill>
                  <a:srgbClr val="C00000"/>
                </a:solidFill>
              </a:rPr>
              <a:t>display: inline-block</a:t>
            </a:r>
            <a:r>
              <a:rPr lang="en-US" altLang="en-US" sz="2400" b="1" i="1" dirty="0"/>
              <a:t>;</a:t>
            </a:r>
            <a:r>
              <a:rPr lang="en-US" altLang="en-US" sz="2400" dirty="0">
                <a:solidFill>
                  <a:schemeClr val="tx1"/>
                </a:solidFill>
              </a:rPr>
              <a:t> property to make each of them turn to horizontal menu bar.</a:t>
            </a:r>
          </a:p>
          <a:p>
            <a:pPr marL="0" indent="0">
              <a:buNone/>
            </a:pPr>
            <a:endParaRPr lang="en-US" sz="2400" dirty="0"/>
          </a:p>
        </p:txBody>
      </p:sp>
    </p:spTree>
    <p:extLst>
      <p:ext uri="{BB962C8B-B14F-4D97-AF65-F5344CB8AC3E}">
        <p14:creationId xmlns:p14="http://schemas.microsoft.com/office/powerpoint/2010/main" val="13613447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9659</TotalTime>
  <Words>2447</Words>
  <Application>Microsoft Office PowerPoint</Application>
  <PresentationFormat>Widescreen</PresentationFormat>
  <Paragraphs>267</Paragraphs>
  <Slides>39</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39</vt:i4>
      </vt:variant>
    </vt:vector>
  </HeadingPairs>
  <TitlesOfParts>
    <vt:vector size="52" baseType="lpstr">
      <vt:lpstr>Algerian</vt:lpstr>
      <vt:lpstr>Arial</vt:lpstr>
      <vt:lpstr>Calibri</vt:lpstr>
      <vt:lpstr>Calibri Light</vt:lpstr>
      <vt:lpstr>Consolas</vt:lpstr>
      <vt:lpstr>Courier New</vt:lpstr>
      <vt:lpstr>inter-regular</vt:lpstr>
      <vt:lpstr>Segoe UI</vt:lpstr>
      <vt:lpstr>Times New Roman</vt:lpstr>
      <vt:lpstr>Verdana</vt:lpstr>
      <vt:lpstr>Wingdings</vt:lpstr>
      <vt:lpstr>Wingdings 2</vt:lpstr>
      <vt:lpstr>Office Theme</vt:lpstr>
      <vt:lpstr>CSS   COLORS</vt:lpstr>
      <vt:lpstr>CSS Colors Colors in CSS can be specified by the following methods:</vt:lpstr>
      <vt:lpstr>USE CASE</vt:lpstr>
      <vt:lpstr>COLOR VALUES</vt:lpstr>
      <vt:lpstr>CSS RGB COLORS</vt:lpstr>
      <vt:lpstr>SOME RGB COLORS MIX</vt:lpstr>
      <vt:lpstr>RGBA : The alpha value   </vt:lpstr>
      <vt:lpstr>CSS HEX COLORS</vt:lpstr>
      <vt:lpstr>CSS HSL COLORS : Hue, Saturation, &amp; Lightness</vt:lpstr>
      <vt:lpstr>Getting colour combination from coolors.co &amp; colorhunt.co</vt:lpstr>
      <vt:lpstr>MS Paint Tool</vt:lpstr>
      <vt:lpstr>CSS BACKGROUND PROPERTIES &amp; BOX MODEL (border, margin and padding)</vt:lpstr>
      <vt:lpstr>Styling Your Page Background</vt:lpstr>
      <vt:lpstr>Background Image vs. Image</vt:lpstr>
      <vt:lpstr>Background Properties</vt:lpstr>
      <vt:lpstr>Background-color</vt:lpstr>
      <vt:lpstr>Background-image</vt:lpstr>
      <vt:lpstr>Background-repeat</vt:lpstr>
      <vt:lpstr>Background-position</vt:lpstr>
      <vt:lpstr>Background-attachment</vt:lpstr>
      <vt:lpstr>Background-size</vt:lpstr>
      <vt:lpstr>Background Shorthand</vt:lpstr>
      <vt:lpstr>PowerPoint Presentation</vt:lpstr>
      <vt:lpstr>BOX MODEL</vt:lpstr>
      <vt:lpstr>PowerPoint Presentation</vt:lpstr>
      <vt:lpstr>Border Properties</vt:lpstr>
      <vt:lpstr>PowerPoint Presentation</vt:lpstr>
      <vt:lpstr>Border Shorthand</vt:lpstr>
      <vt:lpstr>EXERCISE – 10 mins</vt:lpstr>
      <vt:lpstr>PADDING</vt:lpstr>
      <vt:lpstr>Padding and Element Width </vt:lpstr>
      <vt:lpstr>PowerPoint Presentation</vt:lpstr>
      <vt:lpstr>MARGIN</vt:lpstr>
      <vt:lpstr>Margin auto and inherit value</vt:lpstr>
      <vt:lpstr>More on Width: Tips for calculating width</vt:lpstr>
      <vt:lpstr>Min-height, min-width &amp; max-height, max-width</vt:lpstr>
      <vt:lpstr>The CSS Display Property</vt:lpstr>
      <vt:lpstr>Other Display Properties</vt:lpstr>
      <vt:lpstr>The Display Property: For creating a navigation bar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Windows User</cp:lastModifiedBy>
  <cp:revision>44</cp:revision>
  <dcterms:created xsi:type="dcterms:W3CDTF">2024-01-17T09:09:54Z</dcterms:created>
  <dcterms:modified xsi:type="dcterms:W3CDTF">2025-10-25T17:14:08Z</dcterms:modified>
</cp:coreProperties>
</file>