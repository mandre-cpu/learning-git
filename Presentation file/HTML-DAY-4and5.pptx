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4" r:id="rId24"/>
    <p:sldId id="315" r:id="rId25"/>
    <p:sldId id="316" r:id="rId26"/>
    <p:sldId id="317" r:id="rId27"/>
    <p:sldId id="31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B44F-6D80-E474-B80B-EB58ED87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028DE-A9D0-4419-9EF1-FBFF4362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9565-CEBF-4290-5A59-2303182A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EBB0-B263-D532-E290-7AF9517D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69D1-A0DE-4B8F-4BD1-36D082A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3AB-2137-ECB5-1884-7ECF1E4B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F47E-6743-02F3-C728-3E5C03BEB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4DAD3-0C06-9DCA-4C18-A46CCEAC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1EBA-0B2F-A0F4-2253-7B95128A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E253-E60A-F8BA-43A1-97054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211-79EC-A966-9DEB-EEFA628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EC2C-B2F7-04F8-91EC-AB52849D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744-3DD6-F832-A4FD-FA4C9EF1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F1D1-DF96-FE7A-ACF8-F236007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FFEF-3DF2-AD12-124F-979AA26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63A1-1B0A-A2C3-97E1-F239316C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C097-63CF-0519-1AA6-BC90B3CC1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7921-4AC2-C9C1-9358-B9862E1F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1C00B-09BB-B412-7693-D08E22E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25EB-A3E9-1B38-C873-15FC9DA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9310-EA11-352F-39AE-26FCEED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945A-C7A5-1043-3B87-BF048B1D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2DE52-76FC-6EE4-4BCB-F7ACC32D9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59D4-D5C8-BDE9-6F53-23AE70D1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AFA0-2DEB-095F-C07A-8B5B4116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BA38-9CD8-873D-42D5-D63511990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2F4D-73DE-5C02-965B-1A9EB4E6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0A7B-51D6-860B-FBE4-F5AD18D5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94BB-94BA-BD77-E656-BD8AD49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C9F-13FD-617A-D851-650FBC31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CDF0-1CB3-3367-94CA-A7B54E0F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6E34-927F-1D21-83CE-7519F591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B2-80FF-43DA-F546-306F5AE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85E2-2430-B585-7203-DAEAC4A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69D3-7E9D-764E-57D6-FF6B980F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3435-4A0D-A0DB-D5AA-673390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B7BB-F664-1DAF-37D8-33748208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D7B7-8C19-038A-BAB6-4C8777C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AAF4-9966-B61A-C087-DB96220F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B6C6-EB43-CBDF-1469-0B0FD4CD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C3A4-07B1-9CEF-D519-CDB111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88E-2568-CF08-CFF1-E7CEB77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6913-3F40-D6E0-57D3-D5D65FC5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D43B-FFBC-F6BD-C162-32952B263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8BDA0-1FD4-B8C4-1130-5180683E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D698-2CAE-C25E-2355-A8F9546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76B6-C412-434B-6204-62E9F7F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EDBC-19DD-04FE-1AAB-ADFC971A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336-CC3C-05AA-0F27-3D74994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A0CC8-82C3-4D3E-B61B-D5EF90E29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E89B-EEB6-15FD-9DA9-04DAE7C1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7B26-D246-BC73-B0E0-CA58D0A6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B480-2F03-20FF-5354-D7C1F2B7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DA255-F904-AC56-116B-68F5B30B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6515-CB08-99F4-EF71-F115F5C6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DD5-417B-699F-1D83-7CDC602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6A18-7D8C-681E-3BDF-E8381DA8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D18A-F822-789C-29D7-0A42C62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A0BE7-71AD-FF6C-37F7-D240A7C3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6787-B0D8-A513-862F-BA24A5E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A5F-525E-FD0F-610D-D444A060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2FA5E-585C-4C83-8AFA-F6ABB67033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AF49-3EB9-D4A2-BF02-770FBA2A8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0D14-2171-25F5-EB5F-36E7E00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pixabay.com/sound-effects/search/shor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5DF5-9E0A-9F21-DE90-9CC80BE7C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0000" b="1" dirty="0"/>
              <a:t>HTML FORM</a:t>
            </a:r>
          </a:p>
        </p:txBody>
      </p:sp>
    </p:spTree>
    <p:extLst>
      <p:ext uri="{BB962C8B-B14F-4D97-AF65-F5344CB8AC3E}">
        <p14:creationId xmlns:p14="http://schemas.microsoft.com/office/powerpoint/2010/main" val="370389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E476-985C-581F-D486-CC05C26E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47" y="297712"/>
            <a:ext cx="11049000" cy="6262575"/>
          </a:xfrm>
        </p:spPr>
        <p:txBody>
          <a:bodyPr>
            <a:noAutofit/>
          </a:bodyPr>
          <a:lstStyle/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/>
              <a:t> When automating any manual process, converting paper forms to their web equivalence is one of the important tasks you need to do.</a:t>
            </a:r>
          </a:p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/>
              <a:t>HTML forms are required if you want to collect some data from of the site visitor.</a:t>
            </a:r>
          </a:p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/>
              <a:t>Website</a:t>
            </a:r>
            <a:r>
              <a:rPr lang="en-US" sz="3000" dirty="0"/>
              <a:t> forms are an essential part of any website that requires user interaction as it </a:t>
            </a:r>
            <a:r>
              <a:rPr lang="en-US" altLang="en-US" sz="3000" dirty="0"/>
              <a:t>is used in capturing data from the users; It facilitates dynamic contents on your webapp.</a:t>
            </a:r>
          </a:p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/>
              <a:t>The form is created with the form tag as follows: </a:t>
            </a:r>
            <a:r>
              <a:rPr lang="en-US" altLang="en-US" sz="3000" dirty="0">
                <a:solidFill>
                  <a:srgbClr val="C00000"/>
                </a:solidFill>
                <a:latin typeface="Consolas" panose="020B0609020204030204" pitchFamily="49" charset="0"/>
              </a:rPr>
              <a:t>&lt;form&gt;&lt;/form&gt;</a:t>
            </a:r>
          </a:p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 smtClean="0"/>
              <a:t>Example, after </a:t>
            </a:r>
            <a:r>
              <a:rPr lang="en-US" altLang="en-US" sz="3000" dirty="0"/>
              <a:t>you </a:t>
            </a:r>
            <a:r>
              <a:rPr lang="en-US" altLang="en-US" sz="3000" dirty="0" smtClean="0"/>
              <a:t>complete filling any </a:t>
            </a:r>
            <a:r>
              <a:rPr lang="en-US" altLang="en-US" sz="3000" dirty="0"/>
              <a:t>form in the bank, what happens next? You </a:t>
            </a:r>
            <a:r>
              <a:rPr lang="en-US" altLang="en-US" sz="3000" u="sng" dirty="0">
                <a:solidFill>
                  <a:schemeClr val="accent2">
                    <a:lumMod val="50000"/>
                  </a:schemeClr>
                </a:solidFill>
              </a:rPr>
              <a:t>submit</a:t>
            </a:r>
            <a:r>
              <a:rPr lang="en-US" altLang="en-US" sz="3000" dirty="0"/>
              <a:t> it to the </a:t>
            </a:r>
            <a:r>
              <a:rPr lang="en-US" altLang="en-US" sz="3000" u="sng" dirty="0">
                <a:solidFill>
                  <a:srgbClr val="0070C0"/>
                </a:solidFill>
              </a:rPr>
              <a:t>customer service officer</a:t>
            </a:r>
            <a:r>
              <a:rPr lang="en-US" altLang="en-US" sz="3000" dirty="0">
                <a:solidFill>
                  <a:srgbClr val="0070C0"/>
                </a:solidFill>
              </a:rPr>
              <a:t> </a:t>
            </a:r>
            <a:r>
              <a:rPr lang="en-US" altLang="en-US" sz="3000" dirty="0"/>
              <a:t>for </a:t>
            </a:r>
            <a:r>
              <a:rPr lang="en-US" altLang="en-US" sz="3000" u="sng" dirty="0"/>
              <a:t>processing</a:t>
            </a:r>
            <a:r>
              <a:rPr lang="en-US" altLang="en-US" sz="3000" dirty="0"/>
              <a:t>.</a:t>
            </a:r>
          </a:p>
          <a:p>
            <a:pPr eaLnBrk="1" hangingPunct="1">
              <a:buClr>
                <a:schemeClr val="bg2">
                  <a:lumMod val="10000"/>
                </a:schemeClr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en-US" sz="3000" dirty="0"/>
              <a:t>Likewise, web form has a </a:t>
            </a:r>
            <a:r>
              <a:rPr lang="en-US" altLang="en-US" sz="3000" u="sng" dirty="0">
                <a:solidFill>
                  <a:schemeClr val="accent2">
                    <a:lumMod val="50000"/>
                  </a:schemeClr>
                </a:solidFill>
              </a:rPr>
              <a:t>submit button </a:t>
            </a:r>
            <a:r>
              <a:rPr lang="en-US" altLang="en-US" sz="3000" dirty="0"/>
              <a:t>to send the contents of the form to an </a:t>
            </a:r>
            <a:r>
              <a:rPr lang="en-US" altLang="en-US" sz="3000" u="sng" dirty="0">
                <a:solidFill>
                  <a:srgbClr val="0070C0"/>
                </a:solidFill>
              </a:rPr>
              <a:t>action page </a:t>
            </a:r>
            <a:r>
              <a:rPr lang="en-US" altLang="en-US" sz="3000" dirty="0"/>
              <a:t>for </a:t>
            </a:r>
            <a:r>
              <a:rPr lang="en-US" altLang="en-US" sz="3000" u="sng" dirty="0"/>
              <a:t>processing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118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&lt;input&gt; </a:t>
            </a:r>
            <a:r>
              <a:rPr lang="en-US" b="1" dirty="0" smtClean="0"/>
              <a:t>Element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HTML &lt;input&gt; element is the most used form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&lt;input&gt; element can be displayed in many ways, depending on the type attribute.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Here are some examples: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</a:t>
            </a:r>
            <a:r>
              <a:rPr lang="en-US" dirty="0"/>
              <a:t>	</a:t>
            </a:r>
            <a:r>
              <a:rPr lang="en-US" dirty="0" smtClean="0"/>
              <a:t>                                </a:t>
            </a:r>
            <a:r>
              <a:rPr lang="en-US" b="1" dirty="0" smtClean="0"/>
              <a:t>Description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&lt;input type="text"&gt;	Displays a single-line text input field</a:t>
            </a:r>
          </a:p>
          <a:p>
            <a:pPr marL="0" indent="0">
              <a:buNone/>
            </a:pPr>
            <a:r>
              <a:rPr lang="en-US" dirty="0"/>
              <a:t>&lt;input type="radio"&gt;	Displays a radio button (for selecting one of many choices)</a:t>
            </a:r>
          </a:p>
          <a:p>
            <a:pPr marL="0" indent="0">
              <a:buNone/>
            </a:pPr>
            <a:r>
              <a:rPr lang="en-US" dirty="0"/>
              <a:t>&lt;input type="checkbox"&gt;	Displays a checkbox (for selecting zero or more of many choices)</a:t>
            </a:r>
          </a:p>
          <a:p>
            <a:pPr marL="0" indent="0">
              <a:buNone/>
            </a:pPr>
            <a:r>
              <a:rPr lang="en-US" dirty="0"/>
              <a:t>&lt;input type="submit"&gt;	Displays a submit button (for submitting the form)</a:t>
            </a:r>
          </a:p>
          <a:p>
            <a:pPr marL="0" indent="0">
              <a:buNone/>
            </a:pPr>
            <a:r>
              <a:rPr lang="en-US" dirty="0"/>
              <a:t>&lt;input type="button"&gt;	Displays a clickable button.</a:t>
            </a:r>
          </a:p>
        </p:txBody>
      </p:sp>
    </p:spTree>
    <p:extLst>
      <p:ext uri="{BB962C8B-B14F-4D97-AF65-F5344CB8AC3E}">
        <p14:creationId xmlns:p14="http://schemas.microsoft.com/office/powerpoint/2010/main" val="308031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7B03-CBD0-A397-AA21-DDE025CD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&lt;input&gt; Element Attributes</a:t>
            </a:r>
            <a:endParaRPr lang="en-US" b="1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5C65C-4B5F-CF0B-F70A-004BF37F2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46938" lvl="2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500" dirty="0">
                <a:latin typeface="+mj-lt"/>
              </a:rPr>
              <a:t> </a:t>
            </a:r>
            <a:r>
              <a:rPr lang="en-US" altLang="en-US" sz="2500" dirty="0">
                <a:latin typeface="Corbel" panose="020B0503020204020204" pitchFamily="34" charset="0"/>
              </a:rPr>
              <a:t>Some attributes of the input text field are: </a:t>
            </a:r>
            <a:r>
              <a:rPr lang="en-US" altLang="en-US" sz="2500" b="1" dirty="0">
                <a:latin typeface="Corbel" panose="020B0503020204020204" pitchFamily="34" charset="0"/>
              </a:rPr>
              <a:t>size</a:t>
            </a:r>
            <a:r>
              <a:rPr lang="en-US" altLang="en-US" sz="2500" dirty="0">
                <a:latin typeface="Corbel" panose="020B0503020204020204" pitchFamily="34" charset="0"/>
              </a:rPr>
              <a:t> which determines the width and the number of characters it can take respectively. </a:t>
            </a:r>
            <a:r>
              <a:rPr lang="en-US" altLang="en-US" sz="2500" b="1" dirty="0">
                <a:latin typeface="Corbel" panose="020B0503020204020204" pitchFamily="34" charset="0"/>
              </a:rPr>
              <a:t>Required</a:t>
            </a:r>
            <a:r>
              <a:rPr lang="en-US" altLang="en-US" sz="2500" dirty="0">
                <a:latin typeface="Corbel" panose="020B0503020204020204" pitchFamily="34" charset="0"/>
              </a:rPr>
              <a:t> attribute helps with browser validation. </a:t>
            </a:r>
            <a:r>
              <a:rPr lang="en-US" altLang="en-US" sz="2500" b="1" dirty="0">
                <a:latin typeface="Corbel" panose="020B0503020204020204" pitchFamily="34" charset="0"/>
              </a:rPr>
              <a:t>P</a:t>
            </a:r>
            <a:r>
              <a:rPr lang="en-US" sz="2500" b="1" dirty="0">
                <a:latin typeface="Corbel" panose="020B0503020204020204" pitchFamily="34" charset="0"/>
              </a:rPr>
              <a:t>laceholder</a:t>
            </a:r>
            <a:r>
              <a:rPr lang="en-US" sz="2500" dirty="0">
                <a:latin typeface="Corbel" panose="020B0503020204020204" pitchFamily="34" charset="0"/>
              </a:rPr>
              <a:t>  which specifies a short hint that describes the expected value of an input field. </a:t>
            </a:r>
            <a:r>
              <a:rPr lang="en-US" sz="2500" b="1" dirty="0">
                <a:latin typeface="Corbel" panose="020B0503020204020204" pitchFamily="34" charset="0"/>
              </a:rPr>
              <a:t>min</a:t>
            </a:r>
            <a:r>
              <a:rPr lang="en-US" sz="2500" dirty="0">
                <a:latin typeface="Corbel" panose="020B0503020204020204" pitchFamily="34" charset="0"/>
              </a:rPr>
              <a:t> and </a:t>
            </a:r>
            <a:r>
              <a:rPr lang="en-US" sz="2500" b="1" dirty="0">
                <a:latin typeface="Corbel" panose="020B0503020204020204" pitchFamily="34" charset="0"/>
              </a:rPr>
              <a:t>max</a:t>
            </a:r>
            <a:r>
              <a:rPr lang="en-US" sz="2500" dirty="0">
                <a:latin typeface="Corbel" panose="020B0503020204020204" pitchFamily="34" charset="0"/>
              </a:rPr>
              <a:t>:  specify the minimum and maximum values for an input field. </a:t>
            </a:r>
            <a:r>
              <a:rPr lang="en-US" sz="2500" b="1" dirty="0" err="1">
                <a:latin typeface="Corbel" panose="020B0503020204020204" pitchFamily="34" charset="0"/>
              </a:rPr>
              <a:t>Readonly</a:t>
            </a:r>
            <a:r>
              <a:rPr lang="en-US" sz="2500" b="1" dirty="0">
                <a:latin typeface="Corbel" panose="020B0503020204020204" pitchFamily="34" charset="0"/>
              </a:rPr>
              <a:t> </a:t>
            </a:r>
            <a:r>
              <a:rPr lang="en-US" sz="2500" dirty="0">
                <a:latin typeface="Corbel" panose="020B0503020204020204" pitchFamily="34" charset="0"/>
              </a:rPr>
              <a:t>which only allows you to read but not editable.</a:t>
            </a:r>
            <a:endParaRPr lang="en-US" altLang="en-US" sz="2500" b="1" dirty="0">
              <a:latin typeface="Corbel" panose="020B050302020402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500" dirty="0">
                <a:latin typeface="+mj-lt"/>
              </a:rPr>
              <a:t>The </a:t>
            </a:r>
            <a:r>
              <a:rPr lang="en-US" sz="2500" b="1" dirty="0">
                <a:latin typeface="+mj-lt"/>
              </a:rPr>
              <a:t>type</a:t>
            </a:r>
            <a:r>
              <a:rPr lang="en-US" sz="2500" dirty="0">
                <a:latin typeface="+mj-lt"/>
              </a:rPr>
              <a:t> attribute determines the function of the input tag , when not specified, it defaults to text (defines a single-line text input field. )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altLang="en-US" sz="2500" dirty="0">
                <a:latin typeface="+mj-lt"/>
              </a:rPr>
              <a:t>Other </a:t>
            </a:r>
            <a:r>
              <a:rPr lang="en-US" altLang="en-US" sz="2500" b="1" dirty="0">
                <a:latin typeface="+mj-lt"/>
              </a:rPr>
              <a:t>type</a:t>
            </a:r>
            <a:r>
              <a:rPr lang="en-US" altLang="en-US" sz="2500" dirty="0">
                <a:latin typeface="+mj-lt"/>
              </a:rPr>
              <a:t> values are: number, text, password, search, email, color, date, file.</a:t>
            </a: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296897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408B-8BD1-5CF1-F88C-60AD92B6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5064"/>
          </a:xfrm>
        </p:spPr>
        <p:txBody>
          <a:bodyPr>
            <a:noAutofit/>
          </a:bodyPr>
          <a:lstStyle/>
          <a:p>
            <a:r>
              <a:rPr lang="en-US" sz="3000" b="1" u="sng" dirty="0"/>
              <a:t>OTHER HTML5 INPUT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E4C87B-A741-80C2-8FD8-33AE01F86884}"/>
              </a:ext>
            </a:extLst>
          </p:cNvPr>
          <p:cNvSpPr txBox="1">
            <a:spLocks/>
          </p:cNvSpPr>
          <p:nvPr/>
        </p:nvSpPr>
        <p:spPr>
          <a:xfrm>
            <a:off x="724786" y="1704496"/>
            <a:ext cx="51585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37F4A1-E4B7-0530-1686-63520CE719A2}"/>
              </a:ext>
            </a:extLst>
          </p:cNvPr>
          <p:cNvSpPr txBox="1">
            <a:spLocks/>
          </p:cNvSpPr>
          <p:nvPr/>
        </p:nvSpPr>
        <p:spPr>
          <a:xfrm>
            <a:off x="6657753" y="1714622"/>
            <a:ext cx="51585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The &lt;input type="range"&gt; defines a control for entering a number whose exact value is not important (like a slider control). Default range is 0 to 100. However, you can set restrictions on what numbers are accepted with the min, max, and step attributes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The type = </a:t>
            </a:r>
            <a:r>
              <a:rPr lang="en-US" altLang="en-US" dirty="0" err="1"/>
              <a:t>url</a:t>
            </a:r>
            <a:r>
              <a:rPr lang="en-US" altLang="en-US" dirty="0"/>
              <a:t>, email and the above restrictions automatically helps you validate the input field when submitting the form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736B24-086A-80CD-D752-8D885D320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41992"/>
            <a:ext cx="5470455" cy="5592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&lt;input type="color"&gt;</a:t>
            </a:r>
          </a:p>
          <a:p>
            <a:pPr marL="0" indent="0">
              <a:buNone/>
            </a:pPr>
            <a:r>
              <a:rPr lang="en-US" sz="1400" dirty="0"/>
              <a:t>&lt;input type="date"&gt;</a:t>
            </a:r>
          </a:p>
          <a:p>
            <a:pPr marL="0" indent="0">
              <a:buNone/>
            </a:pPr>
            <a:r>
              <a:rPr lang="en-US" sz="1400" dirty="0"/>
              <a:t>&lt;input type="datetime-local"&gt;</a:t>
            </a:r>
          </a:p>
          <a:p>
            <a:pPr marL="0" indent="0">
              <a:buNone/>
            </a:pPr>
            <a:r>
              <a:rPr lang="en-US" sz="1400" dirty="0"/>
              <a:t>&lt;input type="email"&gt;</a:t>
            </a:r>
          </a:p>
          <a:p>
            <a:pPr marL="0" indent="0">
              <a:buNone/>
            </a:pPr>
            <a:r>
              <a:rPr lang="en-US" sz="1400" dirty="0"/>
              <a:t>&lt;input type="hidden"&gt;</a:t>
            </a:r>
          </a:p>
          <a:p>
            <a:pPr marL="0" indent="0">
              <a:buNone/>
            </a:pPr>
            <a:r>
              <a:rPr lang="en-US" sz="1400" dirty="0"/>
              <a:t>&lt;input type="image"&gt;</a:t>
            </a:r>
          </a:p>
          <a:p>
            <a:pPr marL="0" indent="0">
              <a:buNone/>
            </a:pPr>
            <a:r>
              <a:rPr lang="en-US" sz="1400" dirty="0"/>
              <a:t>&lt;input type="month"&gt;</a:t>
            </a:r>
          </a:p>
          <a:p>
            <a:pPr marL="0" indent="0">
              <a:buNone/>
            </a:pPr>
            <a:r>
              <a:rPr lang="en-US" sz="1400" dirty="0"/>
              <a:t>&lt;input type="number"&gt;</a:t>
            </a:r>
          </a:p>
          <a:p>
            <a:pPr marL="0" indent="0">
              <a:buNone/>
            </a:pPr>
            <a:r>
              <a:rPr lang="en-US" sz="1400" dirty="0"/>
              <a:t>&lt;input type="password"&gt;</a:t>
            </a:r>
          </a:p>
          <a:p>
            <a:pPr marL="0" indent="0">
              <a:buNone/>
            </a:pPr>
            <a:r>
              <a:rPr lang="en-US" sz="1400" dirty="0"/>
              <a:t>&lt;input type="range"&gt;</a:t>
            </a:r>
          </a:p>
          <a:p>
            <a:pPr marL="0" indent="0">
              <a:buNone/>
            </a:pPr>
            <a:r>
              <a:rPr lang="en-US" sz="1400" dirty="0"/>
              <a:t>&lt;input type="search"&gt;</a:t>
            </a:r>
          </a:p>
          <a:p>
            <a:pPr marL="0" indent="0">
              <a:buNone/>
            </a:pPr>
            <a:r>
              <a:rPr lang="en-US" sz="1400" dirty="0"/>
              <a:t>&lt;input type="submit"&gt;</a:t>
            </a:r>
          </a:p>
          <a:p>
            <a:pPr marL="0" indent="0">
              <a:buNone/>
            </a:pPr>
            <a:r>
              <a:rPr lang="en-US" sz="1400" dirty="0"/>
              <a:t>&lt;input type="</a:t>
            </a:r>
            <a:r>
              <a:rPr lang="en-US" sz="1400" dirty="0" err="1"/>
              <a:t>tel</a:t>
            </a:r>
            <a:r>
              <a:rPr lang="en-US" sz="1400" dirty="0"/>
              <a:t>"&gt;</a:t>
            </a:r>
          </a:p>
          <a:p>
            <a:pPr marL="0" indent="0">
              <a:buNone/>
            </a:pPr>
            <a:r>
              <a:rPr lang="en-US" sz="1400" dirty="0"/>
              <a:t>&lt;input type="text"&gt;</a:t>
            </a:r>
          </a:p>
          <a:p>
            <a:pPr marL="0" indent="0">
              <a:buNone/>
            </a:pPr>
            <a:r>
              <a:rPr lang="en-US" sz="1400" dirty="0"/>
              <a:t>&lt;input type="time"&gt;</a:t>
            </a:r>
          </a:p>
          <a:p>
            <a:pPr marL="0" indent="0">
              <a:buNone/>
            </a:pPr>
            <a:r>
              <a:rPr lang="en-US" sz="1400" dirty="0"/>
              <a:t>&lt;input type="</a:t>
            </a:r>
            <a:r>
              <a:rPr lang="en-US" sz="1400" dirty="0" err="1"/>
              <a:t>url</a:t>
            </a:r>
            <a:r>
              <a:rPr lang="en-US" sz="1400" dirty="0"/>
              <a:t>"&gt;</a:t>
            </a:r>
          </a:p>
          <a:p>
            <a:pPr marL="0" indent="0">
              <a:buNone/>
            </a:pPr>
            <a:r>
              <a:rPr lang="en-US" sz="1400" dirty="0"/>
              <a:t>&lt;input type="week"&gt;</a:t>
            </a:r>
          </a:p>
        </p:txBody>
      </p:sp>
    </p:spTree>
    <p:extLst>
      <p:ext uri="{BB962C8B-B14F-4D97-AF65-F5344CB8AC3E}">
        <p14:creationId xmlns:p14="http://schemas.microsoft.com/office/powerpoint/2010/main" val="234841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</p:spPr>
        <p:txBody>
          <a:bodyPr>
            <a:normAutofit/>
          </a:bodyPr>
          <a:lstStyle/>
          <a:p>
            <a:r>
              <a:rPr lang="en-US" b="1" dirty="0"/>
              <a:t>The &lt;</a:t>
            </a:r>
            <a:r>
              <a:rPr lang="en-US" b="1" dirty="0" err="1"/>
              <a:t>datalist</a:t>
            </a:r>
            <a:r>
              <a:rPr lang="en-US" b="1" dirty="0"/>
              <a:t>&gt; </a:t>
            </a:r>
            <a:r>
              <a:rPr lang="en-US" b="1" dirty="0" smtClean="0"/>
              <a:t>Element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6380" y="923827"/>
            <a:ext cx="5845405" cy="52625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Example</a:t>
            </a:r>
          </a:p>
          <a:p>
            <a:pPr marL="457200" lvl="1" indent="0">
              <a:buNone/>
            </a:pPr>
            <a:r>
              <a:rPr lang="en-US" sz="2200" dirty="0"/>
              <a:t>&lt;</a:t>
            </a:r>
            <a:r>
              <a:rPr lang="en-US" sz="2200" dirty="0">
                <a:solidFill>
                  <a:srgbClr val="FF0000"/>
                </a:solidFill>
              </a:rPr>
              <a:t>form </a:t>
            </a:r>
            <a:r>
              <a:rPr lang="en-US" sz="2200" dirty="0"/>
              <a:t>action</a:t>
            </a:r>
            <a:r>
              <a:rPr lang="en-US" sz="2200" dirty="0" smtClean="0"/>
              <a:t>=“#"&gt;</a:t>
            </a: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&lt;input list="</a:t>
            </a:r>
            <a:r>
              <a:rPr lang="en-US" sz="2200" dirty="0" smtClean="0"/>
              <a:t>browse"&gt;</a:t>
            </a: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&lt;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</a:rPr>
              <a:t>datalist</a:t>
            </a:r>
            <a:r>
              <a:rPr lang="en-US" sz="2200" dirty="0"/>
              <a:t> id</a:t>
            </a:r>
            <a:r>
              <a:rPr lang="en-US" sz="2200" dirty="0" smtClean="0"/>
              <a:t>=“browse"&gt;</a:t>
            </a: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&lt;</a:t>
            </a:r>
            <a:r>
              <a:rPr lang="en-US" sz="2200" dirty="0"/>
              <a:t>option value="Edge"&gt;</a:t>
            </a:r>
          </a:p>
          <a:p>
            <a:pPr marL="457200" lvl="1" indent="0">
              <a:buNone/>
            </a:pPr>
            <a:r>
              <a:rPr lang="en-US" sz="2200" dirty="0"/>
              <a:t>   </a:t>
            </a:r>
            <a:r>
              <a:rPr lang="en-US" sz="2200" dirty="0" smtClean="0"/>
              <a:t>   </a:t>
            </a:r>
            <a:r>
              <a:rPr lang="en-US" sz="2200" dirty="0"/>
              <a:t>&lt;option value="Firefox"&gt;</a:t>
            </a:r>
          </a:p>
          <a:p>
            <a:pPr marL="457200" lvl="1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&lt;</a:t>
            </a:r>
            <a:r>
              <a:rPr lang="en-US" sz="2200" dirty="0"/>
              <a:t>option value="Chrome"&gt;</a:t>
            </a:r>
          </a:p>
          <a:p>
            <a:pPr marL="457200" lvl="1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&lt;</a:t>
            </a:r>
            <a:r>
              <a:rPr lang="en-US" sz="2200" dirty="0"/>
              <a:t>option value="Opera"&gt;</a:t>
            </a:r>
          </a:p>
          <a:p>
            <a:pPr marL="457200" lvl="1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&lt;</a:t>
            </a:r>
            <a:r>
              <a:rPr lang="en-US" sz="2200" dirty="0"/>
              <a:t>option value="Safari"&gt;</a:t>
            </a:r>
          </a:p>
          <a:p>
            <a:pPr marL="457200" lvl="1" indent="0">
              <a:buNone/>
            </a:pPr>
            <a:r>
              <a:rPr lang="en-US" sz="2200" dirty="0"/>
              <a:t>  &lt;/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</a:rPr>
              <a:t>datalist</a:t>
            </a:r>
            <a:r>
              <a:rPr lang="en-US" sz="2200" dirty="0"/>
              <a:t>&gt;</a:t>
            </a:r>
          </a:p>
          <a:p>
            <a:pPr marL="457200" lvl="1" indent="0">
              <a:buNone/>
            </a:pPr>
            <a:r>
              <a:rPr lang="en-US" sz="2200" dirty="0"/>
              <a:t>&lt;/</a:t>
            </a:r>
            <a:r>
              <a:rPr lang="en-US" sz="2200" dirty="0">
                <a:solidFill>
                  <a:srgbClr val="FF0000"/>
                </a:solidFill>
              </a:rPr>
              <a:t>form</a:t>
            </a:r>
            <a:r>
              <a:rPr lang="en-US" sz="2200" dirty="0"/>
              <a:t>&gt;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425019"/>
            <a:ext cx="3121058" cy="4904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 smtClean="0"/>
              <a:t>The &lt;</a:t>
            </a:r>
            <a:r>
              <a:rPr lang="en-US" sz="2200" dirty="0" err="1" smtClean="0"/>
              <a:t>datalist</a:t>
            </a:r>
            <a:r>
              <a:rPr lang="en-US" sz="2200" dirty="0" smtClean="0"/>
              <a:t>&gt; element specifies a list of pre-defined options for an &lt;input&gt; element.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 smtClean="0"/>
              <a:t>Users will see a drop-down list of the pre-defined options as they input data. The list attribute of the &lt;input&gt; element, must refer to the id attribute of the &lt;</a:t>
            </a:r>
            <a:r>
              <a:rPr lang="en-US" sz="2200" dirty="0" err="1" smtClean="0"/>
              <a:t>datalist</a:t>
            </a:r>
            <a:r>
              <a:rPr lang="en-US" sz="2200" dirty="0" smtClean="0"/>
              <a:t>&gt; element.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34141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6BEE-4A9E-621B-ACF1-9DA2B8D6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3" y="-92075"/>
            <a:ext cx="11013558" cy="1325563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&lt;label&gt; </a:t>
            </a:r>
            <a:r>
              <a:rPr lang="en-US" b="1" dirty="0"/>
              <a:t>Element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B99A-644B-F06B-25F4-45A14C28F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1105786"/>
            <a:ext cx="11504428" cy="658648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Form elements should be labelled to guide the user on the expected input data. The label tag is used for this purpose. </a:t>
            </a:r>
            <a:endParaRPr lang="en-US" sz="2400" dirty="0" smtClean="0">
              <a:latin typeface="+mj-lt"/>
            </a:endParaRPr>
          </a:p>
          <a:p>
            <a:pPr marL="0" indent="0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None/>
              <a:defRPr/>
            </a:pPr>
            <a:r>
              <a:rPr lang="en-US" sz="2400" b="1" dirty="0" smtClean="0">
                <a:latin typeface="+mj-lt"/>
              </a:rPr>
              <a:t>Syntax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&lt;label for</a:t>
            </a:r>
            <a:r>
              <a:rPr lang="en-US" sz="24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=“your-id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”&gt;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Fullname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&lt;/label&gt;</a:t>
            </a:r>
          </a:p>
          <a:p>
            <a:pPr marL="342900" indent="-342900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The label tag can have an attribute “for” which binds the label to the form element through its id attribute to help screen readers in proper identification</a:t>
            </a:r>
          </a:p>
          <a:p>
            <a:pPr marL="342900" indent="-342900" eaLnBrk="1" hangingPunct="1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+mj-lt"/>
              </a:rPr>
              <a:t>Clicking a label triggers the focus event for the bound input. Interesting thing is that, if it is a file input, it results in opening a file browser. </a:t>
            </a:r>
          </a:p>
          <a:p>
            <a:pPr eaLnBrk="1" hangingPunct="1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defRPr/>
            </a:pPr>
            <a:r>
              <a:rPr lang="en-US" altLang="en-US" sz="2400" dirty="0">
                <a:latin typeface="+mj-lt"/>
              </a:rPr>
              <a:t>    </a:t>
            </a:r>
            <a:r>
              <a:rPr lang="en-US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&lt;label for="</a:t>
            </a:r>
            <a:r>
              <a:rPr lang="en-US" alt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email</a:t>
            </a:r>
            <a:r>
              <a:rPr lang="en-US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"&gt;Email&lt;/label&gt;</a:t>
            </a:r>
          </a:p>
          <a:p>
            <a:pPr marL="0" indent="0" eaLnBrk="1" hangingPunct="1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  &lt;input type="text" name="email" </a:t>
            </a:r>
            <a:r>
              <a:rPr lang="en-US" alt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id='email</a:t>
            </a:r>
            <a:r>
              <a:rPr lang="en-US" altLang="en-US" sz="2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4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100000"/>
              </a:lnSpc>
              <a:buClr>
                <a:schemeClr val="accent3">
                  <a:lumMod val="50000"/>
                </a:schemeClr>
              </a:buClr>
              <a:buSzPct val="140000"/>
              <a:buNone/>
              <a:defRPr/>
            </a:pPr>
            <a:endParaRPr lang="en-US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/>
              <a:t>Note: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The for attribute of the &lt;label&gt; tag should be equal to the id attribute of the &lt;input&gt; element to bind them together.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7739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109"/>
            <a:ext cx="10515600" cy="707011"/>
          </a:xfrm>
        </p:spPr>
        <p:txBody>
          <a:bodyPr>
            <a:normAutofit/>
          </a:bodyPr>
          <a:lstStyle/>
          <a:p>
            <a:r>
              <a:rPr lang="en-US" b="1" dirty="0" smtClean="0"/>
              <a:t>Some </a:t>
            </a:r>
            <a:r>
              <a:rPr lang="en-US" b="1" dirty="0"/>
              <a:t>HTML Form </a:t>
            </a:r>
            <a:r>
              <a:rPr lang="en-US" b="1" dirty="0" smtClean="0"/>
              <a:t>Attributes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120"/>
            <a:ext cx="10515600" cy="566550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b="1" dirty="0" smtClean="0"/>
              <a:t>The </a:t>
            </a:r>
            <a:r>
              <a:rPr lang="en-US" sz="2000" b="1" dirty="0"/>
              <a:t>Name Attribute for &lt;input&gt;</a:t>
            </a:r>
          </a:p>
          <a:p>
            <a:pPr marL="0" indent="0">
              <a:buNone/>
            </a:pPr>
            <a:r>
              <a:rPr lang="en-US" sz="2000" dirty="0"/>
              <a:t>Notice that each input field must have a name attribute to be </a:t>
            </a:r>
            <a:r>
              <a:rPr lang="en-US" sz="2000" dirty="0" smtClean="0"/>
              <a:t>submitted. Note</a:t>
            </a:r>
            <a:r>
              <a:rPr lang="en-US" sz="2000" dirty="0"/>
              <a:t>: If the name attribute is omitted, the value of the input field will not be sent at all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The Action Attribute</a:t>
            </a:r>
          </a:p>
          <a:p>
            <a:pPr marL="0" indent="0">
              <a:buNone/>
            </a:pPr>
            <a:r>
              <a:rPr lang="en-US" sz="2000" dirty="0"/>
              <a:t>The action attribute defines the action to be performed when the form is submitted. Usually, the form data is sent to a file on the server when the user clicks on the submit button.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The Target Attribute</a:t>
            </a:r>
          </a:p>
          <a:p>
            <a:pPr marL="0" indent="0">
              <a:buNone/>
            </a:pPr>
            <a:r>
              <a:rPr lang="en-US" sz="2000" dirty="0"/>
              <a:t>The target attribute specifies where to display the response that is received after submitting the form. The target attribute can have one of the following values: </a:t>
            </a:r>
            <a:r>
              <a:rPr lang="en-US" sz="2000" dirty="0" smtClean="0"/>
              <a:t>_</a:t>
            </a:r>
            <a:r>
              <a:rPr lang="en-US" sz="2000" dirty="0"/>
              <a:t>parent, _self, _blank, _</a:t>
            </a:r>
            <a:r>
              <a:rPr lang="en-US" sz="2000" dirty="0" smtClean="0"/>
              <a:t>top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The Method Attribute</a:t>
            </a:r>
          </a:p>
          <a:p>
            <a:pPr marL="0" indent="0">
              <a:buNone/>
            </a:pPr>
            <a:r>
              <a:rPr lang="en-US" sz="2000" dirty="0"/>
              <a:t>The method attribute specifies the HTTP method to be used when submitting the form data. The form-data can be sent as URL variables (with method="get") or as HTTP post transaction (with method="post"). The default HTTP method when submitting form data is GET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 smtClean="0"/>
              <a:t>The Autocomplete Attribute</a:t>
            </a:r>
          </a:p>
          <a:p>
            <a:pPr marL="0" indent="0">
              <a:buNone/>
            </a:pPr>
            <a:r>
              <a:rPr lang="en-US" sz="2000" dirty="0" smtClean="0"/>
              <a:t>The autocomplete attribute specifies whether a form should have autocomplete on or off. When autocomplete is on, the browser automatically complete values based on values that the user has entered before.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153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415"/>
            <a:ext cx="10515600" cy="754144"/>
          </a:xfrm>
        </p:spPr>
        <p:txBody>
          <a:bodyPr/>
          <a:lstStyle/>
          <a:p>
            <a:r>
              <a:rPr lang="en-US" b="1" dirty="0"/>
              <a:t>Input </a:t>
            </a:r>
            <a:r>
              <a:rPr lang="en-US" b="1" dirty="0" smtClean="0"/>
              <a:t>Restrictions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1534"/>
            <a:ext cx="11114988" cy="49490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dirty="0" smtClean="0"/>
              <a:t>Here </a:t>
            </a:r>
            <a:r>
              <a:rPr lang="en-US" sz="4400" dirty="0"/>
              <a:t>is a list of some common input restrictions: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Attribute</a:t>
            </a:r>
            <a:r>
              <a:rPr lang="en-US" dirty="0"/>
              <a:t>	</a:t>
            </a:r>
            <a:r>
              <a:rPr lang="en-US" dirty="0" smtClean="0"/>
              <a:t>       </a:t>
            </a:r>
            <a:r>
              <a:rPr lang="en-US" b="1" dirty="0" smtClean="0"/>
              <a:t>Description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disabled</a:t>
            </a:r>
            <a:r>
              <a:rPr lang="en-US" dirty="0"/>
              <a:t>	</a:t>
            </a:r>
            <a:r>
              <a:rPr lang="en-US" dirty="0" smtClean="0"/>
              <a:t>       Specifies </a:t>
            </a:r>
            <a:r>
              <a:rPr lang="en-US" dirty="0"/>
              <a:t>that an input field should be disabled</a:t>
            </a:r>
          </a:p>
          <a:p>
            <a:pPr marL="0" indent="0">
              <a:buNone/>
            </a:pPr>
            <a:r>
              <a:rPr lang="en-US" dirty="0"/>
              <a:t>max	</a:t>
            </a:r>
            <a:r>
              <a:rPr lang="en-US" dirty="0" smtClean="0"/>
              <a:t>       Specifies </a:t>
            </a:r>
            <a:r>
              <a:rPr lang="en-US" dirty="0"/>
              <a:t>the maximum value for an input field</a:t>
            </a:r>
          </a:p>
          <a:p>
            <a:pPr marL="0" indent="0">
              <a:buNone/>
            </a:pPr>
            <a:r>
              <a:rPr lang="en-US" dirty="0" err="1" smtClean="0"/>
              <a:t>Maxlength</a:t>
            </a:r>
            <a:r>
              <a:rPr lang="en-US" dirty="0" smtClean="0"/>
              <a:t>     Specifies </a:t>
            </a:r>
            <a:r>
              <a:rPr lang="en-US" dirty="0"/>
              <a:t>the maximum number of character for an input field</a:t>
            </a:r>
          </a:p>
          <a:p>
            <a:pPr marL="0" indent="0">
              <a:buNone/>
            </a:pPr>
            <a:r>
              <a:rPr lang="en-US" dirty="0"/>
              <a:t>min	</a:t>
            </a:r>
            <a:r>
              <a:rPr lang="en-US" dirty="0" smtClean="0"/>
              <a:t>      Specifies </a:t>
            </a:r>
            <a:r>
              <a:rPr lang="en-US" dirty="0"/>
              <a:t>the minimum value for an input field</a:t>
            </a:r>
          </a:p>
          <a:p>
            <a:pPr marL="0" indent="0">
              <a:buNone/>
            </a:pPr>
            <a:r>
              <a:rPr lang="en-US" dirty="0"/>
              <a:t>pattern	</a:t>
            </a:r>
            <a:r>
              <a:rPr lang="en-US" dirty="0" smtClean="0"/>
              <a:t>      Specifies </a:t>
            </a:r>
            <a:r>
              <a:rPr lang="en-US" dirty="0"/>
              <a:t>a regular expression to check the input value against</a:t>
            </a:r>
          </a:p>
          <a:p>
            <a:pPr marL="0" indent="0">
              <a:buNone/>
            </a:pPr>
            <a:r>
              <a:rPr lang="en-US" dirty="0" err="1"/>
              <a:t>readonly</a:t>
            </a:r>
            <a:r>
              <a:rPr lang="en-US" dirty="0"/>
              <a:t>	</a:t>
            </a:r>
            <a:r>
              <a:rPr lang="en-US" dirty="0" smtClean="0"/>
              <a:t>      Specifies </a:t>
            </a:r>
            <a:r>
              <a:rPr lang="en-US" dirty="0"/>
              <a:t>that an input field is read only (cannot be changed)</a:t>
            </a:r>
          </a:p>
          <a:p>
            <a:pPr marL="0" indent="0">
              <a:buNone/>
            </a:pPr>
            <a:r>
              <a:rPr lang="en-US" dirty="0"/>
              <a:t>required	</a:t>
            </a:r>
            <a:r>
              <a:rPr lang="en-US" dirty="0" smtClean="0"/>
              <a:t>      Specifies </a:t>
            </a:r>
            <a:r>
              <a:rPr lang="en-US" dirty="0"/>
              <a:t>that an input field is required (must be filled out)</a:t>
            </a:r>
          </a:p>
          <a:p>
            <a:pPr marL="0" indent="0">
              <a:buNone/>
            </a:pPr>
            <a:r>
              <a:rPr lang="en-US" dirty="0"/>
              <a:t>size	</a:t>
            </a:r>
            <a:r>
              <a:rPr lang="en-US" dirty="0" smtClean="0"/>
              <a:t>      Specifies </a:t>
            </a:r>
            <a:r>
              <a:rPr lang="en-US" dirty="0"/>
              <a:t>the width (in characters) of an input field</a:t>
            </a:r>
          </a:p>
          <a:p>
            <a:pPr marL="0" indent="0">
              <a:buNone/>
            </a:pPr>
            <a:r>
              <a:rPr lang="en-US" dirty="0"/>
              <a:t>step	</a:t>
            </a:r>
            <a:r>
              <a:rPr lang="en-US" dirty="0" smtClean="0"/>
              <a:t>      Specifies </a:t>
            </a:r>
            <a:r>
              <a:rPr lang="en-US" dirty="0"/>
              <a:t>the legal number intervals for an input field</a:t>
            </a:r>
          </a:p>
          <a:p>
            <a:pPr marL="0" indent="0">
              <a:buNone/>
            </a:pPr>
            <a:r>
              <a:rPr lang="en-US" dirty="0"/>
              <a:t>value	</a:t>
            </a:r>
            <a:r>
              <a:rPr lang="en-US" dirty="0" smtClean="0"/>
              <a:t>      Specifies </a:t>
            </a:r>
            <a:r>
              <a:rPr lang="en-US" dirty="0"/>
              <a:t>the default value for an input </a:t>
            </a:r>
            <a:r>
              <a:rPr lang="en-US" dirty="0" smtClean="0"/>
              <a:t>field</a:t>
            </a:r>
          </a:p>
          <a:p>
            <a:pPr marL="0" indent="0">
              <a:buNone/>
            </a:pPr>
            <a:r>
              <a:rPr lang="en-US" dirty="0"/>
              <a:t>checked	</a:t>
            </a:r>
            <a:r>
              <a:rPr lang="en-US" dirty="0" smtClean="0"/>
              <a:t>      Specifies </a:t>
            </a:r>
            <a:r>
              <a:rPr lang="en-US" dirty="0"/>
              <a:t>that an input field should be pre-selected when the page loads </a:t>
            </a:r>
            <a:r>
              <a:rPr lang="en-US" sz="2200" b="1" dirty="0"/>
              <a:t>(for type="checkbox" or type="radio")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1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E0AC-91C7-3CB3-60B7-11248D49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RADIO BUTTON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E3F5-ABEB-3C94-1638-9075202A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A62106"/>
                </a:solidFill>
                <a:latin typeface="Consolas" panose="020B0609020204030204" pitchFamily="49" charset="0"/>
              </a:rPr>
              <a:t>&lt;input type="radio"&gt;</a:t>
            </a:r>
            <a:r>
              <a:rPr lang="en-US" altLang="en-US" dirty="0">
                <a:solidFill>
                  <a:srgbClr val="A62106"/>
                </a:solidFill>
                <a:latin typeface="Consolas" panose="020B0609020204030204" pitchFamily="49" charset="0"/>
              </a:rPr>
              <a:t> 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defines a 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radio button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It is typically used to select </a:t>
            </a:r>
            <a:r>
              <a:rPr lang="en-US" dirty="0"/>
              <a:t>ONLY ONE of a limited number of choices. This is achieved by u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sing the same </a:t>
            </a:r>
            <a:r>
              <a:rPr lang="en-US" altLang="en-US" b="1" i="1" u="sng" dirty="0">
                <a:solidFill>
                  <a:schemeClr val="tx1"/>
                </a:solidFill>
                <a:latin typeface="+mj-lt"/>
              </a:rPr>
              <a:t>name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 attribute for all the radio buttons: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The </a:t>
            </a:r>
            <a:r>
              <a:rPr lang="en-US" altLang="en-US" b="1" i="1" u="sng" dirty="0">
                <a:solidFill>
                  <a:schemeClr val="tx1"/>
                </a:solidFill>
                <a:latin typeface="+mj-lt"/>
              </a:rPr>
              <a:t>value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 attribute is important on a radio button since the user is expected to select from an existing range of options (pre-determined values)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58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CAD9-ACE3-6490-7586-FC2CDC1A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USING THE RADIO INPUT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14E625-5779-FEBE-B360-8804C0381B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05"/>
          <a:stretch>
            <a:fillRect/>
          </a:stretch>
        </p:blipFill>
        <p:spPr bwMode="auto">
          <a:xfrm>
            <a:off x="657447" y="1979853"/>
            <a:ext cx="10515600" cy="189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D412C-9D0E-4A62-E281-5C5B62E41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69"/>
          <a:stretch>
            <a:fillRect/>
          </a:stretch>
        </p:blipFill>
        <p:spPr bwMode="auto">
          <a:xfrm>
            <a:off x="3762670" y="4164122"/>
            <a:ext cx="2930391" cy="166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5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6380-699B-4827-0A8F-0C42BD04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47" y="110386"/>
            <a:ext cx="10515600" cy="601995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Calibri" pitchFamily="34" charset="0"/>
              </a:rPr>
              <a:t>INPUT TYPE CHECKBOX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26D5-64F2-E939-6560-5A942DC1B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9959"/>
            <a:ext cx="10515600" cy="4351338"/>
          </a:xfrm>
        </p:spPr>
        <p:txBody>
          <a:bodyPr>
            <a:normAutofit fontScale="92500"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schemeClr val="tx1"/>
                </a:solidFill>
                <a:latin typeface="+mj-lt"/>
              </a:rPr>
              <a:t>&lt;input type="checkbox"&gt;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 defines a </a:t>
            </a:r>
            <a:r>
              <a:rPr lang="en-US" altLang="en-US" b="1" dirty="0">
                <a:solidFill>
                  <a:schemeClr val="tx1"/>
                </a:solidFill>
                <a:latin typeface="+mj-lt"/>
              </a:rPr>
              <a:t>checkbox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Checkboxes let a user select ZERO or MORE options of a limited number of choices.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The value of a checkbox defines what is submitted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="checkbox"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="vehicle1"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="vehicle1"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value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="Bike"&gt;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for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="vehicle1"&gt;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 have a bike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/label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="checkbox"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="vehicle2"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="vehicle2"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value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="Car"&gt;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for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="vehicle2"&gt;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 have a car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/label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/form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B5A2E-3696-89DE-1535-A601BEC1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968" y="4986522"/>
            <a:ext cx="8053259" cy="1761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497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E394-5394-5BC2-7E82-C39D74F9A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Input type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09BF-71FA-B4C3-9B71-42BB445F7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5257800" cy="4754064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800" dirty="0"/>
              <a:t>&lt;input&gt; elements with type="file" lets the user choose one or more files from their device storage. Once chosen, the files can be uploaded to a server using some file manipulations (server side or client side)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2800" dirty="0"/>
              <a:t>The tag can optionally have a </a:t>
            </a:r>
            <a:r>
              <a:rPr lang="en-US" altLang="en-US" sz="2800" dirty="0" err="1"/>
              <a:t>boolean</a:t>
            </a:r>
            <a:r>
              <a:rPr lang="en-US" altLang="en-US" sz="2800" dirty="0"/>
              <a:t> attribute, </a:t>
            </a:r>
            <a:r>
              <a:rPr lang="en-US" altLang="en-US" sz="2800" b="1" dirty="0"/>
              <a:t>'multiple</a:t>
            </a:r>
            <a:r>
              <a:rPr lang="en-US" altLang="en-US" sz="2800" dirty="0"/>
              <a:t>' to allow the user enter more than one value in the &lt;input&gt; element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D339E-EE1E-80BA-C45B-0F812D6BB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137" y="1727643"/>
            <a:ext cx="6178863" cy="249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9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4D96-5AEF-FF17-AEC4-1B1F4790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TEXETAREA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E190-305B-61BE-E279-99D033AF6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The &lt;</a:t>
            </a:r>
            <a:r>
              <a:rPr lang="en-US" altLang="en-US" sz="2800" dirty="0" err="1"/>
              <a:t>textarea</a:t>
            </a:r>
            <a:r>
              <a:rPr lang="en-US" altLang="en-US" sz="2800" dirty="0"/>
              <a:t>&gt; tag defines a multi-line text input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The &lt;</a:t>
            </a:r>
            <a:r>
              <a:rPr lang="en-US" altLang="en-US" sz="2800" dirty="0" err="1"/>
              <a:t>textarea</a:t>
            </a:r>
            <a:r>
              <a:rPr lang="en-US" altLang="en-US" sz="2800" dirty="0"/>
              <a:t>&gt; element is often used in a form, to collect user inputs like comments or reviews.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The size of a text area is specified by the </a:t>
            </a:r>
            <a:r>
              <a:rPr lang="en-US" altLang="en-US" sz="2800" i="1" dirty="0"/>
              <a:t>cols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rows</a:t>
            </a:r>
            <a:r>
              <a:rPr lang="en-US" altLang="en-US" sz="2800" dirty="0"/>
              <a:t> attributes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Example: </a:t>
            </a:r>
            <a:r>
              <a:rPr lang="en-US" altLang="en-US" dirty="0">
                <a:solidFill>
                  <a:srgbClr val="A62106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>
                <a:solidFill>
                  <a:srgbClr val="A62106"/>
                </a:solidFill>
                <a:latin typeface="Consolas" panose="020B0609020204030204" pitchFamily="49" charset="0"/>
              </a:rPr>
              <a:t>textarea</a:t>
            </a:r>
            <a:r>
              <a:rPr lang="en-US" altLang="en-US" dirty="0">
                <a:solidFill>
                  <a:srgbClr val="A62106"/>
                </a:solidFill>
                <a:latin typeface="Consolas" panose="020B0609020204030204" pitchFamily="49" charset="0"/>
              </a:rPr>
              <a:t> name="message" rows="10" cols="30"&gt;&lt;/</a:t>
            </a:r>
            <a:r>
              <a:rPr lang="en-US" altLang="en-US" dirty="0" err="1">
                <a:solidFill>
                  <a:srgbClr val="A62106"/>
                </a:solidFill>
                <a:latin typeface="Consolas" panose="020B0609020204030204" pitchFamily="49" charset="0"/>
              </a:rPr>
              <a:t>textarea</a:t>
            </a:r>
            <a:r>
              <a:rPr lang="en-US" altLang="en-US" dirty="0">
                <a:solidFill>
                  <a:srgbClr val="A62106"/>
                </a:solidFill>
                <a:latin typeface="Consolas" panose="020B0609020204030204" pitchFamily="49" charset="0"/>
              </a:rPr>
              <a:t>&gt;</a:t>
            </a:r>
            <a:endParaRPr lang="en-US" alt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To stop the </a:t>
            </a:r>
            <a:r>
              <a:rPr lang="en-US" altLang="en-US" dirty="0" err="1"/>
              <a:t>textarea</a:t>
            </a:r>
            <a:r>
              <a:rPr lang="en-US" altLang="en-US" dirty="0"/>
              <a:t> from resizing, you can define the style property/value. </a:t>
            </a:r>
          </a:p>
          <a:p>
            <a:pPr marL="457200" lvl="1" indent="0">
              <a:buNone/>
            </a:pPr>
            <a:r>
              <a:rPr lang="en-US" altLang="en-US" dirty="0"/>
              <a:t>	</a:t>
            </a:r>
            <a:r>
              <a:rPr lang="en-US" altLang="en-US" sz="2800" b="1" dirty="0"/>
              <a:t>style="</a:t>
            </a:r>
            <a:r>
              <a:rPr lang="en-US" altLang="en-US" sz="2800" b="1" dirty="0" err="1">
                <a:solidFill>
                  <a:srgbClr val="FF0000"/>
                </a:solidFill>
              </a:rPr>
              <a:t>resize:none</a:t>
            </a:r>
            <a:r>
              <a:rPr lang="en-US" altLang="en-US" sz="2800" b="1" dirty="0"/>
              <a:t>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46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3ACA-A785-8896-3915-EAFD2685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1741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HTML Input tag “Button”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77462-F76C-07F9-228F-CA30E7E29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182"/>
            <a:ext cx="10515600" cy="53443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HTML 5 Supports the &lt;button&gt; tag. </a:t>
            </a:r>
          </a:p>
          <a:p>
            <a:pPr marL="1371600" lvl="3" indent="0">
              <a:buNone/>
            </a:pPr>
            <a:r>
              <a:rPr lang="en-US" altLang="en-US" sz="2000" b="1" dirty="0"/>
              <a:t>&lt;button&gt; Submit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It has an attribute </a:t>
            </a:r>
            <a:r>
              <a:rPr lang="en-US" altLang="en-US" sz="2800" b="1" dirty="0"/>
              <a:t>type </a:t>
            </a:r>
            <a:r>
              <a:rPr lang="en-US" altLang="en-US" sz="2800" dirty="0"/>
              <a:t> which tells the type of button it is: button, submit and reset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If the type attribute is not specified, the default is </a:t>
            </a:r>
            <a:r>
              <a:rPr lang="en-US" altLang="en-US" sz="2800" b="1" dirty="0" smtClean="0"/>
              <a:t>submit.</a:t>
            </a:r>
            <a:endParaRPr lang="en-US" altLang="en-US" sz="2800" b="1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&lt;button type="button" </a:t>
            </a:r>
            <a:r>
              <a:rPr lang="en-US" dirty="0" err="1">
                <a:solidFill>
                  <a:srgbClr val="FF0000"/>
                </a:solidFill>
              </a:rPr>
              <a:t>onclick</a:t>
            </a:r>
            <a:r>
              <a:rPr lang="en-US" dirty="0">
                <a:solidFill>
                  <a:srgbClr val="FF0000"/>
                </a:solidFill>
              </a:rPr>
              <a:t>="alert('Hello World!')"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&gt;Click Me!&lt;/button&gt;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13D286C-ED92-0FFC-5389-85A480847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2" y="4155069"/>
            <a:ext cx="9731375" cy="110799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200" u="sng" dirty="0">
                <a:solidFill>
                  <a:schemeClr val="tx1"/>
                </a:solidFill>
                <a:latin typeface="+mj-lt"/>
              </a:rPr>
              <a:t>The Submit Button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200" b="1" dirty="0">
                <a:solidFill>
                  <a:schemeClr val="tx1"/>
                </a:solidFill>
                <a:latin typeface="+mj-lt"/>
              </a:rPr>
              <a:t>&lt;input type="submit"&gt;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 defines a button for </a:t>
            </a:r>
            <a:r>
              <a:rPr lang="en-US" altLang="en-US" sz="2200" b="1" dirty="0">
                <a:solidFill>
                  <a:schemeClr val="tx1"/>
                </a:solidFill>
                <a:latin typeface="+mj-lt"/>
              </a:rPr>
              <a:t>submitting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 the form data to a </a:t>
            </a:r>
            <a:r>
              <a:rPr lang="en-US" altLang="en-US" sz="2200" b="1" dirty="0">
                <a:solidFill>
                  <a:schemeClr val="tx1"/>
                </a:solidFill>
                <a:latin typeface="+mj-lt"/>
              </a:rPr>
              <a:t>form-handler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323CFFF-6305-CCFE-AFB2-5E52E67C8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2" y="5445096"/>
            <a:ext cx="10752581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defRPr/>
            </a:pPr>
            <a:r>
              <a:rPr lang="en-US" altLang="en-US" sz="2200" u="sng" dirty="0">
                <a:solidFill>
                  <a:schemeClr val="tx1"/>
                </a:solidFill>
                <a:latin typeface="+mj-lt"/>
              </a:rPr>
              <a:t>The Reset Button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200" b="1" dirty="0">
                <a:solidFill>
                  <a:schemeClr val="tx1"/>
                </a:solidFill>
                <a:latin typeface="+mj-lt"/>
              </a:rPr>
              <a:t>&lt;input type=“reset"&gt;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 defines a button for </a:t>
            </a:r>
            <a:r>
              <a:rPr lang="en-US" altLang="en-US" sz="2200" b="1" dirty="0">
                <a:solidFill>
                  <a:schemeClr val="tx1"/>
                </a:solidFill>
                <a:latin typeface="+mj-lt"/>
              </a:rPr>
              <a:t>clearing the form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322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3BF7-18FB-8877-4867-CA15034A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5359"/>
          </a:xfrm>
        </p:spPr>
        <p:txBody>
          <a:bodyPr>
            <a:noAutofit/>
          </a:bodyPr>
          <a:lstStyle/>
          <a:p>
            <a:r>
              <a:rPr lang="en-US" sz="3000" b="0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Some common input restrictions:</a:t>
            </a:r>
            <a:endParaRPr lang="en-US" sz="3000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6AF6C1-7C18-B49E-D96D-B4CF1A19A8C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105788"/>
          <a:ext cx="10336619" cy="5752212"/>
        </p:xfrm>
        <a:graphic>
          <a:graphicData uri="http://schemas.openxmlformats.org/drawingml/2006/table">
            <a:tbl>
              <a:tblPr/>
              <a:tblGrid>
                <a:gridCol w="2064975">
                  <a:extLst>
                    <a:ext uri="{9D8B030D-6E8A-4147-A177-3AD203B41FA5}">
                      <a16:colId xmlns:a16="http://schemas.microsoft.com/office/drawing/2014/main" val="1748491455"/>
                    </a:ext>
                  </a:extLst>
                </a:gridCol>
                <a:gridCol w="8271644">
                  <a:extLst>
                    <a:ext uri="{9D8B030D-6E8A-4147-A177-3AD203B41FA5}">
                      <a16:colId xmlns:a16="http://schemas.microsoft.com/office/drawing/2014/main" val="2677038305"/>
                    </a:ext>
                  </a:extLst>
                </a:gridCol>
              </a:tblGrid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Attribute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Description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77217"/>
                  </a:ext>
                </a:extLst>
              </a:tr>
              <a:tr h="756038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checked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Specifies that an input field should be pre-selected when the page loads (for type="checkbox" or type="radio")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74285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disabled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that an input field should be disabled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036495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max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the maximum value for an input field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52560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maxlength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the maximum number of character for an input field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08427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min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the minimum value for an input field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07212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value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Specifies the default value for an input field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32922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readonly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that an input field is read only (cannot be changed)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03361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required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Specifies that an input field is required (must be filled out)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819616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size</a:t>
                      </a: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Specifies the width (in characters) of an input field</a:t>
                      </a: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2933"/>
                  </a:ext>
                </a:extLst>
              </a:tr>
              <a:tr h="625324">
                <a:tc>
                  <a:txBody>
                    <a:bodyPr/>
                    <a:lstStyle/>
                    <a:p>
                      <a:pPr algn="l" fontAlgn="t"/>
                      <a:endParaRPr lang="en-US" sz="1600" dirty="0">
                        <a:effectLst/>
                      </a:endParaRP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dirty="0">
                        <a:effectLst/>
                      </a:endParaRP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809"/>
                  </a:ext>
                </a:extLst>
              </a:tr>
              <a:tr h="437085">
                <a:tc>
                  <a:txBody>
                    <a:bodyPr/>
                    <a:lstStyle/>
                    <a:p>
                      <a:pPr algn="l" fontAlgn="t"/>
                      <a:endParaRPr lang="en-US" sz="1600" dirty="0">
                        <a:effectLst/>
                      </a:endParaRPr>
                    </a:p>
                  </a:txBody>
                  <a:tcPr marL="92385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dirty="0">
                        <a:effectLst/>
                      </a:endParaRPr>
                    </a:p>
                  </a:txBody>
                  <a:tcPr marL="46193" marR="46193" marT="46193" marB="4619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7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081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6DCB-4BE0-B90C-CAE7-7B481185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13" y="0"/>
            <a:ext cx="5339499" cy="1093509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SELECT DROPDOWN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3352-7E8A-C22F-A61F-777D19F9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3" y="1253328"/>
            <a:ext cx="6015087" cy="5220033"/>
          </a:xfrm>
        </p:spPr>
        <p:txBody>
          <a:bodyPr>
            <a:normAutofit/>
          </a:bodyPr>
          <a:lstStyle/>
          <a:p>
            <a:pPr>
              <a:buClr>
                <a:schemeClr val="accent4">
                  <a:lumMod val="75000"/>
                </a:schemeClr>
              </a:buClr>
              <a:buFont typeface="Wingdings" pitchFamily="2" charset="2"/>
              <a:buChar char="§"/>
              <a:defRPr/>
            </a:pPr>
            <a:r>
              <a:rPr lang="en-US" sz="2200" dirty="0"/>
              <a:t>The basic select drop down is used to collect users input choosing one options out of many options presented with option tag</a:t>
            </a:r>
          </a:p>
          <a:p>
            <a:pPr>
              <a:buClr>
                <a:schemeClr val="accent4">
                  <a:lumMod val="75000"/>
                </a:schemeClr>
              </a:buClr>
              <a:buFont typeface="Wingdings" pitchFamily="2" charset="2"/>
              <a:buChar char="§"/>
              <a:defRPr/>
            </a:pPr>
            <a:r>
              <a:rPr lang="en-US" sz="2200" dirty="0"/>
              <a:t>NOTE: The option tag must be within a select tag (See the notes for more</a:t>
            </a:r>
            <a:r>
              <a:rPr lang="en-US" sz="2200" dirty="0" smtClean="0"/>
              <a:t>)</a:t>
            </a:r>
          </a:p>
          <a:p>
            <a:pPr>
              <a:buClr>
                <a:schemeClr val="accent4">
                  <a:lumMod val="75000"/>
                </a:schemeClr>
              </a:buClr>
              <a:buFont typeface="Wingdings" pitchFamily="2" charset="2"/>
              <a:buChar char="§"/>
              <a:defRPr/>
            </a:pPr>
            <a:endParaRPr lang="en-US" sz="2200" dirty="0"/>
          </a:p>
          <a:p>
            <a:pPr marL="0" indent="0">
              <a:buNone/>
              <a:defRPr/>
            </a:pPr>
            <a:r>
              <a:rPr lang="en-US" sz="1800" dirty="0" smtClean="0">
                <a:solidFill>
                  <a:srgbClr val="C00000"/>
                </a:solidFill>
                <a:latin typeface="Consolas" pitchFamily="49" charset="0"/>
              </a:rPr>
              <a:t>   &lt;</a:t>
            </a: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select name=“country”&gt;</a:t>
            </a:r>
          </a:p>
          <a:p>
            <a:pPr lvl="1">
              <a:buFont typeface="Calibri" panose="020F0502020204030204" pitchFamily="34" charset="0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	&lt;option value=“Nigeria”&gt;Nigeria&lt;/option&gt;</a:t>
            </a:r>
          </a:p>
          <a:p>
            <a:pPr lvl="1">
              <a:buFont typeface="Calibri" panose="020F0502020204030204" pitchFamily="34" charset="0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	&lt;option value=“Ghana”&gt;Ghana&lt;/option&gt;</a:t>
            </a:r>
          </a:p>
          <a:p>
            <a:pPr lvl="1">
              <a:buFont typeface="Calibri" panose="020F0502020204030204" pitchFamily="34" charset="0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	&lt;option value=“Senegal”&gt;Senegal&lt;/option&gt;</a:t>
            </a:r>
          </a:p>
          <a:p>
            <a:pPr lvl="1">
              <a:buFont typeface="Calibri" panose="020F0502020204030204" pitchFamily="34" charset="0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	&lt;option value=“Gambia”&gt;Gambia&lt;/option</a:t>
            </a:r>
            <a:r>
              <a:rPr lang="en-US" sz="1800" dirty="0" smtClean="0">
                <a:solidFill>
                  <a:srgbClr val="C00000"/>
                </a:solidFill>
                <a:latin typeface="Consolas" pitchFamily="49" charset="0"/>
              </a:rPr>
              <a:t>&gt;</a:t>
            </a:r>
          </a:p>
          <a:p>
            <a:pPr lvl="1">
              <a:buFont typeface="Calibri" panose="020F0502020204030204" pitchFamily="34" charset="0"/>
              <a:buNone/>
              <a:defRPr/>
            </a:pPr>
            <a:r>
              <a:rPr lang="en-US" sz="1800" dirty="0" smtClean="0">
                <a:solidFill>
                  <a:srgbClr val="C00000"/>
                </a:solidFill>
                <a:latin typeface="Consolas" pitchFamily="49" charset="0"/>
              </a:rPr>
              <a:t>&lt;/</a:t>
            </a:r>
            <a:r>
              <a:rPr lang="en-US" sz="1800" dirty="0">
                <a:solidFill>
                  <a:srgbClr val="C00000"/>
                </a:solidFill>
                <a:latin typeface="Consolas" pitchFamily="49" charset="0"/>
              </a:rPr>
              <a:t>select&gt;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D13352-7E8A-C22F-A61F-777D19F9607B}"/>
              </a:ext>
            </a:extLst>
          </p:cNvPr>
          <p:cNvSpPr txBox="1">
            <a:spLocks/>
          </p:cNvSpPr>
          <p:nvPr/>
        </p:nvSpPr>
        <p:spPr>
          <a:xfrm>
            <a:off x="6249971" y="924961"/>
            <a:ext cx="5942029" cy="5220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Use the size attribute to specify the number of visible values: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 smtClean="0"/>
              <a:t>Example: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&lt;label for="cars"&gt;Choose a car:&lt;/label&gt;</a:t>
            </a:r>
          </a:p>
          <a:p>
            <a:pPr marL="0" indent="0">
              <a:buNone/>
            </a:pPr>
            <a:r>
              <a:rPr lang="en-US" sz="2200" dirty="0"/>
              <a:t>&lt;select id="cars" name="cars" size="3"&gt;</a:t>
            </a:r>
          </a:p>
          <a:p>
            <a:pPr marL="0" indent="0">
              <a:buNone/>
            </a:pPr>
            <a:r>
              <a:rPr lang="en-US" sz="2200" dirty="0"/>
              <a:t>  &lt;option value="</a:t>
            </a:r>
            <a:r>
              <a:rPr lang="en-US" sz="2200" dirty="0" err="1"/>
              <a:t>volvo</a:t>
            </a:r>
            <a:r>
              <a:rPr lang="en-US" sz="2200" dirty="0"/>
              <a:t>"&gt;Volvo&lt;/option&gt;</a:t>
            </a:r>
          </a:p>
          <a:p>
            <a:pPr marL="0" indent="0">
              <a:buNone/>
            </a:pPr>
            <a:r>
              <a:rPr lang="en-US" sz="2200" dirty="0"/>
              <a:t>  &lt;option value="</a:t>
            </a:r>
            <a:r>
              <a:rPr lang="en-US" sz="2200" dirty="0" err="1"/>
              <a:t>saab</a:t>
            </a:r>
            <a:r>
              <a:rPr lang="en-US" sz="2200" dirty="0"/>
              <a:t>"&gt;Saab&lt;/option&gt;</a:t>
            </a:r>
          </a:p>
          <a:p>
            <a:pPr marL="0" indent="0">
              <a:buNone/>
            </a:pPr>
            <a:r>
              <a:rPr lang="en-US" sz="2200" dirty="0"/>
              <a:t>  &lt;option value="fiat"&gt;Fiat&lt;/option&gt;</a:t>
            </a:r>
          </a:p>
          <a:p>
            <a:pPr marL="0" indent="0">
              <a:buNone/>
            </a:pPr>
            <a:r>
              <a:rPr lang="en-US" sz="2200" dirty="0"/>
              <a:t>  &lt;option value="</a:t>
            </a:r>
            <a:r>
              <a:rPr lang="en-US" sz="2200" dirty="0" err="1"/>
              <a:t>audi</a:t>
            </a:r>
            <a:r>
              <a:rPr lang="en-US" sz="2200" dirty="0"/>
              <a:t>"&gt;Audi&lt;/option&gt;</a:t>
            </a:r>
          </a:p>
          <a:p>
            <a:pPr marL="0" indent="0">
              <a:buNone/>
            </a:pPr>
            <a:r>
              <a:rPr lang="en-US" sz="2200" dirty="0"/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val="288364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6135"/>
            <a:ext cx="10515600" cy="5820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500" b="1" u="sng" dirty="0" smtClean="0">
                <a:solidFill>
                  <a:schemeClr val="accent5">
                    <a:lumMod val="75000"/>
                  </a:schemeClr>
                </a:solidFill>
              </a:rPr>
              <a:t>Class Work:</a:t>
            </a:r>
          </a:p>
          <a:p>
            <a:pPr marL="0" indent="0">
              <a:buNone/>
            </a:pPr>
            <a:endParaRPr lang="en-US" sz="4500" dirty="0" smtClean="0"/>
          </a:p>
          <a:p>
            <a:pPr marL="0" indent="0">
              <a:buNone/>
            </a:pPr>
            <a:r>
              <a:rPr lang="en-US" sz="3500" dirty="0"/>
              <a:t>C</a:t>
            </a:r>
            <a:r>
              <a:rPr lang="en-US" sz="3500" dirty="0" smtClean="0"/>
              <a:t>reate </a:t>
            </a:r>
            <a:r>
              <a:rPr lang="en-US" sz="3500" dirty="0"/>
              <a:t>a form </a:t>
            </a:r>
            <a:r>
              <a:rPr lang="en-US" sz="3500" dirty="0" smtClean="0"/>
              <a:t>that </a:t>
            </a:r>
            <a:r>
              <a:rPr lang="en-US" sz="3500" dirty="0"/>
              <a:t>has an image at the top and a place where </a:t>
            </a:r>
            <a:r>
              <a:rPr lang="en-US" sz="3500" dirty="0" smtClean="0"/>
              <a:t>the image can be changed. </a:t>
            </a:r>
            <a:r>
              <a:rPr lang="en-US" sz="3500" dirty="0"/>
              <a:t>Let the form have relevant inputs to capture name, surname, email, password, where to select state among 5 states in Nigeria, and a gender select</a:t>
            </a:r>
            <a:r>
              <a:rPr lang="en-US" sz="3500" dirty="0" smtClean="0"/>
              <a:t>. The input should have asterisk for compulsory fields. There should be a checkbox for agree to terms and condition and a </a:t>
            </a:r>
            <a:r>
              <a:rPr lang="en-US" sz="3500" dirty="0"/>
              <a:t>button to submit at the end</a:t>
            </a:r>
          </a:p>
          <a:p>
            <a:pPr marL="0" indent="0">
              <a:buNone/>
            </a:pP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885115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08E5-EBE8-4842-BAA9-6EC618F5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27"/>
            <a:ext cx="10515600" cy="999459"/>
          </a:xfrm>
        </p:spPr>
        <p:txBody>
          <a:bodyPr/>
          <a:lstStyle/>
          <a:p>
            <a:r>
              <a:rPr lang="en-US" b="1" dirty="0"/>
              <a:t>HTML FORM WITH </a:t>
            </a:r>
            <a:r>
              <a:rPr lang="en-US" b="1" dirty="0" err="1"/>
              <a:t>fieldset</a:t>
            </a:r>
            <a:r>
              <a:rPr lang="en-US" b="1" dirty="0"/>
              <a:t> and legend.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1DE2-4076-48E6-1C40-39457AA93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63"/>
            <a:ext cx="10515600" cy="50818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HTML </a:t>
            </a:r>
            <a:r>
              <a:rPr lang="en-US" b="1" dirty="0">
                <a:solidFill>
                  <a:srgbClr val="C00000"/>
                </a:solidFill>
              </a:rPr>
              <a:t>&lt;</a:t>
            </a:r>
            <a:r>
              <a:rPr lang="en-US" b="1" dirty="0" err="1">
                <a:solidFill>
                  <a:srgbClr val="C00000"/>
                </a:solidFill>
              </a:rPr>
              <a:t>fieldset</a:t>
            </a:r>
            <a:r>
              <a:rPr lang="en-US" b="1" dirty="0">
                <a:solidFill>
                  <a:srgbClr val="C00000"/>
                </a:solidFill>
              </a:rPr>
              <a:t>&gt; &lt;/</a:t>
            </a:r>
            <a:r>
              <a:rPr lang="en-US" b="1" dirty="0" err="1">
                <a:solidFill>
                  <a:srgbClr val="C00000"/>
                </a:solidFill>
              </a:rPr>
              <a:t>fieldset</a:t>
            </a:r>
            <a:r>
              <a:rPr lang="en-US" b="1" dirty="0">
                <a:solidFill>
                  <a:srgbClr val="C00000"/>
                </a:solidFill>
              </a:rPr>
              <a:t>&gt; </a:t>
            </a:r>
            <a:r>
              <a:rPr lang="en-US" dirty="0"/>
              <a:t>tag is used to group the logically related fields/labels contained within an HTML form.</a:t>
            </a:r>
          </a:p>
          <a:p>
            <a:pPr marL="0" indent="0">
              <a:buNone/>
            </a:pPr>
            <a:r>
              <a:rPr lang="en-US" dirty="0"/>
              <a:t>HTML </a:t>
            </a:r>
            <a:r>
              <a:rPr lang="en-US" b="1" dirty="0">
                <a:solidFill>
                  <a:srgbClr val="C00000"/>
                </a:solidFill>
              </a:rPr>
              <a:t>&lt;legend&gt; &lt;/legend&gt; </a:t>
            </a:r>
            <a:r>
              <a:rPr lang="en-US" dirty="0"/>
              <a:t>tag is used to insert a title or caption to its parent element such as &lt;</a:t>
            </a:r>
            <a:r>
              <a:rPr lang="en-US" dirty="0" err="1"/>
              <a:t>fieldset</a:t>
            </a:r>
            <a:r>
              <a:rPr lang="en-US" dirty="0"/>
              <a:t>&gt;. The &lt;legend&gt; element must be the first child of &lt;</a:t>
            </a:r>
            <a:r>
              <a:rPr lang="en-US" dirty="0" err="1"/>
              <a:t>fieldset</a:t>
            </a:r>
            <a:r>
              <a:rPr lang="en-US" dirty="0"/>
              <a:t> &gt; element.</a:t>
            </a:r>
          </a:p>
          <a:p>
            <a:pPr marL="0" indent="0">
              <a:buNone/>
            </a:pPr>
            <a:r>
              <a:rPr lang="en-US" dirty="0"/>
              <a:t>The &lt;legend&gt; tag is used with the &lt;</a:t>
            </a:r>
            <a:r>
              <a:rPr lang="en-US" dirty="0" err="1"/>
              <a:t>fieldset</a:t>
            </a:r>
            <a:r>
              <a:rPr lang="en-US" dirty="0"/>
              <a:t>&gt; element as a first child to define the caption for the grouped related fields.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The use of the  &lt;</a:t>
            </a:r>
            <a:r>
              <a:rPr lang="en-US" b="1" dirty="0" err="1">
                <a:solidFill>
                  <a:srgbClr val="0070C0"/>
                </a:solidFill>
              </a:rPr>
              <a:t>filedset</a:t>
            </a:r>
            <a:r>
              <a:rPr lang="en-US" b="1" dirty="0">
                <a:solidFill>
                  <a:srgbClr val="0070C0"/>
                </a:solidFill>
              </a:rPr>
              <a:t>&gt; and &lt;legend&gt; tag is optional while creating an HTML form but by using them, it is easy to understand the purpose of grouped elements of form.</a:t>
            </a:r>
          </a:p>
        </p:txBody>
      </p:sp>
    </p:spTree>
    <p:extLst>
      <p:ext uri="{BB962C8B-B14F-4D97-AF65-F5344CB8AC3E}">
        <p14:creationId xmlns:p14="http://schemas.microsoft.com/office/powerpoint/2010/main" val="1141086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D856-265D-C894-583C-326D9D4AA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9098"/>
            <a:ext cx="10515600" cy="5687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b="1" dirty="0"/>
              <a:t>form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&lt;</a:t>
            </a:r>
            <a:r>
              <a:rPr lang="en-US" b="1" dirty="0" err="1">
                <a:solidFill>
                  <a:srgbClr val="0070C0"/>
                </a:solidFill>
              </a:rPr>
              <a:t>fieldset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en-US" b="1" dirty="0">
                <a:solidFill>
                  <a:srgbClr val="C00000"/>
                </a:solidFill>
              </a:rPr>
              <a:t>legend</a:t>
            </a:r>
            <a:r>
              <a:rPr lang="en-US" dirty="0"/>
              <a:t>&gt;User Information:&lt;</a:t>
            </a:r>
            <a:r>
              <a:rPr lang="en-US" b="1" dirty="0">
                <a:solidFill>
                  <a:srgbClr val="C00000"/>
                </a:solidFill>
              </a:rPr>
              <a:t>/legend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	&lt;label for="name"&gt;Enter name&lt;/label&gt;&lt;</a:t>
            </a:r>
            <a:r>
              <a:rPr lang="en-US" dirty="0" err="1"/>
              <a:t>br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	&lt;input type="text" id="name" name="name"&gt;&lt;</a:t>
            </a:r>
            <a:r>
              <a:rPr lang="en-US" dirty="0" err="1"/>
              <a:t>br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	&lt;label for="pass"&gt;Enter Password&lt;/label&gt;&lt;</a:t>
            </a:r>
            <a:r>
              <a:rPr lang="en-US" dirty="0" err="1"/>
              <a:t>br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	&lt;input type="Password" id="pass" name="pass"&gt;&lt;</a:t>
            </a:r>
            <a:r>
              <a:rPr lang="en-US" dirty="0" err="1"/>
              <a:t>br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		&lt;input type="submit" value="submit"&gt;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70C0"/>
                </a:solidFill>
              </a:rPr>
              <a:t>&lt;/</a:t>
            </a:r>
            <a:r>
              <a:rPr lang="en-US" b="1" dirty="0" err="1">
                <a:solidFill>
                  <a:srgbClr val="0070C0"/>
                </a:solidFill>
              </a:rPr>
              <a:t>fieldset</a:t>
            </a:r>
            <a:r>
              <a:rPr lang="en-US" dirty="0"/>
              <a:t>&gt;  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b="1" dirty="0"/>
              <a:t>/form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54183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9BFBE-7407-D28D-BFD1-778433BC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FORM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AF61-5982-EB2C-1352-F9B078C7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648"/>
            <a:ext cx="10515600" cy="4351338"/>
          </a:xfrm>
        </p:spPr>
        <p:txBody>
          <a:bodyPr>
            <a:no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atin typeface="+mj-lt"/>
              </a:rPr>
              <a:t>Within the form tag, create button tag as </a:t>
            </a:r>
            <a:r>
              <a:rPr lang="en-US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&lt;button&gt;Submit&lt;/button&gt;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atin typeface="+mj-lt"/>
              </a:rPr>
              <a:t>The form tag has 2 important attributes described below:</a:t>
            </a:r>
          </a:p>
          <a:p>
            <a:pPr marL="635000" lvl="1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+mj-lt"/>
              </a:rPr>
              <a:t>action</a:t>
            </a:r>
            <a:r>
              <a:rPr lang="en-US" altLang="en-US" sz="3200" dirty="0">
                <a:latin typeface="+mj-lt"/>
              </a:rPr>
              <a:t> which defines where the form data will be sent to (destination page) when the form is submitted; If the action attribute is omitted, the action is set to the current page.</a:t>
            </a:r>
          </a:p>
          <a:p>
            <a:pPr marL="635000" lvl="1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latin typeface="+mj-lt"/>
              </a:rPr>
              <a:t>method</a:t>
            </a:r>
            <a:r>
              <a:rPr lang="en-US" altLang="en-US" sz="3200" dirty="0">
                <a:latin typeface="+mj-lt"/>
              </a:rPr>
              <a:t> which specifies the means of transporting the data to the destination. It can have value GET or POST. When not specified, it defaults to “GET” 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63831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8622-458F-BDA9-8FB3-49BCC7F1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2" y="127592"/>
            <a:ext cx="10515600" cy="41105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ASSIGNMENT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540" y="876693"/>
            <a:ext cx="3827283" cy="5981307"/>
          </a:xfrm>
        </p:spPr>
      </p:pic>
    </p:spTree>
    <p:extLst>
      <p:ext uri="{BB962C8B-B14F-4D97-AF65-F5344CB8AC3E}">
        <p14:creationId xmlns:p14="http://schemas.microsoft.com/office/powerpoint/2010/main" val="149818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A5C7-B6B3-4EF6-741C-D84E76705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MULTIMEDIA</a:t>
            </a:r>
          </a:p>
        </p:txBody>
      </p:sp>
    </p:spTree>
    <p:extLst>
      <p:ext uri="{BB962C8B-B14F-4D97-AF65-F5344CB8AC3E}">
        <p14:creationId xmlns:p14="http://schemas.microsoft.com/office/powerpoint/2010/main" val="3602426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88DD-548A-5BF5-F51A-E57E953F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HMTL MULTIMEDIA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FABF5-9640-31F6-2EDF-D5CCD8A4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Audio tag</a:t>
            </a:r>
          </a:p>
          <a:p>
            <a:r>
              <a:rPr lang="en-US" sz="5000" dirty="0"/>
              <a:t>Video tag</a:t>
            </a:r>
          </a:p>
        </p:txBody>
      </p:sp>
    </p:spTree>
    <p:extLst>
      <p:ext uri="{BB962C8B-B14F-4D97-AF65-F5344CB8AC3E}">
        <p14:creationId xmlns:p14="http://schemas.microsoft.com/office/powerpoint/2010/main" val="2327766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F870-3B19-E10A-6FFE-0B5C8B75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on web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42B251-C178-14FE-2D26-40D16D0F65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3860"/>
            <a:ext cx="11000466" cy="2771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43C3F-940A-7488-2A2E-D3566D496879}"/>
              </a:ext>
            </a:extLst>
          </p:cNvPr>
          <p:cNvSpPr txBox="1"/>
          <p:nvPr/>
        </p:nvSpPr>
        <p:spPr>
          <a:xfrm>
            <a:off x="912628" y="4685451"/>
            <a:ext cx="1078318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13"/>
              </a:spcAft>
              <a:buClrTx/>
              <a:buFontTx/>
              <a:buNone/>
            </a:pPr>
            <a:r>
              <a:rPr lang="en-US" altLang="en-US" sz="2600" dirty="0">
                <a:latin typeface="Corbel" panose="020B0503020204020204" pitchFamily="34" charset="0"/>
                <a:cs typeface="Noto Sans CJK SC" charset="0"/>
              </a:rPr>
              <a:t>The HTML5 &lt;audio&gt; element specifies a standard way to embed audio in a web page. Similar to the </a:t>
            </a:r>
            <a:r>
              <a:rPr lang="en-US" altLang="en-US" sz="2600" dirty="0" err="1">
                <a:latin typeface="Corbel" panose="020B0503020204020204" pitchFamily="34" charset="0"/>
                <a:cs typeface="Noto Sans CJK SC" charset="0"/>
              </a:rPr>
              <a:t>img</a:t>
            </a:r>
            <a:r>
              <a:rPr lang="en-US" altLang="en-US" sz="2600" dirty="0">
                <a:latin typeface="Corbel" panose="020B0503020204020204" pitchFamily="34" charset="0"/>
                <a:cs typeface="Noto Sans CJK SC" charset="0"/>
              </a:rPr>
              <a:t> tag, its syntax is :</a:t>
            </a:r>
          </a:p>
          <a:p>
            <a:pPr>
              <a:spcAft>
                <a:spcPts val="613"/>
              </a:spcAft>
              <a:buClrTx/>
              <a:buFontTx/>
              <a:buNone/>
            </a:pPr>
            <a:r>
              <a:rPr lang="en-US" altLang="en-US" sz="2600" dirty="0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&lt;audio controls </a:t>
            </a:r>
            <a:r>
              <a:rPr lang="en-US" altLang="en-US" sz="2600" dirty="0" err="1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src</a:t>
            </a:r>
            <a:r>
              <a:rPr lang="en-US" altLang="en-US" sz="2600" dirty="0">
                <a:solidFill>
                  <a:srgbClr val="C00000"/>
                </a:solidFill>
                <a:latin typeface="Consolas" panose="020B0609020204030204" pitchFamily="49" charset="0"/>
                <a:cs typeface="Noto Sans CJK SC" charset="0"/>
              </a:rPr>
              <a:t>="media/birds.mp3"&gt;&lt;/audio&gt;</a:t>
            </a:r>
          </a:p>
        </p:txBody>
      </p:sp>
    </p:spTree>
    <p:extLst>
      <p:ext uri="{BB962C8B-B14F-4D97-AF65-F5344CB8AC3E}">
        <p14:creationId xmlns:p14="http://schemas.microsoft.com/office/powerpoint/2010/main" val="2684949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DF88-549B-72CC-C08D-E919EE4C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</p:spPr>
        <p:txBody>
          <a:bodyPr>
            <a:normAutofit fontScale="90000"/>
          </a:bodyPr>
          <a:lstStyle/>
          <a:p>
            <a:r>
              <a:rPr lang="en-US" dirty="0"/>
              <a:t>MULTIMEDIA FILE FORMATS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9AFCA4-FE2A-8796-1150-E548B68DA4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107377"/>
            <a:ext cx="10294089" cy="536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149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2B5F-FC80-5E55-2159-4119C5132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21" y="177579"/>
            <a:ext cx="10515600" cy="19595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&lt;audio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controls</a:t>
            </a: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</a:rPr>
              <a:t>   </a:t>
            </a: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&lt;source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"myAudio.ogg"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"audio/</a:t>
            </a:r>
            <a:r>
              <a:rPr lang="en-US" alt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ogg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   &lt;source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"myAudio.mp3"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"audio/mp3"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	 &lt;source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myAudio.wav"</a:t>
            </a:r>
            <a:r>
              <a:rPr lang="en-US" altLang="en-US" sz="1600" dirty="0" smtClean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600" dirty="0">
                <a:latin typeface="Consolas" panose="020B0609020204030204" pitchFamily="49" charset="0"/>
              </a:rPr>
              <a:t>=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audio/wav"</a:t>
            </a:r>
            <a:r>
              <a:rPr lang="en-US" altLang="en-US" sz="1600" dirty="0" smtClean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altLang="en-US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   Your browser does not support the audio tag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&lt;/audio&gt;</a:t>
            </a:r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000" dirty="0" smtClean="0"/>
              <a:t>To download some free short audio and videos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https://pixabay.com/sound-effects/search/short</a:t>
            </a:r>
            <a:r>
              <a:rPr lang="en-US" sz="2000" dirty="0" smtClean="0">
                <a:hlinkClick r:id="rId2"/>
              </a:rPr>
              <a:t>/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https://www.freepik.com/videos/short</a:t>
            </a:r>
            <a:endParaRPr lang="en-US" sz="2000" dirty="0" smtClean="0"/>
          </a:p>
          <a:p>
            <a:pPr marL="0" indent="0">
              <a:buNone/>
            </a:pPr>
            <a:endParaRPr lang="en-US" sz="2200" dirty="0"/>
          </a:p>
          <a:p>
            <a:r>
              <a:rPr lang="en-US" altLang="en-US" sz="1800" dirty="0">
                <a:latin typeface="Corbel" panose="020B0503020204020204" pitchFamily="34" charset="0"/>
              </a:rPr>
              <a:t>The browser will attempt to play the  </a:t>
            </a:r>
            <a:r>
              <a:rPr lang="en-US" altLang="en-US" sz="1800" dirty="0" err="1">
                <a:latin typeface="Corbel" panose="020B0503020204020204" pitchFamily="34" charset="0"/>
              </a:rPr>
              <a:t>ogg</a:t>
            </a:r>
            <a:r>
              <a:rPr lang="en-US" altLang="en-US" sz="1800" dirty="0">
                <a:latin typeface="Corbel" panose="020B0503020204020204" pitchFamily="34" charset="0"/>
              </a:rPr>
              <a:t> version and then play the mp3 version if it can not play the </a:t>
            </a:r>
            <a:r>
              <a:rPr lang="en-US" altLang="en-US" sz="1800" dirty="0" err="1">
                <a:latin typeface="Corbel" panose="020B0503020204020204" pitchFamily="34" charset="0"/>
              </a:rPr>
              <a:t>ogg</a:t>
            </a:r>
            <a:r>
              <a:rPr lang="en-US" altLang="en-US" sz="1800" dirty="0">
                <a:latin typeface="Corbel" panose="020B0503020204020204" pitchFamily="34" charset="0"/>
              </a:rPr>
              <a:t>  format</a:t>
            </a:r>
          </a:p>
          <a:p>
            <a:r>
              <a:rPr lang="en-US" altLang="en-US" sz="1800" dirty="0">
                <a:latin typeface="Corbel" panose="020B0503020204020204" pitchFamily="34" charset="0"/>
              </a:rPr>
              <a:t>But if the browser can not play any of the audio files, it will display the message on your browser </a:t>
            </a:r>
          </a:p>
          <a:p>
            <a:r>
              <a:rPr lang="en-US" altLang="en-US" sz="1800" dirty="0">
                <a:latin typeface="Corbel" panose="020B0503020204020204" pitchFamily="34" charset="0"/>
              </a:rPr>
              <a:t>The text between the &lt;audio&gt; and &lt;/audio&gt; tags will only be displayed in browsers that do not support the &lt;audio&gt; element</a:t>
            </a:r>
          </a:p>
          <a:p>
            <a:pPr>
              <a:buClrTx/>
              <a:buFontTx/>
              <a:buNone/>
            </a:pPr>
            <a:endParaRPr lang="en-US" altLang="en-US" sz="1600" dirty="0">
              <a:latin typeface="Corbel" panose="020B0503020204020204" pitchFamily="34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1952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9637</TotalTime>
  <Words>1829</Words>
  <Application>Microsoft Office PowerPoint</Application>
  <PresentationFormat>Widescreen</PresentationFormat>
  <Paragraphs>214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Corbel</vt:lpstr>
      <vt:lpstr>Noto Sans CJK SC</vt:lpstr>
      <vt:lpstr>Verdana</vt:lpstr>
      <vt:lpstr>Wingdings</vt:lpstr>
      <vt:lpstr>Office Theme</vt:lpstr>
      <vt:lpstr>HTML FORM</vt:lpstr>
      <vt:lpstr>PowerPoint Presentation</vt:lpstr>
      <vt:lpstr>The &lt;input&gt; Element</vt:lpstr>
      <vt:lpstr>&lt;input&gt; Element Attributes</vt:lpstr>
      <vt:lpstr>OTHER HTML5 INPUT TYPES</vt:lpstr>
      <vt:lpstr>The &lt;datalist&gt; Element</vt:lpstr>
      <vt:lpstr>The &lt;label&gt; Element</vt:lpstr>
      <vt:lpstr>Some HTML Form Attributes</vt:lpstr>
      <vt:lpstr>Input Restrictions</vt:lpstr>
      <vt:lpstr>THE RADIO BUTTON</vt:lpstr>
      <vt:lpstr>SELECTING USING THE RADIO INPUT</vt:lpstr>
      <vt:lpstr>INPUT TYPE CHECKBOX</vt:lpstr>
      <vt:lpstr>Input type file</vt:lpstr>
      <vt:lpstr>TEXETAREA</vt:lpstr>
      <vt:lpstr>HTML Input tag “Button” type</vt:lpstr>
      <vt:lpstr>Some common input restrictions:</vt:lpstr>
      <vt:lpstr>SELECT DROPDOWN</vt:lpstr>
      <vt:lpstr>PowerPoint Presentation</vt:lpstr>
      <vt:lpstr>HTML FORM WITH fieldset and legend. </vt:lpstr>
      <vt:lpstr>PowerPoint Presentation</vt:lpstr>
      <vt:lpstr>SUBMITTING FORM DATA</vt:lpstr>
      <vt:lpstr>ASSIGNMENT</vt:lpstr>
      <vt:lpstr>MULTIMEDIA</vt:lpstr>
      <vt:lpstr>HMTL MULTIMEDIA</vt:lpstr>
      <vt:lpstr>Audio on web</vt:lpstr>
      <vt:lpstr>MULTIMEDIA FILE FORMATS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38</cp:revision>
  <dcterms:created xsi:type="dcterms:W3CDTF">2024-01-17T09:09:54Z</dcterms:created>
  <dcterms:modified xsi:type="dcterms:W3CDTF">2025-09-22T08:41:40Z</dcterms:modified>
</cp:coreProperties>
</file>