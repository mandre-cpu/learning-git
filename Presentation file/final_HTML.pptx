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8" d="100"/>
          <a:sy n="68" d="100"/>
        </p:scale>
        <p:origin x="61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BB44F-6D80-E474-B80B-EB58ED87E7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6028DE-A9D0-4419-9EF1-FBFF4362E0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6BB9565-CEBF-4290-5A59-2303182AE8F3}"/>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D8E9EBB0-B263-D532-E290-7AF9517DA0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FD69D1-A0DE-4B8F-4BD1-36D082A53C3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74924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93AB-2137-ECB5-1884-7ECF1E4B3B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12F47E-6743-02F3-C728-3E5C03BEB0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F4DAD3-0C06-9DCA-4C18-A46CCEAC753A}"/>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3AB91EBA-0B2F-A0F4-2253-7B95128AD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EAE253-E60A-F8BA-43A1-970548782CDB}"/>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683345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CF211-79EC-A966-9DEB-EEFA628C76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902EC2C-B2F7-04F8-91EC-AB52849DFB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73D744-3DD6-F832-A4FD-FA4C9EF166D8}"/>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30EDF1D1-DF96-FE7A-ACF8-F23600750B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DBFFEF-3DF2-AD12-124F-979AA26249E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6304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463A1-1B0A-A2C3-97E1-F239316CD77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A65C097-63CF-0519-1AA6-BC90B3CC1D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37921-4AC2-C9C1-9358-B9862E1F868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61C00B-09BB-B412-7693-D08E22E45C7C}"/>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6" name="Footer Placeholder 5">
            <a:extLst>
              <a:ext uri="{FF2B5EF4-FFF2-40B4-BE49-F238E27FC236}">
                <a16:creationId xmlns:a16="http://schemas.microsoft.com/office/drawing/2014/main" id="{900D25EB-A3E9-1B38-C873-15FC9DA81D6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909310-EA11-352F-39AE-26FCEED034D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92263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E945A-C7A5-1043-3B87-BF048B1DE5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F52DE52-76FC-6EE4-4BCB-F7ACC32D90F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A0759D4-D5C8-BDE9-6F53-23AE70D1107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8A7AFA0-2DEB-095F-C07A-8B5B4116DF0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EBA38-9CD8-873D-42D5-D63511990E9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00A2F4D-73DE-5C02-965B-1A9EB4E6EE31}"/>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8" name="Footer Placeholder 7">
            <a:extLst>
              <a:ext uri="{FF2B5EF4-FFF2-40B4-BE49-F238E27FC236}">
                <a16:creationId xmlns:a16="http://schemas.microsoft.com/office/drawing/2014/main" id="{34AC0A7B-51D6-860B-FBE4-F5AD18D5856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3D94BB-94BA-BD77-E656-BD8AD49E0689}"/>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898705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8DC9F-13FD-617A-D851-650FBC31DDD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10CDF0-1CB3-3367-94CA-A7B54E0F11A9}"/>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4" name="Footer Placeholder 3">
            <a:extLst>
              <a:ext uri="{FF2B5EF4-FFF2-40B4-BE49-F238E27FC236}">
                <a16:creationId xmlns:a16="http://schemas.microsoft.com/office/drawing/2014/main" id="{D83B6E34-927F-1D21-83CE-7519F59102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6BF10B2-80FF-43DA-F546-306F5AE138CF}"/>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97663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29485E2-2430-B585-7203-DAEAC4A066B9}"/>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3" name="Footer Placeholder 2">
            <a:extLst>
              <a:ext uri="{FF2B5EF4-FFF2-40B4-BE49-F238E27FC236}">
                <a16:creationId xmlns:a16="http://schemas.microsoft.com/office/drawing/2014/main" id="{136169D3-7E9D-764E-57D6-FF6B980F2D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2F83435-4A0D-A0DB-D5AA-67339088032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4126243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DB7BB-F664-1DAF-37D8-3374820882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BFAD7B7-8C19-038A-BAB6-4C8777C98C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24AAF4-9966-B61A-C087-DB96220F20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94DB6C6-EB43-CBDF-1469-0B0FD4CD01B1}"/>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6" name="Footer Placeholder 5">
            <a:extLst>
              <a:ext uri="{FF2B5EF4-FFF2-40B4-BE49-F238E27FC236}">
                <a16:creationId xmlns:a16="http://schemas.microsoft.com/office/drawing/2014/main" id="{C965C3A4-07B1-9CEF-D519-CDB1112B58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A42988E-2568-CF08-CFF1-E7CEB77B9BA1}"/>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3767645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6913-3F40-D6E0-57D3-D5D65FC52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F3AD43B-FFBC-F6BD-C162-32952B2632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6A8BDA0-1FD4-B8C4-1130-5180683E26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34D698-2CAE-C25E-2355-A8F954667681}"/>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6" name="Footer Placeholder 5">
            <a:extLst>
              <a:ext uri="{FF2B5EF4-FFF2-40B4-BE49-F238E27FC236}">
                <a16:creationId xmlns:a16="http://schemas.microsoft.com/office/drawing/2014/main" id="{18D976B6-C412-434B-6204-62E9F7F7435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B7EDBC-19DD-04FE-1AAB-ADFC971A4787}"/>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22513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5B336-CC3C-05AA-0F27-3D749949FF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6A0CC8-82C3-4D3E-B61B-D5EF90E292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CFE89B-EEB6-15FD-9DA9-04DAE7C1AE6F}"/>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A2C77B26-D246-BC73-B0E0-CA58D0A687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35B480-2F03-20FF-5354-D7C1F2B7E300}"/>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2843126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BDA255-F904-AC56-116B-68F5B30B988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38E6515-CB08-99F4-EF71-F115F5C673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B56DD5-417B-699F-1D83-7CDC602D4609}"/>
              </a:ext>
            </a:extLst>
          </p:cNvPr>
          <p:cNvSpPr>
            <a:spLocks noGrp="1"/>
          </p:cNvSpPr>
          <p:nvPr>
            <p:ph type="dt" sz="half" idx="10"/>
          </p:nvPr>
        </p:nvSpPr>
        <p:spPr/>
        <p:txBody>
          <a:body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DD216A18-7D8C-681E-3BDF-E8381DA8D4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8FD18A-F822-789C-29D7-0A42C6217515}"/>
              </a:ext>
            </a:extLst>
          </p:cNvPr>
          <p:cNvSpPr>
            <a:spLocks noGrp="1"/>
          </p:cNvSpPr>
          <p:nvPr>
            <p:ph type="sldNum" sz="quarter" idx="12"/>
          </p:nvPr>
        </p:nvSpPr>
        <p:spPr/>
        <p:txBody>
          <a:bodyPr/>
          <a:lstStyle/>
          <a:p>
            <a:fld id="{DA0443E1-30A8-4532-992B-132183190527}" type="slidenum">
              <a:rPr lang="en-US" smtClean="0"/>
              <a:t>‹#›</a:t>
            </a:fld>
            <a:endParaRPr lang="en-US"/>
          </a:p>
        </p:txBody>
      </p:sp>
    </p:spTree>
    <p:extLst>
      <p:ext uri="{BB962C8B-B14F-4D97-AF65-F5344CB8AC3E}">
        <p14:creationId xmlns:p14="http://schemas.microsoft.com/office/powerpoint/2010/main" val="15087449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3EA0BE7-71AD-FF6C-37F7-D240A7C32D0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0B96787-B0D8-A513-862F-BA24A5E7929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D00A5F-525E-FD0F-610D-D444A060B3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02FA5E-585C-4C83-8AFA-F6ABB6703307}" type="datetimeFigureOut">
              <a:rPr lang="en-US" smtClean="0"/>
              <a:t>10/4/2025</a:t>
            </a:fld>
            <a:endParaRPr lang="en-US"/>
          </a:p>
        </p:txBody>
      </p:sp>
      <p:sp>
        <p:nvSpPr>
          <p:cNvPr id="5" name="Footer Placeholder 4">
            <a:extLst>
              <a:ext uri="{FF2B5EF4-FFF2-40B4-BE49-F238E27FC236}">
                <a16:creationId xmlns:a16="http://schemas.microsoft.com/office/drawing/2014/main" id="{B319AF49-3EB9-D4A2-BF02-770FBA2A806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0970D14-2171-25F5-EB5F-36E7E005FD9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A0443E1-30A8-4532-992B-132183190527}" type="slidenum">
              <a:rPr lang="en-US" smtClean="0"/>
              <a:t>‹#›</a:t>
            </a:fld>
            <a:endParaRPr lang="en-US"/>
          </a:p>
        </p:txBody>
      </p:sp>
    </p:spTree>
    <p:extLst>
      <p:ext uri="{BB962C8B-B14F-4D97-AF65-F5344CB8AC3E}">
        <p14:creationId xmlns:p14="http://schemas.microsoft.com/office/powerpoint/2010/main" val="4078440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pixabay.com/sound-effects/search/short/"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favicon.io/"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F8A5C7-B6B3-4EF6-741C-D84E76705D80}"/>
              </a:ext>
            </a:extLst>
          </p:cNvPr>
          <p:cNvSpPr>
            <a:spLocks noGrp="1"/>
          </p:cNvSpPr>
          <p:nvPr>
            <p:ph type="ctrTitle"/>
          </p:nvPr>
        </p:nvSpPr>
        <p:spPr/>
        <p:txBody>
          <a:bodyPr/>
          <a:lstStyle/>
          <a:p>
            <a:r>
              <a:rPr lang="en-US" dirty="0"/>
              <a:t>MULTIMEDIA</a:t>
            </a:r>
          </a:p>
        </p:txBody>
      </p:sp>
    </p:spTree>
    <p:extLst>
      <p:ext uri="{BB962C8B-B14F-4D97-AF65-F5344CB8AC3E}">
        <p14:creationId xmlns:p14="http://schemas.microsoft.com/office/powerpoint/2010/main" val="3315036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388DD-548A-5BF5-F51A-E57E953F6986}"/>
              </a:ext>
            </a:extLst>
          </p:cNvPr>
          <p:cNvSpPr>
            <a:spLocks noGrp="1"/>
          </p:cNvSpPr>
          <p:nvPr>
            <p:ph type="title"/>
          </p:nvPr>
        </p:nvSpPr>
        <p:spPr/>
        <p:txBody>
          <a:bodyPr/>
          <a:lstStyle/>
          <a:p>
            <a:r>
              <a:rPr lang="en-US" dirty="0"/>
              <a:t>HMTL MULTIMEDIA</a:t>
            </a:r>
          </a:p>
        </p:txBody>
      </p:sp>
      <p:sp>
        <p:nvSpPr>
          <p:cNvPr id="3" name="Content Placeholder 2">
            <a:extLst>
              <a:ext uri="{FF2B5EF4-FFF2-40B4-BE49-F238E27FC236}">
                <a16:creationId xmlns:a16="http://schemas.microsoft.com/office/drawing/2014/main" id="{5A2FABF5-9640-31F6-2EDF-D5CCD8A49F0C}"/>
              </a:ext>
            </a:extLst>
          </p:cNvPr>
          <p:cNvSpPr>
            <a:spLocks noGrp="1"/>
          </p:cNvSpPr>
          <p:nvPr>
            <p:ph idx="1"/>
          </p:nvPr>
        </p:nvSpPr>
        <p:spPr/>
        <p:txBody>
          <a:bodyPr>
            <a:normAutofit/>
          </a:bodyPr>
          <a:lstStyle/>
          <a:p>
            <a:r>
              <a:rPr lang="en-US" sz="5000" dirty="0"/>
              <a:t>Audio tag</a:t>
            </a:r>
          </a:p>
          <a:p>
            <a:r>
              <a:rPr lang="en-US" sz="5000" dirty="0"/>
              <a:t>Video </a:t>
            </a:r>
            <a:r>
              <a:rPr lang="en-US" sz="5000" dirty="0" smtClean="0"/>
              <a:t>tag</a:t>
            </a:r>
            <a:endParaRPr lang="en-US" sz="4600" dirty="0"/>
          </a:p>
          <a:p>
            <a:r>
              <a:rPr lang="en-US" sz="4600" dirty="0"/>
              <a:t> </a:t>
            </a:r>
            <a:r>
              <a:rPr lang="en-US" sz="4600" dirty="0" smtClean="0"/>
              <a:t>Embed</a:t>
            </a:r>
          </a:p>
          <a:p>
            <a:r>
              <a:rPr lang="en-US" sz="4600" dirty="0"/>
              <a:t> </a:t>
            </a:r>
            <a:r>
              <a:rPr lang="en-US" sz="4600" dirty="0" smtClean="0"/>
              <a:t>iframe</a:t>
            </a:r>
            <a:r>
              <a:rPr lang="en-US" sz="5000" dirty="0"/>
              <a:t> </a:t>
            </a:r>
            <a:r>
              <a:rPr lang="en-US" sz="5000" dirty="0" smtClean="0"/>
              <a:t>/ </a:t>
            </a:r>
            <a:r>
              <a:rPr lang="en-US" sz="5000" smtClean="0"/>
              <a:t>Youtube</a:t>
            </a:r>
            <a:endParaRPr lang="en-US" sz="4600" smtClean="0"/>
          </a:p>
        </p:txBody>
      </p:sp>
    </p:spTree>
    <p:extLst>
      <p:ext uri="{BB962C8B-B14F-4D97-AF65-F5344CB8AC3E}">
        <p14:creationId xmlns:p14="http://schemas.microsoft.com/office/powerpoint/2010/main" val="3752559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7F870-3B19-E10A-6FFE-0B5C8B751E3F}"/>
              </a:ext>
            </a:extLst>
          </p:cNvPr>
          <p:cNvSpPr>
            <a:spLocks noGrp="1"/>
          </p:cNvSpPr>
          <p:nvPr>
            <p:ph type="title"/>
          </p:nvPr>
        </p:nvSpPr>
        <p:spPr/>
        <p:txBody>
          <a:bodyPr/>
          <a:lstStyle/>
          <a:p>
            <a:r>
              <a:rPr lang="en-US" dirty="0"/>
              <a:t>Audio on web</a:t>
            </a:r>
          </a:p>
        </p:txBody>
      </p:sp>
      <p:pic>
        <p:nvPicPr>
          <p:cNvPr id="4" name="Content Placeholder 3">
            <a:extLst>
              <a:ext uri="{FF2B5EF4-FFF2-40B4-BE49-F238E27FC236}">
                <a16:creationId xmlns:a16="http://schemas.microsoft.com/office/drawing/2014/main" id="{F042B251-C178-14FE-2D26-40D16D0F65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913860"/>
            <a:ext cx="11000466" cy="2771591"/>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Box 5">
            <a:extLst>
              <a:ext uri="{FF2B5EF4-FFF2-40B4-BE49-F238E27FC236}">
                <a16:creationId xmlns:a16="http://schemas.microsoft.com/office/drawing/2014/main" id="{77E43C3F-940A-7488-2A2E-D3566D496879}"/>
              </a:ext>
            </a:extLst>
          </p:cNvPr>
          <p:cNvSpPr txBox="1"/>
          <p:nvPr/>
        </p:nvSpPr>
        <p:spPr>
          <a:xfrm>
            <a:off x="912628" y="4685451"/>
            <a:ext cx="10783186" cy="1369606"/>
          </a:xfrm>
          <a:prstGeom prst="rect">
            <a:avLst/>
          </a:prstGeom>
          <a:noFill/>
        </p:spPr>
        <p:txBody>
          <a:bodyPr wrap="square">
            <a:spAutoFit/>
          </a:bodyPr>
          <a:lstStyle/>
          <a:p>
            <a:pPr>
              <a:spcAft>
                <a:spcPts val="613"/>
              </a:spcAft>
              <a:buClrTx/>
              <a:buFontTx/>
              <a:buNone/>
            </a:pPr>
            <a:r>
              <a:rPr lang="en-US" altLang="en-US" sz="2600" dirty="0">
                <a:latin typeface="Corbel" panose="020B0503020204020204" pitchFamily="34" charset="0"/>
                <a:cs typeface="Noto Sans CJK SC" charset="0"/>
              </a:rPr>
              <a:t>The HTML5 &lt;audio&gt; element specifies a standard way to embed audio in a web page. Similar to the </a:t>
            </a:r>
            <a:r>
              <a:rPr lang="en-US" altLang="en-US" sz="2600" dirty="0" err="1">
                <a:latin typeface="Corbel" panose="020B0503020204020204" pitchFamily="34" charset="0"/>
                <a:cs typeface="Noto Sans CJK SC" charset="0"/>
              </a:rPr>
              <a:t>img</a:t>
            </a:r>
            <a:r>
              <a:rPr lang="en-US" altLang="en-US" sz="2600" dirty="0">
                <a:latin typeface="Corbel" panose="020B0503020204020204" pitchFamily="34" charset="0"/>
                <a:cs typeface="Noto Sans CJK SC" charset="0"/>
              </a:rPr>
              <a:t> tag, its syntax is :</a:t>
            </a:r>
          </a:p>
          <a:p>
            <a:pPr>
              <a:spcAft>
                <a:spcPts val="613"/>
              </a:spcAft>
              <a:buClrTx/>
              <a:buFontTx/>
              <a:buNone/>
            </a:pPr>
            <a:r>
              <a:rPr lang="en-US" altLang="en-US" sz="2600" dirty="0">
                <a:solidFill>
                  <a:srgbClr val="C00000"/>
                </a:solidFill>
                <a:latin typeface="Consolas" panose="020B0609020204030204" pitchFamily="49" charset="0"/>
                <a:cs typeface="Noto Sans CJK SC" charset="0"/>
              </a:rPr>
              <a:t>&lt;audio controls </a:t>
            </a:r>
            <a:r>
              <a:rPr lang="en-US" altLang="en-US" sz="2600" dirty="0" err="1">
                <a:solidFill>
                  <a:srgbClr val="C00000"/>
                </a:solidFill>
                <a:latin typeface="Consolas" panose="020B0609020204030204" pitchFamily="49" charset="0"/>
                <a:cs typeface="Noto Sans CJK SC" charset="0"/>
              </a:rPr>
              <a:t>src</a:t>
            </a:r>
            <a:r>
              <a:rPr lang="en-US" altLang="en-US" sz="2600" dirty="0">
                <a:solidFill>
                  <a:srgbClr val="C00000"/>
                </a:solidFill>
                <a:latin typeface="Consolas" panose="020B0609020204030204" pitchFamily="49" charset="0"/>
                <a:cs typeface="Noto Sans CJK SC" charset="0"/>
              </a:rPr>
              <a:t>="media/birds.mp3"&gt;&lt;/audio&gt;</a:t>
            </a:r>
          </a:p>
        </p:txBody>
      </p:sp>
    </p:spTree>
    <p:extLst>
      <p:ext uri="{BB962C8B-B14F-4D97-AF65-F5344CB8AC3E}">
        <p14:creationId xmlns:p14="http://schemas.microsoft.com/office/powerpoint/2010/main" val="1051881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BDF88-549B-72CC-C08D-E919EE4C4A27}"/>
              </a:ext>
            </a:extLst>
          </p:cNvPr>
          <p:cNvSpPr>
            <a:spLocks noGrp="1"/>
          </p:cNvSpPr>
          <p:nvPr>
            <p:ph type="title"/>
          </p:nvPr>
        </p:nvSpPr>
        <p:spPr>
          <a:xfrm>
            <a:off x="838200" y="365125"/>
            <a:ext cx="10515600" cy="581173"/>
          </a:xfrm>
        </p:spPr>
        <p:txBody>
          <a:bodyPr>
            <a:normAutofit fontScale="90000"/>
          </a:bodyPr>
          <a:lstStyle/>
          <a:p>
            <a:r>
              <a:rPr lang="en-US" dirty="0"/>
              <a:t>MULTIMEDIA FILE FORMATS</a:t>
            </a:r>
          </a:p>
        </p:txBody>
      </p:sp>
      <p:pic>
        <p:nvPicPr>
          <p:cNvPr id="4" name="Content Placeholder 3">
            <a:extLst>
              <a:ext uri="{FF2B5EF4-FFF2-40B4-BE49-F238E27FC236}">
                <a16:creationId xmlns:a16="http://schemas.microsoft.com/office/drawing/2014/main" id="{589AFCA4-FE2A-8796-1150-E548B68DA4B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199" y="1107377"/>
            <a:ext cx="10294089" cy="536072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170955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D92B5F-FC80-5E55-2159-4119C5132D43}"/>
              </a:ext>
            </a:extLst>
          </p:cNvPr>
          <p:cNvSpPr>
            <a:spLocks noGrp="1"/>
          </p:cNvSpPr>
          <p:nvPr>
            <p:ph idx="1"/>
          </p:nvPr>
        </p:nvSpPr>
        <p:spPr>
          <a:xfrm>
            <a:off x="551121" y="177579"/>
            <a:ext cx="10515600" cy="1959566"/>
          </a:xfrm>
        </p:spPr>
        <p:txBody>
          <a:bodyPr>
            <a:noAutofit/>
          </a:bodyPr>
          <a:lstStyle/>
          <a:p>
            <a:pPr>
              <a:lnSpc>
                <a:spcPct val="150000"/>
              </a:lnSpc>
              <a:buClrTx/>
              <a:buFontTx/>
              <a:buNone/>
            </a:pPr>
            <a:r>
              <a:rPr lang="en-US" altLang="en-US" sz="1800" dirty="0">
                <a:solidFill>
                  <a:srgbClr val="800000"/>
                </a:solidFill>
                <a:latin typeface="Consolas" panose="020B0609020204030204" pitchFamily="49" charset="0"/>
              </a:rPr>
              <a:t>&lt;audio</a:t>
            </a:r>
            <a:r>
              <a:rPr lang="en-US" altLang="en-US" sz="1800" dirty="0">
                <a:latin typeface="Consolas" panose="020B0609020204030204" pitchFamily="49" charset="0"/>
              </a:rPr>
              <a:t> </a:t>
            </a:r>
            <a:r>
              <a:rPr lang="en-US" altLang="en-US" sz="1800" dirty="0">
                <a:solidFill>
                  <a:srgbClr val="E50000"/>
                </a:solidFill>
                <a:latin typeface="Consolas" panose="020B0609020204030204" pitchFamily="49" charset="0"/>
              </a:rPr>
              <a:t>controls</a:t>
            </a:r>
            <a:r>
              <a:rPr lang="en-US" altLang="en-US" sz="1800" dirty="0">
                <a:solidFill>
                  <a:srgbClr val="800000"/>
                </a:solidFill>
                <a:latin typeface="Consolas" panose="020B0609020204030204" pitchFamily="49" charset="0"/>
              </a:rPr>
              <a:t>&gt;</a:t>
            </a:r>
          </a:p>
          <a:p>
            <a:pPr>
              <a:lnSpc>
                <a:spcPct val="150000"/>
              </a:lnSpc>
              <a:buClrTx/>
              <a:buFontTx/>
              <a:buNone/>
            </a:pPr>
            <a:r>
              <a:rPr lang="en-US" altLang="en-US" sz="1800" dirty="0">
                <a:latin typeface="Consolas" panose="020B0609020204030204" pitchFamily="49" charset="0"/>
              </a:rPr>
              <a:t>   </a:t>
            </a:r>
            <a:r>
              <a:rPr lang="en-US" altLang="en-US" sz="1800" dirty="0">
                <a:solidFill>
                  <a:srgbClr val="800000"/>
                </a:solidFill>
                <a:latin typeface="Consolas" panose="020B0609020204030204" pitchFamily="49" charset="0"/>
              </a:rPr>
              <a:t>&lt;source</a:t>
            </a:r>
            <a:r>
              <a:rPr lang="en-US" altLang="en-US" sz="1800" dirty="0">
                <a:latin typeface="Consolas" panose="020B0609020204030204" pitchFamily="49" charset="0"/>
              </a:rPr>
              <a:t> </a:t>
            </a:r>
            <a:r>
              <a:rPr lang="en-US" altLang="en-US" sz="1800" dirty="0" err="1">
                <a:solidFill>
                  <a:srgbClr val="E50000"/>
                </a:solidFill>
                <a:latin typeface="Consolas" panose="020B0609020204030204" pitchFamily="49" charset="0"/>
              </a:rPr>
              <a:t>src</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"myAudio.ogg"</a:t>
            </a:r>
            <a:r>
              <a:rPr lang="en-US" altLang="en-US" sz="1800" dirty="0">
                <a:latin typeface="Consolas" panose="020B0609020204030204" pitchFamily="49" charset="0"/>
              </a:rPr>
              <a:t> </a:t>
            </a:r>
            <a:r>
              <a:rPr lang="en-US" altLang="en-US" sz="1800" dirty="0">
                <a:solidFill>
                  <a:srgbClr val="E50000"/>
                </a:solidFill>
                <a:latin typeface="Consolas" panose="020B0609020204030204" pitchFamily="49" charset="0"/>
              </a:rPr>
              <a:t>type</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"audio/</a:t>
            </a:r>
            <a:r>
              <a:rPr lang="en-US" altLang="en-US" sz="1800" dirty="0" err="1">
                <a:solidFill>
                  <a:srgbClr val="0000FF"/>
                </a:solidFill>
                <a:latin typeface="Consolas" panose="020B0609020204030204" pitchFamily="49" charset="0"/>
              </a:rPr>
              <a:t>ogg</a:t>
            </a:r>
            <a:r>
              <a:rPr lang="en-US" altLang="en-US" sz="1800" dirty="0">
                <a:solidFill>
                  <a:srgbClr val="0000FF"/>
                </a:solidFill>
                <a:latin typeface="Consolas" panose="020B0609020204030204" pitchFamily="49" charset="0"/>
              </a:rPr>
              <a:t>"</a:t>
            </a:r>
            <a:r>
              <a:rPr lang="en-US" altLang="en-US" sz="1800" dirty="0">
                <a:latin typeface="Consolas" panose="020B0609020204030204" pitchFamily="49" charset="0"/>
              </a:rPr>
              <a:t> </a:t>
            </a:r>
            <a:r>
              <a:rPr lang="en-US" altLang="en-US" sz="1800" dirty="0">
                <a:solidFill>
                  <a:srgbClr val="800000"/>
                </a:solidFill>
                <a:latin typeface="Consolas" panose="020B0609020204030204" pitchFamily="49" charset="0"/>
              </a:rPr>
              <a:t>/&gt;</a:t>
            </a:r>
          </a:p>
          <a:p>
            <a:pPr>
              <a:lnSpc>
                <a:spcPct val="150000"/>
              </a:lnSpc>
              <a:buClrTx/>
              <a:buFontTx/>
              <a:buNone/>
            </a:pPr>
            <a:r>
              <a:rPr lang="en-US" altLang="en-US" sz="1800" dirty="0">
                <a:solidFill>
                  <a:srgbClr val="800000"/>
                </a:solidFill>
                <a:latin typeface="Consolas" panose="020B0609020204030204" pitchFamily="49" charset="0"/>
              </a:rPr>
              <a:t>   &lt;source</a:t>
            </a:r>
            <a:r>
              <a:rPr lang="en-US" altLang="en-US" sz="1800" dirty="0">
                <a:latin typeface="Consolas" panose="020B0609020204030204" pitchFamily="49" charset="0"/>
              </a:rPr>
              <a:t> </a:t>
            </a:r>
            <a:r>
              <a:rPr lang="en-US" altLang="en-US" sz="1800" dirty="0" err="1">
                <a:solidFill>
                  <a:srgbClr val="E50000"/>
                </a:solidFill>
                <a:latin typeface="Consolas" panose="020B0609020204030204" pitchFamily="49" charset="0"/>
              </a:rPr>
              <a:t>src</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"myAudio.mp3"</a:t>
            </a:r>
            <a:r>
              <a:rPr lang="en-US" altLang="en-US" sz="1800" dirty="0">
                <a:latin typeface="Consolas" panose="020B0609020204030204" pitchFamily="49" charset="0"/>
              </a:rPr>
              <a:t> </a:t>
            </a:r>
            <a:r>
              <a:rPr lang="en-US" altLang="en-US" sz="1800" dirty="0">
                <a:solidFill>
                  <a:srgbClr val="E50000"/>
                </a:solidFill>
                <a:latin typeface="Consolas" panose="020B0609020204030204" pitchFamily="49" charset="0"/>
              </a:rPr>
              <a:t>type</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"audio/mp3"</a:t>
            </a:r>
            <a:r>
              <a:rPr lang="en-US" altLang="en-US" sz="1800" dirty="0">
                <a:latin typeface="Consolas" panose="020B0609020204030204" pitchFamily="49" charset="0"/>
              </a:rPr>
              <a:t> </a:t>
            </a:r>
            <a:r>
              <a:rPr lang="en-US" altLang="en-US" sz="1800" dirty="0" smtClean="0">
                <a:solidFill>
                  <a:srgbClr val="800000"/>
                </a:solidFill>
                <a:latin typeface="Consolas" panose="020B0609020204030204" pitchFamily="49" charset="0"/>
              </a:rPr>
              <a:t>/&gt;</a:t>
            </a:r>
          </a:p>
          <a:p>
            <a:pPr>
              <a:lnSpc>
                <a:spcPct val="150000"/>
              </a:lnSpc>
              <a:buClrTx/>
              <a:buFontTx/>
              <a:buNone/>
            </a:pPr>
            <a:r>
              <a:rPr lang="en-US" altLang="en-US" sz="1800" dirty="0">
                <a:solidFill>
                  <a:srgbClr val="800000"/>
                </a:solidFill>
                <a:latin typeface="Consolas" panose="020B0609020204030204" pitchFamily="49" charset="0"/>
              </a:rPr>
              <a:t>	 &lt;source</a:t>
            </a:r>
            <a:r>
              <a:rPr lang="en-US" altLang="en-US" sz="1800" dirty="0">
                <a:latin typeface="Consolas" panose="020B0609020204030204" pitchFamily="49" charset="0"/>
              </a:rPr>
              <a:t> </a:t>
            </a:r>
            <a:r>
              <a:rPr lang="en-US" altLang="en-US" sz="1800" dirty="0" err="1">
                <a:solidFill>
                  <a:srgbClr val="E50000"/>
                </a:solidFill>
                <a:latin typeface="Consolas" panose="020B0609020204030204" pitchFamily="49" charset="0"/>
              </a:rPr>
              <a:t>src</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a:t>
            </a:r>
            <a:r>
              <a:rPr lang="en-US" altLang="en-US" sz="1800" dirty="0" smtClean="0">
                <a:solidFill>
                  <a:srgbClr val="0000FF"/>
                </a:solidFill>
                <a:latin typeface="Consolas" panose="020B0609020204030204" pitchFamily="49" charset="0"/>
              </a:rPr>
              <a:t>myAudio.wav"</a:t>
            </a:r>
            <a:r>
              <a:rPr lang="en-US" altLang="en-US" sz="1800" dirty="0" smtClean="0">
                <a:latin typeface="Consolas" panose="020B0609020204030204" pitchFamily="49" charset="0"/>
              </a:rPr>
              <a:t> </a:t>
            </a:r>
            <a:r>
              <a:rPr lang="en-US" altLang="en-US" sz="1800" dirty="0">
                <a:solidFill>
                  <a:srgbClr val="E50000"/>
                </a:solidFill>
                <a:latin typeface="Consolas" panose="020B0609020204030204" pitchFamily="49" charset="0"/>
              </a:rPr>
              <a:t>type</a:t>
            </a:r>
            <a:r>
              <a:rPr lang="en-US" altLang="en-US" sz="1800" dirty="0">
                <a:latin typeface="Consolas" panose="020B0609020204030204" pitchFamily="49" charset="0"/>
              </a:rPr>
              <a:t>=</a:t>
            </a:r>
            <a:r>
              <a:rPr lang="en-US" altLang="en-US" sz="1800" dirty="0">
                <a:solidFill>
                  <a:srgbClr val="0000FF"/>
                </a:solidFill>
                <a:latin typeface="Consolas" panose="020B0609020204030204" pitchFamily="49" charset="0"/>
              </a:rPr>
              <a:t>"</a:t>
            </a:r>
            <a:r>
              <a:rPr lang="en-US" altLang="en-US" sz="1800" dirty="0" smtClean="0">
                <a:solidFill>
                  <a:srgbClr val="0000FF"/>
                </a:solidFill>
                <a:latin typeface="Consolas" panose="020B0609020204030204" pitchFamily="49" charset="0"/>
              </a:rPr>
              <a:t>audio/wav"</a:t>
            </a:r>
            <a:r>
              <a:rPr lang="en-US" altLang="en-US" sz="1800" dirty="0" smtClean="0">
                <a:latin typeface="Consolas" panose="020B0609020204030204" pitchFamily="49" charset="0"/>
              </a:rPr>
              <a:t> </a:t>
            </a:r>
            <a:r>
              <a:rPr lang="en-US" altLang="en-US" sz="1800" dirty="0">
                <a:solidFill>
                  <a:srgbClr val="800000"/>
                </a:solidFill>
                <a:latin typeface="Consolas" panose="020B0609020204030204" pitchFamily="49" charset="0"/>
              </a:rPr>
              <a:t>/&gt;</a:t>
            </a:r>
          </a:p>
          <a:p>
            <a:pPr>
              <a:lnSpc>
                <a:spcPct val="150000"/>
              </a:lnSpc>
              <a:buClrTx/>
              <a:buFontTx/>
              <a:buNone/>
            </a:pPr>
            <a:r>
              <a:rPr lang="en-US" altLang="en-US" sz="1800" dirty="0">
                <a:solidFill>
                  <a:srgbClr val="800000"/>
                </a:solidFill>
                <a:latin typeface="Consolas" panose="020B0609020204030204" pitchFamily="49" charset="0"/>
              </a:rPr>
              <a:t>   Your browser does not support the audio tag</a:t>
            </a:r>
            <a:r>
              <a:rPr lang="en-US" altLang="en-US" sz="1800" dirty="0">
                <a:latin typeface="Consolas" panose="020B0609020204030204" pitchFamily="49" charset="0"/>
              </a:rPr>
              <a:t> </a:t>
            </a:r>
          </a:p>
          <a:p>
            <a:pPr>
              <a:lnSpc>
                <a:spcPct val="150000"/>
              </a:lnSpc>
              <a:buClrTx/>
              <a:buFontTx/>
              <a:buNone/>
            </a:pPr>
            <a:r>
              <a:rPr lang="en-US" altLang="en-US" sz="1800" dirty="0">
                <a:solidFill>
                  <a:srgbClr val="800000"/>
                </a:solidFill>
                <a:latin typeface="Consolas" panose="020B0609020204030204" pitchFamily="49" charset="0"/>
              </a:rPr>
              <a:t>&lt;/audio&gt;</a:t>
            </a:r>
          </a:p>
          <a:p>
            <a:pPr marL="0" indent="0">
              <a:buNone/>
            </a:pPr>
            <a:endParaRPr lang="en-US" sz="2200" dirty="0" smtClean="0"/>
          </a:p>
          <a:p>
            <a:pPr marL="0" indent="0">
              <a:buNone/>
            </a:pPr>
            <a:r>
              <a:rPr lang="en-US" sz="2000" dirty="0" smtClean="0"/>
              <a:t>To download some free short sound</a:t>
            </a:r>
          </a:p>
          <a:p>
            <a:pPr marL="0" indent="0">
              <a:buNone/>
            </a:pPr>
            <a:r>
              <a:rPr lang="en-US" sz="2000" dirty="0">
                <a:hlinkClick r:id="rId2"/>
              </a:rPr>
              <a:t>https://pixabay.com/sound-effects/search/short</a:t>
            </a:r>
            <a:r>
              <a:rPr lang="en-US" sz="2000" dirty="0" smtClean="0">
                <a:hlinkClick r:id="rId2"/>
              </a:rPr>
              <a:t>/</a:t>
            </a:r>
            <a:endParaRPr lang="en-US" sz="2000" dirty="0" smtClean="0"/>
          </a:p>
          <a:p>
            <a:pPr marL="0" indent="0">
              <a:buNone/>
            </a:pPr>
            <a:endParaRPr lang="en-US" sz="2200" dirty="0"/>
          </a:p>
          <a:p>
            <a:r>
              <a:rPr lang="en-US" altLang="en-US" sz="2200" dirty="0">
                <a:latin typeface="Corbel" panose="020B0503020204020204" pitchFamily="34" charset="0"/>
              </a:rPr>
              <a:t>The browser will attempt to play the  </a:t>
            </a:r>
            <a:r>
              <a:rPr lang="en-US" altLang="en-US" sz="2200" dirty="0" err="1">
                <a:latin typeface="Corbel" panose="020B0503020204020204" pitchFamily="34" charset="0"/>
              </a:rPr>
              <a:t>ogg</a:t>
            </a:r>
            <a:r>
              <a:rPr lang="en-US" altLang="en-US" sz="2200" dirty="0">
                <a:latin typeface="Corbel" panose="020B0503020204020204" pitchFamily="34" charset="0"/>
              </a:rPr>
              <a:t> version and then play the mp3 version if it can not play the </a:t>
            </a:r>
            <a:r>
              <a:rPr lang="en-US" altLang="en-US" sz="2200" dirty="0" err="1">
                <a:latin typeface="Corbel" panose="020B0503020204020204" pitchFamily="34" charset="0"/>
              </a:rPr>
              <a:t>ogg</a:t>
            </a:r>
            <a:r>
              <a:rPr lang="en-US" altLang="en-US" sz="2200" dirty="0">
                <a:latin typeface="Corbel" panose="020B0503020204020204" pitchFamily="34" charset="0"/>
              </a:rPr>
              <a:t>  format</a:t>
            </a:r>
          </a:p>
          <a:p>
            <a:r>
              <a:rPr lang="en-US" altLang="en-US" sz="2200" dirty="0">
                <a:latin typeface="Corbel" panose="020B0503020204020204" pitchFamily="34" charset="0"/>
              </a:rPr>
              <a:t>But if the browser can not play any of the audio files, it will display the message on your browser </a:t>
            </a:r>
          </a:p>
          <a:p>
            <a:r>
              <a:rPr lang="en-US" altLang="en-US" sz="2200" dirty="0">
                <a:latin typeface="Corbel" panose="020B0503020204020204" pitchFamily="34" charset="0"/>
              </a:rPr>
              <a:t>The text between the &lt;audio&gt; and &lt;/audio&gt; tags will only be displayed in browsers that do not support the &lt;audio&gt; element</a:t>
            </a:r>
          </a:p>
          <a:p>
            <a:pPr>
              <a:buClrTx/>
              <a:buFontTx/>
              <a:buNone/>
            </a:pPr>
            <a:endParaRPr lang="en-US" altLang="en-US" sz="1600" dirty="0">
              <a:latin typeface="Corbel" panose="020B0503020204020204" pitchFamily="34" charset="0"/>
            </a:endParaRPr>
          </a:p>
          <a:p>
            <a:endParaRPr lang="en-US" sz="2200" dirty="0"/>
          </a:p>
        </p:txBody>
      </p:sp>
    </p:spTree>
    <p:extLst>
      <p:ext uri="{BB962C8B-B14F-4D97-AF65-F5344CB8AC3E}">
        <p14:creationId xmlns:p14="http://schemas.microsoft.com/office/powerpoint/2010/main" val="3865463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A663-B430-138B-27B0-985B4621551B}"/>
              </a:ext>
            </a:extLst>
          </p:cNvPr>
          <p:cNvSpPr>
            <a:spLocks noGrp="1"/>
          </p:cNvSpPr>
          <p:nvPr>
            <p:ph type="title"/>
          </p:nvPr>
        </p:nvSpPr>
        <p:spPr/>
        <p:txBody>
          <a:bodyPr/>
          <a:lstStyle/>
          <a:p>
            <a:r>
              <a:rPr lang="en-US" altLang="en-US" sz="4400" b="1" dirty="0">
                <a:solidFill>
                  <a:srgbClr val="404040"/>
                </a:solidFill>
                <a:latin typeface="Corbel" panose="020B0503020204020204" pitchFamily="34" charset="0"/>
                <a:cs typeface="Noto Sans CJK SC" charset="0"/>
              </a:rPr>
              <a:t>THE HTML &lt;VIDEO&gt; ELEMENT</a:t>
            </a:r>
            <a:br>
              <a:rPr lang="en-US" altLang="en-US" sz="4400" b="1" dirty="0">
                <a:solidFill>
                  <a:srgbClr val="404040"/>
                </a:solidFill>
                <a:latin typeface="Corbel" panose="020B0503020204020204" pitchFamily="34" charset="0"/>
                <a:cs typeface="Noto Sans CJK SC" charset="0"/>
              </a:rPr>
            </a:br>
            <a:endParaRPr lang="en-US" dirty="0"/>
          </a:p>
        </p:txBody>
      </p:sp>
      <p:sp>
        <p:nvSpPr>
          <p:cNvPr id="3" name="Content Placeholder 2">
            <a:extLst>
              <a:ext uri="{FF2B5EF4-FFF2-40B4-BE49-F238E27FC236}">
                <a16:creationId xmlns:a16="http://schemas.microsoft.com/office/drawing/2014/main" id="{5F8BF337-DA2C-F507-CEDB-F537051F6A24}"/>
              </a:ext>
            </a:extLst>
          </p:cNvPr>
          <p:cNvSpPr>
            <a:spLocks noGrp="1"/>
          </p:cNvSpPr>
          <p:nvPr>
            <p:ph idx="1"/>
          </p:nvPr>
        </p:nvSpPr>
        <p:spPr>
          <a:xfrm>
            <a:off x="838200" y="1360967"/>
            <a:ext cx="10515600" cy="4815996"/>
          </a:xfrm>
        </p:spPr>
        <p:txBody>
          <a:bodyPr/>
          <a:lstStyle/>
          <a:p>
            <a:pPr eaLnBrk="1" hangingPunct="1">
              <a:buClr>
                <a:srgbClr val="706702"/>
              </a:buClr>
              <a:buSzPct val="120000"/>
              <a:buFont typeface="Wingdings" panose="05000000000000000000" pitchFamily="2" charset="2"/>
              <a:buChar char=""/>
            </a:pPr>
            <a:r>
              <a:rPr lang="en-US" altLang="en-US" sz="2200" dirty="0">
                <a:latin typeface="Corbel" panose="020B0503020204020204" pitchFamily="34" charset="0"/>
              </a:rPr>
              <a:t> To show a video in HTML, use the</a:t>
            </a:r>
            <a:r>
              <a:rPr lang="en-US" altLang="en-US" sz="2200" b="1" dirty="0">
                <a:latin typeface="Corbel" panose="020B0503020204020204" pitchFamily="34" charset="0"/>
              </a:rPr>
              <a:t> &lt;video&gt;</a:t>
            </a:r>
            <a:r>
              <a:rPr lang="en-US" altLang="en-US" sz="2200" dirty="0">
                <a:latin typeface="Corbel" panose="020B0503020204020204" pitchFamily="34" charset="0"/>
              </a:rPr>
              <a:t> element:</a:t>
            </a:r>
          </a:p>
          <a:p>
            <a:pPr lvl="1" eaLnBrk="1" hangingPunct="1">
              <a:buClr>
                <a:srgbClr val="706702"/>
              </a:buClr>
              <a:buSzPct val="120000"/>
              <a:buFont typeface="Wingdings" panose="05000000000000000000" pitchFamily="2" charset="2"/>
              <a:buChar char=""/>
            </a:pPr>
            <a:r>
              <a:rPr lang="en-US" altLang="en-US" sz="2200" dirty="0">
                <a:latin typeface="Corbel" panose="020B0503020204020204" pitchFamily="34" charset="0"/>
              </a:rPr>
              <a:t>    Note that the video files must be existing at the location specified in the </a:t>
            </a:r>
            <a:r>
              <a:rPr lang="en-US" altLang="en-US" sz="2200" dirty="0" err="1">
                <a:latin typeface="Corbel" panose="020B0503020204020204" pitchFamily="34" charset="0"/>
              </a:rPr>
              <a:t>src</a:t>
            </a:r>
            <a:endParaRPr lang="en-US" altLang="en-US" sz="2200" dirty="0">
              <a:latin typeface="Corbel" panose="020B0503020204020204" pitchFamily="34" charset="0"/>
            </a:endParaRPr>
          </a:p>
          <a:p>
            <a:pPr eaLnBrk="1" hangingPunct="1">
              <a:buClr>
                <a:srgbClr val="706702"/>
              </a:buClr>
              <a:buSzPct val="120000"/>
              <a:buFont typeface="Wingdings" panose="05000000000000000000" pitchFamily="2" charset="2"/>
              <a:buChar char=""/>
            </a:pPr>
            <a:r>
              <a:rPr lang="en-US" altLang="en-US" sz="2200" dirty="0">
                <a:latin typeface="Corbel" panose="020B0503020204020204" pitchFamily="34" charset="0"/>
              </a:rPr>
              <a:t>      The nested source tag allows you state various file alternatives (different extensions)</a:t>
            </a:r>
          </a:p>
          <a:p>
            <a:pPr eaLnBrk="1" hangingPunct="1">
              <a:buClr>
                <a:srgbClr val="706702"/>
              </a:buClr>
              <a:buSzPct val="120000"/>
              <a:buFont typeface="Wingdings" panose="05000000000000000000" pitchFamily="2" charset="2"/>
              <a:buChar char=""/>
            </a:pPr>
            <a:r>
              <a:rPr lang="en-US" altLang="en-US" sz="2200" dirty="0">
                <a:latin typeface="Corbel" panose="020B0503020204020204" pitchFamily="34" charset="0"/>
              </a:rPr>
              <a:t>      The browser displays the text ‘Your browser does not support the video tag If it cant play any of the file (format) specified</a:t>
            </a:r>
          </a:p>
          <a:p>
            <a:pPr eaLnBrk="1" hangingPunct="1">
              <a:buClr>
                <a:srgbClr val="706702"/>
              </a:buClr>
              <a:buSzPct val="120000"/>
              <a:buFont typeface="Wingdings" panose="05000000000000000000" pitchFamily="2" charset="2"/>
              <a:buChar char=""/>
            </a:pPr>
            <a:endParaRPr lang="en-US" sz="1900" dirty="0">
              <a:latin typeface="Corbel" panose="020B0503020204020204" pitchFamily="34" charset="0"/>
            </a:endParaRPr>
          </a:p>
          <a:p>
            <a:pPr eaLnBrk="1" hangingPunct="1">
              <a:buClr>
                <a:srgbClr val="706702"/>
              </a:buClr>
              <a:buSzPct val="120000"/>
              <a:buFont typeface="Wingdings" panose="05000000000000000000" pitchFamily="2" charset="2"/>
              <a:buChar char=""/>
            </a:pPr>
            <a:endParaRPr lang="en-US" dirty="0"/>
          </a:p>
        </p:txBody>
      </p:sp>
      <p:pic>
        <p:nvPicPr>
          <p:cNvPr id="4" name="Picture 3">
            <a:extLst>
              <a:ext uri="{FF2B5EF4-FFF2-40B4-BE49-F238E27FC236}">
                <a16:creationId xmlns:a16="http://schemas.microsoft.com/office/drawing/2014/main" id="{8337D228-8F05-2AB1-4D7F-C29B510D7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66" t="27104" r="29401"/>
          <a:stretch>
            <a:fillRect/>
          </a:stretch>
        </p:blipFill>
        <p:spPr bwMode="auto">
          <a:xfrm>
            <a:off x="1516135" y="3704506"/>
            <a:ext cx="8540033" cy="2972187"/>
          </a:xfrm>
          <a:prstGeom prst="rect">
            <a:avLst/>
          </a:prstGeom>
          <a:noFill/>
          <a:ln>
            <a:noFill/>
          </a:ln>
          <a:effectLst/>
          <a:extLst>
            <a:ext uri="{909E8E84-426E-40DD-AFC4-6F175D3DCCD1}">
              <a14:hiddenFill xmlns:a14="http://schemas.microsoft.com/office/drawing/2010/main">
                <a:blipFill dpi="0" rotWithShape="0">
                  <a:blip/>
                  <a:srcRect l="1866" t="27104" r="29401"/>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452299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0BC84-D293-8068-B853-03BC7CEA8664}"/>
              </a:ext>
            </a:extLst>
          </p:cNvPr>
          <p:cNvSpPr>
            <a:spLocks noGrp="1"/>
          </p:cNvSpPr>
          <p:nvPr>
            <p:ph type="title"/>
          </p:nvPr>
        </p:nvSpPr>
        <p:spPr/>
        <p:txBody>
          <a:bodyPr/>
          <a:lstStyle/>
          <a:p>
            <a:r>
              <a:rPr lang="en-US" dirty="0"/>
              <a:t>VIDEO TAG</a:t>
            </a:r>
          </a:p>
        </p:txBody>
      </p:sp>
      <p:pic>
        <p:nvPicPr>
          <p:cNvPr id="4" name="Content Placeholder 3">
            <a:extLst>
              <a:ext uri="{FF2B5EF4-FFF2-40B4-BE49-F238E27FC236}">
                <a16:creationId xmlns:a16="http://schemas.microsoft.com/office/drawing/2014/main" id="{F22FC576-051C-CFD6-A13D-CC6BE26D57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49795" y="1812397"/>
            <a:ext cx="6296357" cy="4680478"/>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294922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7A709-61E7-861F-80F1-6F95717E9051}"/>
              </a:ext>
            </a:extLst>
          </p:cNvPr>
          <p:cNvSpPr>
            <a:spLocks noGrp="1"/>
          </p:cNvSpPr>
          <p:nvPr>
            <p:ph type="title"/>
          </p:nvPr>
        </p:nvSpPr>
        <p:spPr>
          <a:xfrm>
            <a:off x="838200" y="365126"/>
            <a:ext cx="10515600" cy="624256"/>
          </a:xfrm>
        </p:spPr>
        <p:txBody>
          <a:bodyPr>
            <a:normAutofit fontScale="90000"/>
          </a:bodyPr>
          <a:lstStyle/>
          <a:p>
            <a:r>
              <a:rPr lang="en-US" u="sng" dirty="0"/>
              <a:t>Using Autoplay</a:t>
            </a:r>
          </a:p>
        </p:txBody>
      </p:sp>
      <p:sp>
        <p:nvSpPr>
          <p:cNvPr id="3" name="Content Placeholder 2">
            <a:extLst>
              <a:ext uri="{FF2B5EF4-FFF2-40B4-BE49-F238E27FC236}">
                <a16:creationId xmlns:a16="http://schemas.microsoft.com/office/drawing/2014/main" id="{F1BB9BB0-A25B-AEFA-E7DB-E9A34EE4AEFB}"/>
              </a:ext>
            </a:extLst>
          </p:cNvPr>
          <p:cNvSpPr>
            <a:spLocks noGrp="1"/>
          </p:cNvSpPr>
          <p:nvPr>
            <p:ph idx="1"/>
          </p:nvPr>
        </p:nvSpPr>
        <p:spPr>
          <a:xfrm>
            <a:off x="838200" y="1253331"/>
            <a:ext cx="10515600" cy="4351338"/>
          </a:xfrm>
        </p:spPr>
        <p:txBody>
          <a:bodyPr/>
          <a:lstStyle/>
          <a:p>
            <a:r>
              <a:rPr lang="en-US" altLang="en-US" sz="2800" dirty="0">
                <a:latin typeface="Corbel" panose="020B0503020204020204" pitchFamily="34" charset="0"/>
              </a:rPr>
              <a:t>To start a video automatically use the </a:t>
            </a:r>
            <a:r>
              <a:rPr lang="en-US" altLang="en-US" sz="2800" b="1" dirty="0">
                <a:latin typeface="Corbel" panose="020B0503020204020204" pitchFamily="34" charset="0"/>
              </a:rPr>
              <a:t>autoplay</a:t>
            </a:r>
            <a:r>
              <a:rPr lang="en-US" altLang="en-US" sz="2800" dirty="0">
                <a:latin typeface="Corbel" panose="020B0503020204020204" pitchFamily="34" charset="0"/>
              </a:rPr>
              <a:t> attribute: (this often works when the attribute </a:t>
            </a:r>
            <a:r>
              <a:rPr lang="en-US" altLang="en-US" sz="2800" b="1" dirty="0">
                <a:latin typeface="Corbel" panose="020B0503020204020204" pitchFamily="34" charset="0"/>
              </a:rPr>
              <a:t>muted</a:t>
            </a:r>
            <a:r>
              <a:rPr lang="en-US" altLang="en-US" sz="2800" dirty="0">
                <a:latin typeface="Corbel" panose="020B0503020204020204" pitchFamily="34" charset="0"/>
              </a:rPr>
              <a:t> is present)</a:t>
            </a:r>
          </a:p>
          <a:p>
            <a:pPr marL="0" indent="0">
              <a:buNone/>
            </a:pPr>
            <a:endParaRPr lang="en-US" dirty="0"/>
          </a:p>
          <a:p>
            <a:pPr marL="0" indent="0">
              <a:buNone/>
            </a:pPr>
            <a:endParaRPr lang="en-US" dirty="0"/>
          </a:p>
        </p:txBody>
      </p:sp>
      <p:pic>
        <p:nvPicPr>
          <p:cNvPr id="4" name="Picture 3">
            <a:extLst>
              <a:ext uri="{FF2B5EF4-FFF2-40B4-BE49-F238E27FC236}">
                <a16:creationId xmlns:a16="http://schemas.microsoft.com/office/drawing/2014/main" id="{A006763A-53E3-104B-038E-3442149067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1640"/>
          <a:stretch>
            <a:fillRect/>
          </a:stretch>
        </p:blipFill>
        <p:spPr bwMode="auto">
          <a:xfrm>
            <a:off x="838200" y="2785360"/>
            <a:ext cx="5966637" cy="3391603"/>
          </a:xfrm>
          <a:prstGeom prst="rect">
            <a:avLst/>
          </a:prstGeom>
          <a:noFill/>
          <a:ln>
            <a:noFill/>
          </a:ln>
          <a:effectLst/>
          <a:extLst>
            <a:ext uri="{909E8E84-426E-40DD-AFC4-6F175D3DCCD1}">
              <a14:hiddenFill xmlns:a14="http://schemas.microsoft.com/office/drawing/2010/main">
                <a:blipFill dpi="0" rotWithShape="0">
                  <a:blip/>
                  <a:srcRect r="21640"/>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4">
            <a:extLst>
              <a:ext uri="{FF2B5EF4-FFF2-40B4-BE49-F238E27FC236}">
                <a16:creationId xmlns:a16="http://schemas.microsoft.com/office/drawing/2014/main" id="{003EF22E-DA48-3F9D-3563-9E78230856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836" y="2685698"/>
            <a:ext cx="4834935" cy="3626202"/>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2990622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4C7798-BE96-DF3C-0008-09999241960A}"/>
              </a:ext>
            </a:extLst>
          </p:cNvPr>
          <p:cNvSpPr>
            <a:spLocks noGrp="1"/>
          </p:cNvSpPr>
          <p:nvPr>
            <p:ph idx="1"/>
          </p:nvPr>
        </p:nvSpPr>
        <p:spPr/>
        <p:txBody>
          <a:bodyPr>
            <a:normAutofit/>
          </a:bodyPr>
          <a:lstStyle/>
          <a:p>
            <a:pPr marL="0" indent="0">
              <a:buNone/>
            </a:pPr>
            <a:r>
              <a:rPr lang="en-US" sz="10000" dirty="0"/>
              <a:t>HTML </a:t>
            </a:r>
            <a:r>
              <a:rPr lang="en-US" sz="10000" dirty="0" smtClean="0"/>
              <a:t>LINKS </a:t>
            </a:r>
            <a:r>
              <a:rPr lang="en-US" sz="3000" b="1" dirty="0" smtClean="0">
                <a:solidFill>
                  <a:srgbClr val="C00000"/>
                </a:solidFill>
              </a:rPr>
              <a:t>(Anchor tags)</a:t>
            </a:r>
            <a:endParaRPr lang="en-US" sz="3000" b="1" dirty="0">
              <a:solidFill>
                <a:srgbClr val="C00000"/>
              </a:solidFill>
            </a:endParaRPr>
          </a:p>
          <a:p>
            <a:pPr marL="0" indent="0">
              <a:buNone/>
            </a:pPr>
            <a:r>
              <a:rPr lang="en-US" sz="4000" dirty="0"/>
              <a:t>Navigating around your website…</a:t>
            </a:r>
          </a:p>
        </p:txBody>
      </p:sp>
    </p:spTree>
    <p:extLst>
      <p:ext uri="{BB962C8B-B14F-4D97-AF65-F5344CB8AC3E}">
        <p14:creationId xmlns:p14="http://schemas.microsoft.com/office/powerpoint/2010/main" val="535226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14175-BB6E-DA51-20B1-ED5E9A2E4477}"/>
              </a:ext>
            </a:extLst>
          </p:cNvPr>
          <p:cNvSpPr>
            <a:spLocks noGrp="1"/>
          </p:cNvSpPr>
          <p:nvPr>
            <p:ph type="title"/>
          </p:nvPr>
        </p:nvSpPr>
        <p:spPr>
          <a:xfrm>
            <a:off x="276447" y="205526"/>
            <a:ext cx="10515600" cy="1325563"/>
          </a:xfrm>
        </p:spPr>
        <p:txBody>
          <a:bodyPr/>
          <a:lstStyle/>
          <a:p>
            <a:r>
              <a:rPr lang="en-US" b="1" dirty="0"/>
              <a:t>HTML LINKS</a:t>
            </a:r>
          </a:p>
        </p:txBody>
      </p:sp>
      <p:sp>
        <p:nvSpPr>
          <p:cNvPr id="3" name="Content Placeholder 2">
            <a:extLst>
              <a:ext uri="{FF2B5EF4-FFF2-40B4-BE49-F238E27FC236}">
                <a16:creationId xmlns:a16="http://schemas.microsoft.com/office/drawing/2014/main" id="{0C5F3CEB-470C-10EF-3150-F92CA3D60A44}"/>
              </a:ext>
            </a:extLst>
          </p:cNvPr>
          <p:cNvSpPr>
            <a:spLocks noGrp="1"/>
          </p:cNvSpPr>
          <p:nvPr>
            <p:ph idx="1"/>
          </p:nvPr>
        </p:nvSpPr>
        <p:spPr>
          <a:xfrm>
            <a:off x="276447" y="1495573"/>
            <a:ext cx="11915553" cy="4997302"/>
          </a:xfrm>
        </p:spPr>
        <p:txBody>
          <a:bodyPr>
            <a:normAutofit fontScale="92500" lnSpcReduction="10000"/>
          </a:bodyPr>
          <a:lstStyle/>
          <a:p>
            <a:pPr algn="l"/>
            <a:r>
              <a:rPr lang="en-US" sz="2500" b="0" i="0" dirty="0">
                <a:solidFill>
                  <a:srgbClr val="000000"/>
                </a:solidFill>
                <a:effectLst/>
                <a:latin typeface="Verdana" panose="020B0604030504040204" pitchFamily="34" charset="0"/>
              </a:rPr>
              <a:t>Links are found in nearly all web pages. Links allow users to click their way from page to page.</a:t>
            </a:r>
          </a:p>
          <a:p>
            <a:pPr algn="l"/>
            <a:r>
              <a:rPr lang="en-US" b="0" i="0" dirty="0">
                <a:solidFill>
                  <a:srgbClr val="000000"/>
                </a:solidFill>
                <a:effectLst/>
                <a:latin typeface="Verdana" panose="020B0604030504040204" pitchFamily="34" charset="0"/>
              </a:rPr>
              <a:t>You can click on a link and jump to another document.</a:t>
            </a:r>
          </a:p>
          <a:p>
            <a:r>
              <a:rPr lang="en-US" dirty="0"/>
              <a:t>The HTML </a:t>
            </a:r>
            <a:r>
              <a:rPr lang="en-US" b="1" dirty="0"/>
              <a:t>&lt;a&gt; </a:t>
            </a:r>
            <a:r>
              <a:rPr lang="en-US" dirty="0"/>
              <a:t>tag defines a hyperlink. It has the following syntax:</a:t>
            </a:r>
          </a:p>
          <a:p>
            <a:pPr marL="0" indent="0">
              <a:buNone/>
            </a:pPr>
            <a:endParaRPr lang="en-US" dirty="0"/>
          </a:p>
          <a:p>
            <a:pPr marL="0" indent="0" algn="l">
              <a:buNone/>
            </a:pPr>
            <a:r>
              <a:rPr lang="en-US" dirty="0"/>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a:t>
            </a:r>
            <a:r>
              <a:rPr lang="en-US" b="0" i="1" dirty="0" err="1">
                <a:solidFill>
                  <a:srgbClr val="0000CD"/>
                </a:solidFill>
                <a:effectLst/>
                <a:latin typeface="Consolas" panose="020B0609020204030204" pitchFamily="49" charset="0"/>
              </a:rPr>
              <a:t>url</a:t>
            </a:r>
            <a:r>
              <a:rPr lang="en-US" b="0" i="0" dirty="0">
                <a:solidFill>
                  <a:srgbClr val="0000CD"/>
                </a:solidFill>
                <a:effectLst/>
                <a:latin typeface="Consolas" panose="020B0609020204030204" pitchFamily="49" charset="0"/>
              </a:rPr>
              <a:t>"&gt;</a:t>
            </a:r>
            <a:r>
              <a:rPr lang="en-US" b="0" i="1" dirty="0">
                <a:solidFill>
                  <a:srgbClr val="000000"/>
                </a:solidFill>
                <a:effectLst/>
                <a:latin typeface="Consolas" panose="020B0609020204030204" pitchFamily="49" charset="0"/>
              </a:rPr>
              <a:t>link text</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p>
          <a:p>
            <a:pPr marL="0" indent="0" algn="l">
              <a:buNone/>
            </a:pPr>
            <a:endParaRPr lang="en-US" b="0" i="0" dirty="0">
              <a:solidFill>
                <a:srgbClr val="0000CD"/>
              </a:solidFill>
              <a:effectLst/>
              <a:latin typeface="Consolas" panose="020B0609020204030204" pitchFamily="49" charset="0"/>
            </a:endParaRPr>
          </a:p>
          <a:p>
            <a:r>
              <a:rPr lang="en-US" b="0" i="0" dirty="0">
                <a:solidFill>
                  <a:srgbClr val="000000"/>
                </a:solidFill>
                <a:effectLst/>
                <a:latin typeface="Consolas" panose="020B0609020204030204" pitchFamily="49" charset="0"/>
              </a:rPr>
              <a:t>The most important attribute of the &lt;a&gt; element is the </a:t>
            </a:r>
            <a:r>
              <a:rPr lang="en-US" b="0" i="1" dirty="0" err="1">
                <a:solidFill>
                  <a:srgbClr val="C00000"/>
                </a:solidFill>
                <a:effectLst/>
                <a:latin typeface="Consolas" panose="020B0609020204030204" pitchFamily="49" charset="0"/>
              </a:rPr>
              <a:t>href</a:t>
            </a:r>
            <a:r>
              <a:rPr lang="en-US" b="0" i="0" dirty="0">
                <a:solidFill>
                  <a:srgbClr val="000000"/>
                </a:solidFill>
                <a:effectLst/>
                <a:latin typeface="Consolas" panose="020B0609020204030204" pitchFamily="49" charset="0"/>
              </a:rPr>
              <a:t> attribute, which indicates the link's destination.</a:t>
            </a:r>
          </a:p>
          <a:p>
            <a:r>
              <a:rPr lang="en-US" b="0" i="0" dirty="0">
                <a:solidFill>
                  <a:srgbClr val="000000"/>
                </a:solidFill>
                <a:effectLst/>
                <a:latin typeface="Consolas" panose="020B0609020204030204" pitchFamily="49" charset="0"/>
              </a:rPr>
              <a:t>The </a:t>
            </a:r>
            <a:r>
              <a:rPr lang="en-US" b="0" i="0" u="sng" dirty="0">
                <a:solidFill>
                  <a:srgbClr val="000000"/>
                </a:solidFill>
                <a:effectLst/>
                <a:latin typeface="Consolas" panose="020B0609020204030204" pitchFamily="49" charset="0"/>
              </a:rPr>
              <a:t>link text </a:t>
            </a:r>
            <a:r>
              <a:rPr lang="en-US" b="0" i="0" dirty="0">
                <a:solidFill>
                  <a:srgbClr val="000000"/>
                </a:solidFill>
                <a:effectLst/>
                <a:latin typeface="Consolas" panose="020B0609020204030204" pitchFamily="49" charset="0"/>
              </a:rPr>
              <a:t>is the part that will be visible to the reader.</a:t>
            </a:r>
          </a:p>
          <a:p>
            <a:r>
              <a:rPr lang="en-US" b="0" i="0" dirty="0">
                <a:solidFill>
                  <a:srgbClr val="000000"/>
                </a:solidFill>
                <a:effectLst/>
                <a:latin typeface="Consolas" panose="020B0609020204030204" pitchFamily="49" charset="0"/>
              </a:rPr>
              <a:t>Clicking on the link text, will send the reader to the specified URL address.</a:t>
            </a:r>
          </a:p>
          <a:p>
            <a:pPr marL="0" indent="0">
              <a:buNone/>
            </a:pPr>
            <a:endParaRPr lang="en-US" dirty="0"/>
          </a:p>
        </p:txBody>
      </p:sp>
    </p:spTree>
    <p:extLst>
      <p:ext uri="{BB962C8B-B14F-4D97-AF65-F5344CB8AC3E}">
        <p14:creationId xmlns:p14="http://schemas.microsoft.com/office/powerpoint/2010/main" val="4221047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FF7F-5582-AEEB-3434-FFA51855ABEB}"/>
              </a:ext>
            </a:extLst>
          </p:cNvPr>
          <p:cNvSpPr>
            <a:spLocks noGrp="1"/>
          </p:cNvSpPr>
          <p:nvPr>
            <p:ph type="title"/>
          </p:nvPr>
        </p:nvSpPr>
        <p:spPr>
          <a:xfrm>
            <a:off x="838200" y="-20933"/>
            <a:ext cx="10515600" cy="1325563"/>
          </a:xfrm>
        </p:spPr>
        <p:txBody>
          <a:bodyPr/>
          <a:lstStyle/>
          <a:p>
            <a:r>
              <a:rPr lang="en-US" dirty="0"/>
              <a:t>Link Colors:</a:t>
            </a:r>
          </a:p>
        </p:txBody>
      </p:sp>
      <p:sp>
        <p:nvSpPr>
          <p:cNvPr id="3" name="Content Placeholder 2">
            <a:extLst>
              <a:ext uri="{FF2B5EF4-FFF2-40B4-BE49-F238E27FC236}">
                <a16:creationId xmlns:a16="http://schemas.microsoft.com/office/drawing/2014/main" id="{D786A2A4-D7F5-7380-50E1-543401BB9AEC}"/>
              </a:ext>
            </a:extLst>
          </p:cNvPr>
          <p:cNvSpPr>
            <a:spLocks noGrp="1"/>
          </p:cNvSpPr>
          <p:nvPr>
            <p:ph idx="1"/>
          </p:nvPr>
        </p:nvSpPr>
        <p:spPr>
          <a:xfrm>
            <a:off x="710609" y="1304630"/>
            <a:ext cx="10515600" cy="4830356"/>
          </a:xfrm>
        </p:spPr>
        <p:txBody>
          <a:bodyPr/>
          <a:lstStyle/>
          <a:p>
            <a:pPr eaLnBrk="1" hangingPunct="1"/>
            <a:r>
              <a:rPr lang="en-US" altLang="en-US" dirty="0"/>
              <a:t>By default, a link will appear in all browsers :</a:t>
            </a:r>
          </a:p>
          <a:p>
            <a:pPr lvl="2"/>
            <a:r>
              <a:rPr lang="en-US" altLang="en-US" sz="2000" dirty="0"/>
              <a:t>An </a:t>
            </a:r>
            <a:r>
              <a:rPr lang="en-US" altLang="en-US" sz="2000" u="sng" dirty="0">
                <a:solidFill>
                  <a:srgbClr val="0070C0"/>
                </a:solidFill>
              </a:rPr>
              <a:t>unvisited link is underlined and blue</a:t>
            </a:r>
          </a:p>
          <a:p>
            <a:pPr lvl="2"/>
            <a:r>
              <a:rPr lang="en-US" altLang="en-US" sz="2000" dirty="0"/>
              <a:t>A </a:t>
            </a:r>
            <a:r>
              <a:rPr lang="en-US" altLang="en-US" sz="2000" u="sng" dirty="0">
                <a:solidFill>
                  <a:srgbClr val="7030A0"/>
                </a:solidFill>
              </a:rPr>
              <a:t>visited link is underlined and purple</a:t>
            </a:r>
          </a:p>
          <a:p>
            <a:pPr lvl="2"/>
            <a:r>
              <a:rPr lang="en-US" altLang="en-US" sz="2000" dirty="0"/>
              <a:t>An </a:t>
            </a:r>
            <a:r>
              <a:rPr lang="en-US" altLang="en-US" sz="2000" u="sng" dirty="0">
                <a:solidFill>
                  <a:srgbClr val="FF0000"/>
                </a:solidFill>
              </a:rPr>
              <a:t>active link is underlined and red</a:t>
            </a:r>
          </a:p>
          <a:p>
            <a:pPr lvl="2"/>
            <a:endParaRPr lang="en-US" altLang="en-US" sz="2000" dirty="0"/>
          </a:p>
          <a:p>
            <a:pPr marL="200025" lvl="1" indent="0">
              <a:buFont typeface="Calibri" panose="020F0502020204030204" pitchFamily="34" charset="0"/>
              <a:buNone/>
            </a:pPr>
            <a:r>
              <a:rPr lang="en-US" altLang="en-US" sz="2400" dirty="0"/>
              <a:t>Example: On the Home page, we can create a link to the about us page by specifying as below:</a:t>
            </a:r>
          </a:p>
          <a:p>
            <a:pPr marL="200025" lvl="1" indent="0">
              <a:buFont typeface="Calibri" panose="020F0502020204030204" pitchFamily="34" charset="0"/>
              <a:buNone/>
            </a:pPr>
            <a:endParaRPr lang="en-US" altLang="en-US" sz="2400" dirty="0"/>
          </a:p>
          <a:p>
            <a:pPr marL="914400" lvl="2" indent="0">
              <a:buNone/>
            </a:pPr>
            <a:r>
              <a:rPr lang="en-US" altLang="en-US" sz="2200" dirty="0"/>
              <a:t>&lt;a </a:t>
            </a:r>
            <a:r>
              <a:rPr lang="en-US" altLang="en-US" sz="2200" dirty="0" err="1"/>
              <a:t>href</a:t>
            </a:r>
            <a:r>
              <a:rPr lang="en-US" altLang="en-US" sz="2200" dirty="0"/>
              <a:t>=“aboutpage.html"&gt;About Us&lt;/a&gt;</a:t>
            </a:r>
            <a:endParaRPr lang="en-US" altLang="en-US" sz="2200" b="1" dirty="0"/>
          </a:p>
          <a:p>
            <a:pPr marL="0" indent="0">
              <a:buNone/>
            </a:pPr>
            <a:r>
              <a:rPr lang="en-US" altLang="en-US" sz="2800" dirty="0"/>
              <a:t>On the About page, we can create a link to the Home page by specifying as below:</a:t>
            </a:r>
          </a:p>
          <a:p>
            <a:pPr marL="0" indent="0">
              <a:buNone/>
            </a:pPr>
            <a:r>
              <a:rPr lang="en-US" altLang="en-US" sz="2200" dirty="0"/>
              <a:t>	&lt;a </a:t>
            </a:r>
            <a:r>
              <a:rPr lang="en-US" altLang="en-US" sz="2200" dirty="0" err="1"/>
              <a:t>href</a:t>
            </a:r>
            <a:r>
              <a:rPr lang="en-US" altLang="en-US" sz="2200" dirty="0"/>
              <a:t>=“homepage.html"&gt;Home&lt;/a&gt;</a:t>
            </a:r>
            <a:endParaRPr lang="en-US" altLang="en-US" sz="2200" b="1" dirty="0"/>
          </a:p>
          <a:p>
            <a:pPr marL="0" indent="0">
              <a:buNone/>
            </a:pPr>
            <a:endParaRPr lang="en-US" altLang="en-US" sz="2800" dirty="0"/>
          </a:p>
          <a:p>
            <a:pPr marL="0" indent="0">
              <a:buNone/>
            </a:pPr>
            <a:endParaRPr lang="en-US" dirty="0"/>
          </a:p>
        </p:txBody>
      </p:sp>
    </p:spTree>
    <p:extLst>
      <p:ext uri="{BB962C8B-B14F-4D97-AF65-F5344CB8AC3E}">
        <p14:creationId xmlns:p14="http://schemas.microsoft.com/office/powerpoint/2010/main" val="35857036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09E19-0625-942A-36E6-18AF5266D632}"/>
              </a:ext>
            </a:extLst>
          </p:cNvPr>
          <p:cNvSpPr>
            <a:spLocks noGrp="1"/>
          </p:cNvSpPr>
          <p:nvPr>
            <p:ph type="title"/>
          </p:nvPr>
        </p:nvSpPr>
        <p:spPr>
          <a:xfrm>
            <a:off x="838200" y="18255"/>
            <a:ext cx="10515600" cy="938675"/>
          </a:xfrm>
        </p:spPr>
        <p:txBody>
          <a:bodyPr/>
          <a:lstStyle/>
          <a:p>
            <a:r>
              <a:rPr lang="en-US" b="1" dirty="0"/>
              <a:t>LINKS:</a:t>
            </a:r>
          </a:p>
        </p:txBody>
      </p:sp>
      <p:sp>
        <p:nvSpPr>
          <p:cNvPr id="3" name="Content Placeholder 2">
            <a:extLst>
              <a:ext uri="{FF2B5EF4-FFF2-40B4-BE49-F238E27FC236}">
                <a16:creationId xmlns:a16="http://schemas.microsoft.com/office/drawing/2014/main" id="{8E10999A-350F-AACE-5E8A-6A2791185A41}"/>
              </a:ext>
            </a:extLst>
          </p:cNvPr>
          <p:cNvSpPr>
            <a:spLocks noGrp="1"/>
          </p:cNvSpPr>
          <p:nvPr>
            <p:ph idx="1"/>
          </p:nvPr>
        </p:nvSpPr>
        <p:spPr>
          <a:xfrm>
            <a:off x="838200" y="1084521"/>
            <a:ext cx="10515600" cy="5092442"/>
          </a:xfrm>
        </p:spPr>
        <p:txBody>
          <a:bodyPr/>
          <a:lstStyle/>
          <a:p>
            <a:pPr marL="0" indent="0">
              <a:buNone/>
            </a:pPr>
            <a:r>
              <a:rPr lang="en-US" altLang="en-US" sz="2800" dirty="0"/>
              <a:t>We can also add title attribute to our link to enable our users to know where the link is going to.</a:t>
            </a:r>
          </a:p>
          <a:p>
            <a:pPr algn="l"/>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="https://www.facebook.com"</a:t>
            </a:r>
            <a:r>
              <a:rPr lang="en-US" b="0" i="0" dirty="0">
                <a:solidFill>
                  <a:srgbClr val="FF0000"/>
                </a:solidFill>
                <a:effectLst/>
                <a:latin typeface="Consolas" panose="020B0609020204030204" pitchFamily="49" charset="0"/>
              </a:rPr>
              <a:t> title</a:t>
            </a:r>
            <a:r>
              <a:rPr lang="en-US" b="0" i="0" dirty="0">
                <a:solidFill>
                  <a:srgbClr val="0000CD"/>
                </a:solidFill>
                <a:effectLst/>
                <a:latin typeface="Consolas" panose="020B0609020204030204" pitchFamily="49" charset="0"/>
              </a:rPr>
              <a:t>="Go to Facebook"&gt;</a:t>
            </a:r>
            <a:r>
              <a:rPr lang="en-US" b="0" i="0" dirty="0">
                <a:solidFill>
                  <a:srgbClr val="000000"/>
                </a:solidFill>
                <a:effectLst/>
                <a:latin typeface="Consolas" panose="020B0609020204030204" pitchFamily="49" charset="0"/>
              </a:rPr>
              <a:t>Visit our Facebook Page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p>
          <a:p>
            <a:pPr marL="0" indent="0" algn="l">
              <a:buNone/>
            </a:pPr>
            <a:r>
              <a:rPr lang="en-US" dirty="0">
                <a:latin typeface="Consolas" panose="020B0609020204030204" pitchFamily="49" charset="0"/>
              </a:rPr>
              <a:t>We can also use button to implement the linking.</a:t>
            </a:r>
            <a:endParaRPr lang="en-US" b="0" i="0" dirty="0">
              <a:effectLst/>
              <a:latin typeface="Consolas" panose="020B0609020204030204" pitchFamily="49" charset="0"/>
            </a:endParaRPr>
          </a:p>
          <a:p>
            <a:r>
              <a:rPr lang="en-US" sz="2600" b="0" i="0" dirty="0">
                <a:solidFill>
                  <a:srgbClr val="0000CD"/>
                </a:solidFill>
                <a:effectLst/>
                <a:latin typeface="Consolas" panose="020B0609020204030204" pitchFamily="49" charset="0"/>
              </a:rPr>
              <a:t>&lt;</a:t>
            </a:r>
            <a:r>
              <a:rPr lang="en-US" sz="2600" b="0" i="0" dirty="0">
                <a:solidFill>
                  <a:srgbClr val="A52A2A"/>
                </a:solidFill>
                <a:effectLst/>
                <a:latin typeface="Consolas" panose="020B0609020204030204" pitchFamily="49" charset="0"/>
              </a:rPr>
              <a:t>button</a:t>
            </a:r>
            <a:r>
              <a:rPr lang="en-US" sz="2600" b="0" i="0" dirty="0">
                <a:solidFill>
                  <a:srgbClr val="FF0000"/>
                </a:solidFill>
                <a:effectLst/>
                <a:latin typeface="Consolas" panose="020B0609020204030204" pitchFamily="49" charset="0"/>
              </a:rPr>
              <a:t> onclick</a:t>
            </a:r>
            <a:r>
              <a:rPr lang="en-US" sz="2600" b="0" i="0" dirty="0">
                <a:solidFill>
                  <a:srgbClr val="0000CD"/>
                </a:solidFill>
                <a:effectLst/>
                <a:latin typeface="Consolas" panose="020B0609020204030204" pitchFamily="49" charset="0"/>
              </a:rPr>
              <a:t>="</a:t>
            </a:r>
            <a:r>
              <a:rPr lang="en-US" sz="2600" b="0" i="0" dirty="0" err="1">
                <a:solidFill>
                  <a:srgbClr val="0000CD"/>
                </a:solidFill>
                <a:effectLst/>
                <a:latin typeface="Consolas" panose="020B0609020204030204" pitchFamily="49" charset="0"/>
              </a:rPr>
              <a:t>document.location</a:t>
            </a:r>
            <a:r>
              <a:rPr lang="en-US" sz="2600" b="0" i="0" dirty="0">
                <a:solidFill>
                  <a:srgbClr val="0000CD"/>
                </a:solidFill>
                <a:effectLst/>
                <a:latin typeface="Consolas" panose="020B0609020204030204" pitchFamily="49" charset="0"/>
              </a:rPr>
              <a:t>='default.asp’”&gt;Facebook&lt;</a:t>
            </a:r>
            <a:r>
              <a:rPr lang="en-US" sz="2600" b="0" i="0" dirty="0">
                <a:solidFill>
                  <a:srgbClr val="A52A2A"/>
                </a:solidFill>
                <a:effectLst/>
                <a:latin typeface="Consolas" panose="020B0609020204030204" pitchFamily="49" charset="0"/>
              </a:rPr>
              <a:t>/button</a:t>
            </a:r>
            <a:r>
              <a:rPr lang="en-US" sz="2600" b="0" i="0" dirty="0">
                <a:solidFill>
                  <a:srgbClr val="0000CD"/>
                </a:solidFill>
                <a:effectLst/>
                <a:latin typeface="Consolas" panose="020B0609020204030204" pitchFamily="49" charset="0"/>
              </a:rPr>
              <a:t>&gt;</a:t>
            </a:r>
          </a:p>
          <a:p>
            <a:pPr marL="0" indent="0" algn="l">
              <a:buNone/>
            </a:pPr>
            <a:r>
              <a:rPr lang="en-US" dirty="0"/>
              <a:t/>
            </a:r>
            <a:br>
              <a:rPr lang="en-US" dirty="0"/>
            </a:br>
            <a:endParaRPr lang="en-US" dirty="0"/>
          </a:p>
        </p:txBody>
      </p:sp>
    </p:spTree>
    <p:extLst>
      <p:ext uri="{BB962C8B-B14F-4D97-AF65-F5344CB8AC3E}">
        <p14:creationId xmlns:p14="http://schemas.microsoft.com/office/powerpoint/2010/main" val="921799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AB492C-4C43-62B6-D884-4D8D5E99E8C9}"/>
              </a:ext>
            </a:extLst>
          </p:cNvPr>
          <p:cNvSpPr>
            <a:spLocks noGrp="1"/>
          </p:cNvSpPr>
          <p:nvPr>
            <p:ph type="title"/>
          </p:nvPr>
        </p:nvSpPr>
        <p:spPr>
          <a:xfrm>
            <a:off x="838200" y="365125"/>
            <a:ext cx="10515600" cy="623703"/>
          </a:xfrm>
        </p:spPr>
        <p:txBody>
          <a:bodyPr>
            <a:normAutofit fontScale="90000"/>
          </a:bodyPr>
          <a:lstStyle/>
          <a:p>
            <a:r>
              <a:rPr lang="en-US" b="1" u="sng" dirty="0">
                <a:solidFill>
                  <a:srgbClr val="C00000"/>
                </a:solidFill>
              </a:rPr>
              <a:t>LINKING To Folders above and below</a:t>
            </a:r>
          </a:p>
        </p:txBody>
      </p:sp>
      <p:sp>
        <p:nvSpPr>
          <p:cNvPr id="3" name="Content Placeholder 2">
            <a:extLst>
              <a:ext uri="{FF2B5EF4-FFF2-40B4-BE49-F238E27FC236}">
                <a16:creationId xmlns:a16="http://schemas.microsoft.com/office/drawing/2014/main" id="{85C4CF60-3460-E8AF-FCF4-E587357E5972}"/>
              </a:ext>
            </a:extLst>
          </p:cNvPr>
          <p:cNvSpPr>
            <a:spLocks noGrp="1"/>
          </p:cNvSpPr>
          <p:nvPr>
            <p:ph idx="1"/>
          </p:nvPr>
        </p:nvSpPr>
        <p:spPr>
          <a:xfrm>
            <a:off x="838200" y="1201921"/>
            <a:ext cx="10515600" cy="5290953"/>
          </a:xfrm>
        </p:spPr>
        <p:txBody>
          <a:bodyPr>
            <a:normAutofit/>
          </a:bodyPr>
          <a:lstStyle/>
          <a:p>
            <a:r>
              <a:rPr lang="en-US" altLang="en-US" sz="2600" dirty="0"/>
              <a:t>So far we have linked 2 pages together when they are both within the same folder. This is SCENARIO 1</a:t>
            </a:r>
          </a:p>
          <a:p>
            <a:r>
              <a:rPr lang="en-US" altLang="en-US" sz="2600" dirty="0"/>
              <a:t>There are other possibilities of a file linking to another file (SCENARIO 2); If a file wants to link to:</a:t>
            </a:r>
          </a:p>
          <a:p>
            <a:pPr algn="ctr">
              <a:buFont typeface="Wingdings" panose="05000000000000000000" pitchFamily="2" charset="2"/>
              <a:buChar char="§"/>
            </a:pPr>
            <a:r>
              <a:rPr lang="en-US" altLang="en-US" sz="2600" dirty="0"/>
              <a:t>Another file A that is located in a </a:t>
            </a:r>
            <a:r>
              <a:rPr lang="en-US" altLang="en-US" sz="2600" dirty="0" err="1"/>
              <a:t>foldername</a:t>
            </a:r>
            <a:r>
              <a:rPr lang="en-US" altLang="en-US" sz="2600" dirty="0"/>
              <a:t> beside it: in this case, file A is below me. We write:</a:t>
            </a:r>
          </a:p>
          <a:p>
            <a:pPr lvl="2"/>
            <a:r>
              <a:rPr lang="en-US" altLang="en-US" sz="2600" dirty="0">
                <a:solidFill>
                  <a:srgbClr val="FF0000"/>
                </a:solidFill>
              </a:rPr>
              <a:t>&lt;a </a:t>
            </a:r>
            <a:r>
              <a:rPr lang="en-US" altLang="en-US" sz="2600" dirty="0" err="1">
                <a:solidFill>
                  <a:srgbClr val="FF0000"/>
                </a:solidFill>
              </a:rPr>
              <a:t>href</a:t>
            </a:r>
            <a:r>
              <a:rPr lang="en-US" altLang="en-US" sz="2600" dirty="0">
                <a:solidFill>
                  <a:srgbClr val="FF0000"/>
                </a:solidFill>
              </a:rPr>
              <a:t>=“</a:t>
            </a:r>
            <a:r>
              <a:rPr lang="en-US" altLang="en-US" sz="2600" dirty="0" err="1">
                <a:solidFill>
                  <a:srgbClr val="FF0000"/>
                </a:solidFill>
              </a:rPr>
              <a:t>foldername</a:t>
            </a:r>
            <a:r>
              <a:rPr lang="en-US" altLang="en-US" sz="2600" dirty="0">
                <a:solidFill>
                  <a:srgbClr val="FF0000"/>
                </a:solidFill>
              </a:rPr>
              <a:t>/filename.html”&gt;Link to File A Below Me&lt;/a&gt;</a:t>
            </a:r>
          </a:p>
          <a:p>
            <a:pPr lvl="1">
              <a:buFont typeface="Wingdings" panose="05000000000000000000" pitchFamily="2" charset="2"/>
              <a:buChar char="§"/>
            </a:pPr>
            <a:r>
              <a:rPr lang="en-US" altLang="en-US" sz="2600" dirty="0"/>
              <a:t>Another File A that is in a folder above me: in this case, I need to get out of where I am in order to see File A, we write:</a:t>
            </a:r>
          </a:p>
          <a:p>
            <a:pPr lvl="2"/>
            <a:r>
              <a:rPr lang="en-US" altLang="en-US" sz="2600" dirty="0">
                <a:solidFill>
                  <a:srgbClr val="FF0000"/>
                </a:solidFill>
              </a:rPr>
              <a:t>&lt;a </a:t>
            </a:r>
            <a:r>
              <a:rPr lang="en-US" altLang="en-US" sz="2600" dirty="0" err="1">
                <a:solidFill>
                  <a:srgbClr val="FF0000"/>
                </a:solidFill>
              </a:rPr>
              <a:t>href</a:t>
            </a:r>
            <a:r>
              <a:rPr lang="en-US" altLang="en-US" sz="2600" dirty="0">
                <a:solidFill>
                  <a:srgbClr val="FF0000"/>
                </a:solidFill>
              </a:rPr>
              <a:t>=“../fileA.html”&gt;Link to File a Above Me&lt;/a&gt;</a:t>
            </a:r>
          </a:p>
          <a:p>
            <a:pPr lvl="2"/>
            <a:r>
              <a:rPr lang="en-US" altLang="en-US" sz="2600" dirty="0">
                <a:solidFill>
                  <a:schemeClr val="accent1">
                    <a:lumMod val="75000"/>
                  </a:schemeClr>
                </a:solidFill>
              </a:rPr>
              <a:t>To go out of where you are: use </a:t>
            </a:r>
            <a:r>
              <a:rPr lang="en-US" altLang="en-US" sz="2600" b="1" dirty="0">
                <a:solidFill>
                  <a:schemeClr val="accent1">
                    <a:lumMod val="75000"/>
                  </a:schemeClr>
                </a:solidFill>
              </a:rPr>
              <a:t>../</a:t>
            </a:r>
          </a:p>
          <a:p>
            <a:pPr lvl="2"/>
            <a:r>
              <a:rPr lang="en-US" altLang="en-US" sz="2600" dirty="0">
                <a:solidFill>
                  <a:schemeClr val="accent1">
                    <a:lumMod val="75000"/>
                  </a:schemeClr>
                </a:solidFill>
              </a:rPr>
              <a:t>To go into a folder use: </a:t>
            </a:r>
            <a:r>
              <a:rPr lang="en-US" altLang="en-US" sz="2600" b="1" dirty="0">
                <a:solidFill>
                  <a:schemeClr val="accent1">
                    <a:lumMod val="75000"/>
                  </a:schemeClr>
                </a:solidFill>
              </a:rPr>
              <a:t>folder/</a:t>
            </a:r>
          </a:p>
          <a:p>
            <a:pPr marL="0" indent="0">
              <a:buNone/>
            </a:pPr>
            <a:endParaRPr lang="en-US" sz="2600" dirty="0"/>
          </a:p>
        </p:txBody>
      </p:sp>
    </p:spTree>
    <p:extLst>
      <p:ext uri="{BB962C8B-B14F-4D97-AF65-F5344CB8AC3E}">
        <p14:creationId xmlns:p14="http://schemas.microsoft.com/office/powerpoint/2010/main" val="537449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687261-D7B6-9C14-6950-FF3F4E5515AF}"/>
              </a:ext>
            </a:extLst>
          </p:cNvPr>
          <p:cNvSpPr>
            <a:spLocks noGrp="1"/>
          </p:cNvSpPr>
          <p:nvPr>
            <p:ph type="title"/>
          </p:nvPr>
        </p:nvSpPr>
        <p:spPr>
          <a:xfrm>
            <a:off x="1158950" y="-136509"/>
            <a:ext cx="10194851" cy="1325563"/>
          </a:xfrm>
        </p:spPr>
        <p:txBody>
          <a:bodyPr>
            <a:normAutofit/>
          </a:bodyPr>
          <a:lstStyle/>
          <a:p>
            <a:r>
              <a:rPr lang="en-US" sz="4000" dirty="0"/>
              <a:t>Global and Local link (Absolute vs. Relative URLs)</a:t>
            </a:r>
          </a:p>
        </p:txBody>
      </p:sp>
      <p:sp>
        <p:nvSpPr>
          <p:cNvPr id="4" name="Rectangle 1">
            <a:extLst>
              <a:ext uri="{FF2B5EF4-FFF2-40B4-BE49-F238E27FC236}">
                <a16:creationId xmlns:a16="http://schemas.microsoft.com/office/drawing/2014/main" id="{D7598FF9-0425-4C75-9262-A0F2F7E9FE3A}"/>
              </a:ext>
            </a:extLst>
          </p:cNvPr>
          <p:cNvSpPr>
            <a:spLocks noGrp="1" noChangeArrowheads="1"/>
          </p:cNvSpPr>
          <p:nvPr>
            <p:ph idx="1"/>
          </p:nvPr>
        </p:nvSpPr>
        <p:spPr bwMode="auto">
          <a:xfrm>
            <a:off x="838199" y="1054385"/>
            <a:ext cx="10304721" cy="52773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An absolute URL is one that takes the full web address in the </a:t>
            </a:r>
            <a:r>
              <a:rPr kumimoji="0" lang="en-US" altLang="en-US" sz="1800" b="0" i="1" u="none" strike="noStrike" cap="none" normalizeH="0" baseline="0" dirty="0" err="1">
                <a:ln>
                  <a:noFill/>
                </a:ln>
                <a:solidFill>
                  <a:srgbClr val="FF0000"/>
                </a:solidFill>
                <a:effectLst/>
                <a:latin typeface="Arial" panose="020B0604020202020204" pitchFamily="34" charset="0"/>
              </a:rPr>
              <a:t>href</a:t>
            </a:r>
            <a:r>
              <a:rPr kumimoji="0" lang="en-US" altLang="en-US" sz="1800" b="0" i="0" u="none" strike="noStrike" cap="none" normalizeH="0" baseline="0" dirty="0">
                <a:ln>
                  <a:noFill/>
                </a:ln>
                <a:solidFill>
                  <a:schemeClr val="tx1"/>
                </a:solidFill>
                <a:effectLst/>
                <a:latin typeface="Arial" panose="020B0604020202020204" pitchFamily="34" charset="0"/>
              </a:rPr>
              <a:t> attribute. It uses the World Wide Web ("https://www"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800" dirty="0">
              <a:latin typeface="Arial" panose="020B0604020202020204" pitchFamily="34" charset="0"/>
            </a:endParaRPr>
          </a:p>
          <a:p>
            <a:pPr marL="0" indent="0" eaLnBrk="0" fontAlgn="base" hangingPunct="0">
              <a:lnSpc>
                <a:spcPct val="100000"/>
              </a:lnSpc>
              <a:spcBef>
                <a:spcPct val="0"/>
              </a:spcBef>
              <a:spcAft>
                <a:spcPct val="0"/>
              </a:spcAft>
              <a:buNone/>
            </a:pPr>
            <a:r>
              <a:rPr lang="en-US" sz="2000" b="1" u="sng" dirty="0"/>
              <a:t>NOTE</a:t>
            </a:r>
            <a:r>
              <a:rPr lang="en-US" sz="2000" dirty="0"/>
              <a:t>: It is also good that external links are opened in a new tab</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 local link (a link to a page within the same website) is specified with a relative URL (without the "https://www" part):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1" u="sng" strike="noStrike" cap="none" normalizeH="0" baseline="0" dirty="0">
                <a:ln>
                  <a:noFill/>
                </a:ln>
                <a:solidFill>
                  <a:schemeClr val="tx1"/>
                </a:solidFill>
                <a:effectLst/>
                <a:latin typeface="Arial" panose="020B0604020202020204" pitchFamily="34" charset="0"/>
              </a:rPr>
              <a:t>Example</a:t>
            </a: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&lt;h2&gt;</a:t>
            </a:r>
            <a:r>
              <a:rPr kumimoji="0" lang="en-US" altLang="en-US" sz="2200" b="1" i="0" u="none" strike="noStrike" cap="none" normalizeH="0" baseline="0" dirty="0">
                <a:ln>
                  <a:noFill/>
                </a:ln>
                <a:solidFill>
                  <a:schemeClr val="tx1"/>
                </a:solidFill>
                <a:effectLst/>
                <a:latin typeface="Arial" panose="020B0604020202020204" pitchFamily="34" charset="0"/>
              </a:rPr>
              <a:t>Absolute</a:t>
            </a:r>
            <a:r>
              <a:rPr kumimoji="0" lang="en-US" altLang="en-US" sz="2200" b="0" i="0" u="none" strike="noStrike" cap="none" normalizeH="0" baseline="0" dirty="0">
                <a:ln>
                  <a:noFill/>
                </a:ln>
                <a:solidFill>
                  <a:schemeClr val="tx1"/>
                </a:solidFill>
                <a:effectLst/>
                <a:latin typeface="Arial" panose="020B0604020202020204" pitchFamily="34" charset="0"/>
              </a:rPr>
              <a:t> URLs&lt;/h2&gt;</a:t>
            </a: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&lt;p&gt;&lt;a </a:t>
            </a:r>
            <a:r>
              <a:rPr kumimoji="0" lang="en-US" altLang="en-US" sz="2200" b="0" i="0" u="none" strike="noStrike" cap="none" normalizeH="0" baseline="0" dirty="0" err="1">
                <a:ln>
                  <a:noFill/>
                </a:ln>
                <a:solidFill>
                  <a:schemeClr val="tx1"/>
                </a:solidFill>
                <a:effectLst/>
                <a:latin typeface="Arial" panose="020B0604020202020204" pitchFamily="34" charset="0"/>
              </a:rPr>
              <a:t>href</a:t>
            </a:r>
            <a:r>
              <a:rPr kumimoji="0" lang="en-US" altLang="en-US" sz="2200" b="0" i="0" u="none" strike="noStrike" cap="none" normalizeH="0" baseline="0" dirty="0">
                <a:ln>
                  <a:noFill/>
                </a:ln>
                <a:solidFill>
                  <a:schemeClr val="tx1"/>
                </a:solidFill>
                <a:effectLst/>
                <a:latin typeface="Arial" panose="020B0604020202020204" pitchFamily="34" charset="0"/>
              </a:rPr>
              <a:t>="https://www.facebook/"&gt;Facebook&lt;/a&gt;&lt;/p&gt;</a:t>
            </a: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&lt;p&gt;&lt;a </a:t>
            </a:r>
            <a:r>
              <a:rPr kumimoji="0" lang="en-US" altLang="en-US" sz="2200" b="0" i="0" u="none" strike="noStrike" cap="none" normalizeH="0" baseline="0" dirty="0" err="1">
                <a:ln>
                  <a:noFill/>
                </a:ln>
                <a:solidFill>
                  <a:schemeClr val="tx1"/>
                </a:solidFill>
                <a:effectLst/>
                <a:latin typeface="Arial" panose="020B0604020202020204" pitchFamily="34" charset="0"/>
              </a:rPr>
              <a:t>href</a:t>
            </a:r>
            <a:r>
              <a:rPr kumimoji="0" lang="en-US" altLang="en-US" sz="2200" b="0" i="0" u="none" strike="noStrike" cap="none" normalizeH="0" baseline="0" dirty="0">
                <a:ln>
                  <a:noFill/>
                </a:ln>
                <a:solidFill>
                  <a:schemeClr val="tx1"/>
                </a:solidFill>
                <a:effectLst/>
                <a:latin typeface="Arial" panose="020B0604020202020204" pitchFamily="34" charset="0"/>
              </a:rPr>
              <a:t>="https://www.google.com/"&gt;Google&lt;/a&gt;&lt;/p&gt;</a:t>
            </a:r>
          </a:p>
          <a:p>
            <a:pPr marL="914400" lvl="2" indent="0" eaLnBrk="0" fontAlgn="base" hangingPunct="0">
              <a:lnSpc>
                <a:spcPct val="100000"/>
              </a:lnSpc>
              <a:spcBef>
                <a:spcPct val="0"/>
              </a:spcBef>
              <a:spcAft>
                <a:spcPct val="0"/>
              </a:spcAft>
              <a:buNone/>
            </a:pPr>
            <a:endParaRPr kumimoji="0" lang="en-US" altLang="en-US" sz="2200" b="0" i="0" u="none" strike="noStrike" cap="none" normalizeH="0" baseline="0" dirty="0">
              <a:ln>
                <a:noFill/>
              </a:ln>
              <a:solidFill>
                <a:schemeClr val="tx1"/>
              </a:solidFill>
              <a:effectLst/>
              <a:latin typeface="Arial" panose="020B0604020202020204" pitchFamily="34" charset="0"/>
            </a:endParaRP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&lt;h2&gt;</a:t>
            </a:r>
            <a:r>
              <a:rPr kumimoji="0" lang="en-US" altLang="en-US" sz="2200" b="1" i="0" u="none" strike="noStrike" cap="none" normalizeH="0" baseline="0" dirty="0">
                <a:ln>
                  <a:noFill/>
                </a:ln>
                <a:solidFill>
                  <a:schemeClr val="tx1"/>
                </a:solidFill>
                <a:effectLst/>
                <a:latin typeface="Arial" panose="020B0604020202020204" pitchFamily="34" charset="0"/>
              </a:rPr>
              <a:t>Relative</a:t>
            </a:r>
            <a:r>
              <a:rPr kumimoji="0" lang="en-US" altLang="en-US" sz="2200" b="0" i="0" u="none" strike="noStrike" cap="none" normalizeH="0" baseline="0" dirty="0">
                <a:ln>
                  <a:noFill/>
                </a:ln>
                <a:solidFill>
                  <a:schemeClr val="tx1"/>
                </a:solidFill>
                <a:effectLst/>
                <a:latin typeface="Arial" panose="020B0604020202020204" pitchFamily="34" charset="0"/>
              </a:rPr>
              <a:t> URLs&lt;/h2&gt;</a:t>
            </a: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&lt;p&gt;&lt;a </a:t>
            </a:r>
            <a:r>
              <a:rPr kumimoji="0" lang="en-US" altLang="en-US" sz="2200" b="0" i="0" u="none" strike="noStrike" cap="none" normalizeH="0" baseline="0" dirty="0" err="1">
                <a:ln>
                  <a:noFill/>
                </a:ln>
                <a:solidFill>
                  <a:schemeClr val="tx1"/>
                </a:solidFill>
                <a:effectLst/>
                <a:latin typeface="Arial" panose="020B0604020202020204" pitchFamily="34" charset="0"/>
              </a:rPr>
              <a:t>href</a:t>
            </a:r>
            <a:r>
              <a:rPr kumimoji="0" lang="en-US" altLang="en-US" sz="2200" b="0" i="0" u="none" strike="noStrike" cap="none" normalizeH="0" baseline="0" dirty="0">
                <a:ln>
                  <a:noFill/>
                </a:ln>
                <a:solidFill>
                  <a:schemeClr val="tx1"/>
                </a:solidFill>
                <a:effectLst/>
                <a:latin typeface="Arial" panose="020B0604020202020204" pitchFamily="34" charset="0"/>
              </a:rPr>
              <a:t>="index.html"&gt;Home&lt;/a&gt;&lt;/p&gt;</a:t>
            </a:r>
          </a:p>
          <a:p>
            <a:pPr marL="914400" lvl="2" indent="0" eaLnBrk="0" fontAlgn="base" hangingPunct="0">
              <a:lnSpc>
                <a:spcPct val="100000"/>
              </a:lnSpc>
              <a:spcBef>
                <a:spcPct val="0"/>
              </a:spcBef>
              <a:spcAft>
                <a:spcPct val="0"/>
              </a:spcAft>
              <a:buNone/>
            </a:pPr>
            <a:r>
              <a:rPr kumimoji="0" lang="en-US" altLang="en-US" sz="2200" b="0" i="0" u="none" strike="noStrike" cap="none" normalizeH="0" baseline="0" dirty="0">
                <a:ln>
                  <a:noFill/>
                </a:ln>
                <a:solidFill>
                  <a:schemeClr val="tx1"/>
                </a:solidFill>
                <a:effectLst/>
                <a:latin typeface="Arial" panose="020B0604020202020204" pitchFamily="34" charset="0"/>
              </a:rPr>
              <a:t>&lt;p&gt;&lt;a </a:t>
            </a:r>
            <a:r>
              <a:rPr kumimoji="0" lang="en-US" altLang="en-US" sz="2200" b="0" i="0" u="none" strike="noStrike" cap="none" normalizeH="0" baseline="0" dirty="0" err="1">
                <a:ln>
                  <a:noFill/>
                </a:ln>
                <a:solidFill>
                  <a:schemeClr val="tx1"/>
                </a:solidFill>
                <a:effectLst/>
                <a:latin typeface="Arial" panose="020B0604020202020204" pitchFamily="34" charset="0"/>
              </a:rPr>
              <a:t>href</a:t>
            </a:r>
            <a:r>
              <a:rPr kumimoji="0" lang="en-US" altLang="en-US" sz="2200" b="0" i="0" u="none" strike="noStrike" cap="none" normalizeH="0" baseline="0" dirty="0">
                <a:ln>
                  <a:noFill/>
                </a:ln>
                <a:solidFill>
                  <a:schemeClr val="tx1"/>
                </a:solidFill>
                <a:effectLst/>
                <a:latin typeface="Arial" panose="020B0604020202020204" pitchFamily="34" charset="0"/>
              </a:rPr>
              <a:t>="aboutpage.html"&gt;About Us&lt;/a&gt;&lt;/p&gt;</a:t>
            </a:r>
          </a:p>
        </p:txBody>
      </p:sp>
    </p:spTree>
    <p:extLst>
      <p:ext uri="{BB962C8B-B14F-4D97-AF65-F5344CB8AC3E}">
        <p14:creationId xmlns:p14="http://schemas.microsoft.com/office/powerpoint/2010/main" val="9762919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0BE95-9187-1758-7A17-D29B55A0E2AC}"/>
              </a:ext>
            </a:extLst>
          </p:cNvPr>
          <p:cNvSpPr>
            <a:spLocks noGrp="1"/>
          </p:cNvSpPr>
          <p:nvPr>
            <p:ph type="title"/>
          </p:nvPr>
        </p:nvSpPr>
        <p:spPr>
          <a:xfrm>
            <a:off x="838200" y="365126"/>
            <a:ext cx="10515600" cy="1187228"/>
          </a:xfrm>
        </p:spPr>
        <p:txBody>
          <a:bodyPr>
            <a:normAutofit fontScale="90000"/>
          </a:bodyPr>
          <a:lstStyle/>
          <a:p>
            <a:r>
              <a:rPr lang="en-US" b="0" i="0" dirty="0">
                <a:solidFill>
                  <a:srgbClr val="000000"/>
                </a:solidFill>
                <a:effectLst/>
                <a:latin typeface="Segoe UI" panose="020B0502040204020203" pitchFamily="34" charset="0"/>
              </a:rPr>
              <a:t>HTML Links - The target Attribute</a:t>
            </a:r>
            <a:br>
              <a:rPr lang="en-US" b="0" i="0" dirty="0">
                <a:solidFill>
                  <a:srgbClr val="000000"/>
                </a:solidFill>
                <a:effectLst/>
                <a:latin typeface="Segoe UI" panose="020B0502040204020203" pitchFamily="34" charset="0"/>
              </a:rPr>
            </a:br>
            <a:r>
              <a:rPr lang="en-US" dirty="0"/>
              <a:t/>
            </a:r>
            <a:br>
              <a:rPr lang="en-US" dirty="0"/>
            </a:br>
            <a:endParaRPr lang="en-US" dirty="0"/>
          </a:p>
        </p:txBody>
      </p:sp>
      <p:sp>
        <p:nvSpPr>
          <p:cNvPr id="3" name="Content Placeholder 2">
            <a:extLst>
              <a:ext uri="{FF2B5EF4-FFF2-40B4-BE49-F238E27FC236}">
                <a16:creationId xmlns:a16="http://schemas.microsoft.com/office/drawing/2014/main" id="{67E19B21-ADE7-A70C-C596-DF4E1DB6BC27}"/>
              </a:ext>
            </a:extLst>
          </p:cNvPr>
          <p:cNvSpPr>
            <a:spLocks noGrp="1"/>
          </p:cNvSpPr>
          <p:nvPr>
            <p:ph idx="1"/>
          </p:nvPr>
        </p:nvSpPr>
        <p:spPr>
          <a:xfrm>
            <a:off x="838200" y="1253330"/>
            <a:ext cx="10515600" cy="4924185"/>
          </a:xfrm>
        </p:spPr>
        <p:txBody>
          <a:bodyPr>
            <a:normAutofit fontScale="92500" lnSpcReduction="10000"/>
          </a:bodyPr>
          <a:lstStyle/>
          <a:p>
            <a:pPr marL="0" indent="0" algn="l">
              <a:buNone/>
            </a:pPr>
            <a:r>
              <a:rPr lang="en-US" b="0" i="0" u="sng" dirty="0">
                <a:solidFill>
                  <a:srgbClr val="000000"/>
                </a:solidFill>
                <a:effectLst/>
                <a:latin typeface="Verdana" panose="020B0604030504040204" pitchFamily="34" charset="0"/>
              </a:rPr>
              <a:t>NOTE: </a:t>
            </a:r>
            <a:r>
              <a:rPr lang="en-US" sz="2400" b="0" i="0" dirty="0">
                <a:solidFill>
                  <a:srgbClr val="000000"/>
                </a:solidFill>
                <a:effectLst/>
                <a:latin typeface="Verdana" panose="020B0604030504040204" pitchFamily="34" charset="0"/>
              </a:rPr>
              <a:t>By default, the linked page will be displayed in the current browser window. To change this, you must specify another target for the link.</a:t>
            </a:r>
          </a:p>
          <a:p>
            <a:pPr marL="0" indent="0" algn="l">
              <a:buNone/>
            </a:pPr>
            <a:endParaRPr lang="en-US" sz="2400" b="0" i="0" dirty="0">
              <a:solidFill>
                <a:srgbClr val="000000"/>
              </a:solidFill>
              <a:effectLst/>
              <a:latin typeface="Verdana" panose="020B0604030504040204" pitchFamily="34" charset="0"/>
            </a:endParaRPr>
          </a:p>
          <a:p>
            <a:pPr marL="0" indent="0" algn="l">
              <a:buNone/>
            </a:pPr>
            <a:r>
              <a:rPr lang="en-US" sz="2400" b="0" i="0" dirty="0">
                <a:solidFill>
                  <a:srgbClr val="000000"/>
                </a:solidFill>
                <a:effectLst/>
                <a:latin typeface="Verdana" panose="020B0604030504040204" pitchFamily="34" charset="0"/>
              </a:rPr>
              <a:t>The </a:t>
            </a:r>
            <a:r>
              <a:rPr lang="en-US" sz="2400" b="0" i="1" dirty="0">
                <a:solidFill>
                  <a:srgbClr val="FF0000"/>
                </a:solidFill>
                <a:effectLst/>
                <a:latin typeface="Verdana" panose="020B0604030504040204" pitchFamily="34" charset="0"/>
              </a:rPr>
              <a:t>target</a:t>
            </a:r>
            <a:r>
              <a:rPr lang="en-US" sz="2400" b="0" i="0" dirty="0">
                <a:solidFill>
                  <a:srgbClr val="000000"/>
                </a:solidFill>
                <a:effectLst/>
                <a:latin typeface="Verdana" panose="020B0604030504040204" pitchFamily="34" charset="0"/>
              </a:rPr>
              <a:t> attribute specifies where to open the linked document.</a:t>
            </a:r>
          </a:p>
          <a:p>
            <a:pPr marL="0" indent="0" algn="l">
              <a:buNone/>
            </a:pPr>
            <a:endParaRPr lang="en-US" sz="2400" b="0" i="0" dirty="0">
              <a:solidFill>
                <a:srgbClr val="000000"/>
              </a:solidFill>
              <a:effectLst/>
              <a:latin typeface="Verdana" panose="020B0604030504040204" pitchFamily="34" charset="0"/>
            </a:endParaRPr>
          </a:p>
          <a:p>
            <a:pPr marL="0" indent="0" algn="l">
              <a:buNone/>
            </a:pPr>
            <a:r>
              <a:rPr lang="en-US" sz="2400" b="0" i="0" dirty="0">
                <a:solidFill>
                  <a:srgbClr val="000000"/>
                </a:solidFill>
                <a:effectLst/>
                <a:latin typeface="Verdana" panose="020B0604030504040204" pitchFamily="34" charset="0"/>
              </a:rPr>
              <a:t>The </a:t>
            </a:r>
            <a:r>
              <a:rPr lang="en-US" sz="2400" b="0" i="1" dirty="0">
                <a:solidFill>
                  <a:srgbClr val="FF0000"/>
                </a:solidFill>
                <a:effectLst/>
                <a:latin typeface="Verdana" panose="020B0604030504040204" pitchFamily="34" charset="0"/>
              </a:rPr>
              <a:t>target</a:t>
            </a:r>
            <a:r>
              <a:rPr lang="en-US" sz="2400" b="0" i="0" dirty="0">
                <a:solidFill>
                  <a:srgbClr val="000000"/>
                </a:solidFill>
                <a:effectLst/>
                <a:latin typeface="Verdana" panose="020B0604030504040204" pitchFamily="34" charset="0"/>
              </a:rPr>
              <a:t> attribute can have one of the following values:</a:t>
            </a:r>
          </a:p>
          <a:p>
            <a:pPr marL="0" indent="0" algn="l">
              <a:buNone/>
            </a:pPr>
            <a:endParaRPr lang="en-US" sz="2400" b="0" i="0" dirty="0">
              <a:solidFill>
                <a:srgbClr val="000000"/>
              </a:solidFill>
              <a:effectLst/>
              <a:latin typeface="Verdana" panose="020B0604030504040204" pitchFamily="34" charset="0"/>
            </a:endParaRPr>
          </a:p>
          <a:p>
            <a:pPr marL="0" indent="0" algn="l">
              <a:buNone/>
            </a:pPr>
            <a:r>
              <a:rPr lang="en-US" sz="2400" b="0" i="1" dirty="0">
                <a:solidFill>
                  <a:srgbClr val="000000"/>
                </a:solidFill>
                <a:effectLst/>
                <a:latin typeface="Verdana" panose="020B0604030504040204" pitchFamily="34" charset="0"/>
              </a:rPr>
              <a:t>_self </a:t>
            </a:r>
            <a:r>
              <a:rPr lang="en-US" sz="2400" b="0" i="0" dirty="0">
                <a:solidFill>
                  <a:srgbClr val="000000"/>
                </a:solidFill>
                <a:effectLst/>
                <a:latin typeface="Verdana" panose="020B0604030504040204" pitchFamily="34" charset="0"/>
              </a:rPr>
              <a:t>- Default. Opens the document in the same window/tab as it was clicked</a:t>
            </a:r>
          </a:p>
          <a:p>
            <a:pPr marL="0" indent="0" algn="l">
              <a:buNone/>
            </a:pPr>
            <a:r>
              <a:rPr lang="en-US" sz="2400" b="0" i="1" dirty="0">
                <a:solidFill>
                  <a:srgbClr val="000000"/>
                </a:solidFill>
                <a:effectLst/>
                <a:latin typeface="Verdana" panose="020B0604030504040204" pitchFamily="34" charset="0"/>
              </a:rPr>
              <a:t>_blank </a:t>
            </a:r>
            <a:r>
              <a:rPr lang="en-US" sz="2400" b="0" i="0" dirty="0">
                <a:solidFill>
                  <a:srgbClr val="000000"/>
                </a:solidFill>
                <a:effectLst/>
                <a:latin typeface="Verdana" panose="020B0604030504040204" pitchFamily="34" charset="0"/>
              </a:rPr>
              <a:t>- Opens the document in a new window or tab</a:t>
            </a:r>
          </a:p>
          <a:p>
            <a:pPr marL="0" indent="0" algn="l">
              <a:buNone/>
            </a:pPr>
            <a:r>
              <a:rPr lang="en-US" sz="2400" b="0" i="1" dirty="0">
                <a:solidFill>
                  <a:srgbClr val="000000"/>
                </a:solidFill>
                <a:effectLst/>
                <a:latin typeface="Verdana" panose="020B0604030504040204" pitchFamily="34" charset="0"/>
              </a:rPr>
              <a:t>_parent </a:t>
            </a:r>
            <a:r>
              <a:rPr lang="en-US" sz="2400" b="0" i="0" dirty="0">
                <a:solidFill>
                  <a:srgbClr val="000000"/>
                </a:solidFill>
                <a:effectLst/>
                <a:latin typeface="Verdana" panose="020B0604030504040204" pitchFamily="34" charset="0"/>
              </a:rPr>
              <a:t>- Opens the document in the parent frame</a:t>
            </a:r>
          </a:p>
          <a:p>
            <a:pPr marL="0" indent="0" algn="l">
              <a:buNone/>
            </a:pPr>
            <a:r>
              <a:rPr lang="en-US" sz="2400" b="0" i="1" dirty="0">
                <a:solidFill>
                  <a:srgbClr val="000000"/>
                </a:solidFill>
                <a:effectLst/>
                <a:latin typeface="Verdana" panose="020B0604030504040204" pitchFamily="34" charset="0"/>
              </a:rPr>
              <a:t>_top </a:t>
            </a:r>
            <a:r>
              <a:rPr lang="en-US" sz="2400" b="0" i="0" dirty="0">
                <a:solidFill>
                  <a:srgbClr val="000000"/>
                </a:solidFill>
                <a:effectLst/>
                <a:latin typeface="Verdana" panose="020B0604030504040204" pitchFamily="34" charset="0"/>
              </a:rPr>
              <a:t>- Opens the document in the full body of the window</a:t>
            </a:r>
          </a:p>
          <a:p>
            <a:pPr marL="0" indent="0">
              <a:buNone/>
            </a:pPr>
            <a:endParaRPr lang="en-US" dirty="0"/>
          </a:p>
        </p:txBody>
      </p:sp>
    </p:spTree>
    <p:extLst>
      <p:ext uri="{BB962C8B-B14F-4D97-AF65-F5344CB8AC3E}">
        <p14:creationId xmlns:p14="http://schemas.microsoft.com/office/powerpoint/2010/main" val="2265522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016DA-9B92-B789-878C-C0D31B93037A}"/>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7AE0E7AB-7875-5DBA-3622-66D484DA500E}"/>
              </a:ext>
            </a:extLst>
          </p:cNvPr>
          <p:cNvSpPr>
            <a:spLocks noGrp="1"/>
          </p:cNvSpPr>
          <p:nvPr>
            <p:ph idx="1"/>
          </p:nvPr>
        </p:nvSpPr>
        <p:spPr/>
        <p:txBody>
          <a:bodyPr/>
          <a:lstStyle/>
          <a:p>
            <a:pPr marL="0" indent="0" algn="l">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="https://facebook.com/"</a:t>
            </a:r>
            <a:r>
              <a:rPr lang="en-US" b="0" i="0" dirty="0">
                <a:solidFill>
                  <a:srgbClr val="FF0000"/>
                </a:solidFill>
                <a:effectLst/>
                <a:latin typeface="Consolas" panose="020B0609020204030204" pitchFamily="49" charset="0"/>
              </a:rPr>
              <a:t> target</a:t>
            </a:r>
            <a:r>
              <a:rPr lang="en-US" b="0" i="0" dirty="0">
                <a:solidFill>
                  <a:srgbClr val="0000CD"/>
                </a:solidFill>
                <a:effectLst/>
                <a:latin typeface="Consolas" panose="020B0609020204030204" pitchFamily="49" charset="0"/>
              </a:rPr>
              <a:t>="_blank"&gt;</a:t>
            </a:r>
            <a:r>
              <a:rPr lang="en-US" b="0" i="0" dirty="0">
                <a:solidFill>
                  <a:srgbClr val="000000"/>
                </a:solidFill>
                <a:effectLst/>
                <a:latin typeface="Consolas" panose="020B0609020204030204" pitchFamily="49" charset="0"/>
              </a:rPr>
              <a:t>Visit Facebook!</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endParaRPr lang="en-US" b="0" i="0" dirty="0">
              <a:solidFill>
                <a:srgbClr val="000000"/>
              </a:solidFill>
              <a:effectLst/>
              <a:latin typeface="Consolas" panose="020B0609020204030204" pitchFamily="49" charset="0"/>
            </a:endParaRPr>
          </a:p>
          <a:p>
            <a:pPr marL="0" indent="0">
              <a:buNone/>
            </a:pPr>
            <a:endParaRPr lang="en-US" dirty="0">
              <a:solidFill>
                <a:srgbClr val="000000"/>
              </a:solidFill>
              <a:latin typeface="Consolas" panose="020B0609020204030204" pitchFamily="49" charset="0"/>
            </a:endParaRPr>
          </a:p>
          <a:p>
            <a:pPr marL="0" indent="0">
              <a:buNone/>
            </a:pPr>
            <a:r>
              <a:rPr lang="en-US" dirty="0">
                <a:solidFill>
                  <a:srgbClr val="000000"/>
                </a:solidFill>
                <a:latin typeface="Consolas" panose="020B0609020204030204" pitchFamily="49" charset="0"/>
              </a:rPr>
              <a:t>Question: Where do you think this link will take us to? Same webpage or a different one?</a:t>
            </a:r>
            <a:r>
              <a:rPr lang="en-US" dirty="0"/>
              <a:t/>
            </a:r>
            <a:br>
              <a:rPr lang="en-US" dirty="0"/>
            </a:br>
            <a:endParaRPr lang="en-US" dirty="0"/>
          </a:p>
        </p:txBody>
      </p:sp>
    </p:spTree>
    <p:extLst>
      <p:ext uri="{BB962C8B-B14F-4D97-AF65-F5344CB8AC3E}">
        <p14:creationId xmlns:p14="http://schemas.microsoft.com/office/powerpoint/2010/main" val="39690492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A0FA0-2B4F-D958-1578-33C9BBCDE8EC}"/>
              </a:ext>
            </a:extLst>
          </p:cNvPr>
          <p:cNvSpPr>
            <a:spLocks noGrp="1"/>
          </p:cNvSpPr>
          <p:nvPr>
            <p:ph type="title"/>
          </p:nvPr>
        </p:nvSpPr>
        <p:spPr/>
        <p:txBody>
          <a:bodyPr/>
          <a:lstStyle/>
          <a:p>
            <a:r>
              <a:rPr lang="en-US" dirty="0"/>
              <a:t>Link and Image</a:t>
            </a:r>
          </a:p>
        </p:txBody>
      </p:sp>
      <p:sp>
        <p:nvSpPr>
          <p:cNvPr id="3" name="Content Placeholder 2">
            <a:extLst>
              <a:ext uri="{FF2B5EF4-FFF2-40B4-BE49-F238E27FC236}">
                <a16:creationId xmlns:a16="http://schemas.microsoft.com/office/drawing/2014/main" id="{291B6AEC-05AE-7CCB-A099-D99AD822DA9E}"/>
              </a:ext>
            </a:extLst>
          </p:cNvPr>
          <p:cNvSpPr>
            <a:spLocks noGrp="1"/>
          </p:cNvSpPr>
          <p:nvPr>
            <p:ph idx="1"/>
          </p:nvPr>
        </p:nvSpPr>
        <p:spPr/>
        <p:txBody>
          <a:bodyPr/>
          <a:lstStyle/>
          <a:p>
            <a:pPr marL="0" indent="0">
              <a:buNone/>
            </a:pPr>
            <a:r>
              <a:rPr lang="en-US" dirty="0"/>
              <a:t>We can also use a link on our images such that when the image is clicked, it takes the user to another page</a:t>
            </a:r>
          </a:p>
          <a:p>
            <a:pPr marL="0" indent="0">
              <a:buNone/>
            </a:pPr>
            <a:endParaRPr lang="en-US" dirty="0"/>
          </a:p>
          <a:p>
            <a:pPr marL="0" indent="0">
              <a:buNone/>
            </a:pPr>
            <a:r>
              <a:rPr lang="en-US" u="sng" dirty="0"/>
              <a:t>The simple syntax for this:</a:t>
            </a:r>
          </a:p>
          <a:p>
            <a:pPr marL="0" indent="0">
              <a:buNone/>
            </a:pPr>
            <a:endParaRPr lang="en-US" dirty="0"/>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=""&gt;</a:t>
            </a:r>
            <a:r>
              <a:rPr lang="en-US" dirty="0"/>
              <a:t/>
            </a:r>
            <a:br>
              <a:rPr lang="en-US" dirty="0"/>
            </a:br>
            <a:r>
              <a:rPr lang="en-US" dirty="0"/>
              <a:t>	</a:t>
            </a:r>
            <a:r>
              <a:rPr lang="en-US" b="0" i="0" dirty="0">
                <a:solidFill>
                  <a:srgbClr val="0000CD"/>
                </a:solidFill>
                <a:effectLst/>
                <a:latin typeface="Consolas" panose="020B0609020204030204" pitchFamily="49" charset="0"/>
              </a:rPr>
              <a:t>&lt;</a:t>
            </a:r>
            <a:r>
              <a:rPr lang="en-US" b="0" i="0" dirty="0" err="1">
                <a:solidFill>
                  <a:srgbClr val="A52A2A"/>
                </a:solidFill>
                <a:effectLst/>
                <a:latin typeface="Consolas" panose="020B0609020204030204" pitchFamily="49" charset="0"/>
              </a:rPr>
              <a:t>img</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src</a:t>
            </a:r>
            <a:r>
              <a:rPr lang="en-US" b="0" i="0" dirty="0">
                <a:solidFill>
                  <a:srgbClr val="0000CD"/>
                </a:solidFill>
                <a:effectLst/>
                <a:latin typeface="Consolas" panose="020B0609020204030204" pitchFamily="49" charset="0"/>
              </a:rPr>
              <a:t>=""</a:t>
            </a:r>
            <a:r>
              <a:rPr lang="en-US" b="0" i="0" dirty="0">
                <a:solidFill>
                  <a:srgbClr val="FF0000"/>
                </a:solidFill>
                <a:effectLst/>
                <a:latin typeface="Consolas" panose="020B0609020204030204" pitchFamily="49" charset="0"/>
              </a:rPr>
              <a:t> alt</a:t>
            </a:r>
            <a:r>
              <a:rPr lang="en-US" b="0" i="0" dirty="0">
                <a:solidFill>
                  <a:srgbClr val="0000CD"/>
                </a:solidFill>
                <a:effectLst/>
                <a:latin typeface="Consolas" panose="020B0609020204030204" pitchFamily="49" charset="0"/>
              </a:rPr>
              <a:t>=""</a:t>
            </a:r>
            <a:r>
              <a:rPr lang="en-US" b="0" i="0" dirty="0">
                <a:solidFill>
                  <a:srgbClr val="FF0000"/>
                </a:solidFill>
                <a:effectLst/>
                <a:latin typeface="Consolas" panose="020B0609020204030204" pitchFamily="49" charset="0"/>
              </a:rPr>
              <a:t> style</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endParaRPr lang="en-US" dirty="0"/>
          </a:p>
        </p:txBody>
      </p:sp>
    </p:spTree>
    <p:extLst>
      <p:ext uri="{BB962C8B-B14F-4D97-AF65-F5344CB8AC3E}">
        <p14:creationId xmlns:p14="http://schemas.microsoft.com/office/powerpoint/2010/main" val="2588324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B2EE7-0BFD-CCF8-1E2D-7BC10AFC0609}"/>
              </a:ext>
            </a:extLst>
          </p:cNvPr>
          <p:cNvSpPr>
            <a:spLocks noGrp="1"/>
          </p:cNvSpPr>
          <p:nvPr>
            <p:ph type="title"/>
          </p:nvPr>
        </p:nvSpPr>
        <p:spPr>
          <a:xfrm>
            <a:off x="838200" y="681037"/>
            <a:ext cx="10515600" cy="1009651"/>
          </a:xfrm>
        </p:spPr>
        <p:txBody>
          <a:bodyPr>
            <a:normAutofit fontScale="90000"/>
          </a:bodyPr>
          <a:lstStyle/>
          <a:p>
            <a:r>
              <a:rPr lang="en-US" b="0" i="0" dirty="0">
                <a:solidFill>
                  <a:srgbClr val="000000"/>
                </a:solidFill>
                <a:effectLst/>
                <a:latin typeface="Segoe UI" panose="020B0502040204020203" pitchFamily="34" charset="0"/>
              </a:rPr>
              <a:t>Link </a:t>
            </a:r>
            <a:r>
              <a:rPr lang="en-US" dirty="0">
                <a:solidFill>
                  <a:srgbClr val="000000"/>
                </a:solidFill>
                <a:latin typeface="Segoe UI" panose="020B0502040204020203" pitchFamily="34" charset="0"/>
              </a:rPr>
              <a:t>and </a:t>
            </a:r>
            <a:r>
              <a:rPr lang="en-US" b="0" i="0" dirty="0">
                <a:solidFill>
                  <a:srgbClr val="000000"/>
                </a:solidFill>
                <a:effectLst/>
                <a:latin typeface="Segoe UI" panose="020B0502040204020203" pitchFamily="34" charset="0"/>
              </a:rPr>
              <a:t>Email Address</a:t>
            </a:r>
            <a:br>
              <a:rPr lang="en-US" b="0" i="0" dirty="0">
                <a:solidFill>
                  <a:srgbClr val="000000"/>
                </a:solidFill>
                <a:effectLst/>
                <a:latin typeface="Segoe UI" panose="020B0502040204020203" pitchFamily="34" charset="0"/>
              </a:rPr>
            </a:br>
            <a:r>
              <a:rPr lang="en-US" dirty="0"/>
              <a:t/>
            </a:r>
            <a:br>
              <a:rPr lang="en-US" dirty="0"/>
            </a:br>
            <a:endParaRPr lang="en-US" dirty="0"/>
          </a:p>
        </p:txBody>
      </p:sp>
      <p:sp>
        <p:nvSpPr>
          <p:cNvPr id="3" name="Content Placeholder 2">
            <a:extLst>
              <a:ext uri="{FF2B5EF4-FFF2-40B4-BE49-F238E27FC236}">
                <a16:creationId xmlns:a16="http://schemas.microsoft.com/office/drawing/2014/main" id="{FE903877-4215-A62C-9C2D-EB40140F47A3}"/>
              </a:ext>
            </a:extLst>
          </p:cNvPr>
          <p:cNvSpPr>
            <a:spLocks noGrp="1"/>
          </p:cNvSpPr>
          <p:nvPr>
            <p:ph idx="1"/>
          </p:nvPr>
        </p:nvSpPr>
        <p:spPr>
          <a:xfrm>
            <a:off x="838200" y="1424762"/>
            <a:ext cx="10515600" cy="5209953"/>
          </a:xfrm>
        </p:spPr>
        <p:txBody>
          <a:bodyPr>
            <a:normAutofit fontScale="85000" lnSpcReduction="20000"/>
          </a:bodyPr>
          <a:lstStyle/>
          <a:p>
            <a:pPr marL="0" indent="0">
              <a:buNone/>
            </a:pPr>
            <a:r>
              <a:rPr lang="en-US" dirty="0"/>
              <a:t>Use </a:t>
            </a:r>
            <a:r>
              <a:rPr lang="en-US" i="1" dirty="0">
                <a:solidFill>
                  <a:srgbClr val="FF0000"/>
                </a:solidFill>
              </a:rPr>
              <a:t>mailto: or  </a:t>
            </a:r>
            <a:r>
              <a:rPr lang="en-US" i="1" dirty="0" err="1">
                <a:solidFill>
                  <a:srgbClr val="FF0000"/>
                </a:solidFill>
              </a:rPr>
              <a:t>tel</a:t>
            </a:r>
            <a:r>
              <a:rPr lang="en-US" i="1" dirty="0">
                <a:solidFill>
                  <a:srgbClr val="FF0000"/>
                </a:solidFill>
              </a:rPr>
              <a:t>:  </a:t>
            </a:r>
            <a:r>
              <a:rPr lang="en-US" dirty="0"/>
              <a:t>inside the </a:t>
            </a:r>
            <a:r>
              <a:rPr lang="en-US" i="1" dirty="0" err="1">
                <a:solidFill>
                  <a:srgbClr val="FF0000"/>
                </a:solidFill>
              </a:rPr>
              <a:t>href</a:t>
            </a:r>
            <a:r>
              <a:rPr lang="en-US" dirty="0"/>
              <a:t> attribute to create a link that opens the user's email program that allows them send a new email and to allow them open phone directly to the number in the </a:t>
            </a:r>
            <a:r>
              <a:rPr lang="en-US" i="1" dirty="0" err="1">
                <a:solidFill>
                  <a:srgbClr val="FF0000"/>
                </a:solidFill>
              </a:rPr>
              <a:t>tel</a:t>
            </a:r>
            <a:r>
              <a:rPr lang="en-US" i="1" dirty="0">
                <a:solidFill>
                  <a:srgbClr val="FF0000"/>
                </a:solidFill>
              </a:rPr>
              <a:t>:</a:t>
            </a:r>
            <a:r>
              <a:rPr lang="en-US" dirty="0"/>
              <a:t> </a:t>
            </a:r>
            <a:r>
              <a:rPr lang="en-US" dirty="0" err="1"/>
              <a:t>href</a:t>
            </a:r>
            <a:r>
              <a:rPr lang="en-US" dirty="0"/>
              <a:t>.</a:t>
            </a:r>
          </a:p>
          <a:p>
            <a:pPr marL="0" indent="0">
              <a:buNone/>
            </a:pPr>
            <a:endParaRPr lang="en-US" dirty="0"/>
          </a:p>
          <a:p>
            <a:pPr marL="0" indent="0" algn="l">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="mailto:someone@example.com"&gt;</a:t>
            </a:r>
            <a:r>
              <a:rPr lang="en-US" b="0" i="0" dirty="0">
                <a:solidFill>
                  <a:srgbClr val="000000"/>
                </a:solidFill>
                <a:effectLst/>
                <a:latin typeface="Consolas" panose="020B0609020204030204" pitchFamily="49" charset="0"/>
              </a:rPr>
              <a:t>Send email</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p>
          <a:p>
            <a:pPr marL="0" indent="0" algn="l">
              <a:buNone/>
            </a:pPr>
            <a:endParaRPr lang="en-US" b="0" i="0" dirty="0">
              <a:solidFill>
                <a:srgbClr val="000000"/>
              </a:solidFill>
              <a:effectLst/>
              <a:latin typeface="Consolas" panose="020B0609020204030204" pitchFamily="49" charset="0"/>
            </a:endParaRP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="tel:027426474"&gt; 027426474 &lt;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endParaRPr lang="en-US" b="0" i="0" dirty="0">
              <a:solidFill>
                <a:srgbClr val="000000"/>
              </a:solidFill>
              <a:effectLst/>
              <a:latin typeface="Consolas" panose="020B0609020204030204" pitchFamily="49" charset="0"/>
            </a:endParaRPr>
          </a:p>
          <a:p>
            <a:pPr algn="l"/>
            <a:r>
              <a:rPr lang="en-US" dirty="0">
                <a:solidFill>
                  <a:srgbClr val="FFFFFF"/>
                </a:solidFill>
                <a:latin typeface="Source Sans Pro" panose="020B0503030403020204" pitchFamily="34" charset="0"/>
              </a:rPr>
              <a:t>Try it You</a:t>
            </a:r>
            <a:endParaRPr lang="en-US" dirty="0"/>
          </a:p>
          <a:p>
            <a:pPr marL="0" indent="0">
              <a:buNone/>
            </a:pPr>
            <a:r>
              <a:rPr lang="en-US" sz="4300" dirty="0"/>
              <a:t>Link and Titles</a:t>
            </a:r>
          </a:p>
          <a:p>
            <a:pPr marL="0" indent="0">
              <a:buNone/>
            </a:pPr>
            <a:r>
              <a:rPr lang="en-US" dirty="0"/>
              <a:t>The title attribute specifies extra information about an element. The information is most often shown as a tooltip text when the mouse moves over the element.</a:t>
            </a:r>
          </a:p>
          <a:p>
            <a:pPr marL="0" indent="0">
              <a:buNone/>
            </a:pPr>
            <a:endParaRPr lang="en-US" dirty="0"/>
          </a:p>
          <a:p>
            <a:pPr marL="0" indent="0">
              <a:buNone/>
            </a:pPr>
            <a:r>
              <a:rPr lang="en-US" dirty="0"/>
              <a:t>Example</a:t>
            </a:r>
          </a:p>
          <a:p>
            <a:pPr marL="0" indent="0">
              <a:buNone/>
            </a:pPr>
            <a:r>
              <a:rPr lang="en-US" dirty="0"/>
              <a:t>&lt;a </a:t>
            </a:r>
            <a:r>
              <a:rPr lang="en-US" dirty="0" err="1"/>
              <a:t>href</a:t>
            </a:r>
            <a:r>
              <a:rPr lang="en-US" dirty="0"/>
              <a:t>="https://www.facebook.com" </a:t>
            </a:r>
            <a:r>
              <a:rPr lang="en-US" dirty="0">
                <a:solidFill>
                  <a:srgbClr val="0070C0"/>
                </a:solidFill>
              </a:rPr>
              <a:t>title</a:t>
            </a:r>
            <a:r>
              <a:rPr lang="en-US" dirty="0">
                <a:solidFill>
                  <a:srgbClr val="FF0000"/>
                </a:solidFill>
              </a:rPr>
              <a:t>="Go to Facebook"</a:t>
            </a:r>
            <a:r>
              <a:rPr lang="en-US" dirty="0"/>
              <a:t>&gt;Visit Facebook&lt;/a&gt;</a:t>
            </a:r>
          </a:p>
          <a:p>
            <a:pPr marL="0" indent="0">
              <a:buNone/>
            </a:pPr>
            <a:endParaRPr lang="en-US" dirty="0"/>
          </a:p>
        </p:txBody>
      </p:sp>
    </p:spTree>
    <p:extLst>
      <p:ext uri="{BB962C8B-B14F-4D97-AF65-F5344CB8AC3E}">
        <p14:creationId xmlns:p14="http://schemas.microsoft.com/office/powerpoint/2010/main" val="2070599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latin typeface="Baskerville Old Face" panose="02020602080505020303" pitchFamily="18" charset="0"/>
              </a:rPr>
              <a:t>Quick Class Exercise</a:t>
            </a:r>
            <a:endParaRPr lang="en-US" b="1" i="1" dirty="0">
              <a:latin typeface="Baskerville Old Face" panose="02020602080505020303"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ü"/>
            </a:pPr>
            <a:r>
              <a:rPr lang="en-US" dirty="0" smtClean="0"/>
              <a:t> Create two webpages, link them together such that users can navigate between both. Make each page have image and text, </a:t>
            </a:r>
            <a:r>
              <a:rPr lang="en-US" b="1" dirty="0" smtClean="0"/>
              <a:t>a lot of text </a:t>
            </a:r>
            <a:r>
              <a:rPr lang="en-US" dirty="0" smtClean="0"/>
              <a:t>using four paragraph tags. </a:t>
            </a:r>
          </a:p>
          <a:p>
            <a:pPr>
              <a:buFont typeface="Wingdings" panose="05000000000000000000" pitchFamily="2" charset="2"/>
              <a:buChar char="ü"/>
            </a:pPr>
            <a:r>
              <a:rPr lang="en-US" dirty="0"/>
              <a:t>Quick lorem shortcut – lorem100</a:t>
            </a:r>
          </a:p>
          <a:p>
            <a:pPr>
              <a:buFont typeface="Wingdings" panose="05000000000000000000" pitchFamily="2" charset="2"/>
              <a:buChar char="ü"/>
            </a:pPr>
            <a:r>
              <a:rPr lang="en-US" dirty="0"/>
              <a:t> </a:t>
            </a:r>
            <a:r>
              <a:rPr lang="en-US" dirty="0" smtClean="0"/>
              <a:t>15 </a:t>
            </a:r>
            <a:r>
              <a:rPr lang="en-US" dirty="0" err="1"/>
              <a:t>mins</a:t>
            </a:r>
            <a:r>
              <a:rPr lang="en-US" dirty="0" smtClean="0"/>
              <a:t>.</a:t>
            </a:r>
            <a:endParaRPr lang="en-US" dirty="0"/>
          </a:p>
        </p:txBody>
      </p:sp>
    </p:spTree>
    <p:extLst>
      <p:ext uri="{BB962C8B-B14F-4D97-AF65-F5344CB8AC3E}">
        <p14:creationId xmlns:p14="http://schemas.microsoft.com/office/powerpoint/2010/main" val="960388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80CA2-7185-42ED-23CA-F42BEE197B5F}"/>
              </a:ext>
            </a:extLst>
          </p:cNvPr>
          <p:cNvSpPr>
            <a:spLocks noGrp="1"/>
          </p:cNvSpPr>
          <p:nvPr>
            <p:ph type="title"/>
          </p:nvPr>
        </p:nvSpPr>
        <p:spPr>
          <a:xfrm>
            <a:off x="838200" y="0"/>
            <a:ext cx="10515600" cy="1325563"/>
          </a:xfrm>
        </p:spPr>
        <p:txBody>
          <a:bodyPr/>
          <a:lstStyle/>
          <a:p>
            <a:r>
              <a:rPr lang="en-US" b="1" dirty="0"/>
              <a:t>LINKING TO SPECIFIC PARTS OF A WEBPAGE</a:t>
            </a:r>
          </a:p>
        </p:txBody>
      </p:sp>
      <p:sp>
        <p:nvSpPr>
          <p:cNvPr id="3" name="Content Placeholder 2">
            <a:extLst>
              <a:ext uri="{FF2B5EF4-FFF2-40B4-BE49-F238E27FC236}">
                <a16:creationId xmlns:a16="http://schemas.microsoft.com/office/drawing/2014/main" id="{50FEA7E4-6192-5555-1567-051342E191AF}"/>
              </a:ext>
            </a:extLst>
          </p:cNvPr>
          <p:cNvSpPr>
            <a:spLocks noGrp="1"/>
          </p:cNvSpPr>
          <p:nvPr>
            <p:ph idx="1"/>
          </p:nvPr>
        </p:nvSpPr>
        <p:spPr>
          <a:xfrm>
            <a:off x="838200" y="1325563"/>
            <a:ext cx="10515600" cy="4755928"/>
          </a:xfrm>
        </p:spPr>
        <p:txBody>
          <a:bodyPr>
            <a:normAutofit/>
          </a:bodyPr>
          <a:lstStyle/>
          <a:p>
            <a:pPr marL="342900" indent="-342900">
              <a:spcBef>
                <a:spcPts val="640"/>
              </a:spcBef>
              <a:spcAft>
                <a:spcPts val="0"/>
              </a:spcAft>
              <a:buClr>
                <a:schemeClr val="accent3">
                  <a:lumMod val="50000"/>
                </a:schemeClr>
              </a:buClr>
              <a:buSzPts val="3200"/>
              <a:buFont typeface="Wingdings" pitchFamily="2" charset="2"/>
              <a:buChar char="§"/>
              <a:defRPr/>
            </a:pPr>
            <a:r>
              <a:rPr lang="en-US" dirty="0">
                <a:solidFill>
                  <a:schemeClr val="dk1"/>
                </a:solidFill>
                <a:ea typeface="Calibri"/>
                <a:cs typeface="Calibri"/>
                <a:sym typeface="Calibri"/>
              </a:rPr>
              <a:t>It is possible to link to a specific part of an HTML document, rather than just to the top of the document. </a:t>
            </a:r>
            <a:endParaRPr lang="en-US" dirty="0"/>
          </a:p>
          <a:p>
            <a:pPr marL="342900" indent="-342900">
              <a:spcBef>
                <a:spcPts val="640"/>
              </a:spcBef>
              <a:spcAft>
                <a:spcPts val="0"/>
              </a:spcAft>
              <a:buClr>
                <a:schemeClr val="accent3">
                  <a:lumMod val="50000"/>
                </a:schemeClr>
              </a:buClr>
              <a:buSzPts val="3200"/>
              <a:buFont typeface="Wingdings" pitchFamily="2" charset="2"/>
              <a:buChar char="§"/>
              <a:defRPr/>
            </a:pPr>
            <a:r>
              <a:rPr lang="en-US" dirty="0">
                <a:solidFill>
                  <a:schemeClr val="dk1"/>
                </a:solidFill>
                <a:ea typeface="Calibri"/>
                <a:cs typeface="Calibri"/>
                <a:sym typeface="Calibri"/>
              </a:rPr>
              <a:t>To do this you first have to assign an </a:t>
            </a:r>
            <a:r>
              <a:rPr lang="en-US" b="1" i="1" dirty="0">
                <a:solidFill>
                  <a:schemeClr val="dk1"/>
                </a:solidFill>
                <a:ea typeface="Calibri"/>
                <a:cs typeface="Calibri"/>
                <a:sym typeface="Calibri"/>
              </a:rPr>
              <a:t>id</a:t>
            </a:r>
            <a:r>
              <a:rPr lang="en-US" dirty="0">
                <a:solidFill>
                  <a:schemeClr val="dk1"/>
                </a:solidFill>
                <a:ea typeface="Calibri"/>
                <a:cs typeface="Calibri"/>
                <a:sym typeface="Calibri"/>
              </a:rPr>
              <a:t> attribute to the element you want to link to.</a:t>
            </a:r>
            <a:endParaRPr lang="en-US" dirty="0"/>
          </a:p>
          <a:p>
            <a:pPr marL="342900" indent="-342900">
              <a:spcBef>
                <a:spcPts val="640"/>
              </a:spcBef>
              <a:spcAft>
                <a:spcPts val="0"/>
              </a:spcAft>
              <a:buClr>
                <a:schemeClr val="accent3">
                  <a:lumMod val="50000"/>
                </a:schemeClr>
              </a:buClr>
              <a:buSzPts val="3200"/>
              <a:buFont typeface="Wingdings" pitchFamily="2" charset="2"/>
              <a:buChar char="§"/>
              <a:defRPr/>
            </a:pPr>
            <a:r>
              <a:rPr lang="en-US" dirty="0">
                <a:solidFill>
                  <a:schemeClr val="dk1"/>
                </a:solidFill>
                <a:ea typeface="Calibri"/>
                <a:cs typeface="Calibri"/>
                <a:sym typeface="Calibri"/>
              </a:rPr>
              <a:t>Specify the link and add the id preceded by a </a:t>
            </a:r>
            <a:r>
              <a:rPr lang="en-US" dirty="0" smtClean="0">
                <a:solidFill>
                  <a:schemeClr val="dk1"/>
                </a:solidFill>
                <a:ea typeface="Calibri"/>
                <a:cs typeface="Calibri"/>
                <a:sym typeface="Calibri"/>
              </a:rPr>
              <a:t>hash </a:t>
            </a:r>
            <a:r>
              <a:rPr lang="en-US" dirty="0">
                <a:solidFill>
                  <a:schemeClr val="dk1"/>
                </a:solidFill>
                <a:ea typeface="Calibri"/>
                <a:cs typeface="Calibri"/>
                <a:sym typeface="Calibri"/>
              </a:rPr>
              <a:t>symbol.</a:t>
            </a:r>
          </a:p>
          <a:p>
            <a:pPr marL="342900" indent="-342900">
              <a:spcBef>
                <a:spcPts val="640"/>
              </a:spcBef>
              <a:spcAft>
                <a:spcPts val="0"/>
              </a:spcAft>
              <a:buClr>
                <a:schemeClr val="accent3">
                  <a:lumMod val="50000"/>
                </a:schemeClr>
              </a:buClr>
              <a:buSzPts val="3200"/>
              <a:buFont typeface="Wingdings" pitchFamily="2" charset="2"/>
              <a:buChar char="§"/>
              <a:defRPr/>
            </a:pPr>
            <a:r>
              <a:rPr lang="en-US" dirty="0">
                <a:solidFill>
                  <a:schemeClr val="dk1"/>
                </a:solidFill>
                <a:ea typeface="Calibri"/>
                <a:cs typeface="Calibri"/>
                <a:sym typeface="Calibri"/>
              </a:rPr>
              <a:t>For example: &lt;a </a:t>
            </a:r>
            <a:r>
              <a:rPr lang="en-US" dirty="0" err="1">
                <a:solidFill>
                  <a:schemeClr val="dk1"/>
                </a:solidFill>
                <a:ea typeface="Calibri"/>
                <a:cs typeface="Calibri"/>
                <a:sym typeface="Calibri"/>
              </a:rPr>
              <a:t>href</a:t>
            </a:r>
            <a:r>
              <a:rPr lang="en-US" dirty="0">
                <a:solidFill>
                  <a:schemeClr val="dk1"/>
                </a:solidFill>
                <a:ea typeface="Calibri"/>
                <a:cs typeface="Calibri"/>
                <a:sym typeface="Calibri"/>
              </a:rPr>
              <a:t>='#likes'&gt;Hobbies&lt;/a&gt; means that when a user clicks on Hobbies, they will be on the same page, but will be taken to the part where there is a tag with attribute id=‘likes’. Note that the tag can be any tag, for example it might be : &lt;p id=‘likes’&gt;This paragraph talks about what I like doing…&lt;/p&gt;</a:t>
            </a:r>
          </a:p>
          <a:p>
            <a:pPr>
              <a:spcBef>
                <a:spcPts val="640"/>
              </a:spcBef>
              <a:spcAft>
                <a:spcPts val="0"/>
              </a:spcAft>
              <a:buClr>
                <a:schemeClr val="dk1"/>
              </a:buClr>
              <a:buSzPts val="3200"/>
              <a:defRPr/>
            </a:pPr>
            <a:endParaRPr lang="en-US" dirty="0">
              <a:solidFill>
                <a:schemeClr val="dk1"/>
              </a:solidFill>
              <a:ea typeface="Calibri"/>
              <a:cs typeface="Calibri"/>
              <a:sym typeface="Calibri"/>
            </a:endParaRPr>
          </a:p>
          <a:p>
            <a:pPr marL="0" indent="0">
              <a:buNone/>
            </a:pPr>
            <a:endParaRPr lang="en-US" dirty="0"/>
          </a:p>
        </p:txBody>
      </p:sp>
    </p:spTree>
    <p:extLst>
      <p:ext uri="{BB962C8B-B14F-4D97-AF65-F5344CB8AC3E}">
        <p14:creationId xmlns:p14="http://schemas.microsoft.com/office/powerpoint/2010/main" val="42501630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smtClean="0">
                <a:latin typeface="Baskerville Old Face" panose="02020602080505020303" pitchFamily="18" charset="0"/>
              </a:rPr>
              <a:t>Quick Class Exercise</a:t>
            </a:r>
            <a:endParaRPr lang="en-US" b="1" i="1" dirty="0">
              <a:latin typeface="Baskerville Old Face" panose="02020602080505020303" pitchFamily="18" charset="0"/>
            </a:endParaRPr>
          </a:p>
        </p:txBody>
      </p:sp>
      <p:sp>
        <p:nvSpPr>
          <p:cNvPr id="3" name="Content Placeholder 2"/>
          <p:cNvSpPr>
            <a:spLocks noGrp="1"/>
          </p:cNvSpPr>
          <p:nvPr>
            <p:ph idx="1"/>
          </p:nvPr>
        </p:nvSpPr>
        <p:spPr>
          <a:xfrm>
            <a:off x="838200" y="2912881"/>
            <a:ext cx="10515600" cy="3264081"/>
          </a:xfrm>
        </p:spPr>
        <p:txBody>
          <a:bodyPr>
            <a:normAutofit/>
          </a:bodyPr>
          <a:lstStyle/>
          <a:p>
            <a:pPr>
              <a:buFont typeface="Wingdings" panose="05000000000000000000" pitchFamily="2" charset="2"/>
              <a:buChar char="ü"/>
            </a:pPr>
            <a:r>
              <a:rPr lang="en-US" sz="3200" dirty="0" smtClean="0"/>
              <a:t> </a:t>
            </a:r>
            <a:r>
              <a:rPr lang="en-US" sz="3200" b="1" dirty="0" smtClean="0">
                <a:solidFill>
                  <a:schemeClr val="dk1"/>
                </a:solidFill>
                <a:ea typeface="Calibri"/>
                <a:cs typeface="Calibri"/>
                <a:sym typeface="Calibri"/>
              </a:rPr>
              <a:t>Now update your recent class exercise by adding two menu links at the top of each page and make it link to different section of that page when clicked.</a:t>
            </a:r>
          </a:p>
          <a:p>
            <a:pPr>
              <a:buFont typeface="Wingdings" panose="05000000000000000000" pitchFamily="2" charset="2"/>
              <a:buChar char="ü"/>
            </a:pPr>
            <a:r>
              <a:rPr lang="en-US" sz="3200" dirty="0" smtClean="0"/>
              <a:t>10 </a:t>
            </a:r>
            <a:r>
              <a:rPr lang="en-US" sz="3200" dirty="0" err="1" smtClean="0"/>
              <a:t>mins</a:t>
            </a:r>
            <a:r>
              <a:rPr lang="en-US" sz="3200" dirty="0" smtClean="0"/>
              <a:t>.</a:t>
            </a:r>
            <a:endParaRPr lang="en-US" sz="3200" dirty="0"/>
          </a:p>
          <a:p>
            <a:pPr>
              <a:buFont typeface="Wingdings" panose="05000000000000000000" pitchFamily="2" charset="2"/>
              <a:buChar char="ü"/>
            </a:pPr>
            <a:endParaRPr lang="en-US" sz="3200" dirty="0" smtClean="0"/>
          </a:p>
        </p:txBody>
      </p:sp>
    </p:spTree>
    <p:extLst>
      <p:ext uri="{BB962C8B-B14F-4D97-AF65-F5344CB8AC3E}">
        <p14:creationId xmlns:p14="http://schemas.microsoft.com/office/powerpoint/2010/main" val="1038574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EAB2A0-B084-7CC9-7236-43CB1B4610A8}"/>
              </a:ext>
            </a:extLst>
          </p:cNvPr>
          <p:cNvSpPr>
            <a:spLocks noGrp="1"/>
          </p:cNvSpPr>
          <p:nvPr>
            <p:ph type="title"/>
          </p:nvPr>
        </p:nvSpPr>
        <p:spPr>
          <a:xfrm>
            <a:off x="838200" y="1"/>
            <a:ext cx="10515600" cy="861236"/>
          </a:xfrm>
        </p:spPr>
        <p:txBody>
          <a:bodyPr/>
          <a:lstStyle/>
          <a:p>
            <a:r>
              <a:rPr lang="en-US" b="1" dirty="0"/>
              <a:t>Adding Favicon to your webpage</a:t>
            </a:r>
          </a:p>
        </p:txBody>
      </p:sp>
      <p:sp>
        <p:nvSpPr>
          <p:cNvPr id="3" name="Content Placeholder 2">
            <a:extLst>
              <a:ext uri="{FF2B5EF4-FFF2-40B4-BE49-F238E27FC236}">
                <a16:creationId xmlns:a16="http://schemas.microsoft.com/office/drawing/2014/main" id="{9A16EF9F-D64C-3284-17D2-330696ED8575}"/>
              </a:ext>
            </a:extLst>
          </p:cNvPr>
          <p:cNvSpPr>
            <a:spLocks noGrp="1"/>
          </p:cNvSpPr>
          <p:nvPr>
            <p:ph idx="1"/>
          </p:nvPr>
        </p:nvSpPr>
        <p:spPr>
          <a:xfrm>
            <a:off x="274675" y="1169581"/>
            <a:ext cx="11644423" cy="5146158"/>
          </a:xfrm>
        </p:spPr>
        <p:txBody>
          <a:bodyPr>
            <a:normAutofit lnSpcReduction="10000"/>
          </a:bodyPr>
          <a:lstStyle/>
          <a:p>
            <a:pPr marL="0" indent="0">
              <a:buNone/>
            </a:pPr>
            <a:r>
              <a:rPr lang="en-US" b="0" i="0" dirty="0">
                <a:effectLst/>
                <a:latin typeface="Consolas" panose="020B0609020204030204" pitchFamily="49" charset="0"/>
              </a:rPr>
              <a:t>A favicon is a small image displayed next to the page title in the browser tab. You can create your own favicon from </a:t>
            </a:r>
            <a:r>
              <a:rPr lang="en-US" b="0" i="1" u="sng" dirty="0">
                <a:solidFill>
                  <a:srgbClr val="0070C0"/>
                </a:solidFill>
                <a:effectLst/>
                <a:latin typeface="Consolas" panose="020B0609020204030204" pitchFamily="49" charset="0"/>
                <a:hlinkClick r:id="rId2"/>
              </a:rPr>
              <a:t>https://favicon.io</a:t>
            </a:r>
            <a:endParaRPr lang="en-US" b="0" i="1" u="sng" dirty="0">
              <a:solidFill>
                <a:srgbClr val="0070C0"/>
              </a:solidFill>
              <a:effectLst/>
              <a:latin typeface="Consolas" panose="020B0609020204030204" pitchFamily="49" charset="0"/>
            </a:endParaRPr>
          </a:p>
          <a:p>
            <a:pPr marL="0" indent="0">
              <a:buNone/>
            </a:pPr>
            <a:endParaRPr lang="en-US" b="0" i="1" u="sng" dirty="0">
              <a:solidFill>
                <a:srgbClr val="0070C0"/>
              </a:solidFill>
              <a:effectLst/>
              <a:latin typeface="Consolas" panose="020B0609020204030204" pitchFamily="49" charset="0"/>
            </a:endParaRPr>
          </a:p>
          <a:p>
            <a:pPr marL="0" indent="0">
              <a:buNone/>
            </a:pPr>
            <a:r>
              <a:rPr lang="en-US" b="0" i="0" dirty="0">
                <a:effectLst/>
                <a:latin typeface="Consolas" panose="020B0609020204030204" pitchFamily="49" charset="0"/>
              </a:rPr>
              <a:t>The favicon is added </a:t>
            </a:r>
            <a:r>
              <a:rPr lang="en-US" dirty="0">
                <a:latin typeface="Consolas" panose="020B0609020204030204" pitchFamily="49" charset="0"/>
              </a:rPr>
              <a:t>to your webpage in the head session of the page using the link tag.</a:t>
            </a:r>
            <a:endParaRPr lang="en-US" b="0" i="0" dirty="0">
              <a:effectLst/>
              <a:latin typeface="Consolas" panose="020B0609020204030204" pitchFamily="49" charset="0"/>
            </a:endParaRPr>
          </a:p>
          <a:p>
            <a:pPr marL="0" indent="0">
              <a:buNone/>
            </a:pPr>
            <a:endParaRPr lang="en-US" u="sng" dirty="0">
              <a:solidFill>
                <a:srgbClr val="0070C0"/>
              </a:solidFill>
              <a:latin typeface="Consolas" panose="020B0609020204030204" pitchFamily="49" charset="0"/>
            </a:endParaRPr>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!DOCTYPE</a:t>
            </a:r>
            <a:r>
              <a:rPr lang="en-US" b="0" i="0" dirty="0">
                <a:solidFill>
                  <a:srgbClr val="FF0000"/>
                </a:solidFill>
                <a:effectLst/>
                <a:latin typeface="Consolas" panose="020B0609020204030204" pitchFamily="49" charset="0"/>
              </a:rPr>
              <a:t> html</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html</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b="0" i="0" dirty="0">
                <a:solidFill>
                  <a:srgbClr val="000000"/>
                </a:solidFill>
                <a:effectLst/>
                <a:latin typeface="Consolas" panose="020B0609020204030204" pitchFamily="49" charset="0"/>
              </a:rPr>
              <a:t>My Page Title</a:t>
            </a: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/title</a:t>
            </a:r>
            <a:r>
              <a:rPr lang="en-US" b="0" i="0" dirty="0">
                <a:solidFill>
                  <a:srgbClr val="0000CD"/>
                </a:solidFill>
                <a:effectLst/>
                <a:latin typeface="Consolas" panose="020B0609020204030204" pitchFamily="49" charset="0"/>
              </a:rPr>
              <a:t>&gt;</a:t>
            </a:r>
            <a:r>
              <a:rPr lang="en-US" dirty="0"/>
              <a:t/>
            </a:r>
            <a:br>
              <a:rPr lang="en-US" dirty="0"/>
            </a:br>
            <a:r>
              <a:rPr lang="en-US" b="0" i="0" dirty="0">
                <a:solidFill>
                  <a:srgbClr val="000000"/>
                </a:solidFill>
                <a:effectLst/>
                <a:latin typeface="Consolas" panose="020B0609020204030204" pitchFamily="49" charset="0"/>
              </a:rPr>
              <a:t>  </a:t>
            </a:r>
            <a:r>
              <a:rPr lang="en-US" sz="2400" b="0" i="0" dirty="0">
                <a:solidFill>
                  <a:srgbClr val="0000CD"/>
                </a:solidFill>
                <a:effectLst/>
                <a:latin typeface="Consolas" panose="020B0609020204030204" pitchFamily="49" charset="0"/>
              </a:rPr>
              <a:t>&lt;</a:t>
            </a:r>
            <a:r>
              <a:rPr lang="en-US" sz="2400" b="0" i="0" dirty="0">
                <a:solidFill>
                  <a:srgbClr val="A52A2A"/>
                </a:solidFill>
                <a:effectLst/>
                <a:latin typeface="Consolas" panose="020B0609020204030204" pitchFamily="49" charset="0"/>
              </a:rPr>
              <a:t>link</a:t>
            </a:r>
            <a:r>
              <a:rPr lang="en-US" sz="2400" b="0" i="0" dirty="0">
                <a:solidFill>
                  <a:srgbClr val="FF0000"/>
                </a:solidFill>
                <a:effectLst/>
                <a:latin typeface="Consolas" panose="020B0609020204030204" pitchFamily="49" charset="0"/>
              </a:rPr>
              <a:t> </a:t>
            </a:r>
            <a:r>
              <a:rPr lang="en-US" sz="2400" b="0" i="0" dirty="0" err="1">
                <a:solidFill>
                  <a:srgbClr val="FF0000"/>
                </a:solidFill>
                <a:effectLst/>
                <a:latin typeface="Consolas" panose="020B0609020204030204" pitchFamily="49" charset="0"/>
              </a:rPr>
              <a:t>rel</a:t>
            </a:r>
            <a:r>
              <a:rPr lang="en-US" sz="2400" b="0" i="0" dirty="0">
                <a:solidFill>
                  <a:srgbClr val="0000CD"/>
                </a:solidFill>
                <a:effectLst/>
                <a:latin typeface="Consolas" panose="020B0609020204030204" pitchFamily="49" charset="0"/>
              </a:rPr>
              <a:t>="icon"</a:t>
            </a:r>
            <a:r>
              <a:rPr lang="en-US" sz="2400" b="0" i="0" dirty="0">
                <a:solidFill>
                  <a:srgbClr val="FF0000"/>
                </a:solidFill>
                <a:effectLst/>
                <a:latin typeface="Consolas" panose="020B0609020204030204" pitchFamily="49" charset="0"/>
              </a:rPr>
              <a:t> type</a:t>
            </a:r>
            <a:r>
              <a:rPr lang="en-US" sz="2400" b="0" i="0" dirty="0">
                <a:solidFill>
                  <a:srgbClr val="0000CD"/>
                </a:solidFill>
                <a:effectLst/>
                <a:latin typeface="Consolas" panose="020B0609020204030204" pitchFamily="49" charset="0"/>
              </a:rPr>
              <a:t>="image/x-icon"</a:t>
            </a:r>
            <a:r>
              <a:rPr lang="en-US" sz="2400" b="0" i="0" dirty="0">
                <a:solidFill>
                  <a:srgbClr val="FF0000"/>
                </a:solidFill>
                <a:effectLst/>
                <a:latin typeface="Consolas" panose="020B0609020204030204" pitchFamily="49" charset="0"/>
              </a:rPr>
              <a:t> </a:t>
            </a:r>
            <a:r>
              <a:rPr lang="en-US" sz="2400" b="0" i="0" dirty="0" err="1">
                <a:solidFill>
                  <a:srgbClr val="FF0000"/>
                </a:solidFill>
                <a:effectLst/>
                <a:latin typeface="Consolas" panose="020B0609020204030204" pitchFamily="49" charset="0"/>
              </a:rPr>
              <a:t>href</a:t>
            </a:r>
            <a:r>
              <a:rPr lang="en-US" sz="2400" b="0" i="0" dirty="0">
                <a:solidFill>
                  <a:srgbClr val="0000CD"/>
                </a:solidFill>
                <a:effectLst/>
                <a:latin typeface="Consolas" panose="020B0609020204030204" pitchFamily="49" charset="0"/>
              </a:rPr>
              <a:t>="/images/favicon.ico"&gt;</a:t>
            </a:r>
            <a:r>
              <a:rPr lang="en-US" dirty="0"/>
              <a:t/>
            </a:r>
            <a:br>
              <a:rPr lang="en-US" dirty="0"/>
            </a:b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/head</a:t>
            </a:r>
            <a:r>
              <a:rPr lang="en-US" b="0" i="0" dirty="0">
                <a:solidFill>
                  <a:srgbClr val="0000CD"/>
                </a:solidFill>
                <a:effectLst/>
                <a:latin typeface="Consolas" panose="020B0609020204030204" pitchFamily="49" charset="0"/>
              </a:rPr>
              <a:t>&gt;</a:t>
            </a:r>
            <a:endParaRPr lang="en-US" i="1" u="sng" dirty="0">
              <a:solidFill>
                <a:srgbClr val="0070C0"/>
              </a:solidFill>
            </a:endParaRPr>
          </a:p>
        </p:txBody>
      </p:sp>
    </p:spTree>
    <p:extLst>
      <p:ext uri="{BB962C8B-B14F-4D97-AF65-F5344CB8AC3E}">
        <p14:creationId xmlns:p14="http://schemas.microsoft.com/office/powerpoint/2010/main" val="40328878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6CF6228-F44D-88F0-7E6F-2036F753A987}"/>
              </a:ext>
            </a:extLst>
          </p:cNvPr>
          <p:cNvSpPr>
            <a:spLocks noGrp="1"/>
          </p:cNvSpPr>
          <p:nvPr>
            <p:ph idx="1"/>
          </p:nvPr>
        </p:nvSpPr>
        <p:spPr>
          <a:xfrm>
            <a:off x="838200" y="829340"/>
            <a:ext cx="10515600" cy="5347623"/>
          </a:xfrm>
        </p:spPr>
        <p:txBody>
          <a:bodyPr>
            <a:normAutofit/>
          </a:bodyPr>
          <a:lstStyle/>
          <a:p>
            <a:pPr marL="0" indent="0" algn="ctr">
              <a:buNone/>
            </a:pPr>
            <a:r>
              <a:rPr lang="en-US" sz="5500" dirty="0"/>
              <a:t>HTML AND THE STYLE ATTRIBUTE</a:t>
            </a:r>
          </a:p>
          <a:p>
            <a:pPr marL="0" indent="0" algn="ctr">
              <a:buNone/>
            </a:pPr>
            <a:endParaRPr lang="en-US" sz="5500" dirty="0"/>
          </a:p>
          <a:p>
            <a:pPr marL="0" indent="0" algn="ctr">
              <a:buNone/>
            </a:pPr>
            <a:r>
              <a:rPr lang="en-GB" altLang="en-US" sz="4000" dirty="0">
                <a:solidFill>
                  <a:srgbClr val="FF0000"/>
                </a:solidFill>
                <a:latin typeface="Corbel" panose="020B0503020204020204" pitchFamily="34" charset="0"/>
                <a:cs typeface="Noto Sans CJK SC" charset="0"/>
              </a:rPr>
              <a:t>An attribute with multiple values…</a:t>
            </a:r>
          </a:p>
          <a:p>
            <a:pPr marL="0" indent="0" algn="ctr">
              <a:buNone/>
            </a:pPr>
            <a:endParaRPr lang="en-US" sz="5500" dirty="0"/>
          </a:p>
        </p:txBody>
      </p:sp>
    </p:spTree>
    <p:extLst>
      <p:ext uri="{BB962C8B-B14F-4D97-AF65-F5344CB8AC3E}">
        <p14:creationId xmlns:p14="http://schemas.microsoft.com/office/powerpoint/2010/main" val="37302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05ABC-D42E-3B9C-BC50-9BB56A0EC53A}"/>
              </a:ext>
            </a:extLst>
          </p:cNvPr>
          <p:cNvSpPr>
            <a:spLocks noGrp="1"/>
          </p:cNvSpPr>
          <p:nvPr>
            <p:ph type="title"/>
          </p:nvPr>
        </p:nvSpPr>
        <p:spPr/>
        <p:txBody>
          <a:bodyPr/>
          <a:lstStyle/>
          <a:p>
            <a:r>
              <a:rPr lang="en-US" altLang="en-US" sz="4400" b="1" dirty="0">
                <a:solidFill>
                  <a:srgbClr val="404040"/>
                </a:solidFill>
                <a:latin typeface="Corbel" panose="020B0503020204020204" pitchFamily="34" charset="0"/>
                <a:cs typeface="Noto Sans CJK SC" charset="0"/>
              </a:rPr>
              <a:t>THE STYLE ATTRIBUTE</a:t>
            </a:r>
            <a:br>
              <a:rPr lang="en-US" altLang="en-US" sz="4400" b="1" dirty="0">
                <a:solidFill>
                  <a:srgbClr val="404040"/>
                </a:solidFill>
                <a:latin typeface="Corbel" panose="020B0503020204020204" pitchFamily="34" charset="0"/>
                <a:cs typeface="Noto Sans CJK SC" charset="0"/>
              </a:rPr>
            </a:br>
            <a:endParaRPr lang="en-US" dirty="0"/>
          </a:p>
        </p:txBody>
      </p:sp>
      <p:sp>
        <p:nvSpPr>
          <p:cNvPr id="3" name="Content Placeholder 2">
            <a:extLst>
              <a:ext uri="{FF2B5EF4-FFF2-40B4-BE49-F238E27FC236}">
                <a16:creationId xmlns:a16="http://schemas.microsoft.com/office/drawing/2014/main" id="{A2E964B9-2495-AE16-0B1B-223EBC870DD7}"/>
              </a:ext>
            </a:extLst>
          </p:cNvPr>
          <p:cNvSpPr>
            <a:spLocks noGrp="1"/>
          </p:cNvSpPr>
          <p:nvPr>
            <p:ph idx="1"/>
          </p:nvPr>
        </p:nvSpPr>
        <p:spPr>
          <a:xfrm>
            <a:off x="838200" y="1180214"/>
            <a:ext cx="10515600" cy="5312661"/>
          </a:xfrm>
        </p:spPr>
        <p:txBody>
          <a:bodyPr>
            <a:normAutofit fontScale="92500" lnSpcReduction="10000"/>
          </a:bodyPr>
          <a:lstStyle/>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Browsers have a default way of displaying HTML tags. For example the &lt;p&gt; is always black, takes up the entire width </a:t>
            </a:r>
            <a:r>
              <a:rPr lang="en-US" altLang="en-US" sz="2800" dirty="0" err="1">
                <a:solidFill>
                  <a:srgbClr val="2D2901"/>
                </a:solidFill>
                <a:latin typeface="Corbel" panose="020B0503020204020204" pitchFamily="34" charset="0"/>
                <a:cs typeface="Noto Sans CJK SC" charset="0"/>
              </a:rPr>
              <a:t>etc</a:t>
            </a:r>
            <a:r>
              <a:rPr lang="en-US" altLang="en-US" sz="2800" dirty="0">
                <a:solidFill>
                  <a:srgbClr val="2D2901"/>
                </a:solidFill>
                <a:latin typeface="Corbel" panose="020B0503020204020204" pitchFamily="34" charset="0"/>
                <a:cs typeface="Noto Sans CJK SC" charset="0"/>
              </a:rPr>
              <a:t> (on any and every browser!)</a:t>
            </a:r>
          </a:p>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You can use the style attribute to tell the browser how HTML elements are to be displayed</a:t>
            </a:r>
          </a:p>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It is just another attribute, but it allows you to specify more than one property unlike others like height, align which specify certain one property per time. Each property is separated by semi colon. </a:t>
            </a:r>
          </a:p>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Syntax is as shown below:</a:t>
            </a:r>
          </a:p>
          <a:p>
            <a:pPr algn="ctr" eaLnBrk="1" hangingPunct="1">
              <a:lnSpc>
                <a:spcPct val="90000"/>
              </a:lnSpc>
              <a:spcBef>
                <a:spcPts val="1213"/>
              </a:spcBef>
              <a:spcAft>
                <a:spcPts val="213"/>
              </a:spcAft>
              <a:buClrTx/>
              <a:buFontTx/>
              <a:buNone/>
            </a:pPr>
            <a:r>
              <a:rPr lang="en-US" altLang="en-US" sz="2800" dirty="0">
                <a:solidFill>
                  <a:srgbClr val="C00000"/>
                </a:solidFill>
                <a:latin typeface="Corbel" panose="020B0503020204020204" pitchFamily="34" charset="0"/>
                <a:cs typeface="Noto Sans CJK SC" charset="0"/>
              </a:rPr>
              <a:t>&lt;</a:t>
            </a:r>
            <a:r>
              <a:rPr lang="en-US" altLang="en-US" sz="2800" b="1" dirty="0">
                <a:solidFill>
                  <a:srgbClr val="C00000"/>
                </a:solidFill>
                <a:latin typeface="Corbel" panose="020B0503020204020204" pitchFamily="34" charset="0"/>
                <a:cs typeface="Noto Sans CJK SC" charset="0"/>
              </a:rPr>
              <a:t>tag</a:t>
            </a:r>
            <a:r>
              <a:rPr lang="en-US" altLang="en-US" sz="2800" dirty="0">
                <a:solidFill>
                  <a:srgbClr val="C00000"/>
                </a:solidFill>
                <a:latin typeface="Corbel" panose="020B0503020204020204" pitchFamily="34" charset="0"/>
                <a:cs typeface="Noto Sans CJK SC" charset="0"/>
              </a:rPr>
              <a:t> style=“</a:t>
            </a:r>
            <a:r>
              <a:rPr lang="en-US" altLang="en-US" sz="2800" dirty="0" err="1">
                <a:solidFill>
                  <a:srgbClr val="C00000"/>
                </a:solidFill>
                <a:latin typeface="Corbel" panose="020B0503020204020204" pitchFamily="34" charset="0"/>
                <a:cs typeface="Noto Sans CJK SC" charset="0"/>
              </a:rPr>
              <a:t>property:value</a:t>
            </a:r>
            <a:r>
              <a:rPr lang="en-US" altLang="en-US" sz="2800" dirty="0">
                <a:solidFill>
                  <a:srgbClr val="C00000"/>
                </a:solidFill>
                <a:latin typeface="Corbel" panose="020B0503020204020204" pitchFamily="34" charset="0"/>
                <a:cs typeface="Noto Sans CJK SC" charset="0"/>
              </a:rPr>
              <a:t>; </a:t>
            </a:r>
            <a:r>
              <a:rPr lang="en-US" altLang="en-US" sz="2800" dirty="0" err="1">
                <a:solidFill>
                  <a:srgbClr val="C00000"/>
                </a:solidFill>
                <a:latin typeface="Corbel" panose="020B0503020204020204" pitchFamily="34" charset="0"/>
                <a:cs typeface="Noto Sans CJK SC" charset="0"/>
              </a:rPr>
              <a:t>property:value</a:t>
            </a:r>
            <a:r>
              <a:rPr lang="en-US" altLang="en-US" sz="2800" dirty="0">
                <a:solidFill>
                  <a:srgbClr val="C00000"/>
                </a:solidFill>
                <a:latin typeface="Corbel" panose="020B0503020204020204" pitchFamily="34" charset="0"/>
                <a:cs typeface="Noto Sans CJK SC" charset="0"/>
              </a:rPr>
              <a:t>;”&gt; Content &lt;/</a:t>
            </a:r>
            <a:r>
              <a:rPr lang="en-US" altLang="en-US" sz="2800" b="1" dirty="0">
                <a:solidFill>
                  <a:srgbClr val="C00000"/>
                </a:solidFill>
                <a:latin typeface="Corbel" panose="020B0503020204020204" pitchFamily="34" charset="0"/>
                <a:cs typeface="Noto Sans CJK SC" charset="0"/>
              </a:rPr>
              <a:t>tag</a:t>
            </a:r>
            <a:r>
              <a:rPr lang="en-US" altLang="en-US" sz="2800" dirty="0">
                <a:solidFill>
                  <a:srgbClr val="C00000"/>
                </a:solidFill>
                <a:latin typeface="Corbel" panose="020B0503020204020204" pitchFamily="34" charset="0"/>
                <a:cs typeface="Noto Sans CJK SC" charset="0"/>
              </a:rPr>
              <a:t>&gt;</a:t>
            </a:r>
          </a:p>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It can be applied to any tag</a:t>
            </a:r>
          </a:p>
          <a:p>
            <a:pPr eaLnBrk="1" hangingPunct="1">
              <a:lnSpc>
                <a:spcPct val="90000"/>
              </a:lnSpc>
              <a:spcBef>
                <a:spcPts val="1213"/>
              </a:spcBef>
              <a:spcAft>
                <a:spcPts val="213"/>
              </a:spcAft>
              <a:buClr>
                <a:srgbClr val="A5B592"/>
              </a:buClr>
              <a:buFont typeface="Arial" panose="020B0604020202020204" pitchFamily="34" charset="0"/>
              <a:buChar char="•"/>
            </a:pPr>
            <a:r>
              <a:rPr lang="en-US" altLang="en-US" sz="2800" dirty="0">
                <a:solidFill>
                  <a:srgbClr val="2D2901"/>
                </a:solidFill>
                <a:latin typeface="Corbel" panose="020B0503020204020204" pitchFamily="34" charset="0"/>
                <a:cs typeface="Noto Sans CJK SC" charset="0"/>
              </a:rPr>
              <a:t>Example in setting font color is, &lt;tag style=“</a:t>
            </a:r>
            <a:r>
              <a:rPr lang="en-US" altLang="en-US" sz="2800" dirty="0" err="1">
                <a:solidFill>
                  <a:srgbClr val="2D2901"/>
                </a:solidFill>
                <a:latin typeface="Corbel" panose="020B0503020204020204" pitchFamily="34" charset="0"/>
                <a:cs typeface="Noto Sans CJK SC" charset="0"/>
              </a:rPr>
              <a:t>color:red</a:t>
            </a:r>
            <a:r>
              <a:rPr lang="en-US" altLang="en-US" sz="2800" dirty="0">
                <a:solidFill>
                  <a:srgbClr val="2D2901"/>
                </a:solidFill>
                <a:latin typeface="Corbel" panose="020B0503020204020204" pitchFamily="34" charset="0"/>
                <a:cs typeface="Noto Sans CJK SC" charset="0"/>
              </a:rPr>
              <a:t>”&gt; contents &lt;/tag&gt;</a:t>
            </a:r>
          </a:p>
          <a:p>
            <a:pPr marL="0" indent="0">
              <a:buNone/>
            </a:pPr>
            <a:endParaRPr lang="en-US" dirty="0"/>
          </a:p>
        </p:txBody>
      </p:sp>
    </p:spTree>
    <p:extLst>
      <p:ext uri="{BB962C8B-B14F-4D97-AF65-F5344CB8AC3E}">
        <p14:creationId xmlns:p14="http://schemas.microsoft.com/office/powerpoint/2010/main" val="138272724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0B279F2-3747-A84F-D701-E3E725A3BA21}"/>
              </a:ext>
            </a:extLst>
          </p:cNvPr>
          <p:cNvSpPr>
            <a:spLocks noGrp="1"/>
          </p:cNvSpPr>
          <p:nvPr>
            <p:ph idx="1"/>
          </p:nvPr>
        </p:nvSpPr>
        <p:spPr>
          <a:xfrm>
            <a:off x="1112364" y="1159497"/>
            <a:ext cx="10326278" cy="4678101"/>
          </a:xfrm>
        </p:spPr>
        <p:txBody>
          <a:bodyPr/>
          <a:lstStyle/>
          <a:p>
            <a:pPr marL="0" indent="0">
              <a:buNone/>
            </a:pPr>
            <a:r>
              <a:rPr lang="en-US" dirty="0"/>
              <a:t>An anchor tag with the download </a:t>
            </a:r>
            <a:r>
              <a:rPr lang="en-US" dirty="0" smtClean="0"/>
              <a:t>attribute</a:t>
            </a:r>
          </a:p>
          <a:p>
            <a:pPr marL="0" indent="0">
              <a:buNone/>
            </a:pPr>
            <a:endParaRPr lang="en-US" dirty="0"/>
          </a:p>
          <a:p>
            <a:pPr algn="l"/>
            <a:r>
              <a:rPr lang="en-US" sz="2400" b="1" i="0" dirty="0">
                <a:solidFill>
                  <a:srgbClr val="0000CD"/>
                </a:solidFill>
                <a:effectLst/>
                <a:latin typeface="Consolas" panose="020B0609020204030204" pitchFamily="49" charset="0"/>
              </a:rPr>
              <a:t>&lt;</a:t>
            </a:r>
            <a:r>
              <a:rPr lang="en-US" sz="2400" b="1" i="0" dirty="0">
                <a:solidFill>
                  <a:srgbClr val="A52A2A"/>
                </a:solidFill>
                <a:effectLst/>
                <a:latin typeface="Consolas" panose="020B0609020204030204" pitchFamily="49" charset="0"/>
              </a:rPr>
              <a:t>a</a:t>
            </a:r>
            <a:r>
              <a:rPr lang="en-US" sz="2400" b="1" i="0" dirty="0">
                <a:solidFill>
                  <a:srgbClr val="FF0000"/>
                </a:solidFill>
                <a:effectLst/>
                <a:latin typeface="Consolas" panose="020B0609020204030204" pitchFamily="49" charset="0"/>
              </a:rPr>
              <a:t> </a:t>
            </a:r>
            <a:r>
              <a:rPr lang="en-US" sz="2400" b="1" i="0" dirty="0" err="1">
                <a:solidFill>
                  <a:srgbClr val="FF0000"/>
                </a:solidFill>
                <a:effectLst/>
                <a:latin typeface="Consolas" panose="020B0609020204030204" pitchFamily="49" charset="0"/>
              </a:rPr>
              <a:t>href</a:t>
            </a:r>
            <a:r>
              <a:rPr lang="en-US" sz="2400" b="1" i="0" dirty="0">
                <a:solidFill>
                  <a:srgbClr val="0000CD"/>
                </a:solidFill>
                <a:effectLst/>
                <a:latin typeface="Consolas" panose="020B0609020204030204" pitchFamily="49" charset="0"/>
              </a:rPr>
              <a:t>=“dogpic.jpg"</a:t>
            </a:r>
            <a:r>
              <a:rPr lang="en-US" sz="2400" b="1" i="0" dirty="0">
                <a:solidFill>
                  <a:srgbClr val="FF0000"/>
                </a:solidFill>
                <a:effectLst/>
                <a:latin typeface="Consolas" panose="020B0609020204030204" pitchFamily="49" charset="0"/>
              </a:rPr>
              <a:t> download</a:t>
            </a:r>
            <a:r>
              <a:rPr lang="en-US" sz="2400" b="1" i="0" dirty="0">
                <a:solidFill>
                  <a:srgbClr val="0000CD"/>
                </a:solidFill>
                <a:effectLst/>
                <a:latin typeface="Consolas" panose="020B0609020204030204" pitchFamily="49" charset="0"/>
              </a:rPr>
              <a:t>&gt; &lt;</a:t>
            </a:r>
            <a:r>
              <a:rPr lang="en-US" sz="2400" b="1" i="0" dirty="0" err="1">
                <a:solidFill>
                  <a:srgbClr val="0000CD"/>
                </a:solidFill>
                <a:effectLst/>
                <a:latin typeface="Consolas" panose="020B0609020204030204" pitchFamily="49" charset="0"/>
              </a:rPr>
              <a:t>img</a:t>
            </a:r>
            <a:r>
              <a:rPr lang="en-US" sz="2400" b="1" i="0" dirty="0">
                <a:solidFill>
                  <a:srgbClr val="0000CD"/>
                </a:solidFill>
                <a:effectLst/>
                <a:latin typeface="Consolas" panose="020B0609020204030204" pitchFamily="49" charset="0"/>
              </a:rPr>
              <a:t> </a:t>
            </a:r>
            <a:r>
              <a:rPr lang="en-US" sz="2400" b="1" i="0" dirty="0" err="1">
                <a:solidFill>
                  <a:srgbClr val="0000CD"/>
                </a:solidFill>
                <a:effectLst/>
                <a:latin typeface="Consolas" panose="020B0609020204030204" pitchFamily="49" charset="0"/>
              </a:rPr>
              <a:t>src</a:t>
            </a:r>
            <a:r>
              <a:rPr lang="en-US" sz="2400" b="1" i="0" dirty="0">
                <a:solidFill>
                  <a:srgbClr val="0000CD"/>
                </a:solidFill>
                <a:effectLst/>
                <a:latin typeface="Consolas" panose="020B0609020204030204" pitchFamily="49" charset="0"/>
              </a:rPr>
              <a:t>=“dogpic.jpg”&gt; &lt;/</a:t>
            </a:r>
            <a:r>
              <a:rPr lang="en-US" sz="2400" b="1" i="0" dirty="0">
                <a:solidFill>
                  <a:srgbClr val="A52A2A"/>
                </a:solidFill>
                <a:effectLst/>
                <a:latin typeface="Consolas" panose="020B0609020204030204" pitchFamily="49" charset="0"/>
              </a:rPr>
              <a:t>a</a:t>
            </a:r>
            <a:r>
              <a:rPr lang="en-US" sz="2400" b="1" i="0" dirty="0">
                <a:solidFill>
                  <a:srgbClr val="0000CD"/>
                </a:solidFill>
                <a:effectLst/>
                <a:latin typeface="Consolas" panose="020B0609020204030204" pitchFamily="49" charset="0"/>
              </a:rPr>
              <a:t>&gt;</a:t>
            </a:r>
          </a:p>
          <a:p>
            <a:pPr marL="0" indent="0">
              <a:buNone/>
            </a:pPr>
            <a:r>
              <a:rPr lang="en-US" dirty="0"/>
              <a:t>You can also decide what your file will be downloaded as. </a:t>
            </a:r>
            <a:r>
              <a:rPr lang="en-US" dirty="0" err="1"/>
              <a:t>E.g</a:t>
            </a:r>
            <a:r>
              <a:rPr lang="en-US" dirty="0" smtClean="0"/>
              <a:t>,</a:t>
            </a:r>
          </a:p>
          <a:p>
            <a:pPr lvl="1">
              <a:buFont typeface="Wingdings" panose="05000000000000000000" pitchFamily="2" charset="2"/>
              <a:buChar char="Ø"/>
            </a:pPr>
            <a:r>
              <a:rPr lang="en-US" dirty="0" smtClean="0"/>
              <a:t>Pdf </a:t>
            </a:r>
          </a:p>
          <a:p>
            <a:pPr lvl="1">
              <a:buFont typeface="Wingdings" panose="05000000000000000000" pitchFamily="2" charset="2"/>
              <a:buChar char="Ø"/>
            </a:pPr>
            <a:r>
              <a:rPr lang="en-US" dirty="0" err="1" smtClean="0"/>
              <a:t>textDoc</a:t>
            </a:r>
            <a:endParaRPr lang="en-US" dirty="0" smtClean="0"/>
          </a:p>
          <a:p>
            <a:pPr lvl="1">
              <a:buFont typeface="Wingdings" panose="05000000000000000000" pitchFamily="2" charset="2"/>
              <a:buChar char="Ø"/>
            </a:pPr>
            <a:r>
              <a:rPr lang="en-US" dirty="0" smtClean="0"/>
              <a:t>images</a:t>
            </a:r>
            <a:endParaRPr lang="en-US" dirty="0"/>
          </a:p>
          <a:p>
            <a:pPr marL="0" indent="0">
              <a:buNone/>
            </a:pPr>
            <a:r>
              <a:rPr lang="en-US" b="0" i="0" dirty="0">
                <a:solidFill>
                  <a:srgbClr val="0000CD"/>
                </a:solidFill>
                <a:effectLst/>
                <a:latin typeface="Consolas" panose="020B0609020204030204" pitchFamily="49" charset="0"/>
              </a:rPr>
              <a:t>&lt;</a:t>
            </a:r>
            <a:r>
              <a:rPr lang="en-US" b="0" i="0" dirty="0">
                <a:solidFill>
                  <a:srgbClr val="A52A2A"/>
                </a:solidFill>
                <a:effectLst/>
                <a:latin typeface="Consolas" panose="020B0609020204030204" pitchFamily="49" charset="0"/>
              </a:rPr>
              <a:t>a</a:t>
            </a:r>
            <a:r>
              <a:rPr lang="en-US" b="0" i="0" dirty="0">
                <a:solidFill>
                  <a:srgbClr val="FF0000"/>
                </a:solidFill>
                <a:effectLst/>
                <a:latin typeface="Consolas" panose="020B0609020204030204" pitchFamily="49" charset="0"/>
              </a:rPr>
              <a:t> </a:t>
            </a:r>
            <a:r>
              <a:rPr lang="en-US" b="0" i="0" dirty="0" err="1">
                <a:solidFill>
                  <a:srgbClr val="FF0000"/>
                </a:solidFill>
                <a:effectLst/>
                <a:latin typeface="Consolas" panose="020B0609020204030204" pitchFamily="49" charset="0"/>
              </a:rPr>
              <a:t>href</a:t>
            </a:r>
            <a:r>
              <a:rPr lang="en-US" b="0" i="0" dirty="0">
                <a:solidFill>
                  <a:srgbClr val="0000CD"/>
                </a:solidFill>
                <a:effectLst/>
                <a:latin typeface="Consolas" panose="020B0609020204030204" pitchFamily="49" charset="0"/>
              </a:rPr>
              <a:t>=“cv.pdf"</a:t>
            </a:r>
            <a:r>
              <a:rPr lang="en-US" b="0" i="0" dirty="0">
                <a:solidFill>
                  <a:srgbClr val="FF0000"/>
                </a:solidFill>
                <a:effectLst/>
                <a:latin typeface="Consolas" panose="020B0609020204030204" pitchFamily="49" charset="0"/>
              </a:rPr>
              <a:t> download=“</a:t>
            </a:r>
            <a:r>
              <a:rPr lang="en-US" b="0" i="0" dirty="0" err="1">
                <a:solidFill>
                  <a:srgbClr val="0070C0"/>
                </a:solidFill>
                <a:effectLst/>
                <a:latin typeface="Consolas" panose="020B0609020204030204" pitchFamily="49" charset="0"/>
              </a:rPr>
              <a:t>JamesCV</a:t>
            </a:r>
            <a:r>
              <a:rPr lang="en-US" b="0" i="0" dirty="0">
                <a:solidFill>
                  <a:srgbClr val="FF0000"/>
                </a:solidFill>
                <a:effectLst/>
                <a:latin typeface="Consolas" panose="020B0609020204030204" pitchFamily="49" charset="0"/>
              </a:rPr>
              <a:t>”</a:t>
            </a:r>
            <a:r>
              <a:rPr lang="en-US" b="0" i="0" dirty="0">
                <a:solidFill>
                  <a:srgbClr val="0000CD"/>
                </a:solidFill>
                <a:effectLst/>
                <a:latin typeface="Consolas" panose="020B0609020204030204" pitchFamily="49" charset="0"/>
              </a:rPr>
              <a:t>&gt; CV &lt;/</a:t>
            </a:r>
            <a:r>
              <a:rPr lang="en-US" b="0" i="0" dirty="0">
                <a:solidFill>
                  <a:srgbClr val="A52A2A"/>
                </a:solidFill>
                <a:effectLst/>
                <a:latin typeface="Consolas" panose="020B0609020204030204" pitchFamily="49" charset="0"/>
              </a:rPr>
              <a:t>a</a:t>
            </a:r>
            <a:r>
              <a:rPr lang="en-US" b="0" i="0" dirty="0">
                <a:solidFill>
                  <a:srgbClr val="0000CD"/>
                </a:solidFill>
                <a:effectLst/>
                <a:latin typeface="Consolas" panose="020B0609020204030204" pitchFamily="49" charset="0"/>
              </a:rPr>
              <a:t>&gt;</a:t>
            </a:r>
          </a:p>
          <a:p>
            <a:pPr marL="0" indent="0">
              <a:buNone/>
            </a:pPr>
            <a:endParaRPr lang="en-US" b="0" i="0" dirty="0">
              <a:solidFill>
                <a:srgbClr val="0000CD"/>
              </a:solidFill>
              <a:effectLst/>
              <a:latin typeface="Consolas" panose="020B0609020204030204" pitchFamily="49" charset="0"/>
            </a:endParaRPr>
          </a:p>
          <a:p>
            <a:pPr marL="0" indent="0">
              <a:buNone/>
            </a:pPr>
            <a:endParaRPr lang="en-US" dirty="0"/>
          </a:p>
          <a:p>
            <a:pPr marL="0" indent="0" algn="l">
              <a:buNone/>
            </a:pPr>
            <a:endParaRPr lang="en-US" b="0" i="0" dirty="0">
              <a:solidFill>
                <a:srgbClr val="000000"/>
              </a:solidFill>
              <a:effectLst/>
              <a:latin typeface="Consolas" panose="020B0609020204030204" pitchFamily="49" charset="0"/>
            </a:endParaRPr>
          </a:p>
        </p:txBody>
      </p:sp>
    </p:spTree>
    <p:extLst>
      <p:ext uri="{BB962C8B-B14F-4D97-AF65-F5344CB8AC3E}">
        <p14:creationId xmlns:p14="http://schemas.microsoft.com/office/powerpoint/2010/main" val="29531792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09F67-6689-CB77-B2BB-18DA71818547}"/>
              </a:ext>
            </a:extLst>
          </p:cNvPr>
          <p:cNvSpPr>
            <a:spLocks noGrp="1"/>
          </p:cNvSpPr>
          <p:nvPr>
            <p:ph type="title"/>
          </p:nvPr>
        </p:nvSpPr>
        <p:spPr/>
        <p:txBody>
          <a:bodyPr/>
          <a:lstStyle/>
          <a:p>
            <a:r>
              <a:rPr lang="en-US" b="1" dirty="0"/>
              <a:t>CSS Float Property</a:t>
            </a:r>
          </a:p>
        </p:txBody>
      </p:sp>
      <p:sp>
        <p:nvSpPr>
          <p:cNvPr id="3" name="Content Placeholder 2">
            <a:extLst>
              <a:ext uri="{FF2B5EF4-FFF2-40B4-BE49-F238E27FC236}">
                <a16:creationId xmlns:a16="http://schemas.microsoft.com/office/drawing/2014/main" id="{6B6A1F20-9EE0-079F-AF41-821972BB500C}"/>
              </a:ext>
            </a:extLst>
          </p:cNvPr>
          <p:cNvSpPr>
            <a:spLocks noGrp="1"/>
          </p:cNvSpPr>
          <p:nvPr>
            <p:ph idx="1"/>
          </p:nvPr>
        </p:nvSpPr>
        <p:spPr/>
        <p:txBody>
          <a:bodyPr/>
          <a:lstStyle/>
          <a:p>
            <a:pPr marL="0" indent="0">
              <a:buNone/>
            </a:pPr>
            <a:r>
              <a:rPr lang="en-US" dirty="0"/>
              <a:t>The CSS float property is a positioning property. It is used to push an element to the left or right, allowing other element to wrap around it. It is generally used with images and layouts. </a:t>
            </a:r>
          </a:p>
          <a:p>
            <a:pPr marL="0" indent="0">
              <a:buNone/>
            </a:pPr>
            <a:r>
              <a:rPr lang="en-US" dirty="0"/>
              <a:t>The float has two major properties. The </a:t>
            </a:r>
            <a:r>
              <a:rPr lang="en-US" b="1" i="1" dirty="0">
                <a:solidFill>
                  <a:srgbClr val="0070C0"/>
                </a:solidFill>
              </a:rPr>
              <a:t>float</a:t>
            </a:r>
            <a:r>
              <a:rPr lang="en-US" dirty="0"/>
              <a:t> and the </a:t>
            </a:r>
            <a:r>
              <a:rPr lang="en-US" b="1" i="1" dirty="0">
                <a:solidFill>
                  <a:srgbClr val="0070C0"/>
                </a:solidFill>
              </a:rPr>
              <a:t>clear</a:t>
            </a:r>
            <a:r>
              <a:rPr lang="en-US" dirty="0"/>
              <a:t>. The property specifies whether an element should float or not. It has values as</a:t>
            </a:r>
          </a:p>
          <a:p>
            <a:pPr marL="0" indent="0">
              <a:buNone/>
            </a:pPr>
            <a:r>
              <a:rPr lang="en-US" dirty="0"/>
              <a:t>float:  left | right | initial | none | inherit;</a:t>
            </a:r>
          </a:p>
        </p:txBody>
      </p:sp>
    </p:spTree>
    <p:extLst>
      <p:ext uri="{BB962C8B-B14F-4D97-AF65-F5344CB8AC3E}">
        <p14:creationId xmlns:p14="http://schemas.microsoft.com/office/powerpoint/2010/main" val="37020712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4769E-7502-B1DF-118C-4EA7AB1DB309}"/>
              </a:ext>
            </a:extLst>
          </p:cNvPr>
          <p:cNvSpPr>
            <a:spLocks noGrp="1"/>
          </p:cNvSpPr>
          <p:nvPr>
            <p:ph type="title"/>
          </p:nvPr>
        </p:nvSpPr>
        <p:spPr/>
        <p:txBody>
          <a:bodyPr/>
          <a:lstStyle/>
          <a:p>
            <a:r>
              <a:rPr lang="en-US" altLang="en-US" sz="4400" b="1" dirty="0">
                <a:solidFill>
                  <a:srgbClr val="404040"/>
                </a:solidFill>
                <a:latin typeface="Corbel" panose="020B0503020204020204" pitchFamily="34" charset="0"/>
                <a:cs typeface="Noto Sans CJK SC" charset="0"/>
              </a:rPr>
              <a:t>The Float Property</a:t>
            </a:r>
            <a:br>
              <a:rPr lang="en-US" altLang="en-US" sz="4400" b="1" dirty="0">
                <a:solidFill>
                  <a:srgbClr val="404040"/>
                </a:solidFill>
                <a:latin typeface="Corbel" panose="020B0503020204020204" pitchFamily="34" charset="0"/>
                <a:cs typeface="Noto Sans CJK SC" charset="0"/>
              </a:rPr>
            </a:br>
            <a:endParaRPr lang="en-US" dirty="0"/>
          </a:p>
        </p:txBody>
      </p:sp>
      <p:sp>
        <p:nvSpPr>
          <p:cNvPr id="3" name="Content Placeholder 2">
            <a:extLst>
              <a:ext uri="{FF2B5EF4-FFF2-40B4-BE49-F238E27FC236}">
                <a16:creationId xmlns:a16="http://schemas.microsoft.com/office/drawing/2014/main" id="{756AF1CF-5995-5DB8-B311-749C509C9531}"/>
              </a:ext>
            </a:extLst>
          </p:cNvPr>
          <p:cNvSpPr>
            <a:spLocks noGrp="1"/>
          </p:cNvSpPr>
          <p:nvPr>
            <p:ph idx="1"/>
          </p:nvPr>
        </p:nvSpPr>
        <p:spPr>
          <a:xfrm>
            <a:off x="838200" y="1392865"/>
            <a:ext cx="10515600" cy="4784098"/>
          </a:xfrm>
        </p:spPr>
        <p:txBody>
          <a:bodyPr/>
          <a:lstStyle/>
          <a:p>
            <a:pPr lvl="1" eaLnBrk="1" hangingPunct="1">
              <a:spcBef>
                <a:spcPts val="213"/>
              </a:spcBef>
              <a:spcAft>
                <a:spcPts val="413"/>
              </a:spcAft>
              <a:buClr>
                <a:srgbClr val="473E3E"/>
              </a:buClr>
              <a:buFont typeface="Wingdings" panose="05000000000000000000" pitchFamily="2" charset="2"/>
              <a:buChar char=""/>
            </a:pPr>
            <a:r>
              <a:rPr lang="en-US" altLang="en-US" sz="2800" dirty="0">
                <a:latin typeface="Corbel" panose="020B0503020204020204" pitchFamily="34" charset="0"/>
                <a:cs typeface="Noto Sans CJK SC" charset="0"/>
              </a:rPr>
              <a:t>Recall that the &lt;</a:t>
            </a:r>
            <a:r>
              <a:rPr lang="en-US" altLang="en-US" sz="2800" dirty="0" err="1">
                <a:latin typeface="Corbel" panose="020B0503020204020204" pitchFamily="34" charset="0"/>
                <a:cs typeface="Noto Sans CJK SC" charset="0"/>
              </a:rPr>
              <a:t>img</a:t>
            </a:r>
            <a:r>
              <a:rPr lang="en-US" altLang="en-US" sz="2800" dirty="0">
                <a:latin typeface="Corbel" panose="020B0503020204020204" pitchFamily="34" charset="0"/>
                <a:cs typeface="Noto Sans CJK SC" charset="0"/>
              </a:rPr>
              <a:t>&gt; is an inline element, two inline elements such as &lt;</a:t>
            </a:r>
            <a:r>
              <a:rPr lang="en-US" altLang="en-US" sz="2800" dirty="0" err="1">
                <a:latin typeface="Corbel" panose="020B0503020204020204" pitchFamily="34" charset="0"/>
                <a:cs typeface="Noto Sans CJK SC" charset="0"/>
              </a:rPr>
              <a:t>img</a:t>
            </a:r>
            <a:r>
              <a:rPr lang="en-US" altLang="en-US" sz="2800" dirty="0">
                <a:latin typeface="Corbel" panose="020B0503020204020204" pitchFamily="34" charset="0"/>
                <a:cs typeface="Noto Sans CJK SC" charset="0"/>
              </a:rPr>
              <a:t>&gt; and &lt;span&gt; can stand side by side. </a:t>
            </a:r>
          </a:p>
          <a:p>
            <a:pPr lvl="1" eaLnBrk="1" hangingPunct="1">
              <a:spcBef>
                <a:spcPts val="213"/>
              </a:spcBef>
              <a:spcAft>
                <a:spcPts val="413"/>
              </a:spcAft>
              <a:buClr>
                <a:srgbClr val="473E3E"/>
              </a:buClr>
              <a:buFont typeface="Wingdings" panose="05000000000000000000" pitchFamily="2" charset="2"/>
              <a:buChar char=""/>
            </a:pPr>
            <a:r>
              <a:rPr lang="en-US" altLang="en-US" sz="2800" dirty="0">
                <a:latin typeface="Corbel" panose="020B0503020204020204" pitchFamily="34" charset="0"/>
                <a:cs typeface="Noto Sans CJK SC" charset="0"/>
              </a:rPr>
              <a:t>However, placing an image and a &lt;span&gt; tag side by side is not attractive. See example below: </a:t>
            </a:r>
          </a:p>
          <a:p>
            <a:pPr lvl="2">
              <a:spcBef>
                <a:spcPts val="213"/>
              </a:spcBef>
              <a:spcAft>
                <a:spcPts val="413"/>
              </a:spcAft>
              <a:buClr>
                <a:srgbClr val="473E3E"/>
              </a:buClr>
              <a:buFont typeface="Wingdings" panose="05000000000000000000" pitchFamily="2" charset="2"/>
              <a:buChar char=""/>
            </a:pPr>
            <a:endParaRPr lang="en-US" b="0" i="0" dirty="0">
              <a:solidFill>
                <a:srgbClr val="A52A2A"/>
              </a:solidFill>
              <a:effectLst/>
              <a:latin typeface="Consolas" panose="020B0609020204030204" pitchFamily="49" charset="0"/>
            </a:endParaRPr>
          </a:p>
          <a:p>
            <a:pPr marL="914400" lvl="2" indent="0">
              <a:spcBef>
                <a:spcPts val="213"/>
              </a:spcBef>
              <a:spcAft>
                <a:spcPts val="413"/>
              </a:spcAft>
              <a:buClr>
                <a:srgbClr val="473E3E"/>
              </a:buClr>
              <a:buNone/>
            </a:pPr>
            <a:r>
              <a:rPr lang="en-US" sz="2400" b="0" i="0" dirty="0" err="1">
                <a:solidFill>
                  <a:srgbClr val="A52A2A"/>
                </a:solidFill>
                <a:effectLst/>
                <a:latin typeface="Consolas" panose="020B0609020204030204" pitchFamily="49" charset="0"/>
              </a:rPr>
              <a:t>img</a:t>
            </a:r>
            <a:r>
              <a:rPr lang="en-US" sz="2400" b="0" i="0" dirty="0">
                <a:solidFill>
                  <a:srgbClr val="A52A2A"/>
                </a:solidFill>
                <a:effectLst/>
                <a:latin typeface="Consolas" panose="020B0609020204030204" pitchFamily="49" charset="0"/>
              </a:rPr>
              <a:t>  </a:t>
            </a:r>
            <a:r>
              <a:rPr lang="en-US" sz="2400" b="0" i="0" dirty="0">
                <a:solidFill>
                  <a:srgbClr val="000000"/>
                </a:solidFill>
                <a:effectLst/>
                <a:latin typeface="Consolas" panose="020B0609020204030204" pitchFamily="49" charset="0"/>
              </a:rPr>
              <a:t>{</a:t>
            </a:r>
            <a:r>
              <a:rPr lang="en-US" sz="2400" b="0" i="0" dirty="0">
                <a:solidFill>
                  <a:srgbClr val="FF0000"/>
                </a:solidFill>
                <a:effectLst/>
                <a:latin typeface="Consolas" panose="020B0609020204030204" pitchFamily="49" charset="0"/>
              </a:rPr>
              <a:t/>
            </a:r>
            <a:br>
              <a:rPr lang="en-US" sz="2400" b="0" i="0" dirty="0">
                <a:solidFill>
                  <a:srgbClr val="FF0000"/>
                </a:solidFill>
                <a:effectLst/>
                <a:latin typeface="Consolas" panose="020B0609020204030204" pitchFamily="49" charset="0"/>
              </a:rPr>
            </a:br>
            <a:r>
              <a:rPr lang="en-US" sz="2400" b="0" i="0" dirty="0">
                <a:solidFill>
                  <a:srgbClr val="FF0000"/>
                </a:solidFill>
                <a:effectLst/>
                <a:latin typeface="Consolas" panose="020B0609020204030204" pitchFamily="49" charset="0"/>
              </a:rPr>
              <a:t>  float</a:t>
            </a:r>
            <a:r>
              <a:rPr lang="en-US" sz="2400" b="0" i="0" dirty="0">
                <a:solidFill>
                  <a:srgbClr val="000000"/>
                </a:solidFill>
                <a:effectLst/>
                <a:latin typeface="Consolas" panose="020B0609020204030204" pitchFamily="49" charset="0"/>
              </a:rPr>
              <a:t>:</a:t>
            </a:r>
            <a:r>
              <a:rPr lang="en-US" sz="2400" b="0" i="0" dirty="0">
                <a:solidFill>
                  <a:srgbClr val="0000CD"/>
                </a:solidFill>
                <a:effectLst/>
                <a:latin typeface="Consolas" panose="020B0609020204030204" pitchFamily="49" charset="0"/>
              </a:rPr>
              <a:t> left</a:t>
            </a:r>
            <a:r>
              <a:rPr lang="en-US" sz="2400" b="0" i="0" dirty="0">
                <a:solidFill>
                  <a:srgbClr val="000000"/>
                </a:solidFill>
                <a:effectLst/>
                <a:latin typeface="Consolas" panose="020B0609020204030204" pitchFamily="49" charset="0"/>
              </a:rPr>
              <a:t>;       </a:t>
            </a:r>
            <a:r>
              <a:rPr lang="en-US" sz="2400" b="0" i="0" dirty="0">
                <a:solidFill>
                  <a:srgbClr val="FF0000"/>
                </a:solidFill>
                <a:effectLst/>
                <a:latin typeface="Consolas" panose="020B0609020204030204" pitchFamily="49" charset="0"/>
              </a:rPr>
              <a:t/>
            </a:r>
            <a:br>
              <a:rPr lang="en-US" sz="2400" b="0" i="0" dirty="0">
                <a:solidFill>
                  <a:srgbClr val="FF0000"/>
                </a:solidFill>
                <a:effectLst/>
                <a:latin typeface="Consolas" panose="020B0609020204030204" pitchFamily="49" charset="0"/>
              </a:rPr>
            </a:br>
            <a:r>
              <a:rPr lang="en-US" sz="2400" b="0" i="0" dirty="0">
                <a:solidFill>
                  <a:srgbClr val="000000"/>
                </a:solidFill>
                <a:effectLst/>
                <a:latin typeface="Consolas" panose="020B0609020204030204" pitchFamily="49" charset="0"/>
              </a:rPr>
              <a:t>}</a:t>
            </a:r>
            <a:endParaRPr lang="en-US" altLang="en-US" sz="2400" dirty="0">
              <a:latin typeface="Corbel" panose="020B0503020204020204" pitchFamily="34" charset="0"/>
              <a:cs typeface="Noto Sans CJK SC" charset="0"/>
            </a:endParaRPr>
          </a:p>
          <a:p>
            <a:pPr marL="0" indent="0">
              <a:buNone/>
            </a:pPr>
            <a:endParaRPr lang="en-US" dirty="0"/>
          </a:p>
        </p:txBody>
      </p:sp>
      <p:pic>
        <p:nvPicPr>
          <p:cNvPr id="4" name="Picture 3">
            <a:extLst>
              <a:ext uri="{FF2B5EF4-FFF2-40B4-BE49-F238E27FC236}">
                <a16:creationId xmlns:a16="http://schemas.microsoft.com/office/drawing/2014/main" id="{A325AB29-FADF-9E02-BA5E-DE598EC66F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029200"/>
            <a:ext cx="8167577" cy="1828800"/>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7640310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57A30-0887-1B7F-487A-994A2A1724CB}"/>
              </a:ext>
            </a:extLst>
          </p:cNvPr>
          <p:cNvSpPr>
            <a:spLocks noGrp="1"/>
          </p:cNvSpPr>
          <p:nvPr>
            <p:ph type="title"/>
          </p:nvPr>
        </p:nvSpPr>
        <p:spPr/>
        <p:txBody>
          <a:bodyPr/>
          <a:lstStyle/>
          <a:p>
            <a:r>
              <a:rPr lang="en-US" altLang="en-US" sz="4400" b="1" dirty="0">
                <a:solidFill>
                  <a:srgbClr val="404040"/>
                </a:solidFill>
                <a:latin typeface="Corbel" panose="020B0503020204020204" pitchFamily="34" charset="0"/>
                <a:cs typeface="Noto Sans CJK SC" charset="0"/>
              </a:rPr>
              <a:t>The Float Property</a:t>
            </a:r>
            <a:br>
              <a:rPr lang="en-US" altLang="en-US" sz="4400" b="1" dirty="0">
                <a:solidFill>
                  <a:srgbClr val="404040"/>
                </a:solidFill>
                <a:latin typeface="Corbel" panose="020B0503020204020204" pitchFamily="34" charset="0"/>
                <a:cs typeface="Noto Sans CJK SC" charset="0"/>
              </a:rPr>
            </a:br>
            <a:endParaRPr lang="en-US" dirty="0"/>
          </a:p>
        </p:txBody>
      </p:sp>
      <p:sp>
        <p:nvSpPr>
          <p:cNvPr id="3" name="Content Placeholder 2">
            <a:extLst>
              <a:ext uri="{FF2B5EF4-FFF2-40B4-BE49-F238E27FC236}">
                <a16:creationId xmlns:a16="http://schemas.microsoft.com/office/drawing/2014/main" id="{F63959E0-36FD-AF4A-881E-1E96A4AC2D39}"/>
              </a:ext>
            </a:extLst>
          </p:cNvPr>
          <p:cNvSpPr>
            <a:spLocks noGrp="1"/>
          </p:cNvSpPr>
          <p:nvPr>
            <p:ph idx="1"/>
          </p:nvPr>
        </p:nvSpPr>
        <p:spPr/>
        <p:txBody>
          <a:bodyPr/>
          <a:lstStyle/>
          <a:p>
            <a:pPr lvl="1" eaLnBrk="1" hangingPunct="1">
              <a:spcBef>
                <a:spcPts val="213"/>
              </a:spcBef>
              <a:spcAft>
                <a:spcPts val="413"/>
              </a:spcAft>
              <a:buClr>
                <a:srgbClr val="473E3E"/>
              </a:buClr>
              <a:buFont typeface="Wingdings" panose="05000000000000000000" pitchFamily="2" charset="2"/>
              <a:buChar char=""/>
            </a:pPr>
            <a:r>
              <a:rPr lang="en-US" altLang="en-US" sz="2600" dirty="0">
                <a:latin typeface="Corbel" panose="020B0503020204020204" pitchFamily="34" charset="0"/>
                <a:cs typeface="Noto Sans CJK SC" charset="0"/>
              </a:rPr>
              <a:t>The Float property can be used to make text wrap around an image.</a:t>
            </a:r>
          </a:p>
          <a:p>
            <a:pPr lvl="1" eaLnBrk="1" hangingPunct="1">
              <a:spcBef>
                <a:spcPts val="213"/>
              </a:spcBef>
              <a:spcAft>
                <a:spcPts val="413"/>
              </a:spcAft>
              <a:buClr>
                <a:srgbClr val="473E3E"/>
              </a:buClr>
              <a:buFont typeface="Wingdings" panose="05000000000000000000" pitchFamily="2" charset="2"/>
              <a:buChar char=""/>
            </a:pPr>
            <a:r>
              <a:rPr lang="en-US" altLang="en-US" sz="2600" dirty="0">
                <a:latin typeface="Corbel" panose="020B0503020204020204" pitchFamily="34" charset="0"/>
                <a:cs typeface="Noto Sans CJK SC" charset="0"/>
              </a:rPr>
              <a:t>Demonstrating text-wrap around image: </a:t>
            </a:r>
          </a:p>
          <a:p>
            <a:pPr lvl="2" eaLnBrk="1" hangingPunct="1">
              <a:spcBef>
                <a:spcPts val="213"/>
              </a:spcBef>
              <a:spcAft>
                <a:spcPts val="413"/>
              </a:spcAft>
              <a:buClr>
                <a:srgbClr val="473E3E"/>
              </a:buClr>
              <a:buFont typeface="Wingdings" panose="05000000000000000000" pitchFamily="2" charset="2"/>
              <a:buChar char=""/>
            </a:pPr>
            <a:r>
              <a:rPr lang="en-US" altLang="en-US" sz="2600" b="1" dirty="0">
                <a:solidFill>
                  <a:srgbClr val="7A620E"/>
                </a:solidFill>
                <a:latin typeface="Corbel" panose="020B0503020204020204" pitchFamily="34" charset="0"/>
                <a:cs typeface="Noto Sans CJK SC" charset="0"/>
              </a:rPr>
              <a:t>HINT: </a:t>
            </a:r>
            <a:r>
              <a:rPr lang="en-US" altLang="en-US" sz="2600" dirty="0">
                <a:latin typeface="Corbel" panose="020B0503020204020204" pitchFamily="34" charset="0"/>
                <a:cs typeface="Noto Sans CJK SC" charset="0"/>
              </a:rPr>
              <a:t>Float the image and leave the next element </a:t>
            </a:r>
            <a:r>
              <a:rPr lang="en-US" altLang="en-US" sz="2600" dirty="0" err="1">
                <a:latin typeface="Corbel" panose="020B0503020204020204" pitchFamily="34" charset="0"/>
                <a:cs typeface="Noto Sans CJK SC" charset="0"/>
              </a:rPr>
              <a:t>unstyled</a:t>
            </a:r>
            <a:r>
              <a:rPr lang="en-US" altLang="en-US" sz="2600" dirty="0">
                <a:latin typeface="Corbel" panose="020B0503020204020204" pitchFamily="34" charset="0"/>
                <a:cs typeface="Noto Sans CJK SC" charset="0"/>
              </a:rPr>
              <a:t>.</a:t>
            </a:r>
          </a:p>
          <a:p>
            <a:pPr marL="914400" lvl="2" indent="0" eaLnBrk="1" hangingPunct="1">
              <a:spcBef>
                <a:spcPts val="213"/>
              </a:spcBef>
              <a:spcAft>
                <a:spcPts val="413"/>
              </a:spcAft>
              <a:buClr>
                <a:srgbClr val="473E3E"/>
              </a:buClr>
              <a:buNone/>
            </a:pPr>
            <a:endParaRPr lang="en-US" altLang="en-US" sz="2600" dirty="0">
              <a:latin typeface="Corbel" panose="020B0503020204020204" pitchFamily="34" charset="0"/>
              <a:cs typeface="Noto Sans CJK SC" charset="0"/>
            </a:endParaRPr>
          </a:p>
          <a:p>
            <a:pPr marL="0" indent="0">
              <a:buNone/>
            </a:pPr>
            <a:endParaRPr lang="en-US" dirty="0"/>
          </a:p>
        </p:txBody>
      </p:sp>
      <p:pic>
        <p:nvPicPr>
          <p:cNvPr id="4" name="Picture 3">
            <a:extLst>
              <a:ext uri="{FF2B5EF4-FFF2-40B4-BE49-F238E27FC236}">
                <a16:creationId xmlns:a16="http://schemas.microsoft.com/office/drawing/2014/main" id="{2EF6B8DE-3F85-9CE4-95BB-9A2EFD293D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8074" y="3553527"/>
            <a:ext cx="10245725" cy="2188054"/>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extLst>
      <p:ext uri="{BB962C8B-B14F-4D97-AF65-F5344CB8AC3E}">
        <p14:creationId xmlns:p14="http://schemas.microsoft.com/office/powerpoint/2010/main" val="31059260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0AC05-4CEC-54E2-FD4F-9C0C764BD226}"/>
              </a:ext>
            </a:extLst>
          </p:cNvPr>
          <p:cNvSpPr>
            <a:spLocks noGrp="1"/>
          </p:cNvSpPr>
          <p:nvPr>
            <p:ph type="title"/>
          </p:nvPr>
        </p:nvSpPr>
        <p:spPr>
          <a:xfrm>
            <a:off x="838200" y="365126"/>
            <a:ext cx="10515600" cy="538642"/>
          </a:xfrm>
        </p:spPr>
        <p:txBody>
          <a:bodyPr>
            <a:normAutofit fontScale="90000"/>
          </a:bodyPr>
          <a:lstStyle/>
          <a:p>
            <a:r>
              <a:rPr lang="en-US" b="1" dirty="0"/>
              <a:t>Float Property</a:t>
            </a:r>
          </a:p>
        </p:txBody>
      </p:sp>
      <p:sp>
        <p:nvSpPr>
          <p:cNvPr id="3" name="Content Placeholder 2">
            <a:extLst>
              <a:ext uri="{FF2B5EF4-FFF2-40B4-BE49-F238E27FC236}">
                <a16:creationId xmlns:a16="http://schemas.microsoft.com/office/drawing/2014/main" id="{BB6D1CE0-19C0-B0C0-C234-13EDCA817C5D}"/>
              </a:ext>
            </a:extLst>
          </p:cNvPr>
          <p:cNvSpPr>
            <a:spLocks noGrp="1"/>
          </p:cNvSpPr>
          <p:nvPr>
            <p:ph idx="1"/>
          </p:nvPr>
        </p:nvSpPr>
        <p:spPr>
          <a:xfrm>
            <a:off x="838200" y="1222744"/>
            <a:ext cx="10515600" cy="4954219"/>
          </a:xfrm>
        </p:spPr>
        <p:txBody>
          <a:bodyPr/>
          <a:lstStyle/>
          <a:p>
            <a:pPr lvl="2" eaLnBrk="1" hangingPunct="1">
              <a:spcBef>
                <a:spcPts val="213"/>
              </a:spcBef>
              <a:spcAft>
                <a:spcPts val="413"/>
              </a:spcAft>
              <a:buClr>
                <a:srgbClr val="473E3E"/>
              </a:buClr>
              <a:buFont typeface="Wingdings" panose="05000000000000000000" pitchFamily="2" charset="2"/>
              <a:buChar char=""/>
            </a:pPr>
            <a:r>
              <a:rPr lang="en-US" altLang="en-US" sz="2800" dirty="0">
                <a:latin typeface="Corbel" panose="020B0503020204020204" pitchFamily="34" charset="0"/>
                <a:cs typeface="Noto Sans CJK SC" charset="0"/>
              </a:rPr>
              <a:t>After floating, you need to clear the float if you don’t want other elements below the floated element to also jump up.</a:t>
            </a:r>
          </a:p>
          <a:p>
            <a:pPr marL="0" indent="0">
              <a:buNone/>
            </a:pPr>
            <a:endParaRPr lang="en-US" dirty="0"/>
          </a:p>
        </p:txBody>
      </p:sp>
      <p:pic>
        <p:nvPicPr>
          <p:cNvPr id="4" name="Picture 3">
            <a:extLst>
              <a:ext uri="{FF2B5EF4-FFF2-40B4-BE49-F238E27FC236}">
                <a16:creationId xmlns:a16="http://schemas.microsoft.com/office/drawing/2014/main" id="{461520CA-703B-993F-D3D5-4C19D9E048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994" y="2792412"/>
            <a:ext cx="9752012" cy="226868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TextBox 5">
            <a:extLst>
              <a:ext uri="{FF2B5EF4-FFF2-40B4-BE49-F238E27FC236}">
                <a16:creationId xmlns:a16="http://schemas.microsoft.com/office/drawing/2014/main" id="{11B07BBE-B03E-F9AF-3BD5-9015CC1B0B04}"/>
              </a:ext>
            </a:extLst>
          </p:cNvPr>
          <p:cNvSpPr txBox="1"/>
          <p:nvPr/>
        </p:nvSpPr>
        <p:spPr>
          <a:xfrm>
            <a:off x="1219994" y="5270410"/>
            <a:ext cx="9740309" cy="477054"/>
          </a:xfrm>
          <a:prstGeom prst="rect">
            <a:avLst/>
          </a:prstGeom>
          <a:noFill/>
        </p:spPr>
        <p:txBody>
          <a:bodyPr wrap="square">
            <a:spAutoFit/>
          </a:bodyPr>
          <a:lstStyle/>
          <a:p>
            <a:pPr eaLnBrk="1" hangingPunct="1">
              <a:buClrTx/>
              <a:buFontTx/>
              <a:buNone/>
            </a:pPr>
            <a:r>
              <a:rPr lang="en-US" altLang="en-US" sz="2500" dirty="0"/>
              <a:t>&lt;h1 </a:t>
            </a:r>
            <a:r>
              <a:rPr lang="en-US" altLang="en-US" sz="2500" dirty="0">
                <a:solidFill>
                  <a:srgbClr val="C00000"/>
                </a:solidFill>
                <a:latin typeface="Consolas" panose="020B0609020204030204" pitchFamily="49" charset="0"/>
              </a:rPr>
              <a:t>style="clear: both"</a:t>
            </a:r>
            <a:r>
              <a:rPr lang="en-US" altLang="en-US" sz="2500" dirty="0"/>
              <a:t>&gt; This heading tag is jumping up too!&lt;/h1&gt;</a:t>
            </a:r>
          </a:p>
        </p:txBody>
      </p:sp>
      <p:sp>
        <p:nvSpPr>
          <p:cNvPr id="5" name="TextBox 4">
            <a:extLst>
              <a:ext uri="{FF2B5EF4-FFF2-40B4-BE49-F238E27FC236}">
                <a16:creationId xmlns:a16="http://schemas.microsoft.com/office/drawing/2014/main" id="{97C9F0F1-2BAB-3F49-8DE7-B30F3DE94B8E}"/>
              </a:ext>
            </a:extLst>
          </p:cNvPr>
          <p:cNvSpPr txBox="1"/>
          <p:nvPr/>
        </p:nvSpPr>
        <p:spPr>
          <a:xfrm>
            <a:off x="8433880" y="3365260"/>
            <a:ext cx="2729023" cy="1200329"/>
          </a:xfrm>
          <a:prstGeom prst="rect">
            <a:avLst/>
          </a:prstGeom>
          <a:noFill/>
        </p:spPr>
        <p:txBody>
          <a:bodyPr wrap="square">
            <a:spAutoFit/>
          </a:bodyPr>
          <a:lstStyle/>
          <a:p>
            <a:r>
              <a:rPr lang="en-US" sz="2400" dirty="0"/>
              <a:t>h1{</a:t>
            </a:r>
          </a:p>
          <a:p>
            <a:r>
              <a:rPr lang="en-US" sz="2400" dirty="0"/>
              <a:t>  </a:t>
            </a:r>
            <a:r>
              <a:rPr lang="en-US" sz="2400" dirty="0">
                <a:solidFill>
                  <a:srgbClr val="0070C0"/>
                </a:solidFill>
              </a:rPr>
              <a:t>clear</a:t>
            </a:r>
            <a:r>
              <a:rPr lang="en-US" sz="2400" dirty="0"/>
              <a:t>: </a:t>
            </a:r>
            <a:r>
              <a:rPr lang="en-US" sz="2400" dirty="0">
                <a:solidFill>
                  <a:srgbClr val="FF0000"/>
                </a:solidFill>
              </a:rPr>
              <a:t>both</a:t>
            </a:r>
            <a:r>
              <a:rPr lang="en-US" sz="2400" dirty="0"/>
              <a:t>;</a:t>
            </a:r>
          </a:p>
          <a:p>
            <a:r>
              <a:rPr lang="en-US" sz="2400" dirty="0"/>
              <a:t>}</a:t>
            </a:r>
          </a:p>
        </p:txBody>
      </p:sp>
    </p:spTree>
    <p:extLst>
      <p:ext uri="{BB962C8B-B14F-4D97-AF65-F5344CB8AC3E}">
        <p14:creationId xmlns:p14="http://schemas.microsoft.com/office/powerpoint/2010/main" val="21463762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3696"/>
            <a:ext cx="10515600" cy="452486"/>
          </a:xfrm>
        </p:spPr>
        <p:txBody>
          <a:bodyPr>
            <a:normAutofit fontScale="90000"/>
          </a:bodyPr>
          <a:lstStyle/>
          <a:p>
            <a:r>
              <a:rPr lang="en-US" b="1" u="sng" dirty="0" smtClean="0"/>
              <a:t>A Challenge for you!</a:t>
            </a:r>
            <a:endParaRPr lang="en-US" b="1" u="sng" dirty="0"/>
          </a:p>
        </p:txBody>
      </p:sp>
      <p:sp>
        <p:nvSpPr>
          <p:cNvPr id="3" name="Content Placeholder 2"/>
          <p:cNvSpPr>
            <a:spLocks noGrp="1"/>
          </p:cNvSpPr>
          <p:nvPr>
            <p:ph idx="1"/>
          </p:nvPr>
        </p:nvSpPr>
        <p:spPr>
          <a:xfrm>
            <a:off x="838200" y="763572"/>
            <a:ext cx="10515600" cy="5234282"/>
          </a:xfrm>
        </p:spPr>
        <p:txBody>
          <a:bodyPr>
            <a:normAutofit/>
          </a:bodyPr>
          <a:lstStyle/>
          <a:p>
            <a:pPr marL="0" indent="0">
              <a:buNone/>
            </a:pPr>
            <a:r>
              <a:rPr lang="en-US" sz="2000" b="1" dirty="0" smtClean="0">
                <a:solidFill>
                  <a:schemeClr val="accent1">
                    <a:lumMod val="75000"/>
                  </a:schemeClr>
                </a:solidFill>
              </a:rPr>
              <a:t>Create a Newspaper-style (</a:t>
            </a:r>
            <a:r>
              <a:rPr lang="en-US" sz="2000" b="1" dirty="0">
                <a:solidFill>
                  <a:schemeClr val="accent1">
                    <a:lumMod val="75000"/>
                  </a:schemeClr>
                </a:solidFill>
              </a:rPr>
              <a:t>drop cap effect</a:t>
            </a:r>
            <a:r>
              <a:rPr lang="en-US" sz="2000" b="1" dirty="0" smtClean="0">
                <a:solidFill>
                  <a:schemeClr val="accent1">
                    <a:lumMod val="75000"/>
                  </a:schemeClr>
                </a:solidFill>
              </a:rPr>
              <a:t>) design using the float property you’ve just learnt.</a:t>
            </a:r>
          </a:p>
          <a:p>
            <a:pPr marL="0" indent="0">
              <a:buNone/>
            </a:pPr>
            <a:endParaRPr lang="en-US" sz="3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688" y="1187777"/>
            <a:ext cx="10962843" cy="5670223"/>
          </a:xfrm>
          <a:prstGeom prst="rect">
            <a:avLst/>
          </a:prstGeom>
        </p:spPr>
      </p:pic>
    </p:spTree>
    <p:extLst>
      <p:ext uri="{BB962C8B-B14F-4D97-AF65-F5344CB8AC3E}">
        <p14:creationId xmlns:p14="http://schemas.microsoft.com/office/powerpoint/2010/main" val="36874931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Adding Map with - HTML</a:t>
            </a:r>
            <a:endParaRPr lang="en-US" dirty="0"/>
          </a:p>
        </p:txBody>
      </p:sp>
      <p:sp>
        <p:nvSpPr>
          <p:cNvPr id="3" name="Content Placeholder 2"/>
          <p:cNvSpPr>
            <a:spLocks noGrp="1"/>
          </p:cNvSpPr>
          <p:nvPr>
            <p:ph idx="1"/>
          </p:nvPr>
        </p:nvSpPr>
        <p:spPr>
          <a:xfrm>
            <a:off x="838200" y="1989055"/>
            <a:ext cx="10515600" cy="4187907"/>
          </a:xfrm>
        </p:spPr>
        <p:txBody>
          <a:bodyPr>
            <a:normAutofit fontScale="85000" lnSpcReduction="20000"/>
          </a:bodyPr>
          <a:lstStyle/>
          <a:p>
            <a:pPr marL="0" indent="0">
              <a:buNone/>
            </a:pPr>
            <a:r>
              <a:rPr lang="en-US" dirty="0" smtClean="0"/>
              <a:t>Go to google map, pick the location you want to embed, then click on the share bar to display a share window, click on “Embed a map”, copy the entire code and add to your work file.</a:t>
            </a:r>
          </a:p>
          <a:p>
            <a:pPr marL="0" indent="0">
              <a:buNone/>
            </a:pPr>
            <a:endParaRPr lang="en-US" dirty="0"/>
          </a:p>
          <a:p>
            <a:pPr marL="0" indent="0">
              <a:buNone/>
            </a:pPr>
            <a:r>
              <a:rPr lang="en-US" b="1" dirty="0" smtClean="0">
                <a:solidFill>
                  <a:schemeClr val="accent1">
                    <a:lumMod val="75000"/>
                  </a:schemeClr>
                </a:solidFill>
              </a:rPr>
              <a:t>&lt;iframe</a:t>
            </a:r>
            <a:r>
              <a:rPr lang="en-US" dirty="0" smtClean="0">
                <a:solidFill>
                  <a:schemeClr val="accent1">
                    <a:lumMod val="75000"/>
                  </a:schemeClr>
                </a:solidFill>
              </a:rPr>
              <a:t> </a:t>
            </a:r>
            <a:r>
              <a:rPr lang="en-US" dirty="0" err="1">
                <a:solidFill>
                  <a:schemeClr val="accent1">
                    <a:lumMod val="75000"/>
                  </a:schemeClr>
                </a:solidFill>
              </a:rPr>
              <a:t>src</a:t>
            </a:r>
            <a:r>
              <a:rPr lang="en-US" dirty="0">
                <a:solidFill>
                  <a:schemeClr val="accent1">
                    <a:lumMod val="75000"/>
                  </a:schemeClr>
                </a:solidFill>
              </a:rPr>
              <a:t>="https://www.google.com/maps/embed?pb=!1m28!1m12!1m3!1d90525.30440296876!2d3.3042608274212872!3d6.592522725259003!2m3!1f0!2f0!3f0!3m2!1i1024!2i768!4f13.1!4m13!3e6!4m5!1s0x103b91a8ef5d1831%3A0xbd8d5c3a1498fa9!2sMM2%20Local%20airport!3m2!1d6.5844054!2d3.3332986!4m5!1s0x103b91e751d71485%3A0xf222ed73a7d14f9a!2sMuritala%20Airport%20Road%2C%20Ikeja%2C%20Lagos!3m2!1d6.5795772999999995!2d3.3226101!5e0!3m2!1sen!2sng!4v1759419180131!5m2!1sen!2sng" width="600" height="450" style="border:0;" </a:t>
            </a:r>
            <a:r>
              <a:rPr lang="en-US" dirty="0" err="1">
                <a:solidFill>
                  <a:schemeClr val="accent1">
                    <a:lumMod val="75000"/>
                  </a:schemeClr>
                </a:solidFill>
              </a:rPr>
              <a:t>allowfullscreen</a:t>
            </a:r>
            <a:r>
              <a:rPr lang="en-US" dirty="0">
                <a:solidFill>
                  <a:schemeClr val="accent1">
                    <a:lumMod val="75000"/>
                  </a:schemeClr>
                </a:solidFill>
              </a:rPr>
              <a:t>="" loading="lazy" </a:t>
            </a:r>
            <a:r>
              <a:rPr lang="en-US" dirty="0" err="1">
                <a:solidFill>
                  <a:schemeClr val="accent1">
                    <a:lumMod val="75000"/>
                  </a:schemeClr>
                </a:solidFill>
              </a:rPr>
              <a:t>referrerpolicy</a:t>
            </a:r>
            <a:r>
              <a:rPr lang="en-US" dirty="0">
                <a:solidFill>
                  <a:schemeClr val="accent1">
                    <a:lumMod val="75000"/>
                  </a:schemeClr>
                </a:solidFill>
              </a:rPr>
              <a:t>="no-referrer-when-downgrade"</a:t>
            </a:r>
            <a:r>
              <a:rPr lang="en-US" b="1" dirty="0">
                <a:solidFill>
                  <a:schemeClr val="accent1">
                    <a:lumMod val="75000"/>
                  </a:schemeClr>
                </a:solidFill>
              </a:rPr>
              <a:t>&gt;&lt;/iframe&gt;</a:t>
            </a:r>
          </a:p>
        </p:txBody>
      </p:sp>
    </p:spTree>
    <p:extLst>
      <p:ext uri="{BB962C8B-B14F-4D97-AF65-F5344CB8AC3E}">
        <p14:creationId xmlns:p14="http://schemas.microsoft.com/office/powerpoint/2010/main" val="1711431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HTML - Entities</a:t>
            </a:r>
            <a:endParaRPr lang="en-US" b="1" dirty="0"/>
          </a:p>
        </p:txBody>
      </p:sp>
      <p:sp>
        <p:nvSpPr>
          <p:cNvPr id="3" name="Content Placeholder 2"/>
          <p:cNvSpPr>
            <a:spLocks noGrp="1"/>
          </p:cNvSpPr>
          <p:nvPr>
            <p:ph idx="1"/>
          </p:nvPr>
        </p:nvSpPr>
        <p:spPr/>
        <p:txBody>
          <a:bodyPr/>
          <a:lstStyle/>
          <a:p>
            <a:pPr marL="0" indent="0">
              <a:buNone/>
            </a:pPr>
            <a:r>
              <a:rPr lang="en-US" dirty="0" smtClean="0"/>
              <a:t>I  am learning to code and currently learning HTML tags such as: </a:t>
            </a:r>
          </a:p>
          <a:p>
            <a:pPr marL="0" indent="0">
              <a:buNone/>
            </a:pPr>
            <a:r>
              <a:rPr lang="en-US" dirty="0" smtClean="0"/>
              <a:t>&lt;p&gt;&lt;/p&gt;, &lt;h1&gt;&lt;/h1&gt;, &lt;</a:t>
            </a:r>
            <a:r>
              <a:rPr lang="en-US" dirty="0" err="1" smtClean="0"/>
              <a:t>img</a:t>
            </a:r>
            <a:r>
              <a:rPr lang="en-US" dirty="0" smtClean="0"/>
              <a:t>&gt;, etc…</a:t>
            </a:r>
            <a:endParaRPr lang="en-US" dirty="0"/>
          </a:p>
        </p:txBody>
      </p:sp>
    </p:spTree>
    <p:extLst>
      <p:ext uri="{BB962C8B-B14F-4D97-AF65-F5344CB8AC3E}">
        <p14:creationId xmlns:p14="http://schemas.microsoft.com/office/powerpoint/2010/main" val="1575252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09919" y="311085"/>
            <a:ext cx="9503004" cy="6240544"/>
          </a:xfrm>
        </p:spPr>
        <p:txBody>
          <a:bodyPr>
            <a:normAutofit fontScale="77500" lnSpcReduction="20000"/>
          </a:bodyPr>
          <a:lstStyle/>
          <a:p>
            <a:pPr marL="0" indent="0">
              <a:buNone/>
            </a:pPr>
            <a:r>
              <a:rPr lang="en-US" dirty="0">
                <a:solidFill>
                  <a:schemeClr val="accent1">
                    <a:lumMod val="75000"/>
                  </a:schemeClr>
                </a:solidFill>
              </a:rPr>
              <a:t>Char</a:t>
            </a:r>
            <a:r>
              <a:rPr lang="en-US" dirty="0"/>
              <a:t>	</a:t>
            </a:r>
            <a:r>
              <a:rPr lang="en-US" dirty="0" smtClean="0"/>
              <a:t> </a:t>
            </a:r>
            <a:r>
              <a:rPr lang="en-US" dirty="0" smtClean="0">
                <a:solidFill>
                  <a:schemeClr val="accent1">
                    <a:lumMod val="75000"/>
                  </a:schemeClr>
                </a:solidFill>
              </a:rPr>
              <a:t>Dec</a:t>
            </a:r>
            <a:r>
              <a:rPr lang="en-US" dirty="0"/>
              <a:t>	</a:t>
            </a:r>
            <a:r>
              <a:rPr lang="en-US" dirty="0" smtClean="0"/>
              <a:t>	</a:t>
            </a:r>
            <a:r>
              <a:rPr lang="en-US" dirty="0" smtClean="0">
                <a:solidFill>
                  <a:schemeClr val="accent1">
                    <a:lumMod val="75000"/>
                  </a:schemeClr>
                </a:solidFill>
              </a:rPr>
              <a:t>Hex</a:t>
            </a:r>
            <a:r>
              <a:rPr lang="en-US" dirty="0"/>
              <a:t>	</a:t>
            </a:r>
            <a:r>
              <a:rPr lang="en-US" dirty="0" smtClean="0"/>
              <a:t>	</a:t>
            </a:r>
            <a:r>
              <a:rPr lang="en-US" dirty="0" smtClean="0">
                <a:solidFill>
                  <a:schemeClr val="accent1">
                    <a:lumMod val="75000"/>
                  </a:schemeClr>
                </a:solidFill>
              </a:rPr>
              <a:t>Name</a:t>
            </a:r>
            <a:r>
              <a:rPr lang="en-US" dirty="0"/>
              <a:t>	</a:t>
            </a:r>
          </a:p>
          <a:p>
            <a:pPr marL="0" indent="0">
              <a:buNone/>
            </a:pPr>
            <a:r>
              <a:rPr lang="en-US" dirty="0" smtClean="0"/>
              <a:t>₥</a:t>
            </a:r>
            <a:r>
              <a:rPr lang="en-US" dirty="0"/>
              <a:t>	 </a:t>
            </a:r>
            <a:r>
              <a:rPr lang="en-US" dirty="0" smtClean="0"/>
              <a:t>&amp;#8357;</a:t>
            </a:r>
            <a:r>
              <a:rPr lang="en-US" dirty="0"/>
              <a:t>	20A5	</a:t>
            </a:r>
            <a:r>
              <a:rPr lang="en-US" dirty="0" smtClean="0"/>
              <a:t>	MILL </a:t>
            </a:r>
            <a:r>
              <a:rPr lang="en-US" dirty="0"/>
              <a:t>SIGN	</a:t>
            </a:r>
          </a:p>
          <a:p>
            <a:pPr marL="0" indent="0">
              <a:buNone/>
            </a:pPr>
            <a:r>
              <a:rPr lang="en-US" dirty="0"/>
              <a:t>₦	 &amp;# </a:t>
            </a:r>
            <a:r>
              <a:rPr lang="en-US" dirty="0" smtClean="0"/>
              <a:t>8358;</a:t>
            </a:r>
            <a:r>
              <a:rPr lang="en-US" dirty="0"/>
              <a:t>	20A6	</a:t>
            </a:r>
            <a:r>
              <a:rPr lang="en-US" dirty="0" smtClean="0"/>
              <a:t>	NAIRA </a:t>
            </a:r>
            <a:r>
              <a:rPr lang="en-US" dirty="0"/>
              <a:t>SIGN	</a:t>
            </a:r>
          </a:p>
          <a:p>
            <a:pPr marL="0" indent="0">
              <a:buNone/>
            </a:pPr>
            <a:r>
              <a:rPr lang="en-US" dirty="0"/>
              <a:t>	 &amp;</a:t>
            </a:r>
            <a:r>
              <a:rPr lang="en-US" dirty="0" err="1"/>
              <a:t>nbsp</a:t>
            </a:r>
            <a:r>
              <a:rPr lang="en-US" dirty="0"/>
              <a:t>;</a:t>
            </a:r>
          </a:p>
          <a:p>
            <a:pPr marL="0" indent="0">
              <a:buNone/>
            </a:pPr>
            <a:r>
              <a:rPr lang="en-US" dirty="0" smtClean="0"/>
              <a:t>;</a:t>
            </a:r>
            <a:r>
              <a:rPr lang="en-US" dirty="0"/>
              <a:t>	20A7	</a:t>
            </a:r>
            <a:r>
              <a:rPr lang="en-US" dirty="0" smtClean="0"/>
              <a:t>	PESETA </a:t>
            </a:r>
            <a:r>
              <a:rPr lang="en-US" dirty="0"/>
              <a:t>SIGN	</a:t>
            </a:r>
          </a:p>
          <a:p>
            <a:pPr marL="0" indent="0">
              <a:buNone/>
            </a:pPr>
            <a:r>
              <a:rPr lang="en-US" dirty="0"/>
              <a:t>₨	 &amp;# </a:t>
            </a:r>
            <a:r>
              <a:rPr lang="en-US" dirty="0" smtClean="0"/>
              <a:t>8360;</a:t>
            </a:r>
            <a:r>
              <a:rPr lang="en-US" dirty="0"/>
              <a:t>	20A8	</a:t>
            </a:r>
            <a:r>
              <a:rPr lang="en-US" dirty="0" smtClean="0"/>
              <a:t>	RUPEE </a:t>
            </a:r>
            <a:r>
              <a:rPr lang="en-US" dirty="0"/>
              <a:t>SIGN	</a:t>
            </a:r>
          </a:p>
          <a:p>
            <a:pPr marL="0" indent="0">
              <a:buNone/>
            </a:pPr>
            <a:r>
              <a:rPr lang="en-US" dirty="0"/>
              <a:t>©	169		&amp;copy;	</a:t>
            </a:r>
            <a:r>
              <a:rPr lang="en-US" dirty="0" smtClean="0"/>
              <a:t>	COPYRIGHT </a:t>
            </a:r>
            <a:r>
              <a:rPr lang="en-US" dirty="0"/>
              <a:t>SIGN	</a:t>
            </a:r>
          </a:p>
          <a:p>
            <a:pPr marL="0" indent="0">
              <a:buNone/>
            </a:pPr>
            <a:r>
              <a:rPr lang="en-US" dirty="0"/>
              <a:t>«	171		&amp;</a:t>
            </a:r>
            <a:r>
              <a:rPr lang="en-US" dirty="0" err="1" smtClean="0"/>
              <a:t>laquo</a:t>
            </a:r>
            <a:r>
              <a:rPr lang="en-US" dirty="0" smtClean="0"/>
              <a:t>;	LEFT </a:t>
            </a:r>
            <a:r>
              <a:rPr lang="en-US" dirty="0"/>
              <a:t>DOUBLE ANGLE QUOTATION	</a:t>
            </a:r>
          </a:p>
          <a:p>
            <a:pPr marL="0" indent="0">
              <a:buNone/>
            </a:pPr>
            <a:r>
              <a:rPr lang="en-US" dirty="0"/>
              <a:t>®	174		&amp;</a:t>
            </a:r>
            <a:r>
              <a:rPr lang="en-US" dirty="0" err="1"/>
              <a:t>reg</a:t>
            </a:r>
            <a:r>
              <a:rPr lang="en-US" dirty="0"/>
              <a:t>;	</a:t>
            </a:r>
            <a:r>
              <a:rPr lang="en-US" dirty="0" smtClean="0"/>
              <a:t>	REGISTERED </a:t>
            </a:r>
            <a:r>
              <a:rPr lang="en-US" dirty="0"/>
              <a:t>SIGN 	</a:t>
            </a:r>
          </a:p>
          <a:p>
            <a:pPr marL="0" indent="0">
              <a:buNone/>
            </a:pPr>
            <a:r>
              <a:rPr lang="en-US" dirty="0"/>
              <a:t>€	 &amp;# </a:t>
            </a:r>
            <a:r>
              <a:rPr lang="en-US" dirty="0" smtClean="0"/>
              <a:t>8364;</a:t>
            </a:r>
            <a:r>
              <a:rPr lang="en-US" dirty="0"/>
              <a:t>	20AC	</a:t>
            </a:r>
            <a:r>
              <a:rPr lang="en-US" dirty="0" smtClean="0"/>
              <a:t>	EURO </a:t>
            </a:r>
            <a:r>
              <a:rPr lang="en-US" dirty="0"/>
              <a:t>SIGN &amp;euro;	</a:t>
            </a:r>
          </a:p>
          <a:p>
            <a:pPr marL="0" indent="0">
              <a:buNone/>
            </a:pPr>
            <a:r>
              <a:rPr lang="en-US" dirty="0"/>
              <a:t>₿	 &amp;# </a:t>
            </a:r>
            <a:r>
              <a:rPr lang="en-US" dirty="0" smtClean="0"/>
              <a:t>8383;</a:t>
            </a:r>
            <a:r>
              <a:rPr lang="en-US" dirty="0"/>
              <a:t>	20BF	</a:t>
            </a:r>
            <a:r>
              <a:rPr lang="en-US" dirty="0" smtClean="0"/>
              <a:t>	BITCOIN SIGN</a:t>
            </a:r>
          </a:p>
          <a:p>
            <a:pPr marL="0" indent="0">
              <a:buNone/>
            </a:pPr>
            <a:r>
              <a:rPr lang="en-US" dirty="0" smtClean="0"/>
              <a:t>"	        </a:t>
            </a:r>
            <a:r>
              <a:rPr lang="en-US" dirty="0"/>
              <a:t>	</a:t>
            </a:r>
            <a:r>
              <a:rPr lang="en-US" dirty="0" smtClean="0"/>
              <a:t>  	&amp;</a:t>
            </a:r>
            <a:r>
              <a:rPr lang="en-US" dirty="0" err="1"/>
              <a:t>quot</a:t>
            </a:r>
            <a:r>
              <a:rPr lang="en-US" dirty="0"/>
              <a:t>;	</a:t>
            </a:r>
            <a:r>
              <a:rPr lang="en-US" dirty="0" smtClean="0"/>
              <a:t>	QUOTATION</a:t>
            </a:r>
            <a:r>
              <a:rPr lang="en-US" dirty="0"/>
              <a:t>	</a:t>
            </a:r>
          </a:p>
          <a:p>
            <a:pPr marL="0" indent="0">
              <a:buNone/>
            </a:pPr>
            <a:r>
              <a:rPr lang="en-US" dirty="0"/>
              <a:t>&amp;	38		&amp;amp;	</a:t>
            </a:r>
            <a:r>
              <a:rPr lang="en-US" dirty="0" smtClean="0"/>
              <a:t>	AMPERSAND</a:t>
            </a:r>
            <a:r>
              <a:rPr lang="en-US" dirty="0"/>
              <a:t>	</a:t>
            </a:r>
          </a:p>
          <a:p>
            <a:pPr marL="0" indent="0">
              <a:buNone/>
            </a:pPr>
            <a:r>
              <a:rPr lang="en-US" dirty="0"/>
              <a:t>'	39		&amp;</a:t>
            </a:r>
            <a:r>
              <a:rPr lang="en-US" dirty="0" err="1"/>
              <a:t>apos</a:t>
            </a:r>
            <a:r>
              <a:rPr lang="en-US" dirty="0"/>
              <a:t>;	</a:t>
            </a:r>
            <a:r>
              <a:rPr lang="en-US" dirty="0" smtClean="0"/>
              <a:t>	APOSTROPHE</a:t>
            </a:r>
            <a:r>
              <a:rPr lang="en-US" dirty="0"/>
              <a:t>	</a:t>
            </a:r>
          </a:p>
          <a:p>
            <a:pPr marL="0" indent="0">
              <a:buNone/>
            </a:pPr>
            <a:r>
              <a:rPr lang="en-US" dirty="0"/>
              <a:t>&lt;	60		&amp;</a:t>
            </a:r>
            <a:r>
              <a:rPr lang="en-US" dirty="0" err="1"/>
              <a:t>lt</a:t>
            </a:r>
            <a:r>
              <a:rPr lang="en-US" dirty="0"/>
              <a:t>;	</a:t>
            </a:r>
            <a:r>
              <a:rPr lang="en-US" dirty="0" smtClean="0"/>
              <a:t>	LESS-THAN</a:t>
            </a:r>
            <a:r>
              <a:rPr lang="en-US" dirty="0"/>
              <a:t>	</a:t>
            </a:r>
          </a:p>
          <a:p>
            <a:pPr marL="0" indent="0">
              <a:buNone/>
            </a:pPr>
            <a:r>
              <a:rPr lang="en-US" dirty="0"/>
              <a:t>&gt;	62		&amp;</a:t>
            </a:r>
            <a:r>
              <a:rPr lang="en-US" dirty="0" err="1"/>
              <a:t>gt</a:t>
            </a:r>
            <a:r>
              <a:rPr lang="en-US" dirty="0"/>
              <a:t>;	</a:t>
            </a:r>
            <a:r>
              <a:rPr lang="en-US" dirty="0" smtClean="0"/>
              <a:t>	GREATER-THAN</a:t>
            </a:r>
            <a:r>
              <a:rPr lang="en-US" dirty="0"/>
              <a:t>	</a:t>
            </a:r>
          </a:p>
          <a:p>
            <a:pPr marL="0" indent="0">
              <a:buNone/>
            </a:pPr>
            <a:r>
              <a:rPr lang="en-US" dirty="0"/>
              <a:t>€	128		&amp;euro</a:t>
            </a:r>
            <a:r>
              <a:rPr lang="en-US" dirty="0" smtClean="0"/>
              <a:t>;</a:t>
            </a:r>
            <a:r>
              <a:rPr lang="en-US" dirty="0"/>
              <a:t>	</a:t>
            </a:r>
            <a:r>
              <a:rPr lang="en-US" dirty="0" smtClean="0"/>
              <a:t>	EURO</a:t>
            </a:r>
            <a:endParaRPr lang="en-US" dirty="0"/>
          </a:p>
        </p:txBody>
      </p:sp>
    </p:spTree>
    <p:extLst>
      <p:ext uri="{BB962C8B-B14F-4D97-AF65-F5344CB8AC3E}">
        <p14:creationId xmlns:p14="http://schemas.microsoft.com/office/powerpoint/2010/main" val="9339902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2488"/>
            <a:ext cx="10515600" cy="546754"/>
          </a:xfrm>
        </p:spPr>
        <p:txBody>
          <a:bodyPr>
            <a:normAutofit fontScale="90000"/>
          </a:bodyPr>
          <a:lstStyle/>
          <a:p>
            <a:r>
              <a:rPr lang="en-US" b="1" dirty="0" smtClean="0">
                <a:solidFill>
                  <a:schemeClr val="accent1">
                    <a:lumMod val="75000"/>
                  </a:schemeClr>
                </a:solidFill>
              </a:rPr>
              <a:t>FINAL PROJECT</a:t>
            </a:r>
            <a:endParaRPr lang="en-US" b="1" dirty="0">
              <a:solidFill>
                <a:schemeClr val="accent1">
                  <a:lumMod val="75000"/>
                </a:schemeClr>
              </a:solidFill>
            </a:endParaRPr>
          </a:p>
        </p:txBody>
      </p:sp>
      <p:sp>
        <p:nvSpPr>
          <p:cNvPr id="3" name="Content Placeholder 2"/>
          <p:cNvSpPr>
            <a:spLocks noGrp="1"/>
          </p:cNvSpPr>
          <p:nvPr>
            <p:ph idx="1"/>
          </p:nvPr>
        </p:nvSpPr>
        <p:spPr>
          <a:xfrm>
            <a:off x="838200" y="1282045"/>
            <a:ext cx="10515600" cy="4894918"/>
          </a:xfrm>
        </p:spPr>
        <p:txBody>
          <a:bodyPr/>
          <a:lstStyle/>
          <a:p>
            <a:pPr>
              <a:buFont typeface="Wingdings" panose="05000000000000000000" pitchFamily="2" charset="2"/>
              <a:buChar char="§"/>
            </a:pPr>
            <a:r>
              <a:rPr lang="en-US" dirty="0" smtClean="0"/>
              <a:t>Create a multi-page website for a construction company, it should have 4 pages (Homepage, About Us, Services, Contact Us).</a:t>
            </a:r>
          </a:p>
          <a:p>
            <a:pPr>
              <a:buFont typeface="Wingdings" panose="05000000000000000000" pitchFamily="2" charset="2"/>
              <a:buChar char="§"/>
            </a:pPr>
            <a:endParaRPr lang="en-US" dirty="0"/>
          </a:p>
          <a:p>
            <a:pPr>
              <a:buFont typeface="Wingdings" panose="05000000000000000000" pitchFamily="2" charset="2"/>
              <a:buChar char="§"/>
            </a:pPr>
            <a:r>
              <a:rPr lang="en-US" dirty="0" smtClean="0"/>
              <a:t>The website should be built using everything you’ve learnt in HTML so far. Fill each page with the necessary content.</a:t>
            </a:r>
          </a:p>
          <a:p>
            <a:pPr>
              <a:buFont typeface="Wingdings" panose="05000000000000000000" pitchFamily="2" charset="2"/>
              <a:buChar char="§"/>
            </a:pPr>
            <a:endParaRPr lang="en-US" dirty="0"/>
          </a:p>
          <a:p>
            <a:pPr>
              <a:buFont typeface="Wingdings" panose="05000000000000000000" pitchFamily="2" charset="2"/>
              <a:buChar char="§"/>
            </a:pPr>
            <a:r>
              <a:rPr lang="en-US" dirty="0" smtClean="0"/>
              <a:t>Make the website look real</a:t>
            </a:r>
          </a:p>
          <a:p>
            <a:pPr>
              <a:buFont typeface="Wingdings" panose="05000000000000000000" pitchFamily="2" charset="2"/>
              <a:buChar char="§"/>
            </a:pPr>
            <a:endParaRPr lang="en-US" dirty="0"/>
          </a:p>
          <a:p>
            <a:pPr>
              <a:buFont typeface="Wingdings" panose="05000000000000000000" pitchFamily="2" charset="2"/>
              <a:buChar char="§"/>
            </a:pPr>
            <a:r>
              <a:rPr lang="en-US" dirty="0" smtClean="0"/>
              <a:t>Submission should be before 12p.m on Friday, October 17</a:t>
            </a:r>
            <a:r>
              <a:rPr lang="en-US" baseline="30000" dirty="0" smtClean="0"/>
              <a:t>th</a:t>
            </a:r>
            <a:r>
              <a:rPr lang="en-US" dirty="0" smtClean="0"/>
              <a:t> 2025.</a:t>
            </a:r>
          </a:p>
        </p:txBody>
      </p:sp>
    </p:spTree>
    <p:extLst>
      <p:ext uri="{BB962C8B-B14F-4D97-AF65-F5344CB8AC3E}">
        <p14:creationId xmlns:p14="http://schemas.microsoft.com/office/powerpoint/2010/main" val="2691063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9654</TotalTime>
  <Words>1604</Words>
  <Application>Microsoft Office PowerPoint</Application>
  <PresentationFormat>Widescreen</PresentationFormat>
  <Paragraphs>209</Paragraphs>
  <Slides>34</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34</vt:i4>
      </vt:variant>
    </vt:vector>
  </HeadingPairs>
  <TitlesOfParts>
    <vt:vector size="46" baseType="lpstr">
      <vt:lpstr>Arial</vt:lpstr>
      <vt:lpstr>Baskerville Old Face</vt:lpstr>
      <vt:lpstr>Calibri</vt:lpstr>
      <vt:lpstr>Calibri Light</vt:lpstr>
      <vt:lpstr>Consolas</vt:lpstr>
      <vt:lpstr>Corbel</vt:lpstr>
      <vt:lpstr>Noto Sans CJK SC</vt:lpstr>
      <vt:lpstr>Segoe UI</vt:lpstr>
      <vt:lpstr>Source Sans Pro</vt:lpstr>
      <vt:lpstr>Verdana</vt:lpstr>
      <vt:lpstr>Wingdings</vt:lpstr>
      <vt:lpstr>Office Theme</vt:lpstr>
      <vt:lpstr>MULTIMEDIA</vt:lpstr>
      <vt:lpstr>HMTL MULTIMEDIA</vt:lpstr>
      <vt:lpstr>Audio on web</vt:lpstr>
      <vt:lpstr>MULTIMEDIA FILE FORMATS</vt:lpstr>
      <vt:lpstr>PowerPoint Presentation</vt:lpstr>
      <vt:lpstr>THE HTML &lt;VIDEO&gt; ELEMENT </vt:lpstr>
      <vt:lpstr>VIDEO TAG</vt:lpstr>
      <vt:lpstr>Using Autoplay</vt:lpstr>
      <vt:lpstr>PowerPoint Presentation</vt:lpstr>
      <vt:lpstr>HTML LINKS</vt:lpstr>
      <vt:lpstr>Link Colors:</vt:lpstr>
      <vt:lpstr>LINKS:</vt:lpstr>
      <vt:lpstr>LINKING To Folders above and below</vt:lpstr>
      <vt:lpstr>Global and Local link (Absolute vs. Relative URLs)</vt:lpstr>
      <vt:lpstr>HTML Links - The target Attribute  </vt:lpstr>
      <vt:lpstr>Example:</vt:lpstr>
      <vt:lpstr>Link and Image</vt:lpstr>
      <vt:lpstr>Link and Email Address  </vt:lpstr>
      <vt:lpstr>Quick Class Exercise</vt:lpstr>
      <vt:lpstr>LINKING TO SPECIFIC PARTS OF A WEBPAGE</vt:lpstr>
      <vt:lpstr>Quick Class Exercise</vt:lpstr>
      <vt:lpstr>Adding Favicon to your webpage</vt:lpstr>
      <vt:lpstr>PowerPoint Presentation</vt:lpstr>
      <vt:lpstr>THE STYLE ATTRIBUTE </vt:lpstr>
      <vt:lpstr>PowerPoint Presentation</vt:lpstr>
      <vt:lpstr>CSS Float Property</vt:lpstr>
      <vt:lpstr>The Float Property </vt:lpstr>
      <vt:lpstr>The Float Property </vt:lpstr>
      <vt:lpstr>Float Property</vt:lpstr>
      <vt:lpstr>A Challenge for you!</vt:lpstr>
      <vt:lpstr>Adding Map with - HTML</vt:lpstr>
      <vt:lpstr>HTML - Entities</vt:lpstr>
      <vt:lpstr>PowerPoint Presentation</vt:lpstr>
      <vt:lpstr>FINAL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Windows User</cp:lastModifiedBy>
  <cp:revision>41</cp:revision>
  <dcterms:created xsi:type="dcterms:W3CDTF">2024-01-17T09:09:54Z</dcterms:created>
  <dcterms:modified xsi:type="dcterms:W3CDTF">2025-10-04T21:34:58Z</dcterms:modified>
</cp:coreProperties>
</file>