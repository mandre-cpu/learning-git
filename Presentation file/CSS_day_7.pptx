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7729B-39FC-413D-9BD5-F63B862920E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86A8A-615A-4149-995C-B6EEF0CF2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B44F-6D80-E474-B80B-EB58ED87E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028DE-A9D0-4419-9EF1-FBFF4362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B9565-CEBF-4290-5A59-2303182A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EBB0-B263-D532-E290-7AF9517DA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D69D1-A0DE-4B8F-4BD1-36D082A53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93AB-2137-ECB5-1884-7ECF1E4B3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2F47E-6743-02F3-C728-3E5C03BEB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4DAD3-0C06-9DCA-4C18-A46CCEAC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91EBA-0B2F-A0F4-2253-7B95128A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AE253-E60A-F8BA-43A1-97054878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4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F211-79EC-A966-9DEB-EEFA628C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2EC2C-B2F7-04F8-91EC-AB52849DF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D744-3DD6-F832-A4FD-FA4C9EF1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F1D1-DF96-FE7A-ACF8-F23600750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BFFEF-3DF2-AD12-124F-979AA262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63A1-1B0A-A2C3-97E1-F239316C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5C097-63CF-0519-1AA6-BC90B3CC1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37921-4AC2-C9C1-9358-B9862E1F8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1C00B-09BB-B412-7693-D08E22E4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D25EB-A3E9-1B38-C873-15FC9DA8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09310-EA11-352F-39AE-26FCEED0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945A-C7A5-1043-3B87-BF048B1D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2DE52-76FC-6EE4-4BCB-F7ACC32D9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759D4-D5C8-BDE9-6F53-23AE70D11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A7AFA0-2DEB-095F-C07A-8B5B4116D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EBA38-9CD8-873D-42D5-D63511990E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A2F4D-73DE-5C02-965B-1A9EB4E6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C0A7B-51D6-860B-FBE4-F5AD18D5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D94BB-94BA-BD77-E656-BD8AD49E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7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DC9F-13FD-617A-D851-650FBC31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0CDF0-1CB3-3367-94CA-A7B54E0F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B6E34-927F-1D21-83CE-7519F591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F10B2-80FF-43DA-F546-306F5AE1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3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485E2-2430-B585-7203-DAEAC4A0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169D3-7E9D-764E-57D6-FF6B980F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83435-4A0D-A0DB-D5AA-67339088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4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B7BB-F664-1DAF-37D8-337482088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AD7B7-8C19-038A-BAB6-4C8777C98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4AAF4-9966-B61A-C087-DB96220F2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DB6C6-EB43-CBDF-1469-0B0FD4CD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5C3A4-07B1-9CEF-D519-CDB1112B5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2988E-2568-CF08-CFF1-E7CEB77B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45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6913-3F40-D6E0-57D3-D5D65FC5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AD43B-FFBC-F6BD-C162-32952B263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8BDA0-1FD4-B8C4-1130-5180683E2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4D698-2CAE-C25E-2355-A8F954667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976B6-C412-434B-6204-62E9F7F7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7EDBC-19DD-04FE-1AAB-ADFC971A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3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B336-CC3C-05AA-0F27-3D749949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A0CC8-82C3-4D3E-B61B-D5EF90E29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FE89B-EEB6-15FD-9DA9-04DAE7C1A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77B26-D246-BC73-B0E0-CA58D0A6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5B480-2F03-20FF-5354-D7C1F2B7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DA255-F904-AC56-116B-68F5B30B9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E6515-CB08-99F4-EF71-F115F5C67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6DD5-417B-699F-1D83-7CDC602D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16A18-7D8C-681E-3BDF-E8381DA8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FD18A-F822-789C-29D7-0A42C621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4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A0BE7-71AD-FF6C-37F7-D240A7C3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96787-B0D8-A513-862F-BA24A5E79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00A5F-525E-FD0F-610D-D444A060B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2FA5E-585C-4C83-8AFA-F6ABB670330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9AF49-3EB9-D4A2-BF02-770FBA2A8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70D14-2171-25F5-EB5F-36E7E005F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4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nimate.style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ransparenttexture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D99E-8CFE-9173-C6A1-CE44504D4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5126" y="1057479"/>
            <a:ext cx="8561747" cy="2541431"/>
          </a:xfrm>
        </p:spPr>
        <p:txBody>
          <a:bodyPr>
            <a:noAutofit/>
          </a:bodyPr>
          <a:lstStyle/>
          <a:p>
            <a:pPr algn="ctr"/>
            <a:r>
              <a:rPr lang="en-US" sz="6500" b="1" i="0" u="none" strike="noStrike" cap="none" dirty="0">
                <a:solidFill>
                  <a:srgbClr val="DA670F"/>
                </a:solidFill>
                <a:latin typeface="Corbel"/>
                <a:ea typeface="Corbel"/>
                <a:cs typeface="Corbel"/>
                <a:sym typeface="Corbel"/>
              </a:rPr>
              <a:t>Responsive Websites for a better User Experience</a:t>
            </a:r>
            <a:endParaRPr lang="en-US" sz="6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F9416-FF62-6198-E6FE-A8D0D5B72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0696" y="3988404"/>
            <a:ext cx="8561746" cy="977621"/>
          </a:xfrm>
        </p:spPr>
        <p:txBody>
          <a:bodyPr/>
          <a:lstStyle/>
          <a:p>
            <a:r>
              <a:rPr lang="en-US" b="1" dirty="0"/>
              <a:t>Responsive Website Layout  with media query</a:t>
            </a:r>
          </a:p>
        </p:txBody>
      </p:sp>
    </p:spTree>
    <p:extLst>
      <p:ext uri="{BB962C8B-B14F-4D97-AF65-F5344CB8AC3E}">
        <p14:creationId xmlns:p14="http://schemas.microsoft.com/office/powerpoint/2010/main" val="2782779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511A8-1B90-FF06-A783-712DD5A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635" y="0"/>
            <a:ext cx="9520158" cy="1049235"/>
          </a:xfrm>
        </p:spPr>
        <p:txBody>
          <a:bodyPr>
            <a:normAutofit/>
          </a:bodyPr>
          <a:lstStyle/>
          <a:p>
            <a:r>
              <a:rPr lang="en-US" sz="4000" b="1" i="0" u="none" strike="noStrike" cap="none" dirty="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Viewport Meta Tag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6A970-DA3A-486B-E91A-9B8B9D0D8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1913860"/>
            <a:ext cx="9520158" cy="3552485"/>
          </a:xfrm>
        </p:spPr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400" dirty="0"/>
              <a:t>Add the following meta tag to the head section of your HTML page</a:t>
            </a: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endParaRPr lang="en-US" sz="24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endParaRPr lang="en-US" sz="24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 sz="20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&lt;meta name="viewport" content="width=device-width, initial-scale=1, shrink-to-fit=no"&gt;</a:t>
            </a: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09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5164F-E5E4-513B-C3EA-50041D082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244550"/>
            <a:ext cx="9520158" cy="522179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="viewport"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content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="width=device-width, initial-scale=1.0"&gt;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gives the browser instructions on how to control the page's dimensions and scaling.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width=device-width part sets the width of the page to follow the screen-width of the device (which will vary depending on the device).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initial-scale=1.0 part sets the initial zoom level when the page is first loaded by the browser.</a:t>
            </a:r>
          </a:p>
        </p:txBody>
      </p:sp>
    </p:spTree>
    <p:extLst>
      <p:ext uri="{BB962C8B-B14F-4D97-AF65-F5344CB8AC3E}">
        <p14:creationId xmlns:p14="http://schemas.microsoft.com/office/powerpoint/2010/main" val="20084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0A96F-8E94-C1E6-6BF8-A3C7FA36A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106327"/>
            <a:ext cx="9520158" cy="786808"/>
          </a:xfrm>
        </p:spPr>
        <p:txBody>
          <a:bodyPr/>
          <a:lstStyle/>
          <a:p>
            <a:r>
              <a:rPr lang="en-US" sz="3200" b="1" i="0" u="none" strike="noStrike" cap="none" dirty="0">
                <a:latin typeface="Corbel"/>
                <a:ea typeface="Corbel"/>
                <a:cs typeface="Corbel"/>
                <a:sym typeface="Corbel"/>
              </a:rPr>
              <a:t>Responsive Design: Introduction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67AAB-BF43-02B7-B7FB-21E8D317D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270" y="1317831"/>
            <a:ext cx="5061097" cy="4795889"/>
          </a:xfrm>
        </p:spPr>
        <p:txBody>
          <a:bodyPr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</a:pPr>
            <a:r>
              <a:rPr lang="en-US" sz="22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While it worked then there are certain limitation to website design and they include:</a:t>
            </a:r>
          </a:p>
          <a:p>
            <a:pPr marL="674370" marR="0" lvl="1" indent="-17145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</a:pPr>
            <a:r>
              <a:rPr lang="en-US" sz="22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Lack of adaptability: These layouts do not automatically adjust to different screen sizes or devices.</a:t>
            </a:r>
          </a:p>
          <a:p>
            <a:pPr marL="674370" marR="0" lvl="1" indent="-17145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</a:pPr>
            <a:r>
              <a:rPr lang="en-US" sz="22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Inefficient use of space: Content might be squeezed or stretched, leading to readability issues</a:t>
            </a:r>
          </a:p>
          <a:p>
            <a:pPr marL="674370" marR="0" lvl="1" indent="-17145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</a:pPr>
            <a:r>
              <a:rPr lang="en-US" sz="22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Difficulty in maintenance: Changing the layout requires modifying multiple elements throughout the codebase.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832B80-3220-8463-DBC2-38CCA231783F}"/>
              </a:ext>
            </a:extLst>
          </p:cNvPr>
          <p:cNvSpPr txBox="1">
            <a:spLocks/>
          </p:cNvSpPr>
          <p:nvPr/>
        </p:nvSpPr>
        <p:spPr>
          <a:xfrm>
            <a:off x="1169582" y="1396410"/>
            <a:ext cx="4224670" cy="47173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182880" indent="-182880">
              <a:lnSpc>
                <a:spcPct val="90000"/>
              </a:lnSpc>
              <a:spcBef>
                <a:spcPts val="0"/>
              </a:spcBef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en-US" sz="2200" dirty="0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Before mobile phones and other smart devices became common, websites were accessed through desktop computers and then Laptops.</a:t>
            </a:r>
          </a:p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en-US" sz="2200" dirty="0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Same resolution across all computers hence websites had fixed widths. These were built using tables, fixed-width,  </a:t>
            </a:r>
            <a:r>
              <a:rPr lang="en-US" sz="2200" dirty="0" err="1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divs</a:t>
            </a:r>
            <a:r>
              <a:rPr lang="en-US" sz="2200" dirty="0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, or other static layouts.</a:t>
            </a:r>
          </a:p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en-US" sz="2200" dirty="0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This in turn introduced Sideways scrolling which is not as convenient as vertical scrolling. </a:t>
            </a:r>
          </a:p>
        </p:txBody>
      </p:sp>
    </p:spTree>
    <p:extLst>
      <p:ext uri="{BB962C8B-B14F-4D97-AF65-F5344CB8AC3E}">
        <p14:creationId xmlns:p14="http://schemas.microsoft.com/office/powerpoint/2010/main" val="3164254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76354-93CE-7D78-4C04-B5871E5F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dirty="0"/>
              <a:t>MEDIA </a:t>
            </a:r>
            <a:r>
              <a:rPr lang="en-US" sz="5000" dirty="0">
                <a:solidFill>
                  <a:srgbClr val="C00000"/>
                </a:solidFill>
              </a:rPr>
              <a:t>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FBECA-1C1A-A094-088C-450CE3CAA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2445488"/>
            <a:ext cx="9520158" cy="30208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The CSS @media rule, allows us to define different style rules for different media types and/or different screen sizes.</a:t>
            </a:r>
            <a:endParaRPr lang="en-US" sz="3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305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AAFE2-432C-1F58-53F5-828A0DD11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335" y="1"/>
            <a:ext cx="10090298" cy="829340"/>
          </a:xfrm>
        </p:spPr>
        <p:txBody>
          <a:bodyPr>
            <a:normAutofit/>
          </a:bodyPr>
          <a:lstStyle/>
          <a:p>
            <a:r>
              <a:rPr lang="en-US" sz="3000" b="1" dirty="0"/>
              <a:t>The same website looks different across various devices</a:t>
            </a:r>
          </a:p>
        </p:txBody>
      </p:sp>
      <p:pic>
        <p:nvPicPr>
          <p:cNvPr id="4" name="Google Shape;180;p12">
            <a:extLst>
              <a:ext uri="{FF2B5EF4-FFF2-40B4-BE49-F238E27FC236}">
                <a16:creationId xmlns:a16="http://schemas.microsoft.com/office/drawing/2014/main" id="{338FDD40-C478-4E5E-AD6B-3E9AEF85ACF6}"/>
              </a:ext>
            </a:extLst>
          </p:cNvPr>
          <p:cNvPicPr preferRelativeResize="0">
            <a:picLocks noGrp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4119" y="1148316"/>
            <a:ext cx="8630093" cy="5240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3303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C8B8-6977-C900-07DA-34B40B973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159489"/>
            <a:ext cx="9520158" cy="69111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FDF7E-F132-1917-FD90-586FF458B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999460"/>
            <a:ext cx="9520158" cy="4466885"/>
          </a:xfrm>
        </p:spPr>
        <p:txBody>
          <a:bodyPr>
            <a:no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en-US" sz="3000" dirty="0">
                <a:latin typeface="Corbel"/>
                <a:ea typeface="Corbel"/>
                <a:cs typeface="Corbel"/>
                <a:sym typeface="Corbel"/>
              </a:rPr>
              <a:t>CSS Media queries are a way to target browsers by certain characteristics, features, and user preferences, then apply styles or run other code based on those things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en-US" sz="3000" b="1" i="1" dirty="0">
                <a:latin typeface="Corbel"/>
                <a:ea typeface="Corbel"/>
                <a:cs typeface="Corbel"/>
                <a:sym typeface="Corbel"/>
              </a:rPr>
              <a:t>Media queries are rules used to override the initial  CSS rules of elements, in order to achieve responsive layout across different screen sizes.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en-US" sz="3000" dirty="0">
                <a:latin typeface="Corbel"/>
                <a:ea typeface="Corbel"/>
                <a:cs typeface="Corbel"/>
                <a:sym typeface="Corbel"/>
              </a:rPr>
              <a:t>CSS media queries allow you to define CSS rules that only apply when certain conditions are met.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en-US" sz="3000" dirty="0">
                <a:latin typeface="Corbel"/>
                <a:ea typeface="Corbel"/>
                <a:cs typeface="Corbel"/>
                <a:sym typeface="Corbel"/>
              </a:rPr>
              <a:t>These conditions are based on the characteristics of the device, such as</a:t>
            </a:r>
            <a:r>
              <a:rPr lang="en-US" sz="3000" b="1" dirty="0">
                <a:latin typeface="Corbel"/>
                <a:ea typeface="Corbel"/>
                <a:cs typeface="Corbel"/>
                <a:sym typeface="Corbel"/>
              </a:rPr>
              <a:t> screen size</a:t>
            </a:r>
            <a:r>
              <a:rPr lang="en-US" sz="3000" dirty="0">
                <a:latin typeface="Corbel"/>
                <a:ea typeface="Corbel"/>
                <a:cs typeface="Corbel"/>
                <a:sym typeface="Corbel"/>
              </a:rPr>
              <a:t>, </a:t>
            </a:r>
            <a:r>
              <a:rPr lang="en-US" sz="3000" b="1" dirty="0">
                <a:latin typeface="Corbel"/>
                <a:ea typeface="Corbel"/>
                <a:cs typeface="Corbel"/>
                <a:sym typeface="Corbel"/>
              </a:rPr>
              <a:t>resolution</a:t>
            </a:r>
            <a:r>
              <a:rPr lang="en-US" sz="3000" dirty="0">
                <a:latin typeface="Corbel"/>
                <a:ea typeface="Corbel"/>
                <a:cs typeface="Corbel"/>
                <a:sym typeface="Corbel"/>
              </a:rPr>
              <a:t>, </a:t>
            </a:r>
            <a:r>
              <a:rPr lang="en-US" sz="3000" b="1" dirty="0">
                <a:latin typeface="Corbel"/>
                <a:ea typeface="Corbel"/>
                <a:cs typeface="Corbel"/>
                <a:sym typeface="Corbel"/>
              </a:rPr>
              <a:t>orientation</a:t>
            </a:r>
            <a:r>
              <a:rPr lang="en-US" sz="3000" dirty="0">
                <a:latin typeface="Corbel"/>
                <a:ea typeface="Corbel"/>
                <a:cs typeface="Corbel"/>
                <a:sym typeface="Corbel"/>
              </a:rPr>
              <a:t>, and more.</a:t>
            </a:r>
          </a:p>
          <a:p>
            <a:pPr marL="0" indent="0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338282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E89D8-0A4C-B931-B8D0-09B1555B0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138223"/>
            <a:ext cx="9520158" cy="62732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@media query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C18C-E29A-FB97-96A0-E171A933F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1127051"/>
            <a:ext cx="9895304" cy="5178055"/>
          </a:xfrm>
        </p:spPr>
        <p:txBody>
          <a:bodyPr>
            <a:normAutofit lnSpcReduction="10000"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</a:pPr>
            <a:r>
              <a:rPr lang="en-US" sz="24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@media </a:t>
            </a:r>
            <a:r>
              <a:rPr lang="en-US" sz="2400" b="1" i="0" u="none" strike="noStrike" cap="none" dirty="0" err="1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m</a:t>
            </a:r>
            <a:r>
              <a:rPr lang="en-US" sz="2400" b="1" i="1" u="none" strike="noStrike" cap="none" dirty="0" err="1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ediatype</a:t>
            </a:r>
            <a:r>
              <a:rPr lang="en-US" sz="2400" b="1" i="1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4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and</a:t>
            </a:r>
            <a:r>
              <a:rPr lang="en-US" sz="2400" b="1" i="1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4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(</a:t>
            </a:r>
            <a:r>
              <a:rPr lang="en-US" sz="2400" b="1" i="1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expressions</a:t>
            </a:r>
            <a:r>
              <a:rPr lang="en-US" sz="24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) {</a:t>
            </a:r>
            <a:r>
              <a:rPr lang="en-US" sz="2400" b="1" i="1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/>
            </a:r>
            <a:br>
              <a:rPr lang="en-US" sz="2400" b="1" i="1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400" b="1" i="1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    CSS-Code;</a:t>
            </a:r>
          </a:p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</a:pPr>
            <a:r>
              <a:rPr lang="en-US" sz="2400" b="1" i="1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    /*That is, CSS declarations*/</a:t>
            </a:r>
            <a:br>
              <a:rPr lang="en-US" sz="2400" b="1" i="1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4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}</a:t>
            </a: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 sz="2400" b="1" i="1" u="none" strike="noStrike" cap="none" dirty="0">
                <a:latin typeface="Corbel"/>
                <a:ea typeface="Corbel"/>
                <a:cs typeface="Corbel"/>
                <a:sym typeface="Corbel"/>
              </a:rPr>
              <a:t>NOTE</a:t>
            </a:r>
            <a:r>
              <a:rPr lang="en-US" sz="2400" b="1" i="1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: </a:t>
            </a:r>
            <a:r>
              <a:rPr lang="en-US" sz="2400" b="1" i="1" u="none" strike="noStrike" cap="none" dirty="0" err="1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mediatype</a:t>
            </a:r>
            <a:r>
              <a:rPr lang="en-US" sz="24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 may be: all, print, screen</a:t>
            </a:r>
          </a:p>
          <a:p>
            <a:pPr marL="182880" marR="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</a:pPr>
            <a:r>
              <a:rPr lang="en-US" sz="24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Usage:</a:t>
            </a:r>
          </a:p>
          <a:p>
            <a:pPr marL="182880" marR="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</a:pPr>
            <a:r>
              <a:rPr lang="en-US" sz="24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@media screen and (min-width: 480px) {</a:t>
            </a:r>
            <a:br>
              <a:rPr lang="en-US" sz="24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4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    </a:t>
            </a:r>
            <a:r>
              <a:rPr lang="en-US" sz="2400" b="1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Corbel"/>
                <a:ea typeface="Corbel"/>
                <a:cs typeface="Corbel"/>
                <a:sym typeface="Corbel"/>
              </a:rPr>
              <a:t>body {</a:t>
            </a:r>
            <a:br>
              <a:rPr lang="en-US" sz="2400" b="1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400" b="1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Corbel"/>
                <a:ea typeface="Corbel"/>
                <a:cs typeface="Corbel"/>
                <a:sym typeface="Corbel"/>
              </a:rPr>
              <a:t>        background-color: </a:t>
            </a:r>
            <a:r>
              <a:rPr lang="en-US" sz="2400" b="1" i="0" u="none" strike="noStrike" cap="none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rbel"/>
                <a:ea typeface="Corbel"/>
                <a:cs typeface="Corbel"/>
                <a:sym typeface="Corbel"/>
              </a:rPr>
              <a:t>lightgreen</a:t>
            </a:r>
            <a:r>
              <a:rPr lang="en-US" sz="2400" b="1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Corbel"/>
                <a:ea typeface="Corbel"/>
                <a:cs typeface="Corbel"/>
                <a:sym typeface="Corbel"/>
              </a:rPr>
              <a:t>;</a:t>
            </a:r>
            <a:br>
              <a:rPr lang="en-US" sz="2400" b="1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400" b="1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Corbel"/>
                <a:ea typeface="Corbel"/>
                <a:cs typeface="Corbel"/>
                <a:sym typeface="Corbel"/>
              </a:rPr>
              <a:t>    }</a:t>
            </a:r>
            <a:br>
              <a:rPr lang="en-US" sz="2400" b="1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4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}</a:t>
            </a:r>
          </a:p>
          <a:p>
            <a:pPr marL="182880" marR="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Char char="●"/>
            </a:pPr>
            <a:r>
              <a:rPr lang="en-US" sz="22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The </a:t>
            </a:r>
            <a:r>
              <a:rPr lang="en-US" sz="2200" b="1" i="1" u="none" strike="noStrike" cap="none" dirty="0" err="1">
                <a:latin typeface="Corbel"/>
                <a:ea typeface="Corbel"/>
                <a:cs typeface="Corbel"/>
                <a:sym typeface="Corbel"/>
              </a:rPr>
              <a:t>mediatype</a:t>
            </a:r>
            <a:r>
              <a:rPr lang="en-US" sz="2200" b="1" i="1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2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is used to specify when the rule should be applied. For example, print means that the rule should only apply when the page in question is being printed; the output from the printer</a:t>
            </a:r>
            <a:endParaRPr lang="en-US" sz="2200" b="1" i="1" u="none" strike="noStrike" cap="none" dirty="0">
              <a:solidFill>
                <a:srgbClr val="595959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52089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6779B-CE80-A6D3-3A84-C7F85E27A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616688"/>
            <a:ext cx="9520158" cy="5794743"/>
          </a:xfrm>
        </p:spPr>
        <p:txBody>
          <a:bodyPr>
            <a:norm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rbel"/>
              <a:buChar char="•"/>
            </a:pP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You can use media queries to change the </a:t>
            </a:r>
            <a:r>
              <a:rPr lang="en-US" sz="25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font size of an element on different screen sizes</a:t>
            </a: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: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rbel"/>
              <a:buChar char="•"/>
            </a:pP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For example, if screen size is more than 600px wide, set the font-size of &lt;div&gt; to 80px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rbel"/>
              <a:buChar char="•"/>
            </a:pP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You can also use the </a:t>
            </a:r>
            <a:r>
              <a:rPr lang="en-US" sz="25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(max-width: </a:t>
            </a:r>
            <a:r>
              <a:rPr lang="en-US" sz="2500" b="1" i="1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..</a:t>
            </a:r>
            <a:r>
              <a:rPr lang="en-US" sz="25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) and (min-width: </a:t>
            </a:r>
            <a:r>
              <a:rPr lang="en-US" sz="2500" b="1" i="1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..</a:t>
            </a:r>
            <a:r>
              <a:rPr lang="en-US" sz="25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) </a:t>
            </a: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values to set a minimum width and a maximum width as follows: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</a:pPr>
            <a:r>
              <a:rPr lang="en-US" sz="2500" b="0" i="0" u="none" strike="noStrike" cap="none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@media screen and (max-width: 900px) and (min-width: 600px) { </a:t>
            </a:r>
          </a:p>
          <a:p>
            <a:pPr marL="1314450" marR="0" lvl="3" indent="-17145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</a:pPr>
            <a:r>
              <a:rPr lang="en-US" sz="2500" b="0" i="0" u="none" strike="noStrike" cap="none" dirty="0">
                <a:solidFill>
                  <a:srgbClr val="2B3D61"/>
                </a:solidFill>
                <a:latin typeface="Consolas"/>
                <a:ea typeface="Consolas"/>
                <a:cs typeface="Consolas"/>
                <a:sym typeface="Consolas"/>
              </a:rPr>
              <a:t>div {font-size:80px;}</a:t>
            </a:r>
          </a:p>
          <a:p>
            <a:pPr marL="400050" marR="0" lvl="1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</a:pPr>
            <a:r>
              <a:rPr lang="en-US" sz="2500" b="0" i="0" u="none" strike="noStrike" cap="none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rbel"/>
              <a:buChar char="•"/>
            </a:pP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You can specify a different height when the screen size is smaller. </a:t>
            </a:r>
            <a:r>
              <a:rPr lang="en-US" sz="2500" b="0" i="0" u="none" strike="noStrike" cap="none" dirty="0" err="1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Etc</a:t>
            </a:r>
            <a:endParaRPr lang="en-US" sz="2500" b="0" i="0" u="none" strike="noStrike" cap="none" dirty="0">
              <a:solidFill>
                <a:srgbClr val="595959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781936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BD979-F5FD-927D-3B25-BEA696E4B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616688"/>
            <a:ext cx="9520158" cy="4849657"/>
          </a:xfrm>
        </p:spPr>
        <p:txBody>
          <a:bodyPr>
            <a:norm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en-US" sz="2400" dirty="0"/>
              <a:t>A common use of media queries, is to create a flexible [responsive] layout when the screen size varies as shown in the image below: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sz="24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.parent { display: flex; }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rPr lang="en-US" sz="24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.child{  width: 25%;}</a:t>
            </a:r>
          </a:p>
          <a:p>
            <a:pPr marL="171450" lvl="0" indent="-1714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orbel"/>
              <a:buChar char="•"/>
            </a:pPr>
            <a:r>
              <a:rPr lang="en-US" sz="2400" dirty="0"/>
              <a:t>See Notes for more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Google Shape;209;p16">
            <a:extLst>
              <a:ext uri="{FF2B5EF4-FFF2-40B4-BE49-F238E27FC236}">
                <a16:creationId xmlns:a16="http://schemas.microsoft.com/office/drawing/2014/main" id="{9B5CC997-51B3-02DA-BD4B-37FE713C1F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4696" y="3294966"/>
            <a:ext cx="10320606" cy="2457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8816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19C30-D595-EF2B-44C9-83B05BB67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202020"/>
            <a:ext cx="9520158" cy="6485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D1AFA-85D8-66A6-AD5D-35D0BE152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1116419"/>
            <a:ext cx="9788978" cy="4657059"/>
          </a:xfrm>
        </p:spPr>
        <p:txBody>
          <a:bodyPr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Noto Sans Symbols"/>
              <a:buNone/>
            </a:pP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We don’t have to write media query rules for all our </a:t>
            </a:r>
            <a:r>
              <a:rPr lang="en-US" sz="2500" b="0" i="0" u="none" strike="noStrike" cap="none" dirty="0" err="1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css</a:t>
            </a: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, to achieve responsiveness, focus on the key principles below:</a:t>
            </a:r>
          </a:p>
          <a:p>
            <a:pPr marL="182880" marR="0" lvl="0" indent="-18288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Noto Sans Symbols"/>
              <a:buChar char="▪"/>
            </a:pPr>
            <a:r>
              <a:rPr lang="en-US" sz="2500" b="1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Avoid</a:t>
            </a: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 setting dimension/size, write media query for things that may affect your page layout such as:</a:t>
            </a:r>
          </a:p>
          <a:p>
            <a:pPr marL="685800" marR="0" lvl="1" indent="-182880" algn="l" rtl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Noto Sans Symbols"/>
              <a:buChar char="▪"/>
            </a:pP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Rigid Images and Media: use % to scale where necessary</a:t>
            </a:r>
          </a:p>
          <a:p>
            <a:pPr marL="685800" marR="0" lvl="1" indent="-18288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Noto Sans Symbols"/>
              <a:buChar char="▪"/>
            </a:pP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Rigid Typography: use relative units like percentages or </a:t>
            </a:r>
            <a:r>
              <a:rPr lang="en-US" sz="2500" b="0" i="0" u="none" strike="noStrike" cap="none" dirty="0" err="1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em</a:t>
            </a: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 to set font sizes, and use media queries to adjust them based on the screen size.</a:t>
            </a:r>
          </a:p>
          <a:p>
            <a:pPr marL="182880" marR="0" lvl="0" indent="-182880" algn="l" rtl="0">
              <a:lnSpc>
                <a:spcPct val="90000"/>
              </a:lnSpc>
              <a:spcBef>
                <a:spcPts val="1450"/>
              </a:spcBef>
              <a:spcAft>
                <a:spcPts val="0"/>
              </a:spcAft>
              <a:buClr>
                <a:srgbClr val="0070C0"/>
              </a:buClr>
              <a:buSzPts val="2200"/>
              <a:buFont typeface="Noto Sans Symbols"/>
              <a:buChar char="▪"/>
            </a:pPr>
            <a:r>
              <a:rPr lang="en-US" sz="25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Testing your web site on different screen sizes. </a:t>
            </a:r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852970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92EF8-EC32-08D7-9D49-DB4EC4487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255182"/>
            <a:ext cx="9520158" cy="712382"/>
          </a:xfrm>
        </p:spPr>
        <p:txBody>
          <a:bodyPr/>
          <a:lstStyle/>
          <a:p>
            <a:r>
              <a:rPr lang="en-US" dirty="0"/>
              <a:t>Media Query </a:t>
            </a:r>
            <a:r>
              <a:rPr lang="en-US" dirty="0" err="1"/>
              <a:t>BreakPoints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B9A18-EAE6-B362-9812-6B030525E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1329070"/>
            <a:ext cx="9520158" cy="4518837"/>
          </a:xfrm>
        </p:spPr>
        <p:txBody>
          <a:bodyPr>
            <a:norm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Noto Sans Symbols"/>
              <a:buChar char="▪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Devices are generally categorized into the following breakpoints: - 1280, 1024, 768, 480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</a:pPr>
            <a:endParaRPr lang="en-US" sz="2600"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674370" marR="0" lvl="1" indent="-17145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Noto Sans Symbols"/>
              <a:buChar char="▪"/>
            </a:pPr>
            <a:r>
              <a:rPr lang="en-US" sz="2600" b="1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  1280-1024   - desktop (default grid)</a:t>
            </a:r>
          </a:p>
          <a:p>
            <a:pPr marL="674370" marR="0" lvl="1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Noto Sans Symbols"/>
              <a:buChar char="▪"/>
            </a:pPr>
            <a:r>
              <a:rPr lang="en-US" sz="2600" b="1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  1024-768    - tablet landscape</a:t>
            </a:r>
          </a:p>
          <a:p>
            <a:pPr marL="674370" marR="0" lvl="1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Noto Sans Symbols"/>
              <a:buChar char="▪"/>
            </a:pPr>
            <a:r>
              <a:rPr lang="en-US" sz="2600" b="1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  768-480     - tablet </a:t>
            </a:r>
          </a:p>
          <a:p>
            <a:pPr marL="674370" marR="0" lvl="1" indent="-171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Noto Sans Symbols"/>
              <a:buChar char="▪"/>
            </a:pPr>
            <a:r>
              <a:rPr lang="en-US" sz="2600" b="1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  480-less    - phone landscape &amp; smaller devices</a:t>
            </a:r>
          </a:p>
          <a:p>
            <a:pPr marL="502920" marR="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</a:pPr>
            <a:endParaRPr lang="en-US" sz="26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502920" marR="0" lvl="1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Breakpoints shows at what point the device layout will change in order to fit the screen for better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272552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FC070-DE92-E58D-6D29-910962A9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202020"/>
            <a:ext cx="9520158" cy="69111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Understanding Media Query: </a:t>
            </a:r>
            <a:r>
              <a:rPr lang="en-US" u="sng" dirty="0"/>
              <a:t>Hide elements on different screen sizes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2000-0E0E-3336-936C-A5C6FD718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5" y="1095154"/>
            <a:ext cx="5153183" cy="57628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&lt;h2&gt;Hide elements on different screen sizes&lt;/h2&gt;</a:t>
            </a:r>
          </a:p>
          <a:p>
            <a:pPr marL="0" indent="0">
              <a:buNone/>
            </a:pPr>
            <a:r>
              <a:rPr lang="en-US" dirty="0"/>
              <a:t>&lt;div class="example"&gt;Example DIV.&lt;/div&gt;</a:t>
            </a:r>
          </a:p>
          <a:p>
            <a:pPr marL="0" indent="0">
              <a:buNone/>
            </a:pPr>
            <a:r>
              <a:rPr lang="en-US" dirty="0"/>
              <a:t>&lt;p&gt;When the browser's width is 600px wide or less, hide the div element. Resize the browser window to see the effect.&lt;/p&gt;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DCB214-9522-435A-61CF-726F65D00D39}"/>
              </a:ext>
            </a:extLst>
          </p:cNvPr>
          <p:cNvSpPr txBox="1">
            <a:spLocks/>
          </p:cNvSpPr>
          <p:nvPr/>
        </p:nvSpPr>
        <p:spPr>
          <a:xfrm>
            <a:off x="7198240" y="893134"/>
            <a:ext cx="4890978" cy="5762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</a:rPr>
              <a:t>&lt;style&gt;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>
                <a:solidFill>
                  <a:srgbClr val="C00000"/>
                </a:solidFill>
              </a:rPr>
              <a:t>div.example</a:t>
            </a:r>
            <a:r>
              <a:rPr lang="en-US" b="1" dirty="0">
                <a:solidFill>
                  <a:srgbClr val="C00000"/>
                </a:solidFill>
              </a:rPr>
              <a:t>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</a:rPr>
              <a:t>  background-color: yellow;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</a:rPr>
              <a:t>  padding: 20px;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</a:rPr>
              <a:t>}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</a:rPr>
              <a:t>@media screen and (max-width: 600px) {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</a:rPr>
              <a:t>  </a:t>
            </a:r>
            <a:r>
              <a:rPr lang="en-US" b="1" dirty="0" err="1">
                <a:solidFill>
                  <a:srgbClr val="C00000"/>
                </a:solidFill>
              </a:rPr>
              <a:t>div.example</a:t>
            </a:r>
            <a:r>
              <a:rPr lang="en-US" b="1" dirty="0">
                <a:solidFill>
                  <a:srgbClr val="C00000"/>
                </a:solidFill>
              </a:rPr>
              <a:t> {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</a:rPr>
              <a:t>    display: none;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</a:rPr>
              <a:t>  }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</a:rPr>
              <a:t>}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3769119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B304-9CA5-E70C-0226-45109AB6C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20"/>
            <a:ext cx="9520158" cy="577714"/>
          </a:xfrm>
        </p:spPr>
        <p:txBody>
          <a:bodyPr>
            <a:normAutofit fontScale="90000"/>
          </a:bodyPr>
          <a:lstStyle/>
          <a:p>
            <a:r>
              <a:rPr lang="en-US" sz="3600" b="1" u="sng" dirty="0"/>
              <a:t>Class Exercise: </a:t>
            </a:r>
            <a:r>
              <a:rPr lang="en-US" dirty="0"/>
              <a:t>How can you achieve this, such that as the screen gets smaller, the webpage background-color changes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BBDD2F-66A3-7BC1-C9B3-61F0932AD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696" y="1694606"/>
            <a:ext cx="8804297" cy="407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76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0" b="1" dirty="0" smtClean="0"/>
              <a:t>CSS</a:t>
            </a:r>
            <a:r>
              <a:rPr lang="en-US" sz="10000" dirty="0" smtClean="0"/>
              <a:t> </a:t>
            </a:r>
            <a:r>
              <a:rPr lang="en-US" sz="20000" dirty="0" smtClean="0">
                <a:solidFill>
                  <a:schemeClr val="accent5">
                    <a:lumMod val="75000"/>
                  </a:schemeClr>
                </a:solidFill>
              </a:rPr>
              <a:t>ICONS</a:t>
            </a:r>
            <a:endParaRPr lang="en-US" sz="20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749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Font Awesome Icons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</a:t>
            </a:r>
            <a:r>
              <a:rPr lang="en-US" dirty="0"/>
              <a:t>use the Font Awesome icons, go to </a:t>
            </a:r>
            <a:r>
              <a:rPr lang="en-US" b="1" i="1" dirty="0">
                <a:solidFill>
                  <a:schemeClr val="accent5"/>
                </a:solidFill>
              </a:rPr>
              <a:t>https://fontawesome.com/icons</a:t>
            </a:r>
            <a:r>
              <a:rPr lang="en-US" dirty="0"/>
              <a:t>, sign in, and get a code to add in the &lt;head&gt; section of your HTML page:</a:t>
            </a:r>
          </a:p>
          <a:p>
            <a:endParaRPr lang="en-US" dirty="0"/>
          </a:p>
          <a:p>
            <a:r>
              <a:rPr lang="en-US" dirty="0"/>
              <a:t>&lt;script </a:t>
            </a:r>
            <a:r>
              <a:rPr lang="en-US" dirty="0" err="1"/>
              <a:t>src</a:t>
            </a:r>
            <a:r>
              <a:rPr lang="en-US" dirty="0"/>
              <a:t>="https://kit.fontawesome.com/yourcode.js" </a:t>
            </a:r>
            <a:r>
              <a:rPr lang="en-US" dirty="0" err="1"/>
              <a:t>crossorigin</a:t>
            </a:r>
            <a:r>
              <a:rPr lang="en-US" dirty="0"/>
              <a:t>="anonymous"&gt;&lt;/script&gt;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277590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Bootstrap icons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High quality, open source icon library with over 2,000 icons. Include them anyway you like—SVGs, SVG sprite, or web fonts. Use them with or without Bootstrap in any project.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CDN</a:t>
            </a:r>
          </a:p>
          <a:p>
            <a:pPr marL="0" indent="0">
              <a:buNone/>
            </a:pPr>
            <a:r>
              <a:rPr lang="en-US" dirty="0"/>
              <a:t>Include the icon fonts stylesheet—in your website &lt;head&gt; or via @import in CSS—from </a:t>
            </a:r>
            <a:r>
              <a:rPr lang="en-US" dirty="0" err="1"/>
              <a:t>jsDelivr</a:t>
            </a:r>
            <a:r>
              <a:rPr lang="en-US" dirty="0"/>
              <a:t> and get started in seconds. See icon font docs for examples.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&lt;link </a:t>
            </a:r>
            <a:r>
              <a:rPr lang="en-US" dirty="0" err="1"/>
              <a:t>rel</a:t>
            </a:r>
            <a:r>
              <a:rPr lang="en-US" dirty="0"/>
              <a:t>="stylesheet" </a:t>
            </a:r>
            <a:r>
              <a:rPr lang="en-US" dirty="0" err="1"/>
              <a:t>href</a:t>
            </a:r>
            <a:r>
              <a:rPr lang="en-US" dirty="0"/>
              <a:t>="https://cdn.jsdelivr.net/</a:t>
            </a:r>
            <a:r>
              <a:rPr lang="en-US" dirty="0" err="1"/>
              <a:t>npm</a:t>
            </a:r>
            <a:r>
              <a:rPr lang="en-US" dirty="0"/>
              <a:t>/bootstrap-icons@1.13.1/font/bootstrap-icons.min.css"&gt;</a:t>
            </a:r>
          </a:p>
        </p:txBody>
      </p:sp>
    </p:spTree>
    <p:extLst>
      <p:ext uri="{BB962C8B-B14F-4D97-AF65-F5344CB8AC3E}">
        <p14:creationId xmlns:p14="http://schemas.microsoft.com/office/powerpoint/2010/main" val="2685266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Icons8.com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This does not require CDN. </a:t>
            </a:r>
            <a:r>
              <a:rPr lang="en-US" dirty="0"/>
              <a:t>To use, visit </a:t>
            </a:r>
            <a:r>
              <a:rPr lang="en-US" b="1" i="1" dirty="0">
                <a:solidFill>
                  <a:schemeClr val="accent5"/>
                </a:solidFill>
              </a:rPr>
              <a:t>https://</a:t>
            </a:r>
            <a:r>
              <a:rPr lang="en-US" b="1" i="1" dirty="0" smtClean="0">
                <a:solidFill>
                  <a:schemeClr val="accent5"/>
                </a:solidFill>
              </a:rPr>
              <a:t>icons8.com/icons</a:t>
            </a:r>
            <a:endParaRPr lang="en-US" b="1" i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878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6252" y="1905506"/>
            <a:ext cx="74377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/>
              <a:t>CSS</a:t>
            </a:r>
            <a:r>
              <a:rPr lang="en-US" sz="9600" dirty="0"/>
              <a:t> </a:t>
            </a:r>
            <a:r>
              <a:rPr lang="en-US" sz="9600" dirty="0" smtClean="0">
                <a:solidFill>
                  <a:schemeClr val="accent5">
                    <a:lumMod val="75000"/>
                  </a:schemeClr>
                </a:solidFill>
              </a:rPr>
              <a:t>animate</a:t>
            </a:r>
            <a:endParaRPr lang="en-US" sz="96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221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Animation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Several CSS libraries to get animation in your </a:t>
            </a:r>
            <a:r>
              <a:rPr lang="en-US" dirty="0"/>
              <a:t>HTML/CSS project code. </a:t>
            </a:r>
            <a:r>
              <a:rPr lang="en-US" dirty="0" smtClean="0"/>
              <a:t>One of such free open source animation site 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 smtClean="0">
                <a:solidFill>
                  <a:schemeClr val="accent5"/>
                </a:solidFill>
                <a:hlinkClick r:id="rId2"/>
              </a:rPr>
              <a:t>https</a:t>
            </a:r>
            <a:r>
              <a:rPr lang="en-US" b="1" i="1" dirty="0">
                <a:solidFill>
                  <a:schemeClr val="accent5"/>
                </a:solidFill>
                <a:hlinkClick r:id="rId2"/>
              </a:rPr>
              <a:t>://</a:t>
            </a:r>
            <a:r>
              <a:rPr lang="en-US" b="1" i="1" dirty="0" smtClean="0">
                <a:solidFill>
                  <a:schemeClr val="accent5"/>
                </a:solidFill>
                <a:hlinkClick r:id="rId2"/>
              </a:rPr>
              <a:t>animate.style</a:t>
            </a:r>
            <a:endParaRPr lang="en-US" b="1" i="1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US" b="1" i="1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b="1" dirty="0" smtClean="0"/>
              <a:t>NOTE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0000"/>
                </a:solidFill>
              </a:rPr>
              <a:t>Kindly read through the document and see other ways to use the </a:t>
            </a:r>
            <a:r>
              <a:rPr lang="en-US" dirty="0" err="1" smtClean="0">
                <a:solidFill>
                  <a:srgbClr val="FF0000"/>
                </a:solidFill>
              </a:rPr>
              <a:t>css</a:t>
            </a:r>
            <a:r>
              <a:rPr lang="en-US" dirty="0" smtClean="0">
                <a:solidFill>
                  <a:srgbClr val="FF0000"/>
                </a:solidFill>
              </a:rPr>
              <a:t> animation to apply other styles.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i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813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76354-93CE-7D78-4C04-B5871E5FD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40865"/>
          </a:xfrm>
        </p:spPr>
        <p:txBody>
          <a:bodyPr>
            <a:normAutofit/>
          </a:bodyPr>
          <a:lstStyle/>
          <a:p>
            <a:pPr algn="ctr"/>
            <a:r>
              <a:rPr lang="en-US" sz="7500" b="1" dirty="0"/>
              <a:t>CSS </a:t>
            </a:r>
            <a:r>
              <a:rPr lang="en-US" sz="7500" b="1" dirty="0">
                <a:solidFill>
                  <a:srgbClr val="C00000"/>
                </a:solidFill>
              </a:rPr>
              <a:t>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FBECA-1C1A-A094-088C-450CE3CAA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2445488"/>
            <a:ext cx="9520158" cy="34981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b="0" i="0" u="none" strike="noStrike" cap="none" dirty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rPr>
              <a:t>The CSS Grid Layout Module offers a grid-based layout system, with rows and columns, making it easier to design web pages without having to use floats and positioning</a:t>
            </a:r>
          </a:p>
          <a:p>
            <a:pPr marL="3657600" lvl="8" indent="0">
              <a:buNone/>
            </a:pPr>
            <a:r>
              <a:rPr lang="en-US" sz="2200" b="1" dirty="0" err="1">
                <a:solidFill>
                  <a:srgbClr val="0070C0"/>
                </a:solidFill>
                <a:latin typeface="Corbel"/>
                <a:sym typeface="Corbel"/>
              </a:rPr>
              <a:t>div.container</a:t>
            </a:r>
            <a:r>
              <a:rPr lang="en-US" sz="2200" b="1" dirty="0">
                <a:solidFill>
                  <a:srgbClr val="0070C0"/>
                </a:solidFill>
                <a:latin typeface="Corbel"/>
                <a:sym typeface="Corbel"/>
              </a:rPr>
              <a:t> {</a:t>
            </a:r>
          </a:p>
          <a:p>
            <a:pPr marL="3657600" lvl="8" indent="0">
              <a:buNone/>
            </a:pPr>
            <a:r>
              <a:rPr lang="en-US" sz="2200" b="1" dirty="0">
                <a:solidFill>
                  <a:srgbClr val="FF5050"/>
                </a:solidFill>
                <a:latin typeface="Corbel"/>
                <a:sym typeface="Corbel"/>
              </a:rPr>
              <a:t>    display: grid;</a:t>
            </a:r>
          </a:p>
          <a:p>
            <a:pPr marL="3657600" lvl="8" indent="0">
              <a:buNone/>
            </a:pPr>
            <a:r>
              <a:rPr lang="en-US" sz="2200" b="1" dirty="0">
                <a:solidFill>
                  <a:srgbClr val="FF5050"/>
                </a:solidFill>
                <a:latin typeface="Corbel"/>
                <a:sym typeface="Corbel"/>
              </a:rPr>
              <a:t>    grid-template-columns: auto </a:t>
            </a:r>
            <a:r>
              <a:rPr lang="en-US" sz="2200" b="1" dirty="0" err="1">
                <a:solidFill>
                  <a:srgbClr val="FF5050"/>
                </a:solidFill>
                <a:latin typeface="Corbel"/>
                <a:sym typeface="Corbel"/>
              </a:rPr>
              <a:t>auto</a:t>
            </a:r>
            <a:r>
              <a:rPr lang="en-US" sz="2200" b="1" dirty="0">
                <a:solidFill>
                  <a:srgbClr val="FF5050"/>
                </a:solidFill>
                <a:latin typeface="Corbel"/>
                <a:sym typeface="Corbel"/>
              </a:rPr>
              <a:t>;</a:t>
            </a:r>
          </a:p>
          <a:p>
            <a:pPr marL="3657600" lvl="8" indent="0">
              <a:buNone/>
            </a:pPr>
            <a:r>
              <a:rPr lang="en-US" sz="2200" b="1" dirty="0">
                <a:solidFill>
                  <a:srgbClr val="0070C0"/>
                </a:solidFill>
                <a:latin typeface="Corbel"/>
                <a:sym typeface="Corbel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97296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211757"/>
            <a:ext cx="9520158" cy="577515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b="1" dirty="0"/>
              <a:t>CSS Grid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4696" y="1068404"/>
            <a:ext cx="9520158" cy="43979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dirty="0"/>
              <a:t>grid always consists of</a:t>
            </a:r>
            <a:r>
              <a:rPr lang="en-US" dirty="0" smtClean="0"/>
              <a:t>: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 Grid Container - The parent (container) element, where the display property is set to grid or inline-grid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One or more Grid Items - The direct children of the grid container automatically becomes grid </a:t>
            </a:r>
            <a:r>
              <a:rPr lang="en-US" dirty="0" smtClean="0"/>
              <a:t>items</a:t>
            </a:r>
            <a:endParaRPr lang="en-US" dirty="0"/>
          </a:p>
          <a:p>
            <a:pPr marL="0" indent="0">
              <a:buNone/>
            </a:pPr>
            <a:r>
              <a:rPr lang="en-US" b="1" u="sng" dirty="0"/>
              <a:t>Grid Layout</a:t>
            </a:r>
          </a:p>
          <a:p>
            <a:pPr marL="0" indent="0">
              <a:buNone/>
            </a:pPr>
            <a:r>
              <a:rPr lang="en-US" dirty="0"/>
              <a:t>A Grid Layout must have a parent element with the display property set to grid or inline-grid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Direct child element(s) of the grid container automatically becomes grid items.</a:t>
            </a:r>
          </a:p>
        </p:txBody>
      </p:sp>
    </p:spTree>
    <p:extLst>
      <p:ext uri="{BB962C8B-B14F-4D97-AF65-F5344CB8AC3E}">
        <p14:creationId xmlns:p14="http://schemas.microsoft.com/office/powerpoint/2010/main" val="3381939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736C20-652B-220D-787D-C44AA447B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498" y="3002478"/>
            <a:ext cx="8821381" cy="28769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4183AC-8BE1-2AA6-14B0-26BB97D58459}"/>
              </a:ext>
            </a:extLst>
          </p:cNvPr>
          <p:cNvSpPr txBox="1"/>
          <p:nvPr/>
        </p:nvSpPr>
        <p:spPr>
          <a:xfrm>
            <a:off x="1185863" y="862876"/>
            <a:ext cx="60979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.grid-container {</a:t>
            </a:r>
          </a:p>
          <a:p>
            <a:r>
              <a:rPr lang="en-US" dirty="0"/>
              <a:t>  display: grid;</a:t>
            </a:r>
          </a:p>
          <a:p>
            <a:r>
              <a:rPr lang="en-US" dirty="0"/>
              <a:t>  grid-template-columns: auto </a:t>
            </a:r>
            <a:r>
              <a:rPr lang="en-US" dirty="0" err="1"/>
              <a:t>auto</a:t>
            </a:r>
            <a:r>
              <a:rPr lang="en-US" dirty="0"/>
              <a:t> </a:t>
            </a:r>
            <a:r>
              <a:rPr lang="en-US" dirty="0" err="1"/>
              <a:t>auto</a:t>
            </a:r>
            <a:r>
              <a:rPr lang="en-US" dirty="0"/>
              <a:t>;</a:t>
            </a:r>
          </a:p>
          <a:p>
            <a:r>
              <a:rPr lang="en-US" dirty="0"/>
              <a:t>  background-color: #2196F3;</a:t>
            </a:r>
          </a:p>
          <a:p>
            <a:r>
              <a:rPr lang="en-US" dirty="0"/>
              <a:t>  padding: 10px;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436CCE-0469-574C-EDB7-6E7034EB981C}"/>
              </a:ext>
            </a:extLst>
          </p:cNvPr>
          <p:cNvSpPr txBox="1"/>
          <p:nvPr/>
        </p:nvSpPr>
        <p:spPr>
          <a:xfrm>
            <a:off x="5609273" y="585877"/>
            <a:ext cx="60979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.grid-item {</a:t>
            </a:r>
          </a:p>
          <a:p>
            <a:r>
              <a:rPr lang="en-US" dirty="0"/>
              <a:t>  background-color: </a:t>
            </a:r>
            <a:r>
              <a:rPr lang="en-US" dirty="0" err="1"/>
              <a:t>rgba</a:t>
            </a:r>
            <a:r>
              <a:rPr lang="en-US" dirty="0"/>
              <a:t>(255, 255, 255, 0.8);</a:t>
            </a:r>
          </a:p>
          <a:p>
            <a:r>
              <a:rPr lang="en-US" dirty="0"/>
              <a:t>  border: 1px solid </a:t>
            </a:r>
            <a:r>
              <a:rPr lang="en-US" dirty="0" err="1"/>
              <a:t>rgba</a:t>
            </a:r>
            <a:r>
              <a:rPr lang="en-US" dirty="0"/>
              <a:t>(0, 0, 0, 0.8);</a:t>
            </a:r>
          </a:p>
          <a:p>
            <a:r>
              <a:rPr lang="en-US" dirty="0"/>
              <a:t>  padding: 20px;</a:t>
            </a:r>
          </a:p>
          <a:p>
            <a:r>
              <a:rPr lang="en-US" dirty="0"/>
              <a:t>  font-size: 30px;</a:t>
            </a:r>
          </a:p>
          <a:p>
            <a:r>
              <a:rPr lang="en-US" dirty="0"/>
              <a:t>  text-align: center;</a:t>
            </a:r>
          </a:p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7640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9653-CF01-2E70-EBA3-ECF6EDD8A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212652"/>
            <a:ext cx="9520158" cy="63795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Grid Columns and Grid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0689E-AA07-3CC4-1563-20D61E958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1052624"/>
            <a:ext cx="9520158" cy="44137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vertical lines of grid items are called columns.</a:t>
            </a:r>
          </a:p>
          <a:p>
            <a:pPr marL="0" indent="0">
              <a:buNone/>
            </a:pPr>
            <a:r>
              <a:rPr lang="en-US" dirty="0"/>
              <a:t>The horizontal lines of grid items are called rows.</a:t>
            </a:r>
          </a:p>
          <a:p>
            <a:pPr marL="0" indent="0">
              <a:buNone/>
            </a:pPr>
            <a:r>
              <a:rPr lang="en-US" dirty="0"/>
              <a:t>The spaces between each column/row are called gaps.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20577-46E9-F2FE-2BCA-87DAC3CA4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30" y="2945219"/>
            <a:ext cx="3152664" cy="2998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93814D-53C7-74E5-8065-00617E98C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451" y="3264195"/>
            <a:ext cx="3689520" cy="2679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4611D9-C333-48B1-4554-777C5ED4FB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967" y="2945219"/>
            <a:ext cx="3875033" cy="316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29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0780D-3AD4-ECB0-82EF-C48132E4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220" y="94439"/>
            <a:ext cx="9520158" cy="1049235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Using </a:t>
            </a:r>
            <a:r>
              <a:rPr lang="en-US" b="1" dirty="0">
                <a:solidFill>
                  <a:srgbClr val="C00000"/>
                </a:solidFill>
              </a:rPr>
              <a:t>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AEED7-88C9-4D1D-187E-525E7AB53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220" y="1143674"/>
            <a:ext cx="9520158" cy="51825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You can adjust the gap size by using any of the followings properties set to the grid container.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Column-gap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Row-gap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Gap.</a:t>
            </a:r>
          </a:p>
          <a:p>
            <a:pPr marL="0" indent="0">
              <a:buNone/>
            </a:pPr>
            <a:r>
              <a:rPr lang="en-US" sz="2000" dirty="0"/>
              <a:t>All values set in pixels (E.g., 50px).</a:t>
            </a:r>
          </a:p>
          <a:p>
            <a:pPr marL="0" indent="0">
              <a:buNone/>
            </a:pPr>
            <a:r>
              <a:rPr lang="en-US" sz="2000" dirty="0"/>
              <a:t>While column-gap sets the gap between the columns, and row-gap set the gap between the rows, </a:t>
            </a:r>
            <a:r>
              <a:rPr lang="en-US" sz="2000" dirty="0">
                <a:solidFill>
                  <a:srgbClr val="C00000"/>
                </a:solidFill>
              </a:rPr>
              <a:t>gap</a:t>
            </a:r>
            <a:r>
              <a:rPr lang="en-US" sz="2000" dirty="0"/>
              <a:t> is a </a:t>
            </a:r>
            <a:r>
              <a:rPr lang="en-US" sz="2000" b="1" i="1" dirty="0"/>
              <a:t>shorthand</a:t>
            </a:r>
            <a:r>
              <a:rPr lang="en-US" sz="2000" dirty="0"/>
              <a:t> for setting both.</a:t>
            </a:r>
          </a:p>
          <a:p>
            <a:pPr marL="0" indent="0">
              <a:buNone/>
            </a:pPr>
            <a:r>
              <a:rPr lang="en-US" sz="2000" b="1" u="sng" dirty="0"/>
              <a:t>Grid Lines</a:t>
            </a:r>
          </a:p>
          <a:p>
            <a:pPr marL="0" indent="0">
              <a:buNone/>
            </a:pPr>
            <a:r>
              <a:rPr lang="en-US" sz="2000" dirty="0"/>
              <a:t>The lines between columns are called column lines.</a:t>
            </a:r>
          </a:p>
          <a:p>
            <a:pPr marL="0" indent="0">
              <a:buNone/>
            </a:pPr>
            <a:r>
              <a:rPr lang="en-US" sz="2000" dirty="0"/>
              <a:t>The lines between rows are called row lines.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5A155-E295-CB11-5384-20FD4474F260}"/>
              </a:ext>
            </a:extLst>
          </p:cNvPr>
          <p:cNvSpPr txBox="1"/>
          <p:nvPr/>
        </p:nvSpPr>
        <p:spPr>
          <a:xfrm>
            <a:off x="6827637" y="4216958"/>
            <a:ext cx="31867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.item1 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grid-column-start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2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grid-column-end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4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A3B84-979C-271D-CAFA-0487A762BF9F}"/>
              </a:ext>
            </a:extLst>
          </p:cNvPr>
          <p:cNvSpPr txBox="1"/>
          <p:nvPr/>
        </p:nvSpPr>
        <p:spPr>
          <a:xfrm>
            <a:off x="6827637" y="5417287"/>
            <a:ext cx="28388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.item1 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grid-row-start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1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grid-row-end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3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540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24F3-01DD-B95D-9105-BE3A5D65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975" y="678730"/>
            <a:ext cx="9520158" cy="786808"/>
          </a:xfrm>
        </p:spPr>
        <p:txBody>
          <a:bodyPr/>
          <a:lstStyle/>
          <a:p>
            <a:r>
              <a:rPr lang="en-US" b="1" dirty="0"/>
              <a:t>CSS Grid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D9274-A4B8-8E97-9530-1640F49A9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75" y="2009555"/>
            <a:ext cx="10515600" cy="48484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To make an HTML element behave as a grid container, you have to set the display property to grid or inline-grid. Grid containers consist of grid items, placed inside columns and rows.</a:t>
            </a:r>
          </a:p>
          <a:p>
            <a:pPr marL="0" indent="0">
              <a:buNone/>
            </a:pPr>
            <a:r>
              <a:rPr lang="en-US" sz="2200" b="1" u="sng" dirty="0">
                <a:solidFill>
                  <a:schemeClr val="accent5">
                    <a:lumMod val="75000"/>
                  </a:schemeClr>
                </a:solidFill>
              </a:rPr>
              <a:t>The grid-template-columns </a:t>
            </a:r>
            <a:r>
              <a:rPr lang="en-US" sz="2200" b="1" u="sng" dirty="0">
                <a:solidFill>
                  <a:srgbClr val="C00000"/>
                </a:solidFill>
              </a:rPr>
              <a:t>Property</a:t>
            </a:r>
          </a:p>
          <a:p>
            <a:pPr marL="0" indent="0">
              <a:buNone/>
            </a:pPr>
            <a:r>
              <a:rPr lang="en-US" sz="2200" dirty="0"/>
              <a:t>The grid-template-columns property defines the number of columns in your grid layout, and it can define the width of each column.</a:t>
            </a:r>
          </a:p>
          <a:p>
            <a:pPr algn="l"/>
            <a:r>
              <a:rPr lang="en-US" sz="2200" b="1" i="1" dirty="0"/>
              <a:t>If you want your grid layout to contain 4 columns, specify the width of the 4 columns using </a:t>
            </a:r>
            <a:r>
              <a:rPr lang="en-US" sz="2200" b="1" i="1" dirty="0">
                <a:solidFill>
                  <a:srgbClr val="C00000"/>
                </a:solidFill>
              </a:rPr>
              <a:t>%</a:t>
            </a:r>
            <a:r>
              <a:rPr lang="en-US" sz="2200" b="1" i="1" dirty="0"/>
              <a:t> or </a:t>
            </a:r>
            <a:r>
              <a:rPr lang="en-US" sz="2200" b="1" i="1" dirty="0" err="1">
                <a:solidFill>
                  <a:srgbClr val="C00000"/>
                </a:solidFill>
              </a:rPr>
              <a:t>px</a:t>
            </a:r>
            <a:r>
              <a:rPr lang="en-US" sz="2200" b="1" i="1" dirty="0"/>
              <a:t>, or "auto" if all columns should have the same width.</a:t>
            </a:r>
            <a:endParaRPr lang="en-US" sz="2200" b="1" i="0" dirty="0">
              <a:solidFill>
                <a:srgbClr val="000000"/>
              </a:solidFill>
              <a:effectLst/>
              <a:highlight>
                <a:srgbClr val="FFFFCC"/>
              </a:highlight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US" sz="2200" b="1" i="0" dirty="0">
                <a:solidFill>
                  <a:srgbClr val="000000"/>
                </a:solidFill>
                <a:effectLst/>
                <a:highlight>
                  <a:srgbClr val="FFFFCC"/>
                </a:highlight>
                <a:latin typeface="Verdana" panose="020B0604030504040204" pitchFamily="34" charset="0"/>
              </a:rPr>
              <a:t> Note:</a:t>
            </a:r>
            <a:r>
              <a:rPr lang="en-US" sz="2200" b="0" i="0" dirty="0">
                <a:solidFill>
                  <a:srgbClr val="000000"/>
                </a:solidFill>
                <a:effectLst/>
                <a:highlight>
                  <a:srgbClr val="FFFFCC"/>
                </a:highlight>
                <a:latin typeface="Verdana" panose="020B0604030504040204" pitchFamily="34" charset="0"/>
              </a:rPr>
              <a:t> If you have more than 4 items in a 4 columns grid, the grid will automatically add a new row to put the items in.</a:t>
            </a:r>
          </a:p>
          <a:p>
            <a:pPr marL="0" indent="0">
              <a:buNone/>
            </a:pPr>
            <a:r>
              <a:rPr lang="en-US" sz="2200" dirty="0"/>
              <a:t/>
            </a:r>
            <a:br>
              <a:rPr lang="en-US" sz="2200" dirty="0"/>
            </a:br>
            <a:endParaRPr lang="en-US" sz="2200" b="1" i="1" dirty="0"/>
          </a:p>
        </p:txBody>
      </p:sp>
    </p:spTree>
    <p:extLst>
      <p:ext uri="{BB962C8B-B14F-4D97-AF65-F5344CB8AC3E}">
        <p14:creationId xmlns:p14="http://schemas.microsoft.com/office/powerpoint/2010/main" val="814334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CE4240-58C3-75D4-E9FC-98901CD021EE}"/>
              </a:ext>
            </a:extLst>
          </p:cNvPr>
          <p:cNvSpPr txBox="1"/>
          <p:nvPr/>
        </p:nvSpPr>
        <p:spPr>
          <a:xfrm>
            <a:off x="978196" y="1509561"/>
            <a:ext cx="497603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50000"/>
                  </a:schemeClr>
                </a:solidFill>
              </a:rPr>
              <a:t>Using auto values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grid-container {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display: grid;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grid-template-columns: auto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auto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auto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auto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gap: 10px;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background-color: #2196F3;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padding: 10px;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45261-0C97-B6FF-3D40-0B7FEDDEBC89}"/>
              </a:ext>
            </a:extLst>
          </p:cNvPr>
          <p:cNvSpPr txBox="1"/>
          <p:nvPr/>
        </p:nvSpPr>
        <p:spPr>
          <a:xfrm>
            <a:off x="6489404" y="1232563"/>
            <a:ext cx="51319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The grid-template-columns property can also be used to specify the size (width) of the columns.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.grid-container {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display: grid;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grid-template-columns: 80px 200px auto 40px;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}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049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8F6A9-C8AB-634E-6E47-D8169D04E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001" y="556182"/>
            <a:ext cx="9520158" cy="1049235"/>
          </a:xfrm>
        </p:spPr>
        <p:txBody>
          <a:bodyPr>
            <a:normAutofit fontScale="90000"/>
          </a:bodyPr>
          <a:lstStyle/>
          <a:p>
            <a:r>
              <a:rPr lang="en-US" sz="3200" b="1" u="sng" dirty="0">
                <a:solidFill>
                  <a:schemeClr val="accent5">
                    <a:lumMod val="75000"/>
                  </a:schemeClr>
                </a:solidFill>
              </a:rPr>
              <a:t>The grid-template-rows </a:t>
            </a:r>
            <a:r>
              <a:rPr lang="en-US" sz="3200" b="1" u="sng" dirty="0">
                <a:solidFill>
                  <a:srgbClr val="C00000"/>
                </a:solidFill>
              </a:rPr>
              <a:t>Property</a:t>
            </a:r>
            <a:br>
              <a:rPr lang="en-US" sz="3200" b="1" u="sng" dirty="0">
                <a:solidFill>
                  <a:srgbClr val="C0000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2DE51-C446-D347-CD62-E60E6E1DD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001" y="1330097"/>
            <a:ext cx="9520158" cy="5363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grid-template-rows property defines the height of each row. The value is a space-separated-list, where each value defines the height of the respective row: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.grid-container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  display: grid;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  grid-template-columns: auto </a:t>
            </a:r>
            <a:r>
              <a:rPr lang="en-US" sz="2000" dirty="0" err="1"/>
              <a:t>auto</a:t>
            </a:r>
            <a:r>
              <a:rPr lang="en-US" sz="2000" dirty="0"/>
              <a:t> </a:t>
            </a:r>
            <a:r>
              <a:rPr lang="en-US" sz="2000" dirty="0" err="1"/>
              <a:t>auto</a:t>
            </a:r>
            <a:r>
              <a:rPr lang="en-US" sz="20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  grid-template-rows: 80px 200px;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  gap: 10px;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  background-color: #2196F3;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  padding: 10px;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}</a:t>
            </a:r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399B4-89D3-0025-CDEF-B61B59790907}"/>
              </a:ext>
            </a:extLst>
          </p:cNvPr>
          <p:cNvSpPr txBox="1"/>
          <p:nvPr/>
        </p:nvSpPr>
        <p:spPr>
          <a:xfrm>
            <a:off x="6584623" y="2788474"/>
            <a:ext cx="51567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chemeClr val="accent6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The justify-content Property and the align-content property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r>
              <a:rPr lang="en-US" dirty="0"/>
              <a:t>We can also use these properties to control the layout of our grid setting values such as: end, start, space-evenly, space-around, space-between, and center.</a:t>
            </a:r>
          </a:p>
        </p:txBody>
      </p:sp>
    </p:spTree>
    <p:extLst>
      <p:ext uri="{BB962C8B-B14F-4D97-AF65-F5344CB8AC3E}">
        <p14:creationId xmlns:p14="http://schemas.microsoft.com/office/powerpoint/2010/main" val="142110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7352-C2AB-9E9A-7EAB-DBDCB2249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1505"/>
            <a:ext cx="9520158" cy="10492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Child Elements (Grid Items)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41D35-2F66-C329-B441-67B946F88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5" y="995006"/>
            <a:ext cx="9874039" cy="55759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grid container contains grid items.</a:t>
            </a:r>
          </a:p>
          <a:p>
            <a:pPr marL="0" indent="0">
              <a:buNone/>
            </a:pPr>
            <a:r>
              <a:rPr lang="en-US" dirty="0"/>
              <a:t>By default, a container has one grid item for each column, in each row, but you can style the grid items so that they will span multiple columns and/or rows.</a:t>
            </a:r>
          </a:p>
          <a:p>
            <a:pPr marL="0" indent="0">
              <a:buNone/>
            </a:pPr>
            <a:r>
              <a:rPr lang="en-US" sz="2200" b="1" u="sng" dirty="0">
                <a:solidFill>
                  <a:srgbClr val="0070C0"/>
                </a:solidFill>
              </a:rPr>
              <a:t>The grid-column Property:</a:t>
            </a:r>
          </a:p>
          <a:p>
            <a:pPr marL="0" indent="0">
              <a:buNone/>
            </a:pPr>
            <a:r>
              <a:rPr lang="en-US" dirty="0"/>
              <a:t>The grid-column property defines on which column(s) to place an item.</a:t>
            </a:r>
          </a:p>
          <a:p>
            <a:pPr marL="0" indent="0">
              <a:buNone/>
            </a:pPr>
            <a:r>
              <a:rPr lang="en-US" dirty="0"/>
              <a:t>You define where the item will start, and where the item will end.</a:t>
            </a:r>
          </a:p>
          <a:p>
            <a:pPr marL="0" indent="0">
              <a:buNone/>
            </a:pPr>
            <a:r>
              <a:rPr lang="en-US" dirty="0"/>
              <a:t>Note: The grid-column property is a shorthand property for the grid-column-start and the grid-column-end properties.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.item1 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grid-column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1 / 5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5AC68-030C-1F70-DA9D-BFB7E66D8242}"/>
              </a:ext>
            </a:extLst>
          </p:cNvPr>
          <p:cNvSpPr txBox="1"/>
          <p:nvPr/>
        </p:nvSpPr>
        <p:spPr>
          <a:xfrm>
            <a:off x="5720316" y="4700442"/>
            <a:ext cx="61030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.item1 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grid-column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1 / span 3</a:t>
            </a: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99392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1663A-F43D-02BB-41DA-866563603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57" y="537328"/>
            <a:ext cx="9520158" cy="5119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grid-row Property: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32B3B-D6C7-2841-9399-FCC36E35F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1049236"/>
            <a:ext cx="9520158" cy="44171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grid-row property defines on which row to place an item.</a:t>
            </a:r>
          </a:p>
          <a:p>
            <a:pPr marL="0" indent="0">
              <a:buNone/>
            </a:pPr>
            <a:r>
              <a:rPr lang="en-US" dirty="0"/>
              <a:t>You define where the item will start, and where the item will end.</a:t>
            </a:r>
          </a:p>
          <a:p>
            <a:pPr marL="0" indent="0">
              <a:buNone/>
            </a:pPr>
            <a:r>
              <a:rPr lang="en-US" dirty="0"/>
              <a:t>Note: The grid-row property is a shorthand property for the grid-row-start and the grid-row-end properties.</a:t>
            </a:r>
          </a:p>
          <a:p>
            <a:pPr marL="0" indent="0">
              <a:buNone/>
            </a:pPr>
            <a:r>
              <a:rPr lang="en-US" dirty="0"/>
              <a:t>To place an item, you can refer to line numbers, or use the keyword "span" to define how many rows the item will span: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07913-AC8A-D4E6-A11B-2E6238F7BFF4}"/>
              </a:ext>
            </a:extLst>
          </p:cNvPr>
          <p:cNvSpPr txBox="1"/>
          <p:nvPr/>
        </p:nvSpPr>
        <p:spPr>
          <a:xfrm>
            <a:off x="1449635" y="4351376"/>
            <a:ext cx="39519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.item1 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grid-row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1 / 4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64B92-7D77-9CB9-357A-E8F5936A5E2F}"/>
              </a:ext>
            </a:extLst>
          </p:cNvPr>
          <p:cNvSpPr txBox="1"/>
          <p:nvPr/>
        </p:nvSpPr>
        <p:spPr>
          <a:xfrm>
            <a:off x="6130273" y="4351376"/>
            <a:ext cx="4031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.item1 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grid-row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1 / span 2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827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D91CE-5613-8C00-8B60-EF7705463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533" y="963109"/>
            <a:ext cx="9520158" cy="345061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0000" dirty="0"/>
              <a:t>CSS </a:t>
            </a:r>
          </a:p>
          <a:p>
            <a:pPr marL="0" indent="0" algn="ctr">
              <a:buNone/>
            </a:pPr>
            <a:r>
              <a:rPr lang="en-US" sz="5000" dirty="0">
                <a:solidFill>
                  <a:srgbClr val="FF5050"/>
                </a:solidFill>
              </a:rPr>
              <a:t>GRADIENT </a:t>
            </a:r>
            <a:r>
              <a:rPr lang="en-US" sz="5000" dirty="0">
                <a:solidFill>
                  <a:srgbClr val="993300"/>
                </a:solidFill>
              </a:rPr>
              <a:t>PROPERTY</a:t>
            </a:r>
          </a:p>
        </p:txBody>
      </p:sp>
    </p:spTree>
    <p:extLst>
      <p:ext uri="{BB962C8B-B14F-4D97-AF65-F5344CB8AC3E}">
        <p14:creationId xmlns:p14="http://schemas.microsoft.com/office/powerpoint/2010/main" val="1062170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0CB3-73A9-5CB7-DA66-885525E1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95692"/>
            <a:ext cx="9520158" cy="691117"/>
          </a:xfrm>
        </p:spPr>
        <p:txBody>
          <a:bodyPr>
            <a:normAutofit/>
          </a:bodyPr>
          <a:lstStyle/>
          <a:p>
            <a:r>
              <a:rPr lang="en-US" sz="4000" b="1" u="sng" dirty="0"/>
              <a:t>Color Gradients in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61623-4752-75C0-2CAE-7785F0713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903769"/>
            <a:ext cx="9520158" cy="3775768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place of a background image, CSS gradients let you display smooth transitions between two or more specified colors.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CSS defines the following gradients:</a:t>
            </a:r>
          </a:p>
          <a:p>
            <a:pPr marL="182880" marR="0" lvl="0" indent="-18288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Char char="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Linear Gradients (goes down/up/left/right)</a:t>
            </a:r>
          </a:p>
          <a:p>
            <a:pPr marL="182880" marR="0" lvl="0" indent="-18288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Char char="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Radial Gradients (defined by their center)</a:t>
            </a:r>
          </a:p>
          <a:p>
            <a:pPr marL="182880" indent="-182880" eaLnBrk="0" fontAlgn="base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SzTx/>
              <a:buFont typeface="Wingdings 2" panose="05020102010507070707" pitchFamily="18" charset="2"/>
              <a:buChar char="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Conic Gradients (</a:t>
            </a:r>
            <a:r>
              <a:rPr lang="en-US" sz="2600" dirty="0"/>
              <a:t>rotate around a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center point)</a:t>
            </a:r>
          </a:p>
          <a:p>
            <a:pPr marL="182880" marR="0" lvl="0" indent="-18288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Char char=""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06AE5-80D9-7C16-6388-05A68C467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25122"/>
            <a:ext cx="12191999" cy="293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354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E0BA-9111-6066-9327-6320634E6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138223"/>
            <a:ext cx="9520158" cy="627321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E23FB-2E13-9FB5-B93D-648C592C3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568" y="946298"/>
            <a:ext cx="11270512" cy="5422604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create a linear gradient you must define at least two color stops. Color stops are the colors you want to render smooth transitions among. You can also set a starting point and a direction (or an angle) along with the gradient effect.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Syntax: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background: linear-gradient(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direction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 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color-stop1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 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color-stop2, ...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#grad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background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linear-gradient(to left, red , yellow)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/*left to right*/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background-image: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linear-gradient(to bottom right, red, yellow);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/*diagonal*/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background-image: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linear-gradient(45deg, red, yellow);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/*Using angle*/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background-image: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linear-gradient(to right,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rgba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(255,0,0,0),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rgba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(255,0,0,1));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/*transparent colors*/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background-image: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repeating-linear-gradient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(45deg,red,yellow 7%,green 10%);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007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9A0A0-5979-EA9C-539C-F0819F69C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127592"/>
            <a:ext cx="9520158" cy="69111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Adding Linear Gradient to Background-Image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AB350-9B5C-00B9-8EF5-F9198A6C4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268" y="1201479"/>
            <a:ext cx="4781044" cy="4892188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To add a semi opaque/semi transparent </a:t>
            </a:r>
            <a:r>
              <a:rPr lang="en-US" altLang="en-US" sz="2400" dirty="0" err="1"/>
              <a:t>colour</a:t>
            </a:r>
            <a:r>
              <a:rPr lang="en-US" altLang="en-US" sz="2400" dirty="0"/>
              <a:t> gradient that goes on top of the background image, you need not introduce a second div. Simply add linear gradient to the same div carrying the background image as follows:</a:t>
            </a:r>
          </a:p>
          <a:p>
            <a:r>
              <a:rPr lang="en-US" altLang="en-US" sz="2400" dirty="0"/>
              <a:t>A simpler method is to use background image with gradient.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4F1F18-40AD-1D23-78D0-FCD7B741F163}"/>
              </a:ext>
            </a:extLst>
          </p:cNvPr>
          <p:cNvSpPr/>
          <p:nvPr/>
        </p:nvSpPr>
        <p:spPr>
          <a:xfrm>
            <a:off x="7070650" y="1201479"/>
            <a:ext cx="4550735" cy="461094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lvl="5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lvl="6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lvl="7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lvl="8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#banner{					</a:t>
            </a:r>
          </a:p>
          <a:p>
            <a:pPr marL="0" marR="0" lvl="0" indent="0" algn="l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background-image: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linear-gradient(to bottom,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rgba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(0,0,0, 0.52), </a:t>
            </a:r>
          </a:p>
          <a:p>
            <a:pPr marL="0" marR="0" lvl="0" indent="0" algn="l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rgba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(10,10,30, 0.73)),</a:t>
            </a:r>
          </a:p>
          <a:p>
            <a:pPr marL="0" marR="0" lvl="0" indent="0" algn="l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url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('banner.jpg'); 	</a:t>
            </a:r>
          </a:p>
          <a:p>
            <a:pPr marL="0" marR="0" lvl="0" indent="0" algn="l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	height: 300px;</a:t>
            </a:r>
          </a:p>
          <a:p>
            <a:pPr marL="0" marR="0" lvl="0" indent="0" algn="l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	background-size: cover;</a:t>
            </a:r>
          </a:p>
          <a:p>
            <a:pPr marL="0" marR="0" lvl="0" indent="0" algn="l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55110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EF27F8-5CD4-BFB9-59BD-FFF99F56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138223"/>
            <a:ext cx="9520158" cy="627321"/>
          </a:xfrm>
        </p:spPr>
        <p:txBody>
          <a:bodyPr>
            <a:normAutofit fontScale="90000"/>
          </a:bodyPr>
          <a:lstStyle/>
          <a:p>
            <a:r>
              <a:rPr lang="en-US" dirty="0"/>
              <a:t>RADIAL GRADIENT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0C9074-7D01-D152-12AE-199588023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946298"/>
            <a:ext cx="10182383" cy="5422604"/>
          </a:xfrm>
        </p:spPr>
        <p:txBody>
          <a:bodyPr>
            <a:normAutofit fontScale="9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create a radial gradient you must define at least two color stops. Unlike the linear gradient, the radial gradient is defined by its center.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Syntax: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background: radial-gradient(shape, color1  N%, color2  Y%,...)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#radial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background-image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radial-gradient(red, yellow, green)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A52A2A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#radial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background-image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radial-gradient(red 5%, yellow 15%, green 60%)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#adial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background-image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radial-gradient(circle, red, yellow, green)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98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8D9121-89B3-960F-B7A0-BBC67731B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138223"/>
            <a:ext cx="9520158" cy="627321"/>
          </a:xfrm>
        </p:spPr>
        <p:txBody>
          <a:bodyPr>
            <a:normAutofit fontScale="90000"/>
          </a:bodyPr>
          <a:lstStyle/>
          <a:p>
            <a:r>
              <a:rPr lang="en-US" dirty="0"/>
              <a:t>CONIC GRADIENT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69EDBF-45F9-A2B5-29D5-6000199FD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946298"/>
            <a:ext cx="10182383" cy="5422604"/>
          </a:xfrm>
        </p:spPr>
        <p:txBody>
          <a:bodyPr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conic gradient is a gradient with color transitions rotated around a center point. To create a conic gradient you must define at least two colors.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endParaRPr lang="en-US" sz="2200" dirty="0">
              <a:solidFill>
                <a:srgbClr val="595959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Syntax: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background: conic-gradient([from angle] [at position,] color [degree], color [degree], ...);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#conic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background-image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conic-gradient(red, yellow, green)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 2" panose="05020102010507070707" pitchFamily="18" charset="2"/>
              <a:buNone/>
              <a:defRPr/>
            </a:pP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#conic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background-image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conic-gradient(red 45deg, yellow 90deg, green 210deg)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7063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3413-225F-CCE3-92B8-300FE56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Using online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7FAB0-FE49-49DB-A59E-B2C6C5340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hlinkClick r:id="rId2"/>
              </a:rPr>
              <a:t> https://www.transparenttextures.com/</a:t>
            </a:r>
            <a:endParaRPr lang="en-US" sz="3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https://pattern.monster/</a:t>
            </a:r>
          </a:p>
        </p:txBody>
      </p:sp>
    </p:spTree>
    <p:extLst>
      <p:ext uri="{BB962C8B-B14F-4D97-AF65-F5344CB8AC3E}">
        <p14:creationId xmlns:p14="http://schemas.microsoft.com/office/powerpoint/2010/main" val="3301345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9671</TotalTime>
  <Words>2011</Words>
  <Application>Microsoft Office PowerPoint</Application>
  <PresentationFormat>Widescreen</PresentationFormat>
  <Paragraphs>256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Arial</vt:lpstr>
      <vt:lpstr>Calibri</vt:lpstr>
      <vt:lpstr>Calibri Light</vt:lpstr>
      <vt:lpstr>Consolas</vt:lpstr>
      <vt:lpstr>Corbel</vt:lpstr>
      <vt:lpstr>Noto Sans Symbols</vt:lpstr>
      <vt:lpstr>Segoe UI</vt:lpstr>
      <vt:lpstr>Verdana</vt:lpstr>
      <vt:lpstr>Wingdings</vt:lpstr>
      <vt:lpstr>Wingdings 2</vt:lpstr>
      <vt:lpstr>Office Theme</vt:lpstr>
      <vt:lpstr>Responsive Websites for a better User Experience</vt:lpstr>
      <vt:lpstr>Viewport Meta Tag</vt:lpstr>
      <vt:lpstr>PowerPoint Presentation</vt:lpstr>
      <vt:lpstr>Responsive Design: Introduction</vt:lpstr>
      <vt:lpstr>MEDIA QUERIES</vt:lpstr>
      <vt:lpstr>The same website looks different across various devices</vt:lpstr>
      <vt:lpstr>INTRODUCTION</vt:lpstr>
      <vt:lpstr>@media query Syntax</vt:lpstr>
      <vt:lpstr>PowerPoint Presentation</vt:lpstr>
      <vt:lpstr>PowerPoint Presentation</vt:lpstr>
      <vt:lpstr>PRINCIPLES</vt:lpstr>
      <vt:lpstr>Media Query BreakPoints</vt:lpstr>
      <vt:lpstr>Understanding Media Query: Hide elements on different screen sizes</vt:lpstr>
      <vt:lpstr>Class Exercise: How can you achieve this, such that as the screen gets smaller, the webpage background-color changes</vt:lpstr>
      <vt:lpstr>PowerPoint Presentation</vt:lpstr>
      <vt:lpstr>Font Awesome Icons</vt:lpstr>
      <vt:lpstr>Bootstrap icons</vt:lpstr>
      <vt:lpstr>Icons8.com</vt:lpstr>
      <vt:lpstr>PowerPoint Presentation</vt:lpstr>
      <vt:lpstr>Animation</vt:lpstr>
      <vt:lpstr>CSS GRID</vt:lpstr>
      <vt:lpstr>CSS Grid Components</vt:lpstr>
      <vt:lpstr>PowerPoint Presentation</vt:lpstr>
      <vt:lpstr>Grid Columns and Grid Rows</vt:lpstr>
      <vt:lpstr>Using Gaps</vt:lpstr>
      <vt:lpstr>CSS Grid Container</vt:lpstr>
      <vt:lpstr>PowerPoint Presentation</vt:lpstr>
      <vt:lpstr>The grid-template-rows Property </vt:lpstr>
      <vt:lpstr>Child Elements (Grid Items) </vt:lpstr>
      <vt:lpstr>The grid-row Property: </vt:lpstr>
      <vt:lpstr>PowerPoint Presentation</vt:lpstr>
      <vt:lpstr>Color Gradients in CSS</vt:lpstr>
      <vt:lpstr>LINEAR GRADIENT</vt:lpstr>
      <vt:lpstr>Adding Linear Gradient to Background-Image</vt:lpstr>
      <vt:lpstr>RADIAL GRADIENT</vt:lpstr>
      <vt:lpstr>CONIC GRADIENT</vt:lpstr>
      <vt:lpstr>Using online background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Windows User</cp:lastModifiedBy>
  <cp:revision>52</cp:revision>
  <dcterms:created xsi:type="dcterms:W3CDTF">2024-01-17T09:09:54Z</dcterms:created>
  <dcterms:modified xsi:type="dcterms:W3CDTF">2025-11-17T07:08:05Z</dcterms:modified>
</cp:coreProperties>
</file>