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290" r:id="rId3"/>
    <p:sldId id="293" r:id="rId4"/>
    <p:sldId id="269" r:id="rId5"/>
    <p:sldId id="271" r:id="rId6"/>
    <p:sldId id="292" r:id="rId7"/>
    <p:sldId id="291" r:id="rId8"/>
    <p:sldId id="272" r:id="rId9"/>
    <p:sldId id="273" r:id="rId10"/>
    <p:sldId id="276" r:id="rId11"/>
    <p:sldId id="275" r:id="rId12"/>
    <p:sldId id="294" r:id="rId13"/>
    <p:sldId id="278" r:id="rId14"/>
    <p:sldId id="274" r:id="rId15"/>
    <p:sldId id="270" r:id="rId16"/>
    <p:sldId id="288" r:id="rId17"/>
    <p:sldId id="277" r:id="rId18"/>
    <p:sldId id="295" r:id="rId19"/>
    <p:sldId id="280" r:id="rId20"/>
    <p:sldId id="296" r:id="rId21"/>
    <p:sldId id="297" r:id="rId22"/>
    <p:sldId id="285" r:id="rId23"/>
    <p:sldId id="284" r:id="rId24"/>
    <p:sldId id="298" r:id="rId25"/>
    <p:sldId id="283" r:id="rId26"/>
    <p:sldId id="287" r:id="rId27"/>
    <p:sldId id="28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6067C-6871-B284-2429-8FF27462D3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4D1548-D639-8E27-0CAC-E8D3FFB449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2E5A50-D9C2-BF3B-BFB8-811271CB8CEA}"/>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5" name="Footer Placeholder 4">
            <a:extLst>
              <a:ext uri="{FF2B5EF4-FFF2-40B4-BE49-F238E27FC236}">
                <a16:creationId xmlns:a16="http://schemas.microsoft.com/office/drawing/2014/main" id="{3558A3F9-A7C9-EFDD-F45E-ACC2375D4E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667E74-7566-567D-21B3-762C6A22D82D}"/>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1005892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BEA92-25D6-9EF2-A540-3D17D1D16A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19C82B-1052-AD02-350F-20E7AB5BFE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E7AD70-5430-FABE-881D-00F3B0E0093B}"/>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5" name="Footer Placeholder 4">
            <a:extLst>
              <a:ext uri="{FF2B5EF4-FFF2-40B4-BE49-F238E27FC236}">
                <a16:creationId xmlns:a16="http://schemas.microsoft.com/office/drawing/2014/main" id="{0D36ECF0-0807-59E0-903F-A6F5717EA7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8279D-7829-964B-0227-67D969468741}"/>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86887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2993B-6D64-0ACD-34D8-A56D134AD1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17C706-3E7A-BC5E-D720-D236293A35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6A687D-AAF7-0EE6-389D-4C5E39D76500}"/>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5" name="Footer Placeholder 4">
            <a:extLst>
              <a:ext uri="{FF2B5EF4-FFF2-40B4-BE49-F238E27FC236}">
                <a16:creationId xmlns:a16="http://schemas.microsoft.com/office/drawing/2014/main" id="{22D8FD40-9476-8EF9-3E1F-4A66B52D4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7451C-2103-DF27-5E30-2C46E8AC14D0}"/>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600768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9707A-005D-9353-DA3E-F9DB4A5B66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4A6F74-5675-BD21-46C5-4F38487BDD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3930E5-CECE-C14C-2116-74727230E5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ADA388-31EE-9106-9438-7677FDF83D5B}"/>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6" name="Footer Placeholder 5">
            <a:extLst>
              <a:ext uri="{FF2B5EF4-FFF2-40B4-BE49-F238E27FC236}">
                <a16:creationId xmlns:a16="http://schemas.microsoft.com/office/drawing/2014/main" id="{41EA9837-F0BB-A880-9FFD-C73E4C371B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81C149-DA09-51A9-8B0C-FB07130262B1}"/>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2153432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A4E0E-C769-846C-5EA2-6008115DAA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0FBC6B-B90E-D481-D964-B638F942EB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B5CFA7-8752-4722-F4E8-59C6EFC700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5A1EC4-4449-694C-D752-5D27897B90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79B168-C09B-9F2B-E0DF-E1A2AAFB50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4983D6-5583-B044-8D42-1946A13736E7}"/>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8" name="Footer Placeholder 7">
            <a:extLst>
              <a:ext uri="{FF2B5EF4-FFF2-40B4-BE49-F238E27FC236}">
                <a16:creationId xmlns:a16="http://schemas.microsoft.com/office/drawing/2014/main" id="{B6787998-9110-0507-36F9-14A50AC972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BFDFD6-32BD-D0CC-8C3C-E32B31701500}"/>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581405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9D75E-0314-F8FE-8E7F-CCE9542B2C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D5F6FA-FF02-9FE0-CDA5-22832696A8A3}"/>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4" name="Footer Placeholder 3">
            <a:extLst>
              <a:ext uri="{FF2B5EF4-FFF2-40B4-BE49-F238E27FC236}">
                <a16:creationId xmlns:a16="http://schemas.microsoft.com/office/drawing/2014/main" id="{0A262BDA-4DE8-98D2-8F98-4AA56352E0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9FE733-44A2-D22E-A80D-8E4CCDB06A95}"/>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656136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5D5B2A-6DFF-3FC7-B496-45165AA51A57}"/>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3" name="Footer Placeholder 2">
            <a:extLst>
              <a:ext uri="{FF2B5EF4-FFF2-40B4-BE49-F238E27FC236}">
                <a16:creationId xmlns:a16="http://schemas.microsoft.com/office/drawing/2014/main" id="{FCEE9A2A-814D-DD6C-6767-392EFAB29B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6FFB3A-A460-1C86-7973-3EEC785C5285}"/>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1099833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174DE-1737-DDB7-8648-2B82B7CEBC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9C4C12-9424-747B-0E1C-D4B6AEA150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DB8D62-1F04-E013-2CB4-7EF0256854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5B4F9D-194D-D57E-4153-5630BD48945A}"/>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6" name="Footer Placeholder 5">
            <a:extLst>
              <a:ext uri="{FF2B5EF4-FFF2-40B4-BE49-F238E27FC236}">
                <a16:creationId xmlns:a16="http://schemas.microsoft.com/office/drawing/2014/main" id="{2837C6EC-14CB-FC16-037B-D6085DE04B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849564-8E00-A641-FE9C-8B4C7CA3581A}"/>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1739776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251E6-8628-5A7B-6ED2-262EE5822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F36093-9275-C5CD-F3ED-0179A31E5B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C85416-48EF-1C5B-E3CC-A7B1B03341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C9A987-1C29-1845-2E37-305BF0DDDFFE}"/>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6" name="Footer Placeholder 5">
            <a:extLst>
              <a:ext uri="{FF2B5EF4-FFF2-40B4-BE49-F238E27FC236}">
                <a16:creationId xmlns:a16="http://schemas.microsoft.com/office/drawing/2014/main" id="{E2B564E7-69FC-55A3-CAAC-9B885251F7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33F3A6-056A-B66D-4F7C-F459D5E3F9C4}"/>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2192522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E34A3-2EFD-6F04-02CA-E0D281CB8C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41AC36-2BC2-0A16-B3D9-0CF4BA921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5445C3-D7A3-64D1-5F21-F4F4CB05E437}"/>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5" name="Footer Placeholder 4">
            <a:extLst>
              <a:ext uri="{FF2B5EF4-FFF2-40B4-BE49-F238E27FC236}">
                <a16:creationId xmlns:a16="http://schemas.microsoft.com/office/drawing/2014/main" id="{08432051-4020-D7CE-E057-37EF1BCC80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1FA207-6377-81B0-0B25-5B2A27D66F63}"/>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713576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47F444-9F9F-3A82-7BB4-BCFF8F1E3D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DEA0BB-16D6-42E1-19C8-437665C4A1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08066F-9E04-6AC2-9FB3-F0F51DF335E3}"/>
              </a:ext>
            </a:extLst>
          </p:cNvPr>
          <p:cNvSpPr>
            <a:spLocks noGrp="1"/>
          </p:cNvSpPr>
          <p:nvPr>
            <p:ph type="dt" sz="half" idx="10"/>
          </p:nvPr>
        </p:nvSpPr>
        <p:spPr/>
        <p:txBody>
          <a:bodyPr/>
          <a:lstStyle/>
          <a:p>
            <a:fld id="{1985A067-9B25-4BD9-A269-7F2B6DEF1825}" type="datetimeFigureOut">
              <a:rPr lang="en-US" smtClean="0"/>
              <a:t>9/6/2025</a:t>
            </a:fld>
            <a:endParaRPr lang="en-US"/>
          </a:p>
        </p:txBody>
      </p:sp>
      <p:sp>
        <p:nvSpPr>
          <p:cNvPr id="5" name="Footer Placeholder 4">
            <a:extLst>
              <a:ext uri="{FF2B5EF4-FFF2-40B4-BE49-F238E27FC236}">
                <a16:creationId xmlns:a16="http://schemas.microsoft.com/office/drawing/2014/main" id="{D1754C6D-5C9D-111D-94E3-17C872CA09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F7B69-3C27-0ABC-695E-1D12C7432815}"/>
              </a:ext>
            </a:extLst>
          </p:cNvPr>
          <p:cNvSpPr>
            <a:spLocks noGrp="1"/>
          </p:cNvSpPr>
          <p:nvPr>
            <p:ph type="sldNum" sz="quarter" idx="12"/>
          </p:nvPr>
        </p:nvSpPr>
        <p:spPr/>
        <p:txBody>
          <a:bodyPr/>
          <a:lstStyle/>
          <a:p>
            <a:fld id="{3818BE4A-EB56-480D-AFD6-BA3A6489FC2C}" type="slidenum">
              <a:rPr lang="en-US" smtClean="0"/>
              <a:t>‹#›</a:t>
            </a:fld>
            <a:endParaRPr lang="en-US"/>
          </a:p>
        </p:txBody>
      </p:sp>
    </p:spTree>
    <p:extLst>
      <p:ext uri="{BB962C8B-B14F-4D97-AF65-F5344CB8AC3E}">
        <p14:creationId xmlns:p14="http://schemas.microsoft.com/office/powerpoint/2010/main" val="2189047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D8DAAF-1369-7C8C-4CCD-D3D5FC001E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C9751A-EF66-845E-D8DC-9C92D365AD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4FF689-339D-87B9-693F-FC08AD61DA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85A067-9B25-4BD9-A269-7F2B6DEF1825}" type="datetimeFigureOut">
              <a:rPr lang="en-US" smtClean="0"/>
              <a:t>9/6/2025</a:t>
            </a:fld>
            <a:endParaRPr lang="en-US"/>
          </a:p>
        </p:txBody>
      </p:sp>
      <p:sp>
        <p:nvSpPr>
          <p:cNvPr id="5" name="Footer Placeholder 4">
            <a:extLst>
              <a:ext uri="{FF2B5EF4-FFF2-40B4-BE49-F238E27FC236}">
                <a16:creationId xmlns:a16="http://schemas.microsoft.com/office/drawing/2014/main" id="{725D1A5E-D09C-693E-ED48-AB6B1AAA69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F2986C-2232-DCB2-B4C5-A7E2AAD00D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18BE4A-EB56-480D-AFD6-BA3A6489FC2C}" type="slidenum">
              <a:rPr lang="en-US" smtClean="0"/>
              <a:t>‹#›</a:t>
            </a:fld>
            <a:endParaRPr lang="en-US"/>
          </a:p>
        </p:txBody>
      </p:sp>
    </p:spTree>
    <p:extLst>
      <p:ext uri="{BB962C8B-B14F-4D97-AF65-F5344CB8AC3E}">
        <p14:creationId xmlns:p14="http://schemas.microsoft.com/office/powerpoint/2010/main" val="4063262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sublimetext.com/downloa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7D5DCB-0763-EDF7-1921-35AF16773029}"/>
              </a:ext>
            </a:extLst>
          </p:cNvPr>
          <p:cNvSpPr>
            <a:spLocks noGrp="1"/>
          </p:cNvSpPr>
          <p:nvPr>
            <p:ph idx="1"/>
          </p:nvPr>
        </p:nvSpPr>
        <p:spPr>
          <a:xfrm>
            <a:off x="838200" y="1233377"/>
            <a:ext cx="10515600" cy="4943586"/>
          </a:xfrm>
        </p:spPr>
        <p:txBody>
          <a:bodyPr>
            <a:normAutofit/>
          </a:bodyPr>
          <a:lstStyle/>
          <a:p>
            <a:pPr marL="0" indent="0" algn="ctr">
              <a:buNone/>
            </a:pPr>
            <a:r>
              <a:rPr lang="en-US" sz="7000" dirty="0"/>
              <a:t>INTRODUCTION TO </a:t>
            </a:r>
            <a:r>
              <a:rPr lang="en-US" sz="12000" dirty="0">
                <a:solidFill>
                  <a:srgbClr val="C00000"/>
                </a:solidFill>
              </a:rPr>
              <a:t>HTML</a:t>
            </a:r>
          </a:p>
          <a:p>
            <a:pPr marL="0" indent="0" algn="ctr">
              <a:buNone/>
            </a:pPr>
            <a:r>
              <a:rPr lang="en-US" sz="7000" b="0" i="0" dirty="0" err="1">
                <a:solidFill>
                  <a:srgbClr val="C00000"/>
                </a:solidFill>
                <a:effectLst/>
                <a:latin typeface="Google Sans"/>
              </a:rPr>
              <a:t>H</a:t>
            </a:r>
            <a:r>
              <a:rPr lang="en-US" sz="7000" b="0" i="0" dirty="0" err="1">
                <a:solidFill>
                  <a:srgbClr val="040C28"/>
                </a:solidFill>
                <a:effectLst/>
                <a:latin typeface="Google Sans"/>
              </a:rPr>
              <a:t>yper</a:t>
            </a:r>
            <a:r>
              <a:rPr lang="en-US" sz="7000" b="0" i="0" dirty="0" err="1">
                <a:solidFill>
                  <a:srgbClr val="C00000"/>
                </a:solidFill>
                <a:effectLst/>
                <a:latin typeface="Google Sans"/>
              </a:rPr>
              <a:t>T</a:t>
            </a:r>
            <a:r>
              <a:rPr lang="en-US" sz="7000" b="0" i="0" dirty="0" err="1">
                <a:solidFill>
                  <a:srgbClr val="040C28"/>
                </a:solidFill>
                <a:effectLst/>
                <a:latin typeface="Google Sans"/>
              </a:rPr>
              <a:t>ext</a:t>
            </a:r>
            <a:r>
              <a:rPr lang="en-US" sz="7000" b="0" i="0" dirty="0">
                <a:solidFill>
                  <a:srgbClr val="040C28"/>
                </a:solidFill>
                <a:effectLst/>
                <a:latin typeface="Google Sans"/>
              </a:rPr>
              <a:t> </a:t>
            </a:r>
            <a:r>
              <a:rPr lang="en-US" sz="7000" b="0" i="0" dirty="0">
                <a:solidFill>
                  <a:srgbClr val="C00000"/>
                </a:solidFill>
                <a:effectLst/>
                <a:latin typeface="Google Sans"/>
              </a:rPr>
              <a:t>M</a:t>
            </a:r>
            <a:r>
              <a:rPr lang="en-US" sz="7000" b="0" i="0" dirty="0">
                <a:solidFill>
                  <a:srgbClr val="040C28"/>
                </a:solidFill>
                <a:effectLst/>
                <a:latin typeface="Google Sans"/>
              </a:rPr>
              <a:t>arkup </a:t>
            </a:r>
            <a:r>
              <a:rPr lang="en-US" sz="7000" b="0" i="0" dirty="0">
                <a:solidFill>
                  <a:srgbClr val="C00000"/>
                </a:solidFill>
                <a:effectLst/>
                <a:latin typeface="Google Sans"/>
              </a:rPr>
              <a:t>L</a:t>
            </a:r>
            <a:r>
              <a:rPr lang="en-US" sz="7000" b="0" i="0" dirty="0">
                <a:solidFill>
                  <a:srgbClr val="040C28"/>
                </a:solidFill>
                <a:effectLst/>
                <a:latin typeface="Google Sans"/>
              </a:rPr>
              <a:t>anguage</a:t>
            </a:r>
            <a:endParaRPr lang="en-US" sz="7000" dirty="0"/>
          </a:p>
          <a:p>
            <a:pPr marL="0" indent="0" algn="ctr">
              <a:buNone/>
            </a:pPr>
            <a:endParaRPr lang="en-US" sz="7000" dirty="0"/>
          </a:p>
        </p:txBody>
      </p:sp>
    </p:spTree>
    <p:extLst>
      <p:ext uri="{BB962C8B-B14F-4D97-AF65-F5344CB8AC3E}">
        <p14:creationId xmlns:p14="http://schemas.microsoft.com/office/powerpoint/2010/main" val="1478031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D1C924-F622-9764-01F5-702B12911ABE}"/>
              </a:ext>
            </a:extLst>
          </p:cNvPr>
          <p:cNvSpPr>
            <a:spLocks noGrp="1"/>
          </p:cNvSpPr>
          <p:nvPr>
            <p:ph idx="1"/>
          </p:nvPr>
        </p:nvSpPr>
        <p:spPr>
          <a:xfrm>
            <a:off x="838200" y="276447"/>
            <a:ext cx="10515600" cy="5900516"/>
          </a:xfrm>
        </p:spPr>
        <p:txBody>
          <a:bodyPr>
            <a:noAutofit/>
          </a:bodyPr>
          <a:lstStyle/>
          <a:p>
            <a:pPr marL="0" indent="0">
              <a:buNone/>
            </a:pPr>
            <a:r>
              <a:rPr lang="en-US" sz="3400" b="1" i="0" dirty="0">
                <a:solidFill>
                  <a:srgbClr val="4D5156"/>
                </a:solidFill>
                <a:effectLst/>
                <a:latin typeface="arial" panose="020B0604020202020204" pitchFamily="34" charset="0"/>
              </a:rPr>
              <a:t>HTML</a:t>
            </a:r>
            <a:r>
              <a:rPr lang="en-US" sz="3400" b="0" i="0" dirty="0">
                <a:solidFill>
                  <a:srgbClr val="4D5156"/>
                </a:solidFill>
                <a:effectLst/>
                <a:latin typeface="arial" panose="020B0604020202020204" pitchFamily="34" charset="0"/>
              </a:rPr>
              <a:t> is not considered a programming language but simply a markup language.</a:t>
            </a:r>
          </a:p>
          <a:p>
            <a:pPr lvl="1"/>
            <a:r>
              <a:rPr lang="en-US" sz="3400" b="0" i="0" dirty="0">
                <a:solidFill>
                  <a:srgbClr val="4D5156"/>
                </a:solidFill>
                <a:effectLst/>
                <a:latin typeface="arial" panose="020B0604020202020204" pitchFamily="34" charset="0"/>
              </a:rPr>
              <a:t>A markup language is </a:t>
            </a:r>
            <a:r>
              <a:rPr lang="en-US" sz="3400" b="1" i="0" dirty="0">
                <a:solidFill>
                  <a:srgbClr val="5F6368"/>
                </a:solidFill>
                <a:effectLst/>
                <a:latin typeface="arial" panose="020B0604020202020204" pitchFamily="34" charset="0"/>
              </a:rPr>
              <a:t>a text-encoding system which specifies the structure and formatting of a document and</a:t>
            </a:r>
            <a:r>
              <a:rPr lang="en-US" sz="3400" b="0" i="0" dirty="0">
                <a:solidFill>
                  <a:srgbClr val="4D5156"/>
                </a:solidFill>
                <a:effectLst/>
                <a:latin typeface="arial" panose="020B0604020202020204" pitchFamily="34" charset="0"/>
              </a:rPr>
              <a:t> the relationship between its parts.</a:t>
            </a:r>
            <a:r>
              <a:rPr lang="en-US" sz="3400" b="0" i="0" dirty="0">
                <a:solidFill>
                  <a:schemeClr val="tx1">
                    <a:lumMod val="65000"/>
                    <a:lumOff val="35000"/>
                  </a:schemeClr>
                </a:solidFill>
                <a:effectLst/>
                <a:latin typeface="arial" panose="020B0604020202020204" pitchFamily="34" charset="0"/>
              </a:rPr>
              <a:t> </a:t>
            </a:r>
          </a:p>
          <a:p>
            <a:pPr lvl="1"/>
            <a:r>
              <a:rPr lang="en-US" sz="3400" b="0" i="0" dirty="0">
                <a:solidFill>
                  <a:schemeClr val="tx1">
                    <a:lumMod val="65000"/>
                    <a:lumOff val="35000"/>
                  </a:schemeClr>
                </a:solidFill>
                <a:effectLst/>
                <a:latin typeface="Arial" panose="020B0604020202020204" pitchFamily="34" charset="0"/>
                <a:cs typeface="Arial" panose="020B0604020202020204" pitchFamily="34" charset="0"/>
              </a:rPr>
              <a:t>HTML is the standard markup language for Web pages.</a:t>
            </a:r>
            <a:endParaRPr lang="en-US" sz="3400" b="0" i="0" dirty="0">
              <a:solidFill>
                <a:schemeClr val="tx1">
                  <a:lumMod val="65000"/>
                  <a:lumOff val="35000"/>
                </a:schemeClr>
              </a:solidFill>
              <a:effectLst/>
              <a:latin typeface="arial" panose="020B0604020202020204" pitchFamily="34" charset="0"/>
            </a:endParaRPr>
          </a:p>
          <a:p>
            <a:pPr marL="0" indent="0" algn="l">
              <a:buNone/>
            </a:pPr>
            <a:r>
              <a:rPr lang="en-US" sz="3400" dirty="0">
                <a:solidFill>
                  <a:schemeClr val="tx1">
                    <a:lumMod val="65000"/>
                    <a:lumOff val="35000"/>
                  </a:schemeClr>
                </a:solidFill>
                <a:latin typeface="arial" panose="020B0604020202020204" pitchFamily="34" charset="0"/>
                <a:cs typeface="Arial" panose="020B0604020202020204" pitchFamily="34" charset="0"/>
              </a:rPr>
              <a:t>HTML is a markup language because </a:t>
            </a:r>
            <a:r>
              <a:rPr lang="en-US" sz="3400" b="0" i="0" dirty="0">
                <a:solidFill>
                  <a:schemeClr val="tx1">
                    <a:lumMod val="65000"/>
                    <a:lumOff val="35000"/>
                  </a:schemeClr>
                </a:solidFill>
                <a:effectLst/>
                <a:latin typeface="Arial" panose="020B0604020202020204" pitchFamily="34" charset="0"/>
                <a:cs typeface="Arial" panose="020B0604020202020204" pitchFamily="34" charset="0"/>
              </a:rPr>
              <a:t> it allows users to </a:t>
            </a:r>
            <a:r>
              <a:rPr lang="en-US" sz="3400" b="0" i="0" dirty="0" err="1">
                <a:solidFill>
                  <a:schemeClr val="tx1">
                    <a:lumMod val="65000"/>
                    <a:lumOff val="35000"/>
                  </a:schemeClr>
                </a:solidFill>
                <a:effectLst/>
                <a:latin typeface="Arial" panose="020B0604020202020204" pitchFamily="34" charset="0"/>
                <a:cs typeface="Arial" panose="020B0604020202020204" pitchFamily="34" charset="0"/>
              </a:rPr>
              <a:t>organise</a:t>
            </a:r>
            <a:r>
              <a:rPr lang="en-US" sz="3400" b="0" i="0" dirty="0">
                <a:solidFill>
                  <a:schemeClr val="tx1">
                    <a:lumMod val="65000"/>
                    <a:lumOff val="35000"/>
                  </a:schemeClr>
                </a:solidFill>
                <a:effectLst/>
                <a:latin typeface="Arial" panose="020B0604020202020204" pitchFamily="34" charset="0"/>
                <a:cs typeface="Arial" panose="020B0604020202020204" pitchFamily="34" charset="0"/>
              </a:rPr>
              <a:t> the appearance and presentation of all the content that should go on a web page and uses </a:t>
            </a:r>
            <a:r>
              <a:rPr lang="en-US" sz="3400" b="1" i="1" dirty="0">
                <a:effectLst/>
                <a:latin typeface="Arial" panose="020B0604020202020204" pitchFamily="34" charset="0"/>
                <a:cs typeface="Arial" panose="020B0604020202020204" pitchFamily="34" charset="0"/>
              </a:rPr>
              <a:t>tags</a:t>
            </a:r>
            <a:r>
              <a:rPr lang="en-US" sz="3400" b="0" i="0" dirty="0">
                <a:solidFill>
                  <a:schemeClr val="tx1">
                    <a:lumMod val="65000"/>
                    <a:lumOff val="35000"/>
                  </a:schemeClr>
                </a:solidFill>
                <a:effectLst/>
                <a:latin typeface="Arial" panose="020B0604020202020204" pitchFamily="34" charset="0"/>
                <a:cs typeface="Arial" panose="020B0604020202020204" pitchFamily="34" charset="0"/>
              </a:rPr>
              <a:t> to define </a:t>
            </a:r>
            <a:r>
              <a:rPr lang="en-US" sz="3400" b="1" i="1" dirty="0">
                <a:effectLst/>
                <a:latin typeface="Arial" panose="020B0604020202020204" pitchFamily="34" charset="0"/>
                <a:cs typeface="Arial" panose="020B0604020202020204" pitchFamily="34" charset="0"/>
              </a:rPr>
              <a:t>elements</a:t>
            </a:r>
            <a:r>
              <a:rPr lang="en-US" sz="3400" b="0" i="0" dirty="0">
                <a:solidFill>
                  <a:schemeClr val="tx1">
                    <a:lumMod val="65000"/>
                    <a:lumOff val="35000"/>
                  </a:schemeClr>
                </a:solidFill>
                <a:effectLst/>
                <a:latin typeface="Arial" panose="020B0604020202020204" pitchFamily="34" charset="0"/>
                <a:cs typeface="Arial" panose="020B0604020202020204" pitchFamily="34" charset="0"/>
              </a:rPr>
              <a:t> within a document. </a:t>
            </a:r>
            <a:r>
              <a:rPr lang="en-US" sz="3400" dirty="0"/>
              <a:t/>
            </a:r>
            <a:br>
              <a:rPr lang="en-US" sz="3400" dirty="0"/>
            </a:br>
            <a:endParaRPr lang="en-US" sz="3400" dirty="0"/>
          </a:p>
        </p:txBody>
      </p:sp>
    </p:spTree>
    <p:extLst>
      <p:ext uri="{BB962C8B-B14F-4D97-AF65-F5344CB8AC3E}">
        <p14:creationId xmlns:p14="http://schemas.microsoft.com/office/powerpoint/2010/main" val="1808175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75165-C845-DBF1-190B-623D873F884A}"/>
              </a:ext>
            </a:extLst>
          </p:cNvPr>
          <p:cNvSpPr>
            <a:spLocks noGrp="1"/>
          </p:cNvSpPr>
          <p:nvPr>
            <p:ph type="title"/>
          </p:nvPr>
        </p:nvSpPr>
        <p:spPr/>
        <p:txBody>
          <a:bodyPr/>
          <a:lstStyle/>
          <a:p>
            <a:r>
              <a:rPr lang="en-US" b="1" dirty="0"/>
              <a:t>HTML Editors</a:t>
            </a:r>
          </a:p>
        </p:txBody>
      </p:sp>
      <p:sp>
        <p:nvSpPr>
          <p:cNvPr id="3" name="Content Placeholder 2">
            <a:extLst>
              <a:ext uri="{FF2B5EF4-FFF2-40B4-BE49-F238E27FC236}">
                <a16:creationId xmlns:a16="http://schemas.microsoft.com/office/drawing/2014/main" id="{D89984C3-7108-78FD-B72E-832F2158AA22}"/>
              </a:ext>
            </a:extLst>
          </p:cNvPr>
          <p:cNvSpPr>
            <a:spLocks noGrp="1"/>
          </p:cNvSpPr>
          <p:nvPr>
            <p:ph idx="1"/>
          </p:nvPr>
        </p:nvSpPr>
        <p:spPr/>
        <p:txBody>
          <a:bodyPr/>
          <a:lstStyle/>
          <a:p>
            <a:pPr marL="0" indent="0">
              <a:buNone/>
            </a:pPr>
            <a:r>
              <a:rPr lang="en-US" dirty="0"/>
              <a:t>We can use several editors for HTML such as; Sublime, Notepad++, </a:t>
            </a:r>
            <a:r>
              <a:rPr lang="en-US" b="0" i="0" dirty="0">
                <a:solidFill>
                  <a:srgbClr val="000000"/>
                </a:solidFill>
                <a:effectLst/>
                <a:latin typeface="Segoe UI" panose="020B0502040204020203" pitchFamily="34" charset="0"/>
              </a:rPr>
              <a:t>TextEdit, Visual Studio Code etc</a:t>
            </a:r>
            <a:r>
              <a:rPr lang="en-US" dirty="0"/>
              <a:t>. However for the purpose of this lecture we will be using just</a:t>
            </a:r>
          </a:p>
          <a:p>
            <a:pPr marL="0" indent="0">
              <a:buNone/>
            </a:pPr>
            <a:endParaRPr lang="en-US" dirty="0"/>
          </a:p>
          <a:p>
            <a:pPr marL="0" indent="0">
              <a:buNone/>
            </a:pPr>
            <a:r>
              <a:rPr lang="en-US" dirty="0"/>
              <a:t>Sublime:</a:t>
            </a:r>
          </a:p>
          <a:p>
            <a:pPr marL="0" indent="0">
              <a:buNone/>
            </a:pPr>
            <a:r>
              <a:rPr lang="en-US" dirty="0">
                <a:hlinkClick r:id="rId2"/>
              </a:rPr>
              <a:t>https://www.sublimetext.com/download</a:t>
            </a:r>
            <a:endParaRPr lang="en-US" dirty="0"/>
          </a:p>
          <a:p>
            <a:pPr marL="0" indent="0">
              <a:buNone/>
            </a:pPr>
            <a:endParaRPr lang="en-US" dirty="0"/>
          </a:p>
          <a:p>
            <a:pPr marL="0" indent="0">
              <a:buNone/>
            </a:pPr>
            <a:r>
              <a:rPr lang="en-US" dirty="0"/>
              <a:t>VS Code:</a:t>
            </a:r>
          </a:p>
          <a:p>
            <a:pPr marL="0" indent="0">
              <a:buNone/>
            </a:pPr>
            <a:r>
              <a:rPr lang="en-US" u="sng" dirty="0">
                <a:solidFill>
                  <a:srgbClr val="FF9900"/>
                </a:solidFill>
              </a:rPr>
              <a:t>https://code.visualstudio.com</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74324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3F76B-57D5-DD13-1784-82F65E32B1CA}"/>
              </a:ext>
            </a:extLst>
          </p:cNvPr>
          <p:cNvSpPr>
            <a:spLocks noGrp="1"/>
          </p:cNvSpPr>
          <p:nvPr>
            <p:ph type="title"/>
          </p:nvPr>
        </p:nvSpPr>
        <p:spPr/>
        <p:txBody>
          <a:bodyPr/>
          <a:lstStyle/>
          <a:p>
            <a:r>
              <a:rPr lang="en-US" b="1" dirty="0">
                <a:solidFill>
                  <a:schemeClr val="tx1">
                    <a:lumMod val="75000"/>
                    <a:lumOff val="25000"/>
                  </a:schemeClr>
                </a:solidFill>
              </a:rPr>
              <a:t>INTRODUCTION TO HTML - TAGS</a:t>
            </a:r>
            <a:endParaRPr lang="en-US" dirty="0"/>
          </a:p>
        </p:txBody>
      </p:sp>
      <p:sp>
        <p:nvSpPr>
          <p:cNvPr id="3" name="Content Placeholder 2">
            <a:extLst>
              <a:ext uri="{FF2B5EF4-FFF2-40B4-BE49-F238E27FC236}">
                <a16:creationId xmlns:a16="http://schemas.microsoft.com/office/drawing/2014/main" id="{94178B85-9642-F0DD-7B9F-E06DC6AFB72A}"/>
              </a:ext>
            </a:extLst>
          </p:cNvPr>
          <p:cNvSpPr>
            <a:spLocks noGrp="1"/>
          </p:cNvSpPr>
          <p:nvPr>
            <p:ph idx="1"/>
          </p:nvPr>
        </p:nvSpPr>
        <p:spPr>
          <a:xfrm>
            <a:off x="838200" y="1825625"/>
            <a:ext cx="10515600" cy="4522012"/>
          </a:xfrm>
        </p:spPr>
        <p:txBody>
          <a:bodyPr>
            <a:noAutofit/>
          </a:bodyPr>
          <a:lstStyle/>
          <a:p>
            <a:pPr marL="285750" indent="-285750" eaLnBrk="1" fontAlgn="auto" hangingPunct="1">
              <a:buClr>
                <a:schemeClr val="bg2">
                  <a:lumMod val="25000"/>
                </a:schemeClr>
              </a:buClr>
              <a:buFont typeface="Wingdings" pitchFamily="2" charset="2"/>
              <a:buChar char="§"/>
              <a:defRPr/>
            </a:pPr>
            <a:r>
              <a:rPr lang="en-US" dirty="0">
                <a:solidFill>
                  <a:schemeClr val="tx1"/>
                </a:solidFill>
              </a:rPr>
              <a:t>HTML is used in creating documents for the web browser, it makes use of </a:t>
            </a:r>
            <a:r>
              <a:rPr lang="en-US" b="1" dirty="0">
                <a:solidFill>
                  <a:schemeClr val="tx1"/>
                </a:solidFill>
              </a:rPr>
              <a:t>tags</a:t>
            </a:r>
          </a:p>
          <a:p>
            <a:pPr marL="285750" indent="-285750" eaLnBrk="1" fontAlgn="auto" hangingPunct="1">
              <a:buClr>
                <a:schemeClr val="bg2">
                  <a:lumMod val="25000"/>
                </a:schemeClr>
              </a:buClr>
              <a:buFont typeface="Wingdings" pitchFamily="2" charset="2"/>
              <a:buChar char="§"/>
              <a:defRPr/>
            </a:pPr>
            <a:r>
              <a:rPr lang="en-US" dirty="0">
                <a:solidFill>
                  <a:schemeClr val="tx1"/>
                </a:solidFill>
              </a:rPr>
              <a:t>The different HTML tags are used to tell your browser how to display the web pages you visit</a:t>
            </a:r>
          </a:p>
          <a:p>
            <a:pPr marL="342900" indent="-342900" eaLnBrk="1" fontAlgn="auto" hangingPunct="1">
              <a:buClr>
                <a:schemeClr val="bg2">
                  <a:lumMod val="25000"/>
                </a:schemeClr>
              </a:buClr>
              <a:buFont typeface="Wingdings" pitchFamily="2" charset="2"/>
              <a:buChar char="§"/>
              <a:defRPr/>
            </a:pPr>
            <a:r>
              <a:rPr lang="en-US" dirty="0">
                <a:solidFill>
                  <a:schemeClr val="tx1"/>
                </a:solidFill>
              </a:rPr>
              <a:t>Tags are the building blocks of HTML documents. </a:t>
            </a:r>
          </a:p>
          <a:p>
            <a:pPr marL="342900" indent="-342900" eaLnBrk="1" fontAlgn="auto" hangingPunct="1">
              <a:buClr>
                <a:schemeClr val="bg2">
                  <a:lumMod val="25000"/>
                </a:schemeClr>
              </a:buClr>
              <a:buFont typeface="Wingdings" pitchFamily="2" charset="2"/>
              <a:buChar char="§"/>
              <a:defRPr/>
            </a:pPr>
            <a:r>
              <a:rPr lang="en-US" dirty="0">
                <a:solidFill>
                  <a:schemeClr val="tx1"/>
                </a:solidFill>
              </a:rPr>
              <a:t>Tags could be Non-self Closing Tags or self-closing Tags.  General Syntax is as shown below:</a:t>
            </a:r>
          </a:p>
          <a:p>
            <a:pPr marL="571500" lvl="1" indent="-342900" eaLnBrk="1" fontAlgn="auto" hangingPunct="1">
              <a:buClr>
                <a:schemeClr val="bg2">
                  <a:lumMod val="25000"/>
                </a:schemeClr>
              </a:buClr>
              <a:buFont typeface="Wingdings" pitchFamily="2" charset="2"/>
              <a:buChar char="§"/>
              <a:defRPr/>
            </a:pPr>
            <a:r>
              <a:rPr lang="en-US" sz="2800" dirty="0">
                <a:solidFill>
                  <a:schemeClr val="tx1"/>
                </a:solidFill>
              </a:rPr>
              <a:t>Non-self Closing:  </a:t>
            </a:r>
            <a:r>
              <a:rPr lang="en-US" sz="2800" dirty="0">
                <a:solidFill>
                  <a:schemeClr val="tx1"/>
                </a:solidFill>
                <a:latin typeface="Candara Light" pitchFamily="34" charset="0"/>
              </a:rPr>
              <a:t>&lt;</a:t>
            </a:r>
            <a:r>
              <a:rPr lang="en-US" sz="2800" dirty="0" err="1">
                <a:solidFill>
                  <a:schemeClr val="tx1"/>
                </a:solidFill>
                <a:latin typeface="Candara Light" pitchFamily="34" charset="0"/>
              </a:rPr>
              <a:t>tagname</a:t>
            </a:r>
            <a:r>
              <a:rPr lang="en-US" sz="2800" dirty="0">
                <a:solidFill>
                  <a:schemeClr val="tx1"/>
                </a:solidFill>
                <a:latin typeface="Candara Light" pitchFamily="34" charset="0"/>
              </a:rPr>
              <a:t>&gt; </a:t>
            </a:r>
            <a:r>
              <a:rPr lang="en-US" sz="2800" dirty="0">
                <a:solidFill>
                  <a:schemeClr val="tx1"/>
                </a:solidFill>
              </a:rPr>
              <a:t>contents</a:t>
            </a:r>
            <a:r>
              <a:rPr lang="en-US" sz="2800" dirty="0">
                <a:solidFill>
                  <a:schemeClr val="tx1"/>
                </a:solidFill>
                <a:latin typeface="Candara Light" pitchFamily="34" charset="0"/>
              </a:rPr>
              <a:t> &lt;/</a:t>
            </a:r>
            <a:r>
              <a:rPr lang="en-US" sz="2800" dirty="0" err="1">
                <a:solidFill>
                  <a:schemeClr val="tx1"/>
                </a:solidFill>
                <a:latin typeface="Candara Light" pitchFamily="34" charset="0"/>
              </a:rPr>
              <a:t>tagname</a:t>
            </a:r>
            <a:r>
              <a:rPr lang="en-US" sz="2800" dirty="0">
                <a:solidFill>
                  <a:schemeClr val="tx1"/>
                </a:solidFill>
                <a:latin typeface="Candara Light" pitchFamily="34" charset="0"/>
              </a:rPr>
              <a:t>&gt;</a:t>
            </a:r>
          </a:p>
          <a:p>
            <a:pPr marL="571500" lvl="1" indent="-342900" eaLnBrk="1" fontAlgn="auto" hangingPunct="1">
              <a:buClr>
                <a:schemeClr val="bg2">
                  <a:lumMod val="25000"/>
                </a:schemeClr>
              </a:buClr>
              <a:buFont typeface="Wingdings" pitchFamily="2" charset="2"/>
              <a:buChar char="§"/>
              <a:defRPr/>
            </a:pPr>
            <a:r>
              <a:rPr lang="en-US" sz="2800" dirty="0">
                <a:solidFill>
                  <a:schemeClr val="tx1"/>
                </a:solidFill>
              </a:rPr>
              <a:t>Self Closing : </a:t>
            </a:r>
            <a:r>
              <a:rPr lang="en-US" sz="2800" dirty="0">
                <a:solidFill>
                  <a:schemeClr val="tx1"/>
                </a:solidFill>
                <a:latin typeface="Candara Light" pitchFamily="34" charset="0"/>
              </a:rPr>
              <a:t>&lt;</a:t>
            </a:r>
            <a:r>
              <a:rPr lang="en-US" sz="2800" dirty="0" err="1">
                <a:solidFill>
                  <a:schemeClr val="tx1"/>
                </a:solidFill>
                <a:latin typeface="Candara Light" pitchFamily="34" charset="0"/>
              </a:rPr>
              <a:t>tagname</a:t>
            </a:r>
            <a:r>
              <a:rPr lang="en-US" sz="2800" dirty="0">
                <a:solidFill>
                  <a:schemeClr val="tx1"/>
                </a:solidFill>
                <a:latin typeface="Candara Light" pitchFamily="34" charset="0"/>
              </a:rPr>
              <a:t> /&gt;  </a:t>
            </a:r>
            <a:r>
              <a:rPr lang="en-US" sz="2800" b="1" dirty="0">
                <a:solidFill>
                  <a:schemeClr val="tx1"/>
                </a:solidFill>
              </a:rPr>
              <a:t>OR </a:t>
            </a:r>
            <a:r>
              <a:rPr lang="en-US" sz="2800" dirty="0">
                <a:solidFill>
                  <a:schemeClr val="tx1"/>
                </a:solidFill>
                <a:latin typeface="Candara Light" pitchFamily="34" charset="0"/>
              </a:rPr>
              <a:t>&lt; </a:t>
            </a:r>
            <a:r>
              <a:rPr lang="en-US" sz="2800" dirty="0" err="1">
                <a:solidFill>
                  <a:schemeClr val="tx1"/>
                </a:solidFill>
                <a:latin typeface="Candara Light" pitchFamily="34" charset="0"/>
              </a:rPr>
              <a:t>tagname</a:t>
            </a:r>
            <a:r>
              <a:rPr lang="en-US" sz="2800" dirty="0">
                <a:solidFill>
                  <a:schemeClr val="tx1"/>
                </a:solidFill>
                <a:latin typeface="Candara Light" pitchFamily="34" charset="0"/>
              </a:rPr>
              <a:t>&gt;</a:t>
            </a:r>
          </a:p>
          <a:p>
            <a:pPr marL="0" indent="0">
              <a:buNone/>
            </a:pPr>
            <a:endParaRPr lang="en-US" dirty="0"/>
          </a:p>
        </p:txBody>
      </p:sp>
    </p:spTree>
    <p:extLst>
      <p:ext uri="{BB962C8B-B14F-4D97-AF65-F5344CB8AC3E}">
        <p14:creationId xmlns:p14="http://schemas.microsoft.com/office/powerpoint/2010/main" val="2793267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74B89-1405-333F-5EA8-02B8973504A5}"/>
              </a:ext>
            </a:extLst>
          </p:cNvPr>
          <p:cNvSpPr>
            <a:spLocks noGrp="1"/>
          </p:cNvSpPr>
          <p:nvPr>
            <p:ph type="title"/>
          </p:nvPr>
        </p:nvSpPr>
        <p:spPr/>
        <p:txBody>
          <a:bodyPr/>
          <a:lstStyle/>
          <a:p>
            <a:r>
              <a:rPr lang="en-US" b="1" dirty="0">
                <a:solidFill>
                  <a:schemeClr val="tx1">
                    <a:lumMod val="75000"/>
                    <a:lumOff val="25000"/>
                  </a:schemeClr>
                </a:solidFill>
              </a:rPr>
              <a:t>Types of HTML Element</a:t>
            </a:r>
            <a:endParaRPr lang="en-US" dirty="0"/>
          </a:p>
        </p:txBody>
      </p:sp>
      <p:sp>
        <p:nvSpPr>
          <p:cNvPr id="3" name="Content Placeholder 2">
            <a:extLst>
              <a:ext uri="{FF2B5EF4-FFF2-40B4-BE49-F238E27FC236}">
                <a16:creationId xmlns:a16="http://schemas.microsoft.com/office/drawing/2014/main" id="{47035E99-3831-A0FD-CE41-98666972EBD2}"/>
              </a:ext>
            </a:extLst>
          </p:cNvPr>
          <p:cNvSpPr>
            <a:spLocks noGrp="1"/>
          </p:cNvSpPr>
          <p:nvPr>
            <p:ph idx="1"/>
          </p:nvPr>
        </p:nvSpPr>
        <p:spPr/>
        <p:txBody>
          <a:bodyPr/>
          <a:lstStyle/>
          <a:p>
            <a:r>
              <a:rPr lang="en-US" sz="2800" dirty="0">
                <a:solidFill>
                  <a:schemeClr val="tx1"/>
                </a:solidFill>
              </a:rPr>
              <a:t>An element is a tags plus content </a:t>
            </a:r>
          </a:p>
          <a:p>
            <a:pPr marL="0" indent="0">
              <a:buNone/>
            </a:pPr>
            <a:endParaRPr lang="en-US" dirty="0"/>
          </a:p>
        </p:txBody>
      </p:sp>
      <p:pic>
        <p:nvPicPr>
          <p:cNvPr id="4" name="Picture 3">
            <a:extLst>
              <a:ext uri="{FF2B5EF4-FFF2-40B4-BE49-F238E27FC236}">
                <a16:creationId xmlns:a16="http://schemas.microsoft.com/office/drawing/2014/main" id="{4A9C692A-1EF0-7A20-0ABA-88D00DDC3EE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6418" y="2734946"/>
            <a:ext cx="10187712" cy="2581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2957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734F0-8BF9-8341-0858-2BCE8B824514}"/>
              </a:ext>
            </a:extLst>
          </p:cNvPr>
          <p:cNvSpPr>
            <a:spLocks noGrp="1"/>
          </p:cNvSpPr>
          <p:nvPr>
            <p:ph type="title"/>
          </p:nvPr>
        </p:nvSpPr>
        <p:spPr>
          <a:xfrm>
            <a:off x="838200" y="18255"/>
            <a:ext cx="10515600" cy="779187"/>
          </a:xfrm>
        </p:spPr>
        <p:txBody>
          <a:bodyPr/>
          <a:lstStyle/>
          <a:p>
            <a:r>
              <a:rPr lang="en-US" u="sng" dirty="0"/>
              <a:t>What is an HTML Element?</a:t>
            </a:r>
          </a:p>
        </p:txBody>
      </p:sp>
      <p:sp>
        <p:nvSpPr>
          <p:cNvPr id="3" name="Content Placeholder 2">
            <a:extLst>
              <a:ext uri="{FF2B5EF4-FFF2-40B4-BE49-F238E27FC236}">
                <a16:creationId xmlns:a16="http://schemas.microsoft.com/office/drawing/2014/main" id="{C0311806-EF08-3125-1938-2046916DEAEC}"/>
              </a:ext>
            </a:extLst>
          </p:cNvPr>
          <p:cNvSpPr>
            <a:spLocks noGrp="1"/>
          </p:cNvSpPr>
          <p:nvPr>
            <p:ph idx="1"/>
          </p:nvPr>
        </p:nvSpPr>
        <p:spPr>
          <a:xfrm>
            <a:off x="933893" y="932490"/>
            <a:ext cx="10515600" cy="5627798"/>
          </a:xfrm>
        </p:spPr>
        <p:txBody>
          <a:bodyPr>
            <a:noAutofit/>
          </a:bodyPr>
          <a:lstStyle/>
          <a:p>
            <a:pPr marL="0" indent="0">
              <a:lnSpc>
                <a:spcPct val="100000"/>
              </a:lnSpc>
              <a:buNone/>
            </a:pPr>
            <a:r>
              <a:rPr lang="en-US" dirty="0"/>
              <a:t>An HTML element is defined by a opening tag, some content, and a closing tag:</a:t>
            </a:r>
          </a:p>
          <a:p>
            <a:pPr marL="2286000" lvl="5" indent="0">
              <a:lnSpc>
                <a:spcPct val="100000"/>
              </a:lnSpc>
              <a:buNone/>
            </a:pPr>
            <a:r>
              <a:rPr lang="en-US" sz="2800" b="1" dirty="0"/>
              <a:t>&lt;&gt; … &lt;/&gt;</a:t>
            </a:r>
          </a:p>
          <a:p>
            <a:pPr marL="0" indent="0">
              <a:lnSpc>
                <a:spcPct val="100000"/>
              </a:lnSpc>
              <a:buNone/>
            </a:pPr>
            <a:r>
              <a:rPr lang="en-US" dirty="0"/>
              <a:t>&lt;</a:t>
            </a:r>
            <a:r>
              <a:rPr lang="en-US" dirty="0" err="1"/>
              <a:t>tagname</a:t>
            </a:r>
            <a:r>
              <a:rPr lang="en-US" dirty="0"/>
              <a:t>&gt; Content goes here... &lt;/</a:t>
            </a:r>
            <a:r>
              <a:rPr lang="en-US" dirty="0" err="1"/>
              <a:t>tagname</a:t>
            </a:r>
            <a:r>
              <a:rPr lang="en-US" dirty="0"/>
              <a:t>&gt;</a:t>
            </a:r>
          </a:p>
          <a:p>
            <a:pPr marL="0" indent="0">
              <a:lnSpc>
                <a:spcPct val="100000"/>
              </a:lnSpc>
              <a:buNone/>
            </a:pPr>
            <a:r>
              <a:rPr lang="en-US" dirty="0"/>
              <a:t>The HTML element is everything from the start tag to the end tag:</a:t>
            </a:r>
          </a:p>
          <a:p>
            <a:pPr marL="1371600" lvl="3" indent="0">
              <a:lnSpc>
                <a:spcPct val="100000"/>
              </a:lnSpc>
              <a:buNone/>
            </a:pPr>
            <a:r>
              <a:rPr lang="en-US" sz="2800" dirty="0"/>
              <a:t>&lt;h1&gt;My First Heading&lt;/h1&gt;</a:t>
            </a:r>
          </a:p>
          <a:p>
            <a:pPr marL="1371600" lvl="3" indent="0">
              <a:lnSpc>
                <a:spcPct val="100000"/>
              </a:lnSpc>
              <a:buNone/>
            </a:pPr>
            <a:r>
              <a:rPr lang="en-US" sz="2800" dirty="0"/>
              <a:t>&lt;p&gt;My first paragraph.&lt;/p&gt;</a:t>
            </a:r>
          </a:p>
          <a:p>
            <a:pPr marL="0" indent="0">
              <a:lnSpc>
                <a:spcPct val="100000"/>
              </a:lnSpc>
              <a:buNone/>
            </a:pPr>
            <a:r>
              <a:rPr lang="en-US" b="1" dirty="0"/>
              <a:t>Some HTML elements will display correctly, even if you forget the closing tag. However, never rely on this! Unexpected results and errors may occur if you forget the end tag!</a:t>
            </a:r>
          </a:p>
          <a:p>
            <a:pPr marL="0" indent="0">
              <a:lnSpc>
                <a:spcPct val="100000"/>
              </a:lnSpc>
              <a:buNone/>
            </a:pPr>
            <a:r>
              <a:rPr lang="en-US" dirty="0"/>
              <a:t>HTML can be Semantic and Non-semantic.</a:t>
            </a:r>
          </a:p>
        </p:txBody>
      </p:sp>
    </p:spTree>
    <p:extLst>
      <p:ext uri="{BB962C8B-B14F-4D97-AF65-F5344CB8AC3E}">
        <p14:creationId xmlns:p14="http://schemas.microsoft.com/office/powerpoint/2010/main" val="397180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055362-CAB2-F2A7-A84E-E2DD4ED87D3A}"/>
              </a:ext>
            </a:extLst>
          </p:cNvPr>
          <p:cNvSpPr>
            <a:spLocks noGrp="1"/>
          </p:cNvSpPr>
          <p:nvPr>
            <p:ph idx="1"/>
          </p:nvPr>
        </p:nvSpPr>
        <p:spPr>
          <a:xfrm>
            <a:off x="138224" y="303027"/>
            <a:ext cx="4444409" cy="6251945"/>
          </a:xfrm>
        </p:spPr>
        <p:txBody>
          <a:bodyPr>
            <a:normAutofit fontScale="92500" lnSpcReduction="10000"/>
          </a:bodyPr>
          <a:lstStyle/>
          <a:p>
            <a:pPr marL="0" indent="0">
              <a:buNone/>
            </a:pPr>
            <a:r>
              <a:rPr lang="en-US" b="0" i="0" dirty="0">
                <a:solidFill>
                  <a:srgbClr val="000000"/>
                </a:solidFill>
                <a:effectLst/>
                <a:latin typeface="Inter"/>
              </a:rPr>
              <a:t>Semantic HTML refers to the use of HTML tags that convey the meaning—or semantics—of the content contained within them.</a:t>
            </a:r>
          </a:p>
          <a:p>
            <a:pPr algn="l"/>
            <a:r>
              <a:rPr lang="en-US" b="0" i="0" dirty="0">
                <a:solidFill>
                  <a:srgbClr val="000000"/>
                </a:solidFill>
                <a:effectLst/>
                <a:latin typeface="Inter"/>
              </a:rPr>
              <a:t>By adding semantic HTML tags to your pages, you provide additional information that helps define the roles and relative importance of the different parts of your page.</a:t>
            </a:r>
          </a:p>
          <a:p>
            <a:pPr algn="l"/>
            <a:r>
              <a:rPr lang="en-US" b="0" i="0" dirty="0">
                <a:solidFill>
                  <a:srgbClr val="000000"/>
                </a:solidFill>
                <a:effectLst/>
                <a:latin typeface="Inter"/>
              </a:rPr>
              <a:t>(As opposed to non-semantic HTML, which uses tags that don’t directly convey meaning.)</a:t>
            </a:r>
          </a:p>
          <a:p>
            <a:pPr marL="0" indent="0">
              <a:buNone/>
            </a:pPr>
            <a:endParaRPr lang="en-US" dirty="0"/>
          </a:p>
        </p:txBody>
      </p:sp>
      <p:pic>
        <p:nvPicPr>
          <p:cNvPr id="7" name="Picture 6">
            <a:extLst>
              <a:ext uri="{FF2B5EF4-FFF2-40B4-BE49-F238E27FC236}">
                <a16:creationId xmlns:a16="http://schemas.microsoft.com/office/drawing/2014/main" id="{A1D3D744-0251-0501-DF82-4A74997932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8958" y="244548"/>
            <a:ext cx="7503042" cy="6554973"/>
          </a:xfrm>
          <a:prstGeom prst="rect">
            <a:avLst/>
          </a:prstGeom>
        </p:spPr>
      </p:pic>
    </p:spTree>
    <p:extLst>
      <p:ext uri="{BB962C8B-B14F-4D97-AF65-F5344CB8AC3E}">
        <p14:creationId xmlns:p14="http://schemas.microsoft.com/office/powerpoint/2010/main" val="168450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481F7-8FBF-10FE-3F6F-939AADD2192F}"/>
              </a:ext>
            </a:extLst>
          </p:cNvPr>
          <p:cNvSpPr>
            <a:spLocks noGrp="1"/>
          </p:cNvSpPr>
          <p:nvPr>
            <p:ph type="title"/>
          </p:nvPr>
        </p:nvSpPr>
        <p:spPr>
          <a:xfrm>
            <a:off x="838200" y="1"/>
            <a:ext cx="10515600" cy="1041990"/>
          </a:xfrm>
        </p:spPr>
        <p:txBody>
          <a:bodyPr>
            <a:normAutofit/>
          </a:bodyPr>
          <a:lstStyle/>
          <a:p>
            <a:r>
              <a:rPr lang="en-US" sz="4000" b="1" dirty="0">
                <a:solidFill>
                  <a:schemeClr val="tx1">
                    <a:lumMod val="75000"/>
                    <a:lumOff val="25000"/>
                  </a:schemeClr>
                </a:solidFill>
                <a:cs typeface="Segoe UI Light" panose="020B0502040204020203" pitchFamily="34" charset="0"/>
              </a:rPr>
              <a:t>Understanding the Anatomy of an HTML Document</a:t>
            </a:r>
            <a:endParaRPr lang="en-US" sz="4000" dirty="0"/>
          </a:p>
        </p:txBody>
      </p:sp>
      <p:sp>
        <p:nvSpPr>
          <p:cNvPr id="3" name="Content Placeholder 2">
            <a:extLst>
              <a:ext uri="{FF2B5EF4-FFF2-40B4-BE49-F238E27FC236}">
                <a16:creationId xmlns:a16="http://schemas.microsoft.com/office/drawing/2014/main" id="{7AA20950-C0A3-F822-FB8E-37ECE7FFC0D7}"/>
              </a:ext>
            </a:extLst>
          </p:cNvPr>
          <p:cNvSpPr>
            <a:spLocks noGrp="1"/>
          </p:cNvSpPr>
          <p:nvPr>
            <p:ph idx="1"/>
          </p:nvPr>
        </p:nvSpPr>
        <p:spPr>
          <a:xfrm>
            <a:off x="838200" y="1041991"/>
            <a:ext cx="4828953" cy="5486400"/>
          </a:xfrm>
        </p:spPr>
        <p:txBody>
          <a:bodyPr>
            <a:normAutofit/>
          </a:bodyPr>
          <a:lstStyle/>
          <a:p>
            <a:pPr marL="0" indent="0">
              <a:buNone/>
            </a:pPr>
            <a:r>
              <a:rPr lang="en-US" altLang="en-US" sz="2800" dirty="0">
                <a:solidFill>
                  <a:schemeClr val="tx1"/>
                </a:solidFill>
                <a:cs typeface="Segoe UI Light" panose="020B0502040204020203" pitchFamily="34" charset="0"/>
              </a:rPr>
              <a:t>All web pages no matter how simple or complex have a structure similar to:</a:t>
            </a:r>
          </a:p>
          <a:p>
            <a:pPr marL="0" indent="0">
              <a:buNone/>
            </a:pPr>
            <a:endParaRPr lang="en-US" altLang="en-US" sz="2400" dirty="0">
              <a:solidFill>
                <a:schemeClr val="tx1"/>
              </a:solidFill>
              <a:cs typeface="Segoe UI Light" panose="020B0502040204020203" pitchFamily="34" charset="0"/>
            </a:endParaRPr>
          </a:p>
          <a:p>
            <a:pPr marL="0" indent="0" eaLnBrk="1" fontAlgn="auto" hangingPunct="1">
              <a:spcBef>
                <a:spcPts val="0"/>
              </a:spcBef>
              <a:spcAft>
                <a:spcPts val="0"/>
              </a:spcAft>
              <a:buNone/>
              <a:defRPr/>
            </a:pPr>
            <a:r>
              <a:rPr lang="en-US" sz="2400" b="1" dirty="0">
                <a:solidFill>
                  <a:schemeClr val="accent2">
                    <a:lumMod val="50000"/>
                  </a:schemeClr>
                </a:solidFill>
                <a:latin typeface="Candara Light" pitchFamily="34" charset="0"/>
                <a:cs typeface="+mn-cs"/>
              </a:rPr>
              <a:t>&lt;!DOCTYPE html&gt;</a:t>
            </a:r>
          </a:p>
          <a:p>
            <a:pPr marL="0" indent="0" eaLnBrk="1" fontAlgn="auto" hangingPunct="1">
              <a:spcBef>
                <a:spcPts val="0"/>
              </a:spcBef>
              <a:spcAft>
                <a:spcPts val="0"/>
              </a:spcAft>
              <a:buNone/>
              <a:defRPr/>
            </a:pPr>
            <a:r>
              <a:rPr lang="en-US" sz="2400" b="1" dirty="0">
                <a:solidFill>
                  <a:schemeClr val="accent2">
                    <a:lumMod val="50000"/>
                  </a:schemeClr>
                </a:solidFill>
                <a:latin typeface="Candara Light" pitchFamily="34" charset="0"/>
                <a:cs typeface="+mn-cs"/>
              </a:rPr>
              <a:t>&lt;html&gt;</a:t>
            </a:r>
          </a:p>
          <a:p>
            <a:pPr marL="457200" lvl="1" indent="0" eaLnBrk="1" fontAlgn="auto" hangingPunct="1">
              <a:spcBef>
                <a:spcPts val="0"/>
              </a:spcBef>
              <a:spcAft>
                <a:spcPts val="0"/>
              </a:spcAft>
              <a:buNone/>
              <a:defRPr/>
            </a:pPr>
            <a:r>
              <a:rPr lang="en-US" b="1" dirty="0">
                <a:solidFill>
                  <a:schemeClr val="accent1">
                    <a:lumMod val="50000"/>
                  </a:schemeClr>
                </a:solidFill>
                <a:latin typeface="Candara Light" pitchFamily="34" charset="0"/>
                <a:cs typeface="+mn-cs"/>
              </a:rPr>
              <a:t>&lt;head&gt; </a:t>
            </a:r>
          </a:p>
          <a:p>
            <a:pPr marL="457200" lvl="1" indent="0" eaLnBrk="1" fontAlgn="auto" hangingPunct="1">
              <a:spcBef>
                <a:spcPts val="0"/>
              </a:spcBef>
              <a:spcAft>
                <a:spcPts val="0"/>
              </a:spcAft>
              <a:buNone/>
              <a:defRPr/>
            </a:pPr>
            <a:r>
              <a:rPr lang="en-US" b="1" dirty="0">
                <a:solidFill>
                  <a:schemeClr val="accent2">
                    <a:lumMod val="50000"/>
                  </a:schemeClr>
                </a:solidFill>
                <a:latin typeface="Candara Light" pitchFamily="34" charset="0"/>
                <a:cs typeface="+mn-cs"/>
              </a:rPr>
              <a:t>	</a:t>
            </a:r>
            <a:r>
              <a:rPr lang="en-US" b="1" dirty="0">
                <a:solidFill>
                  <a:srgbClr val="0070C0"/>
                </a:solidFill>
                <a:latin typeface="Candara Light" pitchFamily="34" charset="0"/>
                <a:cs typeface="+mn-cs"/>
              </a:rPr>
              <a:t>&lt;title&gt;</a:t>
            </a:r>
          </a:p>
          <a:p>
            <a:pPr marL="457200" lvl="1" indent="0" eaLnBrk="1" fontAlgn="auto" hangingPunct="1">
              <a:spcBef>
                <a:spcPts val="0"/>
              </a:spcBef>
              <a:spcAft>
                <a:spcPts val="0"/>
              </a:spcAft>
              <a:buNone/>
              <a:defRPr/>
            </a:pPr>
            <a:r>
              <a:rPr lang="en-US" b="1" dirty="0">
                <a:solidFill>
                  <a:schemeClr val="accent2">
                    <a:lumMod val="50000"/>
                  </a:schemeClr>
                </a:solidFill>
                <a:latin typeface="Candara Light" pitchFamily="34" charset="0"/>
                <a:cs typeface="+mn-cs"/>
              </a:rPr>
              <a:t>	</a:t>
            </a:r>
            <a:r>
              <a:rPr lang="en-US" b="1" dirty="0">
                <a:latin typeface="Candara Light" pitchFamily="34" charset="0"/>
                <a:cs typeface="+mn-cs"/>
              </a:rPr>
              <a:t>My New Webpage</a:t>
            </a:r>
          </a:p>
          <a:p>
            <a:pPr marL="457200" lvl="1" indent="0" eaLnBrk="1" fontAlgn="auto" hangingPunct="1">
              <a:spcBef>
                <a:spcPts val="0"/>
              </a:spcBef>
              <a:spcAft>
                <a:spcPts val="0"/>
              </a:spcAft>
              <a:buNone/>
              <a:defRPr/>
            </a:pPr>
            <a:r>
              <a:rPr lang="en-US" b="1" dirty="0">
                <a:solidFill>
                  <a:schemeClr val="accent2">
                    <a:lumMod val="50000"/>
                  </a:schemeClr>
                </a:solidFill>
                <a:latin typeface="Candara Light" pitchFamily="34" charset="0"/>
                <a:cs typeface="+mn-cs"/>
              </a:rPr>
              <a:t>	</a:t>
            </a:r>
            <a:r>
              <a:rPr lang="en-US" b="1" dirty="0">
                <a:solidFill>
                  <a:srgbClr val="0070C0"/>
                </a:solidFill>
                <a:latin typeface="Candara Light" pitchFamily="34" charset="0"/>
                <a:cs typeface="+mn-cs"/>
              </a:rPr>
              <a:t>&lt;/title&gt; </a:t>
            </a:r>
          </a:p>
          <a:p>
            <a:pPr marL="457200" lvl="1" indent="0" eaLnBrk="1" fontAlgn="auto" hangingPunct="1">
              <a:spcBef>
                <a:spcPts val="0"/>
              </a:spcBef>
              <a:spcAft>
                <a:spcPts val="0"/>
              </a:spcAft>
              <a:buNone/>
              <a:defRPr/>
            </a:pPr>
            <a:r>
              <a:rPr lang="en-US" b="1" dirty="0">
                <a:solidFill>
                  <a:schemeClr val="accent1">
                    <a:lumMod val="50000"/>
                  </a:schemeClr>
                </a:solidFill>
                <a:latin typeface="Candara Light" pitchFamily="34" charset="0"/>
                <a:cs typeface="+mn-cs"/>
              </a:rPr>
              <a:t>&lt;/head&gt;</a:t>
            </a:r>
          </a:p>
          <a:p>
            <a:pPr marL="457200" lvl="1" indent="0" eaLnBrk="1" fontAlgn="auto" hangingPunct="1">
              <a:spcBef>
                <a:spcPts val="0"/>
              </a:spcBef>
              <a:spcAft>
                <a:spcPts val="0"/>
              </a:spcAft>
              <a:buNone/>
              <a:defRPr/>
            </a:pPr>
            <a:r>
              <a:rPr lang="en-US" b="1" dirty="0">
                <a:solidFill>
                  <a:schemeClr val="accent1">
                    <a:lumMod val="50000"/>
                  </a:schemeClr>
                </a:solidFill>
                <a:latin typeface="Candara Light" pitchFamily="34" charset="0"/>
                <a:cs typeface="+mn-cs"/>
              </a:rPr>
              <a:t>&lt;body&gt;</a:t>
            </a:r>
          </a:p>
          <a:p>
            <a:pPr marL="0" indent="0" eaLnBrk="1" fontAlgn="auto" hangingPunct="1">
              <a:spcBef>
                <a:spcPts val="0"/>
              </a:spcBef>
              <a:spcAft>
                <a:spcPts val="0"/>
              </a:spcAft>
              <a:buNone/>
              <a:defRPr/>
            </a:pPr>
            <a:r>
              <a:rPr lang="en-US" sz="2400" b="1" dirty="0">
                <a:solidFill>
                  <a:schemeClr val="accent2">
                    <a:lumMod val="50000"/>
                  </a:schemeClr>
                </a:solidFill>
                <a:latin typeface="Candara Light" pitchFamily="34" charset="0"/>
                <a:cs typeface="+mn-cs"/>
              </a:rPr>
              <a:t>	</a:t>
            </a:r>
          </a:p>
          <a:p>
            <a:pPr marL="457200" lvl="1" indent="0" eaLnBrk="1" fontAlgn="auto" hangingPunct="1">
              <a:spcBef>
                <a:spcPts val="0"/>
              </a:spcBef>
              <a:spcAft>
                <a:spcPts val="0"/>
              </a:spcAft>
              <a:buNone/>
              <a:defRPr/>
            </a:pPr>
            <a:r>
              <a:rPr lang="en-US" b="1" dirty="0">
                <a:solidFill>
                  <a:schemeClr val="accent1">
                    <a:lumMod val="50000"/>
                  </a:schemeClr>
                </a:solidFill>
                <a:latin typeface="Candara Light" pitchFamily="34" charset="0"/>
                <a:cs typeface="+mn-cs"/>
              </a:rPr>
              <a:t>&lt;/body&gt;</a:t>
            </a:r>
          </a:p>
          <a:p>
            <a:pPr marL="0" indent="0" eaLnBrk="1" fontAlgn="auto" hangingPunct="1">
              <a:spcBef>
                <a:spcPts val="0"/>
              </a:spcBef>
              <a:spcAft>
                <a:spcPts val="0"/>
              </a:spcAft>
              <a:buNone/>
              <a:defRPr/>
            </a:pPr>
            <a:r>
              <a:rPr lang="en-US" sz="2400" b="1" dirty="0">
                <a:solidFill>
                  <a:schemeClr val="accent2">
                    <a:lumMod val="50000"/>
                  </a:schemeClr>
                </a:solidFill>
                <a:latin typeface="Candara Light" pitchFamily="34" charset="0"/>
                <a:cs typeface="+mn-cs"/>
              </a:rPr>
              <a:t>&lt;/html&gt;</a:t>
            </a:r>
          </a:p>
          <a:p>
            <a:pPr marL="0" indent="0">
              <a:buNone/>
            </a:pPr>
            <a:endParaRPr lang="en-US" altLang="en-US" sz="2800" dirty="0">
              <a:solidFill>
                <a:schemeClr val="tx1"/>
              </a:solidFill>
              <a:cs typeface="Segoe UI Light" panose="020B0502040204020203" pitchFamily="34" charset="0"/>
            </a:endParaRPr>
          </a:p>
          <a:p>
            <a:pPr marL="0" indent="0" eaLnBrk="1" hangingPunct="1">
              <a:buNone/>
            </a:pPr>
            <a:endParaRPr lang="en-US" altLang="en-US" sz="2800" dirty="0">
              <a:solidFill>
                <a:schemeClr val="tx1"/>
              </a:solidFill>
              <a:cs typeface="Segoe UI Light" panose="020B0502040204020203" pitchFamily="34" charset="0"/>
            </a:endParaRPr>
          </a:p>
        </p:txBody>
      </p:sp>
      <p:sp>
        <p:nvSpPr>
          <p:cNvPr id="4" name="Content Placeholder 2">
            <a:extLst>
              <a:ext uri="{FF2B5EF4-FFF2-40B4-BE49-F238E27FC236}">
                <a16:creationId xmlns:a16="http://schemas.microsoft.com/office/drawing/2014/main" id="{7EE842C2-A610-20FA-E797-1BB1655A2D31}"/>
              </a:ext>
            </a:extLst>
          </p:cNvPr>
          <p:cNvSpPr txBox="1">
            <a:spLocks/>
          </p:cNvSpPr>
          <p:nvPr/>
        </p:nvSpPr>
        <p:spPr>
          <a:xfrm>
            <a:off x="5165651" y="2006379"/>
            <a:ext cx="6689651" cy="44050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fontAlgn="auto">
              <a:lnSpc>
                <a:spcPct val="100000"/>
              </a:lnSpc>
              <a:buClr>
                <a:schemeClr val="bg2">
                  <a:lumMod val="25000"/>
                </a:schemeClr>
              </a:buClr>
              <a:buFont typeface="Wingdings" pitchFamily="2" charset="2"/>
              <a:buChar char="§"/>
              <a:defRPr/>
            </a:pPr>
            <a:r>
              <a:rPr lang="en-US" sz="2800" i="1" dirty="0"/>
              <a:t>Take note of the HEAD and BODY – don’t human beings have HEAD and BODY too?</a:t>
            </a:r>
          </a:p>
          <a:p>
            <a:pPr marL="285750" indent="-285750" fontAlgn="auto">
              <a:lnSpc>
                <a:spcPct val="100000"/>
              </a:lnSpc>
              <a:buClr>
                <a:schemeClr val="bg2">
                  <a:lumMod val="25000"/>
                </a:schemeClr>
              </a:buClr>
              <a:buFont typeface="Wingdings" pitchFamily="2" charset="2"/>
              <a:buChar char="§"/>
              <a:defRPr/>
            </a:pPr>
            <a:r>
              <a:rPr lang="en-US" sz="2800" dirty="0"/>
              <a:t>The &lt;head&gt; tag contains other tags that give information to the browser about the document.</a:t>
            </a:r>
          </a:p>
          <a:p>
            <a:pPr marL="342900" indent="-342900" fontAlgn="auto">
              <a:lnSpc>
                <a:spcPct val="100000"/>
              </a:lnSpc>
              <a:buClr>
                <a:schemeClr val="bg2">
                  <a:lumMod val="25000"/>
                </a:schemeClr>
              </a:buClr>
              <a:buFont typeface="Wingdings" pitchFamily="2" charset="2"/>
              <a:buChar char="§"/>
              <a:defRPr/>
            </a:pPr>
            <a:r>
              <a:rPr lang="en-US" sz="2800" dirty="0"/>
              <a:t>Notable in the head section are: the &lt;title&gt; tag and various &lt;meta&gt; tags</a:t>
            </a:r>
            <a:endParaRPr lang="en-US" sz="2800" i="1" dirty="0">
              <a:cs typeface="Segoe UI Light" panose="020B0502040204020203" pitchFamily="34" charset="0"/>
            </a:endParaRPr>
          </a:p>
        </p:txBody>
      </p:sp>
    </p:spTree>
    <p:extLst>
      <p:ext uri="{BB962C8B-B14F-4D97-AF65-F5344CB8AC3E}">
        <p14:creationId xmlns:p14="http://schemas.microsoft.com/office/powerpoint/2010/main" val="2608825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FBCC2-81A8-4224-267C-808AE98B3674}"/>
              </a:ext>
            </a:extLst>
          </p:cNvPr>
          <p:cNvSpPr>
            <a:spLocks noGrp="1"/>
          </p:cNvSpPr>
          <p:nvPr>
            <p:ph type="title"/>
          </p:nvPr>
        </p:nvSpPr>
        <p:spPr/>
        <p:txBody>
          <a:bodyPr/>
          <a:lstStyle/>
          <a:p>
            <a:r>
              <a:rPr lang="en-US" altLang="en-US" sz="4400" b="1" dirty="0">
                <a:solidFill>
                  <a:schemeClr val="tx2"/>
                </a:solidFill>
              </a:rPr>
              <a:t>THE &lt;!DOCTYPE&gt; DECLARATION</a:t>
            </a:r>
            <a:br>
              <a:rPr lang="en-US" altLang="en-US" sz="4400" b="1" dirty="0">
                <a:solidFill>
                  <a:schemeClr val="tx2"/>
                </a:solidFill>
              </a:rPr>
            </a:br>
            <a:endParaRPr lang="en-US" dirty="0"/>
          </a:p>
        </p:txBody>
      </p:sp>
      <p:sp>
        <p:nvSpPr>
          <p:cNvPr id="3" name="Content Placeholder 2">
            <a:extLst>
              <a:ext uri="{FF2B5EF4-FFF2-40B4-BE49-F238E27FC236}">
                <a16:creationId xmlns:a16="http://schemas.microsoft.com/office/drawing/2014/main" id="{B1EEC6C4-FB3C-F6A9-2895-8EA4BE44949F}"/>
              </a:ext>
            </a:extLst>
          </p:cNvPr>
          <p:cNvSpPr>
            <a:spLocks noGrp="1"/>
          </p:cNvSpPr>
          <p:nvPr>
            <p:ph idx="1"/>
          </p:nvPr>
        </p:nvSpPr>
        <p:spPr/>
        <p:txBody>
          <a:bodyPr>
            <a:normAutofit/>
          </a:bodyPr>
          <a:lstStyle/>
          <a:p>
            <a:pPr marL="285750" indent="-285750" eaLnBrk="1" fontAlgn="auto" hangingPunct="1">
              <a:spcBef>
                <a:spcPts val="1000"/>
              </a:spcBef>
              <a:spcAft>
                <a:spcPts val="1200"/>
              </a:spcAft>
              <a:buClr>
                <a:schemeClr val="bg2">
                  <a:lumMod val="25000"/>
                </a:schemeClr>
              </a:buClr>
              <a:buFont typeface="Wingdings" pitchFamily="2" charset="2"/>
              <a:buChar char="§"/>
              <a:defRPr/>
            </a:pPr>
            <a:r>
              <a:rPr lang="en-US" dirty="0">
                <a:solidFill>
                  <a:schemeClr val="tx1">
                    <a:lumMod val="75000"/>
                    <a:lumOff val="25000"/>
                  </a:schemeClr>
                </a:solidFill>
                <a:latin typeface="Corbel" panose="020B0503020204020204" pitchFamily="34" charset="0"/>
                <a:cs typeface="+mn-cs"/>
              </a:rPr>
              <a:t>The &lt;!DOCTYPE&gt; declaration represents the document type, and helps browsers to display web pages correctly. </a:t>
            </a:r>
          </a:p>
          <a:p>
            <a:pPr marL="285750" indent="-285750" eaLnBrk="1" fontAlgn="auto" hangingPunct="1">
              <a:spcBef>
                <a:spcPts val="1000"/>
              </a:spcBef>
              <a:spcAft>
                <a:spcPts val="1200"/>
              </a:spcAft>
              <a:buClr>
                <a:schemeClr val="bg2">
                  <a:lumMod val="25000"/>
                </a:schemeClr>
              </a:buClr>
              <a:buFont typeface="Wingdings" pitchFamily="2" charset="2"/>
              <a:buChar char="§"/>
              <a:defRPr/>
            </a:pPr>
            <a:r>
              <a:rPr lang="en-US" dirty="0">
                <a:solidFill>
                  <a:schemeClr val="tx1">
                    <a:lumMod val="75000"/>
                    <a:lumOff val="25000"/>
                  </a:schemeClr>
                </a:solidFill>
                <a:latin typeface="Corbel" panose="020B0503020204020204" pitchFamily="34" charset="0"/>
                <a:cs typeface="+mn-cs"/>
              </a:rPr>
              <a:t>It must only appear once, at the top of the page (before any HTML tags).</a:t>
            </a:r>
          </a:p>
          <a:p>
            <a:pPr marL="285750" indent="-285750" eaLnBrk="1" fontAlgn="auto" hangingPunct="1">
              <a:spcBef>
                <a:spcPts val="1000"/>
              </a:spcBef>
              <a:spcAft>
                <a:spcPts val="1200"/>
              </a:spcAft>
              <a:buClr>
                <a:schemeClr val="bg2">
                  <a:lumMod val="25000"/>
                </a:schemeClr>
              </a:buClr>
              <a:buFont typeface="Wingdings" pitchFamily="2" charset="2"/>
              <a:buChar char="§"/>
              <a:defRPr/>
            </a:pPr>
            <a:r>
              <a:rPr lang="en-US" dirty="0">
                <a:solidFill>
                  <a:schemeClr val="tx1">
                    <a:lumMod val="75000"/>
                    <a:lumOff val="25000"/>
                  </a:schemeClr>
                </a:solidFill>
                <a:latin typeface="Corbel" panose="020B0503020204020204" pitchFamily="34" charset="0"/>
                <a:cs typeface="+mn-cs"/>
              </a:rPr>
              <a:t>The &lt;!DOCTYPE&gt; declaration is not case sensitive.</a:t>
            </a:r>
          </a:p>
          <a:p>
            <a:pPr marL="285750" indent="-285750" eaLnBrk="1" fontAlgn="auto" hangingPunct="1">
              <a:spcBef>
                <a:spcPts val="1000"/>
              </a:spcBef>
              <a:spcAft>
                <a:spcPts val="1200"/>
              </a:spcAft>
              <a:buClr>
                <a:schemeClr val="bg2">
                  <a:lumMod val="25000"/>
                </a:schemeClr>
              </a:buClr>
              <a:buFont typeface="Wingdings" pitchFamily="2" charset="2"/>
              <a:buChar char="§"/>
              <a:defRPr/>
            </a:pPr>
            <a:r>
              <a:rPr lang="en-US" dirty="0">
                <a:solidFill>
                  <a:schemeClr val="tx1">
                    <a:lumMod val="75000"/>
                    <a:lumOff val="25000"/>
                  </a:schemeClr>
                </a:solidFill>
                <a:latin typeface="Corbel" panose="020B0503020204020204" pitchFamily="34" charset="0"/>
                <a:cs typeface="+mn-cs"/>
              </a:rPr>
              <a:t>The &lt;!DOCTYPE&gt; declaration for HTML5 is:</a:t>
            </a:r>
            <a:endParaRPr lang="en-US" dirty="0">
              <a:solidFill>
                <a:schemeClr val="tx1">
                  <a:lumMod val="75000"/>
                  <a:lumOff val="25000"/>
                </a:schemeClr>
              </a:solidFill>
              <a:latin typeface="Corbel" panose="020B0503020204020204" pitchFamily="34" charset="0"/>
            </a:endParaRPr>
          </a:p>
          <a:p>
            <a:pPr marL="0" indent="0" algn="l">
              <a:buNone/>
            </a:pPr>
            <a:r>
              <a:rPr lang="en-US" b="0" i="0" dirty="0">
                <a:solidFill>
                  <a:srgbClr val="0000CD"/>
                </a:solidFill>
                <a:effectLst/>
                <a:latin typeface="Consolas" panose="020B0609020204030204" pitchFamily="49" charset="0"/>
              </a:rPr>
              <a:t>		&lt;</a:t>
            </a:r>
            <a:r>
              <a:rPr lang="en-US" b="0" i="0" dirty="0">
                <a:solidFill>
                  <a:srgbClr val="A52A2A"/>
                </a:solidFill>
                <a:effectLst/>
                <a:latin typeface="Consolas" panose="020B0609020204030204" pitchFamily="49" charset="0"/>
              </a:rPr>
              <a:t>!DOCTYPE</a:t>
            </a:r>
            <a:r>
              <a:rPr lang="en-US" b="0" i="0" dirty="0">
                <a:solidFill>
                  <a:srgbClr val="FF0000"/>
                </a:solidFill>
                <a:effectLst/>
                <a:latin typeface="Consolas" panose="020B0609020204030204" pitchFamily="49" charset="0"/>
              </a:rPr>
              <a:t> html</a:t>
            </a:r>
            <a:r>
              <a:rPr lang="en-US" b="0" i="0" dirty="0">
                <a:solidFill>
                  <a:srgbClr val="0000CD"/>
                </a:solidFill>
                <a:effectLst/>
                <a:latin typeface="Consolas" panose="020B0609020204030204" pitchFamily="49" charset="0"/>
              </a:rPr>
              <a:t>&gt;</a:t>
            </a:r>
            <a:endParaRPr lang="en-US" b="0" i="0" dirty="0">
              <a:solidFill>
                <a:srgbClr val="000000"/>
              </a:solidFill>
              <a:effectLst/>
              <a:latin typeface="Consolas" panose="020B0609020204030204" pitchFamily="49" charset="0"/>
            </a:endParaRPr>
          </a:p>
          <a:p>
            <a:pPr marL="0" indent="0">
              <a:buNone/>
            </a:pPr>
            <a:endParaRPr lang="en-US" dirty="0">
              <a:solidFill>
                <a:schemeClr val="tx1">
                  <a:lumMod val="75000"/>
                  <a:lumOff val="25000"/>
                </a:schemeClr>
              </a:solidFill>
              <a:latin typeface="Corbel" panose="020B0503020204020204" pitchFamily="34" charset="0"/>
              <a:cs typeface="+mn-cs"/>
            </a:endParaRPr>
          </a:p>
          <a:p>
            <a:pPr marL="0" indent="0">
              <a:buNone/>
            </a:pPr>
            <a:endParaRPr lang="en-US" dirty="0"/>
          </a:p>
        </p:txBody>
      </p:sp>
    </p:spTree>
    <p:extLst>
      <p:ext uri="{BB962C8B-B14F-4D97-AF65-F5344CB8AC3E}">
        <p14:creationId xmlns:p14="http://schemas.microsoft.com/office/powerpoint/2010/main" val="28255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3AD5B-9643-ED21-9E32-ECB32C8042E8}"/>
              </a:ext>
            </a:extLst>
          </p:cNvPr>
          <p:cNvSpPr>
            <a:spLocks noGrp="1"/>
          </p:cNvSpPr>
          <p:nvPr>
            <p:ph type="title"/>
          </p:nvPr>
        </p:nvSpPr>
        <p:spPr/>
        <p:txBody>
          <a:bodyPr/>
          <a:lstStyle/>
          <a:p>
            <a:r>
              <a:rPr lang="en-US" b="1" dirty="0">
                <a:solidFill>
                  <a:schemeClr val="tx1">
                    <a:lumMod val="75000"/>
                    <a:lumOff val="25000"/>
                  </a:schemeClr>
                </a:solidFill>
                <a:cs typeface="Segoe UI Light" panose="020B0502040204020203" pitchFamily="34" charset="0"/>
              </a:rPr>
              <a:t>Common Components of web pages</a:t>
            </a:r>
            <a:endParaRPr lang="en-US" dirty="0"/>
          </a:p>
        </p:txBody>
      </p:sp>
      <p:sp>
        <p:nvSpPr>
          <p:cNvPr id="3" name="Content Placeholder 2">
            <a:extLst>
              <a:ext uri="{FF2B5EF4-FFF2-40B4-BE49-F238E27FC236}">
                <a16:creationId xmlns:a16="http://schemas.microsoft.com/office/drawing/2014/main" id="{0F6A9200-B090-64BB-95DE-C73A3EF1D1BF}"/>
              </a:ext>
            </a:extLst>
          </p:cNvPr>
          <p:cNvSpPr>
            <a:spLocks noGrp="1"/>
          </p:cNvSpPr>
          <p:nvPr>
            <p:ph idx="1"/>
          </p:nvPr>
        </p:nvSpPr>
        <p:spPr>
          <a:xfrm>
            <a:off x="838200" y="1825625"/>
            <a:ext cx="10515600" cy="4564542"/>
          </a:xfrm>
        </p:spPr>
        <p:txBody>
          <a:bodyPr>
            <a:noAutofit/>
          </a:bodyPr>
          <a:lstStyle/>
          <a:p>
            <a:pPr eaLnBrk="1" hangingPunct="1">
              <a:buFont typeface="Calibri" panose="020F0502020204030204" pitchFamily="34" charset="0"/>
              <a:buNone/>
            </a:pPr>
            <a:r>
              <a:rPr lang="en-US" altLang="en-US" dirty="0"/>
              <a:t>The following are components usually found on web pages:</a:t>
            </a:r>
          </a:p>
          <a:p>
            <a:pPr marL="685800" lvl="1" indent="-457200" eaLnBrk="1" hangingPunct="1"/>
            <a:r>
              <a:rPr lang="en-US" altLang="en-US" sz="2800" dirty="0"/>
              <a:t>Texts</a:t>
            </a:r>
          </a:p>
          <a:p>
            <a:pPr marL="685800" lvl="1" indent="-457200" eaLnBrk="1" hangingPunct="1"/>
            <a:r>
              <a:rPr lang="en-US" altLang="en-US" sz="2800" dirty="0"/>
              <a:t>Links</a:t>
            </a:r>
          </a:p>
          <a:p>
            <a:pPr marL="685800" lvl="1" indent="-457200" eaLnBrk="1" hangingPunct="1"/>
            <a:r>
              <a:rPr lang="en-US" altLang="en-US" sz="2800" dirty="0" smtClean="0"/>
              <a:t>Images / icons</a:t>
            </a:r>
            <a:endParaRPr lang="en-US" altLang="en-US" sz="2800" dirty="0"/>
          </a:p>
          <a:p>
            <a:pPr marL="685800" lvl="1" indent="-457200" eaLnBrk="1" hangingPunct="1"/>
            <a:r>
              <a:rPr lang="en-US" altLang="en-US" sz="2800" dirty="0"/>
              <a:t>Multimedia (audio, video)</a:t>
            </a:r>
          </a:p>
          <a:p>
            <a:pPr marL="685800" lvl="1" indent="-457200" eaLnBrk="1" hangingPunct="1"/>
            <a:r>
              <a:rPr lang="en-US" altLang="en-US" sz="2800" dirty="0"/>
              <a:t>Data Capture Forms</a:t>
            </a:r>
          </a:p>
          <a:p>
            <a:pPr eaLnBrk="1" hangingPunct="1"/>
            <a:r>
              <a:rPr lang="en-US" altLang="en-US" dirty="0"/>
              <a:t>In HTML module, we will be learning the tags for placing these components</a:t>
            </a:r>
          </a:p>
          <a:p>
            <a:pPr eaLnBrk="1" hangingPunct="1"/>
            <a:r>
              <a:rPr lang="en-US" altLang="en-US" b="1" dirty="0"/>
              <a:t>QUIZ: Think of any website /web application and try to see the components… anything outside the list?</a:t>
            </a:r>
          </a:p>
          <a:p>
            <a:pPr marL="0" indent="0">
              <a:buNone/>
            </a:pPr>
            <a:endParaRPr lang="en-US" dirty="0"/>
          </a:p>
        </p:txBody>
      </p:sp>
    </p:spTree>
    <p:extLst>
      <p:ext uri="{BB962C8B-B14F-4D97-AF65-F5344CB8AC3E}">
        <p14:creationId xmlns:p14="http://schemas.microsoft.com/office/powerpoint/2010/main" val="3685155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B2BF1-3B11-6F27-FC92-B1564AF04C96}"/>
              </a:ext>
            </a:extLst>
          </p:cNvPr>
          <p:cNvSpPr>
            <a:spLocks noGrp="1"/>
          </p:cNvSpPr>
          <p:nvPr>
            <p:ph type="title"/>
          </p:nvPr>
        </p:nvSpPr>
        <p:spPr>
          <a:xfrm>
            <a:off x="838200" y="109944"/>
            <a:ext cx="10515600" cy="825721"/>
          </a:xfrm>
        </p:spPr>
        <p:txBody>
          <a:bodyPr/>
          <a:lstStyle/>
          <a:p>
            <a:r>
              <a:rPr lang="en-GB" b="1" dirty="0">
                <a:solidFill>
                  <a:schemeClr val="tx1">
                    <a:lumMod val="85000"/>
                    <a:lumOff val="15000"/>
                  </a:schemeClr>
                </a:solidFill>
              </a:rPr>
              <a:t>Html tags for placing </a:t>
            </a:r>
            <a:r>
              <a:rPr lang="en-GB" b="1" u="sng" dirty="0">
                <a:solidFill>
                  <a:schemeClr val="tx1">
                    <a:lumMod val="85000"/>
                    <a:lumOff val="15000"/>
                  </a:schemeClr>
                </a:solidFill>
              </a:rPr>
              <a:t>texts</a:t>
            </a:r>
            <a:endParaRPr lang="en-US" b="1" u="sng" dirty="0"/>
          </a:p>
        </p:txBody>
      </p:sp>
      <p:sp>
        <p:nvSpPr>
          <p:cNvPr id="3" name="Content Placeholder 2">
            <a:extLst>
              <a:ext uri="{FF2B5EF4-FFF2-40B4-BE49-F238E27FC236}">
                <a16:creationId xmlns:a16="http://schemas.microsoft.com/office/drawing/2014/main" id="{70DE6441-6426-163F-307C-1286DC0E79A8}"/>
              </a:ext>
            </a:extLst>
          </p:cNvPr>
          <p:cNvSpPr>
            <a:spLocks noGrp="1"/>
          </p:cNvSpPr>
          <p:nvPr>
            <p:ph idx="1"/>
          </p:nvPr>
        </p:nvSpPr>
        <p:spPr>
          <a:xfrm>
            <a:off x="838200" y="1073888"/>
            <a:ext cx="10515600" cy="5784112"/>
          </a:xfrm>
        </p:spPr>
        <p:txBody>
          <a:bodyPr>
            <a:normAutofit/>
          </a:bodyPr>
          <a:lstStyle/>
          <a:p>
            <a:pPr eaLnBrk="1" hangingPunct="1">
              <a:buFont typeface="Arial" panose="020B0604020202020204" pitchFamily="34" charset="0"/>
              <a:buChar char="•"/>
            </a:pPr>
            <a:r>
              <a:rPr lang="en-US" altLang="en-US" sz="2800" dirty="0"/>
              <a:t>Paragraphs</a:t>
            </a:r>
          </a:p>
          <a:p>
            <a:pPr eaLnBrk="1" hangingPunct="1">
              <a:buFont typeface="Arial" panose="020B0604020202020204" pitchFamily="34" charset="0"/>
              <a:buChar char="•"/>
            </a:pPr>
            <a:r>
              <a:rPr lang="en-US" altLang="en-US" sz="2800" dirty="0"/>
              <a:t>Heading </a:t>
            </a:r>
          </a:p>
          <a:p>
            <a:pPr eaLnBrk="1" hangingPunct="1">
              <a:buFont typeface="Arial" panose="020B0604020202020204" pitchFamily="34" charset="0"/>
              <a:buChar char="•"/>
            </a:pPr>
            <a:r>
              <a:rPr lang="en-US" altLang="en-US" sz="2800" dirty="0"/>
              <a:t>Span</a:t>
            </a:r>
          </a:p>
          <a:p>
            <a:pPr eaLnBrk="1" hangingPunct="1">
              <a:buFont typeface="Arial" panose="020B0604020202020204" pitchFamily="34" charset="0"/>
              <a:buChar char="•"/>
            </a:pPr>
            <a:r>
              <a:rPr lang="en-US" altLang="en-US" sz="2800" dirty="0"/>
              <a:t>And more…</a:t>
            </a:r>
            <a:endParaRPr lang="en-US" altLang="en-US" dirty="0"/>
          </a:p>
          <a:p>
            <a:pPr marL="0" indent="0" eaLnBrk="1" hangingPunct="1">
              <a:buNone/>
            </a:pPr>
            <a:r>
              <a:rPr lang="en-US" b="1" dirty="0">
                <a:solidFill>
                  <a:schemeClr val="tx1">
                    <a:lumMod val="75000"/>
                    <a:lumOff val="25000"/>
                  </a:schemeClr>
                </a:solidFill>
              </a:rPr>
              <a:t>PLACING TEXTS ON YOUR WEBPAGE</a:t>
            </a:r>
          </a:p>
          <a:p>
            <a:pPr marL="285750" indent="-285750" eaLnBrk="1" hangingPunct="1">
              <a:buClr>
                <a:schemeClr val="accent4">
                  <a:lumMod val="75000"/>
                </a:schemeClr>
              </a:buClr>
              <a:buFont typeface="Wingdings" pitchFamily="2" charset="2"/>
              <a:buChar char="§"/>
              <a:defRPr/>
            </a:pPr>
            <a:r>
              <a:rPr lang="en-US" sz="2800" dirty="0"/>
              <a:t>The Paragraph tags &lt;p&gt;&lt;/p&gt;</a:t>
            </a:r>
          </a:p>
          <a:p>
            <a:pPr marL="285750" indent="-285750" eaLnBrk="1" hangingPunct="1">
              <a:buClr>
                <a:schemeClr val="accent4">
                  <a:lumMod val="75000"/>
                </a:schemeClr>
              </a:buClr>
              <a:buFont typeface="Wingdings" pitchFamily="2" charset="2"/>
              <a:buChar char="§"/>
              <a:defRPr/>
            </a:pPr>
            <a:r>
              <a:rPr lang="en-US" dirty="0"/>
              <a:t>The Heading tags (h1 to h6)</a:t>
            </a:r>
          </a:p>
          <a:p>
            <a:pPr marL="285750" indent="-285750">
              <a:buClr>
                <a:schemeClr val="accent4">
                  <a:lumMod val="75000"/>
                </a:schemeClr>
              </a:buClr>
              <a:buFont typeface="Wingdings" pitchFamily="2" charset="2"/>
              <a:buChar char="§"/>
              <a:defRPr/>
            </a:pPr>
            <a:r>
              <a:rPr lang="en-US" sz="2800" dirty="0"/>
              <a:t>The span tags &lt;span&gt;&lt;/span&gt;</a:t>
            </a:r>
          </a:p>
          <a:p>
            <a:pPr marL="0" indent="0" algn="l">
              <a:buNone/>
            </a:pPr>
            <a:r>
              <a:rPr lang="en-US" sz="2400" b="0" i="0" dirty="0">
                <a:solidFill>
                  <a:srgbClr val="000000"/>
                </a:solidFill>
                <a:effectLst/>
                <a:latin typeface="Verdana" panose="020B0604030504040204" pitchFamily="34" charset="0"/>
              </a:rPr>
              <a:t>A paragraph always starts on a new line, and browsers automatically add some white space (a margin) before and after a paragraph.</a:t>
            </a:r>
            <a:endParaRPr lang="en-US" sz="2400" dirty="0"/>
          </a:p>
          <a:p>
            <a:pPr marL="0" indent="0" eaLnBrk="1" hangingPunct="1">
              <a:buNone/>
            </a:pPr>
            <a:endParaRPr lang="en-US" altLang="en-US" sz="2800" dirty="0"/>
          </a:p>
          <a:p>
            <a:pPr marL="0" indent="0">
              <a:buNone/>
            </a:pPr>
            <a:endParaRPr lang="en-US" dirty="0"/>
          </a:p>
        </p:txBody>
      </p:sp>
    </p:spTree>
    <p:extLst>
      <p:ext uri="{BB962C8B-B14F-4D97-AF65-F5344CB8AC3E}">
        <p14:creationId xmlns:p14="http://schemas.microsoft.com/office/powerpoint/2010/main" val="566294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37E8A-A33D-2067-C8AA-D9E2F123FBA2}"/>
              </a:ext>
            </a:extLst>
          </p:cNvPr>
          <p:cNvSpPr>
            <a:spLocks noGrp="1"/>
          </p:cNvSpPr>
          <p:nvPr>
            <p:ph type="title"/>
          </p:nvPr>
        </p:nvSpPr>
        <p:spPr>
          <a:xfrm>
            <a:off x="838200" y="-1"/>
            <a:ext cx="10515600" cy="744279"/>
          </a:xfrm>
        </p:spPr>
        <p:txBody>
          <a:bodyPr>
            <a:normAutofit/>
          </a:bodyPr>
          <a:lstStyle/>
          <a:p>
            <a:r>
              <a:rPr lang="en-US" b="1" u="sng" dirty="0"/>
              <a:t>Other common tags</a:t>
            </a:r>
          </a:p>
        </p:txBody>
      </p:sp>
      <p:sp>
        <p:nvSpPr>
          <p:cNvPr id="3" name="Content Placeholder 2">
            <a:extLst>
              <a:ext uri="{FF2B5EF4-FFF2-40B4-BE49-F238E27FC236}">
                <a16:creationId xmlns:a16="http://schemas.microsoft.com/office/drawing/2014/main" id="{22F74315-E989-773C-F49B-95BA68F6D4D8}"/>
              </a:ext>
            </a:extLst>
          </p:cNvPr>
          <p:cNvSpPr>
            <a:spLocks noGrp="1"/>
          </p:cNvSpPr>
          <p:nvPr>
            <p:ph idx="1"/>
          </p:nvPr>
        </p:nvSpPr>
        <p:spPr>
          <a:xfrm>
            <a:off x="838200" y="1169582"/>
            <a:ext cx="10515600" cy="5550196"/>
          </a:xfrm>
        </p:spPr>
        <p:txBody>
          <a:bodyPr>
            <a:normAutofit fontScale="92500"/>
          </a:bodyPr>
          <a:lstStyle/>
          <a:p>
            <a:pPr marL="285750" indent="-285750" eaLnBrk="1" hangingPunct="1">
              <a:buClr>
                <a:schemeClr val="accent4">
                  <a:lumMod val="75000"/>
                </a:schemeClr>
              </a:buClr>
              <a:buFont typeface="Wingdings" pitchFamily="2" charset="2"/>
              <a:buChar char="§"/>
              <a:defRPr/>
            </a:pPr>
            <a:r>
              <a:rPr lang="en-US" sz="2800" dirty="0"/>
              <a:t>The break &lt;</a:t>
            </a:r>
            <a:r>
              <a:rPr lang="en-US" sz="2800" dirty="0" err="1"/>
              <a:t>br</a:t>
            </a:r>
            <a:r>
              <a:rPr lang="en-US" sz="2800" dirty="0"/>
              <a:t>&gt; tag. This can be used if you want a line break  without starting a new paragraph:</a:t>
            </a:r>
          </a:p>
          <a:p>
            <a:pPr marL="285750" indent="-285750" eaLnBrk="1" hangingPunct="1">
              <a:buClr>
                <a:schemeClr val="accent4">
                  <a:lumMod val="75000"/>
                </a:schemeClr>
              </a:buClr>
              <a:buFont typeface="Wingdings" pitchFamily="2" charset="2"/>
              <a:buChar char="§"/>
              <a:defRPr/>
            </a:pPr>
            <a:r>
              <a:rPr lang="en-US" dirty="0"/>
              <a:t>The horizontal rule &lt;</a:t>
            </a:r>
            <a:r>
              <a:rPr lang="en-US" dirty="0" err="1"/>
              <a:t>hr</a:t>
            </a:r>
            <a:r>
              <a:rPr lang="en-US" dirty="0"/>
              <a:t>&gt;. The &lt;</a:t>
            </a:r>
            <a:r>
              <a:rPr lang="en-US" dirty="0" err="1"/>
              <a:t>hr</a:t>
            </a:r>
            <a:r>
              <a:rPr lang="en-US" dirty="0"/>
              <a:t>&gt; element is used to separate content (or define a change) in an HTML page:</a:t>
            </a:r>
          </a:p>
          <a:p>
            <a:pPr marL="0" indent="0" eaLnBrk="1" hangingPunct="1">
              <a:buClr>
                <a:schemeClr val="accent4">
                  <a:lumMod val="75000"/>
                </a:schemeClr>
              </a:buClr>
              <a:buNone/>
              <a:defRPr/>
            </a:pPr>
            <a:r>
              <a:rPr lang="en-US" b="1" i="1" dirty="0"/>
              <a:t>	The Poem Problem Example</a:t>
            </a:r>
          </a:p>
          <a:p>
            <a:pPr marL="285750" indent="-285750" eaLnBrk="1" hangingPunct="1">
              <a:buClr>
                <a:schemeClr val="accent4">
                  <a:lumMod val="75000"/>
                </a:schemeClr>
              </a:buClr>
              <a:buFont typeface="Wingdings" pitchFamily="2" charset="2"/>
              <a:buChar char="§"/>
              <a:defRPr/>
            </a:pPr>
            <a:r>
              <a:rPr lang="en-US" sz="2800" dirty="0"/>
              <a:t>The preformatted text &lt;pre&gt;&lt;/pre&gt;. The text inside a &lt;pre&gt; element is displayed in a fixed-width font (usually Courier), and it preserves both spaces and line breaks:</a:t>
            </a:r>
          </a:p>
          <a:p>
            <a:pPr marL="285750" indent="-285750" eaLnBrk="1" hangingPunct="1">
              <a:buClr>
                <a:schemeClr val="accent4">
                  <a:lumMod val="75000"/>
                </a:schemeClr>
              </a:buClr>
              <a:buFont typeface="Wingdings" pitchFamily="2" charset="2"/>
              <a:buChar char="§"/>
              <a:defRPr/>
            </a:pPr>
            <a:r>
              <a:rPr lang="en-US" dirty="0"/>
              <a:t>The Abbreviation tag &lt;</a:t>
            </a:r>
            <a:r>
              <a:rPr lang="en-US" dirty="0" err="1"/>
              <a:t>abbr</a:t>
            </a:r>
            <a:r>
              <a:rPr lang="en-US" dirty="0"/>
              <a:t>&gt;, </a:t>
            </a:r>
            <a:r>
              <a:rPr lang="en-US" b="0" i="0" dirty="0">
                <a:solidFill>
                  <a:srgbClr val="000000"/>
                </a:solidFill>
                <a:effectLst/>
                <a:latin typeface="Arial" panose="020B0604020202020204" pitchFamily="34" charset="0"/>
                <a:cs typeface="Arial" panose="020B0604020202020204" pitchFamily="34" charset="0"/>
              </a:rPr>
              <a:t>defines an abbreviation or an acronym using the title attribute. &lt;</a:t>
            </a:r>
            <a:r>
              <a:rPr lang="en-US" b="0" i="0" dirty="0" err="1">
                <a:solidFill>
                  <a:srgbClr val="000000"/>
                </a:solidFill>
                <a:effectLst/>
                <a:latin typeface="Arial" panose="020B0604020202020204" pitchFamily="34" charset="0"/>
                <a:cs typeface="Arial" panose="020B0604020202020204" pitchFamily="34" charset="0"/>
              </a:rPr>
              <a:t>abbr</a:t>
            </a:r>
            <a:r>
              <a:rPr lang="en-US" b="0" i="0" dirty="0">
                <a:solidFill>
                  <a:srgbClr val="000000"/>
                </a:solidFill>
                <a:effectLst/>
                <a:latin typeface="Arial" panose="020B0604020202020204" pitchFamily="34" charset="0"/>
                <a:cs typeface="Arial" panose="020B0604020202020204" pitchFamily="34" charset="0"/>
              </a:rPr>
              <a:t> title=“As Known As”&gt;AKA&lt;/</a:t>
            </a:r>
            <a:r>
              <a:rPr lang="en-US" b="0" i="0" dirty="0" err="1">
                <a:solidFill>
                  <a:srgbClr val="000000"/>
                </a:solidFill>
                <a:effectLst/>
                <a:latin typeface="Arial" panose="020B0604020202020204" pitchFamily="34" charset="0"/>
                <a:cs typeface="Arial" panose="020B0604020202020204" pitchFamily="34" charset="0"/>
              </a:rPr>
              <a:t>abbr</a:t>
            </a:r>
            <a:r>
              <a:rPr lang="en-US" b="0" i="0" dirty="0">
                <a:solidFill>
                  <a:srgbClr val="000000"/>
                </a:solidFill>
                <a:effectLst/>
                <a:latin typeface="Arial" panose="020B0604020202020204" pitchFamily="34" charset="0"/>
                <a:cs typeface="Arial" panose="020B0604020202020204" pitchFamily="34" charset="0"/>
              </a:rPr>
              <a:t>&gt;</a:t>
            </a:r>
            <a:endParaRPr lang="en-US" dirty="0">
              <a:latin typeface="Arial" panose="020B0604020202020204" pitchFamily="34" charset="0"/>
              <a:cs typeface="Arial" panose="020B0604020202020204" pitchFamily="34" charset="0"/>
            </a:endParaRPr>
          </a:p>
          <a:p>
            <a:pPr marL="285750" indent="-285750" eaLnBrk="1" hangingPunct="1">
              <a:buClr>
                <a:schemeClr val="accent4">
                  <a:lumMod val="75000"/>
                </a:schemeClr>
              </a:buClr>
              <a:buFont typeface="Wingdings" pitchFamily="2" charset="2"/>
              <a:buChar char="§"/>
              <a:defRPr/>
            </a:pPr>
            <a:r>
              <a:rPr lang="en-US" sz="2800" dirty="0"/>
              <a:t>HTML comment: This is not displayed in the web browser; may serve as documentation in your source code. To comment in HTML, you use;</a:t>
            </a:r>
          </a:p>
          <a:p>
            <a:pPr marL="0" indent="0" eaLnBrk="1" hangingPunct="1">
              <a:buClr>
                <a:schemeClr val="accent4">
                  <a:lumMod val="75000"/>
                </a:schemeClr>
              </a:buClr>
              <a:buNone/>
              <a:defRPr/>
            </a:pPr>
            <a:r>
              <a:rPr lang="en-US" dirty="0"/>
              <a:t>	&lt;!-- content to comment --&gt;</a:t>
            </a:r>
            <a:endParaRPr lang="en-US" sz="2800" dirty="0"/>
          </a:p>
          <a:p>
            <a:pPr marL="0" indent="0">
              <a:buNone/>
            </a:pPr>
            <a:endParaRPr lang="en-US" dirty="0"/>
          </a:p>
        </p:txBody>
      </p:sp>
    </p:spTree>
    <p:extLst>
      <p:ext uri="{BB962C8B-B14F-4D97-AF65-F5344CB8AC3E}">
        <p14:creationId xmlns:p14="http://schemas.microsoft.com/office/powerpoint/2010/main" val="3705583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1893E-07A7-0698-4C22-6A4D7FF88D44}"/>
              </a:ext>
            </a:extLst>
          </p:cNvPr>
          <p:cNvSpPr>
            <a:spLocks noGrp="1"/>
          </p:cNvSpPr>
          <p:nvPr>
            <p:ph type="title"/>
          </p:nvPr>
        </p:nvSpPr>
        <p:spPr>
          <a:xfrm>
            <a:off x="838200" y="0"/>
            <a:ext cx="10515600" cy="1325563"/>
          </a:xfrm>
        </p:spPr>
        <p:txBody>
          <a:bodyPr/>
          <a:lstStyle/>
          <a:p>
            <a:r>
              <a:rPr lang="en-US" dirty="0">
                <a:solidFill>
                  <a:schemeClr val="tx1">
                    <a:lumMod val="75000"/>
                    <a:lumOff val="25000"/>
                  </a:schemeClr>
                </a:solidFill>
              </a:rPr>
              <a:t>THE HEADING TAGS</a:t>
            </a:r>
            <a:endParaRPr lang="en-US" dirty="0"/>
          </a:p>
        </p:txBody>
      </p:sp>
      <p:sp>
        <p:nvSpPr>
          <p:cNvPr id="3" name="Content Placeholder 2">
            <a:extLst>
              <a:ext uri="{FF2B5EF4-FFF2-40B4-BE49-F238E27FC236}">
                <a16:creationId xmlns:a16="http://schemas.microsoft.com/office/drawing/2014/main" id="{DC5B4951-A518-6AD7-F5A7-A74B79B3328C}"/>
              </a:ext>
            </a:extLst>
          </p:cNvPr>
          <p:cNvSpPr>
            <a:spLocks noGrp="1"/>
          </p:cNvSpPr>
          <p:nvPr>
            <p:ph idx="1"/>
          </p:nvPr>
        </p:nvSpPr>
        <p:spPr>
          <a:xfrm>
            <a:off x="838200" y="1253331"/>
            <a:ext cx="10515600" cy="4351338"/>
          </a:xfrm>
        </p:spPr>
        <p:txBody>
          <a:bodyPr>
            <a:noAutofit/>
          </a:bodyPr>
          <a:lstStyle/>
          <a:p>
            <a:pPr marL="285750" indent="-285750" eaLnBrk="1" fontAlgn="auto" hangingPunct="1">
              <a:lnSpc>
                <a:spcPct val="170000"/>
              </a:lnSpc>
              <a:buFont typeface="Wingdings" pitchFamily="2" charset="2"/>
              <a:buChar char="§"/>
              <a:defRPr/>
            </a:pPr>
            <a:r>
              <a:rPr lang="en-US" sz="2400" dirty="0">
                <a:solidFill>
                  <a:schemeClr val="tx1">
                    <a:lumMod val="85000"/>
                    <a:lumOff val="15000"/>
                  </a:schemeClr>
                </a:solidFill>
              </a:rPr>
              <a:t>The Heading tags: (h1 to h6) </a:t>
            </a:r>
          </a:p>
          <a:p>
            <a:pPr marL="0" indent="0" eaLnBrk="1" fontAlgn="auto" hangingPunct="1">
              <a:lnSpc>
                <a:spcPct val="170000"/>
              </a:lnSpc>
              <a:buNone/>
              <a:defRPr/>
            </a:pPr>
            <a:r>
              <a:rPr lang="en-US" sz="2400" b="1" dirty="0">
                <a:solidFill>
                  <a:schemeClr val="tx1">
                    <a:lumMod val="85000"/>
                    <a:lumOff val="15000"/>
                  </a:schemeClr>
                </a:solidFill>
              </a:rPr>
              <a:t>		&lt;h1&gt;&lt;/h1&gt;      to      &lt;h6&gt;&lt;/h6&gt;</a:t>
            </a:r>
          </a:p>
          <a:p>
            <a:pPr marL="384048" lvl="1" indent="-182880" eaLnBrk="1" fontAlgn="auto" hangingPunct="1">
              <a:lnSpc>
                <a:spcPct val="170000"/>
              </a:lnSpc>
              <a:buFont typeface="Wingdings" pitchFamily="2" charset="2"/>
              <a:buChar char="§"/>
              <a:defRPr/>
            </a:pPr>
            <a:r>
              <a:rPr lang="en-US" dirty="0">
                <a:solidFill>
                  <a:schemeClr val="tx1">
                    <a:lumMod val="85000"/>
                    <a:lumOff val="15000"/>
                  </a:schemeClr>
                </a:solidFill>
              </a:rPr>
              <a:t>Search engines use the headings to index the structure and content of your web pages.</a:t>
            </a:r>
          </a:p>
          <a:p>
            <a:pPr marL="384048" lvl="1" indent="-182880" eaLnBrk="1" fontAlgn="auto" hangingPunct="1">
              <a:lnSpc>
                <a:spcPct val="170000"/>
              </a:lnSpc>
              <a:buFont typeface="Wingdings" pitchFamily="2" charset="2"/>
              <a:buChar char="§"/>
              <a:defRPr/>
            </a:pPr>
            <a:r>
              <a:rPr lang="en-US" dirty="0">
                <a:solidFill>
                  <a:schemeClr val="tx1">
                    <a:lumMod val="85000"/>
                    <a:lumOff val="15000"/>
                  </a:schemeClr>
                </a:solidFill>
              </a:rPr>
              <a:t>Users skim your pages by its headings. It is important to use headings to show the document structure.</a:t>
            </a:r>
          </a:p>
          <a:p>
            <a:pPr marL="384048" lvl="1" indent="-182880" eaLnBrk="1" fontAlgn="auto" hangingPunct="1">
              <a:lnSpc>
                <a:spcPct val="170000"/>
              </a:lnSpc>
              <a:buFont typeface="Wingdings" pitchFamily="2" charset="2"/>
              <a:buChar char="§"/>
              <a:defRPr/>
            </a:pPr>
            <a:r>
              <a:rPr lang="en-US" b="1" dirty="0">
                <a:solidFill>
                  <a:schemeClr val="tx1">
                    <a:lumMod val="85000"/>
                    <a:lumOff val="15000"/>
                  </a:schemeClr>
                </a:solidFill>
              </a:rPr>
              <a:t>QUIZ</a:t>
            </a:r>
            <a:r>
              <a:rPr lang="en-US" dirty="0">
                <a:solidFill>
                  <a:schemeClr val="tx1">
                    <a:lumMod val="85000"/>
                    <a:lumOff val="15000"/>
                  </a:schemeClr>
                </a:solidFill>
              </a:rPr>
              <a:t>: Try out any 3 heading tags, what do you observe as the number increases?</a:t>
            </a:r>
          </a:p>
          <a:p>
            <a:pPr marL="0" indent="0">
              <a:buNone/>
            </a:pPr>
            <a:endParaRPr lang="en-US" sz="2400" dirty="0"/>
          </a:p>
        </p:txBody>
      </p:sp>
    </p:spTree>
    <p:extLst>
      <p:ext uri="{BB962C8B-B14F-4D97-AF65-F5344CB8AC3E}">
        <p14:creationId xmlns:p14="http://schemas.microsoft.com/office/powerpoint/2010/main" val="109975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4333B-D663-D735-21ED-CD552CD80A1A}"/>
              </a:ext>
            </a:extLst>
          </p:cNvPr>
          <p:cNvSpPr>
            <a:spLocks noGrp="1"/>
          </p:cNvSpPr>
          <p:nvPr>
            <p:ph type="title"/>
          </p:nvPr>
        </p:nvSpPr>
        <p:spPr/>
        <p:txBody>
          <a:bodyPr/>
          <a:lstStyle/>
          <a:p>
            <a:r>
              <a:rPr lang="en-US" sz="4400" b="1" dirty="0">
                <a:solidFill>
                  <a:schemeClr val="tx1">
                    <a:lumMod val="95000"/>
                    <a:lumOff val="5000"/>
                  </a:schemeClr>
                </a:solidFill>
                <a:ea typeface="Calibri"/>
                <a:cs typeface="Calibri"/>
                <a:sym typeface="Calibri"/>
              </a:rPr>
              <a:t>INLINE AND BLOCK LEVEL ELEMENTS</a:t>
            </a:r>
            <a:endParaRPr lang="en-US" dirty="0"/>
          </a:p>
        </p:txBody>
      </p:sp>
      <p:sp>
        <p:nvSpPr>
          <p:cNvPr id="3" name="Content Placeholder 2">
            <a:extLst>
              <a:ext uri="{FF2B5EF4-FFF2-40B4-BE49-F238E27FC236}">
                <a16:creationId xmlns:a16="http://schemas.microsoft.com/office/drawing/2014/main" id="{47734ED5-68EE-C4C4-B77C-30BC2225770A}"/>
              </a:ext>
            </a:extLst>
          </p:cNvPr>
          <p:cNvSpPr>
            <a:spLocks noGrp="1"/>
          </p:cNvSpPr>
          <p:nvPr>
            <p:ph idx="1"/>
          </p:nvPr>
        </p:nvSpPr>
        <p:spPr>
          <a:xfrm>
            <a:off x="838200" y="1825625"/>
            <a:ext cx="10515600" cy="4830356"/>
          </a:xfrm>
        </p:spPr>
        <p:txBody>
          <a:bodyPr>
            <a:normAutofit lnSpcReduction="10000"/>
          </a:bodyPr>
          <a:lstStyle/>
          <a:p>
            <a:pPr marL="342900" indent="-342900" eaLnBrk="1" hangingPunct="1">
              <a:spcBef>
                <a:spcPct val="0"/>
              </a:spcBef>
              <a:spcAft>
                <a:spcPct val="0"/>
              </a:spcAft>
              <a:buClr>
                <a:schemeClr val="bg2">
                  <a:lumMod val="25000"/>
                </a:schemeClr>
              </a:buClr>
              <a:buFont typeface="Wingdings" pitchFamily="2" charset="2"/>
              <a:buChar char="§"/>
              <a:defRPr/>
            </a:pPr>
            <a:r>
              <a:rPr lang="en-US" sz="3600" dirty="0">
                <a:solidFill>
                  <a:schemeClr val="tx1">
                    <a:lumMod val="95000"/>
                    <a:lumOff val="5000"/>
                  </a:schemeClr>
                </a:solidFill>
                <a:cs typeface="Calibri" pitchFamily="34" charset="0"/>
                <a:sym typeface="Calibri" pitchFamily="34" charset="0"/>
              </a:rPr>
              <a:t>By default, HTML displays its elements in one of the following ways:</a:t>
            </a:r>
            <a:endParaRPr lang="en-US" sz="3600" dirty="0">
              <a:solidFill>
                <a:schemeClr val="tx1">
                  <a:lumMod val="95000"/>
                  <a:lumOff val="5000"/>
                </a:schemeClr>
              </a:solidFill>
            </a:endParaRPr>
          </a:p>
          <a:p>
            <a:pPr marL="342900" indent="-342900" eaLnBrk="1" hangingPunct="1">
              <a:spcBef>
                <a:spcPts val="638"/>
              </a:spcBef>
              <a:spcAft>
                <a:spcPct val="0"/>
              </a:spcAft>
              <a:buClr>
                <a:schemeClr val="bg2">
                  <a:lumMod val="25000"/>
                </a:schemeClr>
              </a:buClr>
              <a:buFont typeface="Wingdings" pitchFamily="2" charset="2"/>
              <a:buChar char="§"/>
              <a:defRPr/>
            </a:pPr>
            <a:r>
              <a:rPr lang="en-US" sz="3600" b="1" dirty="0">
                <a:solidFill>
                  <a:schemeClr val="tx1">
                    <a:lumMod val="95000"/>
                    <a:lumOff val="5000"/>
                  </a:schemeClr>
                </a:solidFill>
                <a:cs typeface="Calibri" pitchFamily="34" charset="0"/>
                <a:sym typeface="Calibri" pitchFamily="34" charset="0"/>
              </a:rPr>
              <a:t>Inline:</a:t>
            </a:r>
            <a:r>
              <a:rPr lang="en-US" sz="3600" dirty="0">
                <a:solidFill>
                  <a:schemeClr val="tx1">
                    <a:lumMod val="95000"/>
                    <a:lumOff val="5000"/>
                  </a:schemeClr>
                </a:solidFill>
                <a:cs typeface="Calibri" pitchFamily="34" charset="0"/>
                <a:sym typeface="Calibri" pitchFamily="34" charset="0"/>
              </a:rPr>
              <a:t> These elements </a:t>
            </a:r>
            <a:r>
              <a:rPr lang="en-US" sz="3600" b="1" i="1" dirty="0">
                <a:solidFill>
                  <a:srgbClr val="C00000"/>
                </a:solidFill>
                <a:cs typeface="Calibri" pitchFamily="34" charset="0"/>
                <a:sym typeface="Calibri" pitchFamily="34" charset="0"/>
              </a:rPr>
              <a:t>do not </a:t>
            </a:r>
            <a:r>
              <a:rPr lang="en-US" sz="3600" dirty="0">
                <a:solidFill>
                  <a:schemeClr val="tx1">
                    <a:lumMod val="95000"/>
                    <a:lumOff val="5000"/>
                  </a:schemeClr>
                </a:solidFill>
                <a:cs typeface="Calibri" pitchFamily="34" charset="0"/>
                <a:sym typeface="Calibri" pitchFamily="34" charset="0"/>
              </a:rPr>
              <a:t>force new lines before or after its placement, and it only consumes as much space as necessary.</a:t>
            </a:r>
            <a:endParaRPr lang="en-US" sz="3600" dirty="0">
              <a:solidFill>
                <a:schemeClr val="tx1">
                  <a:lumMod val="95000"/>
                  <a:lumOff val="5000"/>
                </a:schemeClr>
              </a:solidFill>
            </a:endParaRPr>
          </a:p>
          <a:p>
            <a:pPr marL="342900" indent="-342900" eaLnBrk="1" hangingPunct="1">
              <a:spcBef>
                <a:spcPts val="638"/>
              </a:spcBef>
              <a:spcAft>
                <a:spcPct val="0"/>
              </a:spcAft>
              <a:buClr>
                <a:schemeClr val="bg2">
                  <a:lumMod val="25000"/>
                </a:schemeClr>
              </a:buClr>
              <a:buFont typeface="Wingdings" pitchFamily="2" charset="2"/>
              <a:buChar char="§"/>
              <a:defRPr/>
            </a:pPr>
            <a:r>
              <a:rPr lang="en-US" sz="3600" b="1" dirty="0">
                <a:solidFill>
                  <a:schemeClr val="tx1">
                    <a:lumMod val="95000"/>
                    <a:lumOff val="5000"/>
                  </a:schemeClr>
                </a:solidFill>
                <a:cs typeface="Calibri" pitchFamily="34" charset="0"/>
                <a:sym typeface="Calibri" pitchFamily="34" charset="0"/>
              </a:rPr>
              <a:t>Block:</a:t>
            </a:r>
            <a:r>
              <a:rPr lang="en-US" sz="3600" dirty="0">
                <a:solidFill>
                  <a:schemeClr val="tx1">
                    <a:lumMod val="95000"/>
                    <a:lumOff val="5000"/>
                  </a:schemeClr>
                </a:solidFill>
                <a:cs typeface="Calibri" pitchFamily="34" charset="0"/>
                <a:sym typeface="Calibri" pitchFamily="34" charset="0"/>
              </a:rPr>
              <a:t> A block-level element always starts on a new line, and the browsers automatically add some space (a margin) before and after the element. New lines appear before and after the element with it consuming the full width available.</a:t>
            </a:r>
            <a:endParaRPr lang="en-US" sz="3600" dirty="0">
              <a:solidFill>
                <a:schemeClr val="tx1">
                  <a:lumMod val="95000"/>
                  <a:lumOff val="5000"/>
                </a:schemeClr>
              </a:solidFill>
            </a:endParaRPr>
          </a:p>
          <a:p>
            <a:pPr marL="0" indent="0">
              <a:buNone/>
            </a:pPr>
            <a:endParaRPr lang="en-US" sz="3600" dirty="0"/>
          </a:p>
        </p:txBody>
      </p:sp>
    </p:spTree>
    <p:extLst>
      <p:ext uri="{BB962C8B-B14F-4D97-AF65-F5344CB8AC3E}">
        <p14:creationId xmlns:p14="http://schemas.microsoft.com/office/powerpoint/2010/main" val="630537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09CB6-7D4C-D2BE-22B2-2487D10F0AF8}"/>
              </a:ext>
            </a:extLst>
          </p:cNvPr>
          <p:cNvSpPr>
            <a:spLocks noGrp="1"/>
          </p:cNvSpPr>
          <p:nvPr>
            <p:ph type="title"/>
          </p:nvPr>
        </p:nvSpPr>
        <p:spPr/>
        <p:txBody>
          <a:bodyPr/>
          <a:lstStyle/>
          <a:p>
            <a:r>
              <a:rPr lang="en-US" sz="4400" b="1" dirty="0">
                <a:solidFill>
                  <a:schemeClr val="tx1">
                    <a:lumMod val="75000"/>
                    <a:lumOff val="25000"/>
                  </a:schemeClr>
                </a:solidFill>
              </a:rPr>
              <a:t>HOW THE WEB BROWSER DISPLAY CONTENTS</a:t>
            </a:r>
            <a:endParaRPr lang="en-US" dirty="0"/>
          </a:p>
        </p:txBody>
      </p:sp>
      <p:pic>
        <p:nvPicPr>
          <p:cNvPr id="4" name="Content Placeholder 4">
            <a:extLst>
              <a:ext uri="{FF2B5EF4-FFF2-40B4-BE49-F238E27FC236}">
                <a16:creationId xmlns:a16="http://schemas.microsoft.com/office/drawing/2014/main" id="{528BCB27-3680-49A5-346C-08E7F5D57E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2381" y="2120270"/>
            <a:ext cx="9994605" cy="349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3713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A635F-4BA8-68CF-C4E0-F8BD3E138F76}"/>
              </a:ext>
            </a:extLst>
          </p:cNvPr>
          <p:cNvSpPr>
            <a:spLocks noGrp="1"/>
          </p:cNvSpPr>
          <p:nvPr>
            <p:ph type="title"/>
          </p:nvPr>
        </p:nvSpPr>
        <p:spPr/>
        <p:txBody>
          <a:bodyPr/>
          <a:lstStyle/>
          <a:p>
            <a:r>
              <a:rPr lang="en-US" dirty="0"/>
              <a:t>Some common Block and Inline Elements</a:t>
            </a:r>
          </a:p>
        </p:txBody>
      </p:sp>
      <p:sp>
        <p:nvSpPr>
          <p:cNvPr id="3" name="Content Placeholder 2">
            <a:extLst>
              <a:ext uri="{FF2B5EF4-FFF2-40B4-BE49-F238E27FC236}">
                <a16:creationId xmlns:a16="http://schemas.microsoft.com/office/drawing/2014/main" id="{69C9C41E-64BD-1B12-D907-C636E21648DE}"/>
              </a:ext>
            </a:extLst>
          </p:cNvPr>
          <p:cNvSpPr>
            <a:spLocks noGrp="1"/>
          </p:cNvSpPr>
          <p:nvPr>
            <p:ph idx="1"/>
          </p:nvPr>
        </p:nvSpPr>
        <p:spPr>
          <a:xfrm>
            <a:off x="838200" y="1910686"/>
            <a:ext cx="5137298" cy="4351338"/>
          </a:xfrm>
        </p:spPr>
        <p:txBody>
          <a:bodyPr>
            <a:normAutofit fontScale="85000" lnSpcReduction="20000"/>
          </a:bodyPr>
          <a:lstStyle/>
          <a:p>
            <a:pPr marL="0" indent="0">
              <a:buNone/>
            </a:pPr>
            <a:r>
              <a:rPr lang="en-US" dirty="0"/>
              <a:t>Block-level Element</a:t>
            </a:r>
          </a:p>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h1</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h6</a:t>
            </a:r>
            <a:r>
              <a:rPr lang="en-US" b="0" i="0" dirty="0">
                <a:solidFill>
                  <a:srgbClr val="0000CD"/>
                </a:solidFill>
                <a:effectLst/>
                <a:latin typeface="Consolas" panose="020B0609020204030204" pitchFamily="49" charset="0"/>
              </a:rPr>
              <a:t>&gt;</a:t>
            </a:r>
          </a:p>
          <a:p>
            <a:r>
              <a:rPr lang="en-US" b="0" i="0" dirty="0">
                <a:solidFill>
                  <a:srgbClr val="0000CD"/>
                </a:solidFill>
                <a:effectLst/>
                <a:latin typeface="Consolas" panose="020B0609020204030204" pitchFamily="49" charset="0"/>
              </a:rPr>
              <a:t>&lt;</a:t>
            </a:r>
            <a:r>
              <a:rPr lang="en-US" dirty="0" err="1">
                <a:solidFill>
                  <a:srgbClr val="A52A2A"/>
                </a:solidFill>
                <a:latin typeface="Consolas" panose="020B0609020204030204" pitchFamily="49" charset="0"/>
              </a:rPr>
              <a:t>u</a:t>
            </a:r>
            <a:r>
              <a:rPr lang="en-US" b="0" i="0" dirty="0" err="1">
                <a:solidFill>
                  <a:srgbClr val="A52A2A"/>
                </a:solidFill>
                <a:effectLst/>
                <a:latin typeface="Consolas" panose="020B0609020204030204" pitchFamily="49" charset="0"/>
              </a:rPr>
              <a:t>l</a:t>
            </a:r>
            <a:r>
              <a:rPr lang="en-US" b="0" i="0" dirty="0">
                <a:solidFill>
                  <a:srgbClr val="0000CD"/>
                </a:solidFill>
                <a:effectLst/>
                <a:latin typeface="Consolas" panose="020B0609020204030204" pitchFamily="49" charset="0"/>
              </a:rPr>
              <a:t>&gt;</a:t>
            </a:r>
            <a:r>
              <a:rPr lang="en-US" dirty="0">
                <a:solidFill>
                  <a:srgbClr val="0000CD"/>
                </a:solidFill>
                <a:latin typeface="Consolas" panose="020B0609020204030204" pitchFamily="49" charset="0"/>
              </a:rPr>
              <a:t> and </a:t>
            </a: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ol</a:t>
            </a:r>
            <a:r>
              <a:rPr lang="en-US" b="0" i="0" dirty="0">
                <a:solidFill>
                  <a:srgbClr val="0000CD"/>
                </a:solidFill>
                <a:effectLst/>
                <a:latin typeface="Consolas" panose="020B0609020204030204" pitchFamily="49" charset="0"/>
              </a:rPr>
              <a:t>&gt; and &lt;</a:t>
            </a:r>
            <a:r>
              <a:rPr lang="en-US" dirty="0">
                <a:solidFill>
                  <a:srgbClr val="A52A2A"/>
                </a:solidFill>
                <a:latin typeface="Consolas" panose="020B0609020204030204" pitchFamily="49" charset="0"/>
              </a:rPr>
              <a:t>li</a:t>
            </a:r>
            <a:r>
              <a:rPr lang="en-US" b="0" i="0" dirty="0">
                <a:solidFill>
                  <a:srgbClr val="0000CD"/>
                </a:solidFill>
                <a:effectLst/>
                <a:latin typeface="Consolas" panose="020B0609020204030204" pitchFamily="49" charset="0"/>
              </a:rPr>
              <a:t>&gt;</a:t>
            </a:r>
          </a:p>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div</a:t>
            </a:r>
            <a:r>
              <a:rPr lang="en-US" b="0" i="0" dirty="0">
                <a:solidFill>
                  <a:srgbClr val="0000CD"/>
                </a:solidFill>
                <a:effectLst/>
                <a:latin typeface="Consolas" panose="020B0609020204030204" pitchFamily="49" charset="0"/>
              </a:rPr>
              <a:t>&gt;</a:t>
            </a:r>
          </a:p>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table</a:t>
            </a:r>
            <a:r>
              <a:rPr lang="en-US" b="0" i="0" dirty="0">
                <a:solidFill>
                  <a:srgbClr val="0000CD"/>
                </a:solidFill>
                <a:effectLst/>
                <a:latin typeface="Consolas" panose="020B0609020204030204" pitchFamily="49" charset="0"/>
              </a:rPr>
              <a:t>&gt;</a:t>
            </a:r>
          </a:p>
          <a:p>
            <a:r>
              <a:rPr lang="en-US" b="0" i="0" dirty="0">
                <a:solidFill>
                  <a:srgbClr val="0000CD"/>
                </a:solidFill>
                <a:effectLst/>
                <a:latin typeface="Consolas" panose="020B0609020204030204" pitchFamily="49" charset="0"/>
              </a:rPr>
              <a:t>&lt;</a:t>
            </a:r>
            <a:r>
              <a:rPr lang="en-US" b="0" i="0" dirty="0">
                <a:solidFill>
                  <a:srgbClr val="C00000"/>
                </a:solidFill>
                <a:effectLst/>
                <a:latin typeface="Consolas" panose="020B0609020204030204" pitchFamily="49" charset="0"/>
              </a:rPr>
              <a:t>p</a:t>
            </a:r>
            <a:r>
              <a:rPr lang="en-US" b="0" i="0" dirty="0">
                <a:solidFill>
                  <a:srgbClr val="0000CD"/>
                </a:solidFill>
                <a:effectLst/>
                <a:latin typeface="Consolas" panose="020B0609020204030204" pitchFamily="49" charset="0"/>
              </a:rPr>
              <a:t>&gt;</a:t>
            </a:r>
          </a:p>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form</a:t>
            </a:r>
            <a:r>
              <a:rPr lang="en-US" b="0" i="0" dirty="0">
                <a:solidFill>
                  <a:srgbClr val="0000CD"/>
                </a:solidFill>
                <a:effectLst/>
                <a:latin typeface="Consolas" panose="020B0609020204030204" pitchFamily="49" charset="0"/>
              </a:rPr>
              <a:t>&gt;</a:t>
            </a:r>
          </a:p>
          <a:p>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nav</a:t>
            </a:r>
            <a:r>
              <a:rPr lang="en-US" b="0" i="0" dirty="0">
                <a:solidFill>
                  <a:srgbClr val="0000CD"/>
                </a:solidFill>
                <a:effectLst/>
                <a:latin typeface="Consolas" panose="020B0609020204030204" pitchFamily="49" charset="0"/>
              </a:rPr>
              <a:t>&gt;</a:t>
            </a:r>
          </a:p>
          <a:p>
            <a:r>
              <a:rPr lang="en-US" dirty="0">
                <a:solidFill>
                  <a:srgbClr val="0000CD"/>
                </a:solidFill>
                <a:latin typeface="Consolas" panose="020B0609020204030204" pitchFamily="49" charset="0"/>
              </a:rPr>
              <a:t>&lt;</a:t>
            </a:r>
            <a:r>
              <a:rPr lang="en-US" dirty="0" err="1">
                <a:solidFill>
                  <a:srgbClr val="A52A2A"/>
                </a:solidFill>
                <a:latin typeface="Consolas" panose="020B0609020204030204" pitchFamily="49" charset="0"/>
              </a:rPr>
              <a:t>hr</a:t>
            </a:r>
            <a:r>
              <a:rPr lang="en-US" dirty="0">
                <a:solidFill>
                  <a:srgbClr val="0000CD"/>
                </a:solidFill>
                <a:latin typeface="Consolas" panose="020B0609020204030204" pitchFamily="49" charset="0"/>
              </a:rPr>
              <a:t>&gt;</a:t>
            </a:r>
          </a:p>
          <a:p>
            <a:endParaRPr lang="en-US" b="0" i="0" dirty="0">
              <a:solidFill>
                <a:srgbClr val="0000CD"/>
              </a:solidFill>
              <a:effectLst/>
              <a:latin typeface="Consolas" panose="020B0609020204030204" pitchFamily="49" charset="0"/>
            </a:endParaRPr>
          </a:p>
          <a:p>
            <a:pPr marL="0" indent="0">
              <a:buNone/>
            </a:pPr>
            <a:r>
              <a:rPr lang="en-US" dirty="0" err="1">
                <a:solidFill>
                  <a:srgbClr val="0000CD"/>
                </a:solidFill>
                <a:latin typeface="Consolas" panose="020B0609020204030204" pitchFamily="49" charset="0"/>
              </a:rPr>
              <a:t>Etc</a:t>
            </a:r>
            <a:r>
              <a:rPr lang="en-US" dirty="0">
                <a:solidFill>
                  <a:srgbClr val="0000CD"/>
                </a:solidFill>
                <a:latin typeface="Consolas" panose="020B0609020204030204" pitchFamily="49" charset="0"/>
              </a:rPr>
              <a:t>…</a:t>
            </a:r>
            <a:endParaRPr lang="en-US" b="0" i="0" dirty="0">
              <a:solidFill>
                <a:srgbClr val="0000CD"/>
              </a:solidFill>
              <a:effectLst/>
              <a:latin typeface="Consolas" panose="020B0609020204030204" pitchFamily="49" charset="0"/>
            </a:endParaRPr>
          </a:p>
          <a:p>
            <a:endParaRPr lang="en-US" b="0" i="0" dirty="0">
              <a:solidFill>
                <a:srgbClr val="0000CD"/>
              </a:solidFill>
              <a:effectLst/>
              <a:latin typeface="Consolas" panose="020B0609020204030204" pitchFamily="49" charset="0"/>
            </a:endParaRPr>
          </a:p>
          <a:p>
            <a:endParaRPr lang="en-US" dirty="0"/>
          </a:p>
        </p:txBody>
      </p:sp>
      <p:sp>
        <p:nvSpPr>
          <p:cNvPr id="4" name="Content Placeholder 2">
            <a:extLst>
              <a:ext uri="{FF2B5EF4-FFF2-40B4-BE49-F238E27FC236}">
                <a16:creationId xmlns:a16="http://schemas.microsoft.com/office/drawing/2014/main" id="{9E70A5C0-DD7A-CEC2-DE2A-C36C737E5012}"/>
              </a:ext>
            </a:extLst>
          </p:cNvPr>
          <p:cNvSpPr txBox="1">
            <a:spLocks/>
          </p:cNvSpPr>
          <p:nvPr/>
        </p:nvSpPr>
        <p:spPr>
          <a:xfrm>
            <a:off x="6216504" y="1910686"/>
            <a:ext cx="5137298"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Inline Elements</a:t>
            </a:r>
          </a:p>
          <a:p>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a</a:t>
            </a:r>
            <a:r>
              <a:rPr lang="en-US" dirty="0">
                <a:solidFill>
                  <a:srgbClr val="0000CD"/>
                </a:solidFill>
                <a:latin typeface="Consolas" panose="020B0609020204030204" pitchFamily="49" charset="0"/>
              </a:rPr>
              <a:t>&gt;</a:t>
            </a:r>
          </a:p>
          <a:p>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b</a:t>
            </a:r>
            <a:r>
              <a:rPr lang="en-US" dirty="0">
                <a:solidFill>
                  <a:srgbClr val="0000CD"/>
                </a:solidFill>
                <a:latin typeface="Consolas" panose="020B0609020204030204" pitchFamily="49" charset="0"/>
              </a:rPr>
              <a:t>&gt; and &lt;strong&gt;</a:t>
            </a:r>
          </a:p>
          <a:p>
            <a:r>
              <a:rPr lang="en-US" dirty="0">
                <a:solidFill>
                  <a:srgbClr val="0000CD"/>
                </a:solidFill>
                <a:latin typeface="Consolas" panose="020B0609020204030204" pitchFamily="49" charset="0"/>
              </a:rPr>
              <a:t>&lt;</a:t>
            </a:r>
            <a:r>
              <a:rPr lang="en-US" dirty="0" err="1">
                <a:solidFill>
                  <a:srgbClr val="A52A2A"/>
                </a:solidFill>
                <a:latin typeface="Consolas" panose="020B0609020204030204" pitchFamily="49" charset="0"/>
              </a:rPr>
              <a:t>br</a:t>
            </a:r>
            <a:r>
              <a:rPr lang="en-US" dirty="0">
                <a:solidFill>
                  <a:srgbClr val="0000CD"/>
                </a:solidFill>
                <a:latin typeface="Consolas" panose="020B0609020204030204" pitchFamily="49" charset="0"/>
              </a:rPr>
              <a:t>&gt;</a:t>
            </a:r>
          </a:p>
          <a:p>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input</a:t>
            </a:r>
            <a:r>
              <a:rPr lang="en-US" dirty="0">
                <a:solidFill>
                  <a:srgbClr val="0000CD"/>
                </a:solidFill>
                <a:latin typeface="Consolas" panose="020B0609020204030204" pitchFamily="49" charset="0"/>
              </a:rPr>
              <a:t>&gt;</a:t>
            </a:r>
          </a:p>
          <a:p>
            <a:r>
              <a:rPr lang="en-US" dirty="0">
                <a:solidFill>
                  <a:srgbClr val="0000CD"/>
                </a:solidFill>
                <a:latin typeface="Consolas" panose="020B0609020204030204" pitchFamily="49" charset="0"/>
              </a:rPr>
              <a:t>&lt;small&gt;</a:t>
            </a:r>
          </a:p>
          <a:p>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button</a:t>
            </a:r>
            <a:r>
              <a:rPr lang="en-US" dirty="0">
                <a:solidFill>
                  <a:srgbClr val="0000CD"/>
                </a:solidFill>
                <a:latin typeface="Consolas" panose="020B0609020204030204" pitchFamily="49" charset="0"/>
              </a:rPr>
              <a:t>&gt;</a:t>
            </a:r>
          </a:p>
          <a:p>
            <a:r>
              <a:rPr lang="en-US" dirty="0">
                <a:solidFill>
                  <a:srgbClr val="0000CD"/>
                </a:solidFill>
                <a:latin typeface="Consolas" panose="020B0609020204030204" pitchFamily="49" charset="0"/>
              </a:rPr>
              <a:t>&lt;</a:t>
            </a:r>
            <a:r>
              <a:rPr lang="en-US" dirty="0" err="1">
                <a:solidFill>
                  <a:srgbClr val="A52A2A"/>
                </a:solidFill>
                <a:latin typeface="Consolas" panose="020B0609020204030204" pitchFamily="49" charset="0"/>
              </a:rPr>
              <a:t>i</a:t>
            </a:r>
            <a:r>
              <a:rPr lang="en-US" dirty="0">
                <a:solidFill>
                  <a:srgbClr val="0000CD"/>
                </a:solidFill>
                <a:latin typeface="Consolas" panose="020B0609020204030204" pitchFamily="49" charset="0"/>
              </a:rPr>
              <a:t>&gt;</a:t>
            </a:r>
          </a:p>
          <a:p>
            <a:r>
              <a:rPr lang="en-US" dirty="0">
                <a:solidFill>
                  <a:srgbClr val="0000CD"/>
                </a:solidFill>
                <a:latin typeface="Consolas" panose="020B0609020204030204" pitchFamily="49" charset="0"/>
              </a:rPr>
              <a:t>&lt;</a:t>
            </a:r>
            <a:r>
              <a:rPr lang="en-US" dirty="0">
                <a:solidFill>
                  <a:srgbClr val="A52A2A"/>
                </a:solidFill>
                <a:latin typeface="Consolas" panose="020B0609020204030204" pitchFamily="49" charset="0"/>
              </a:rPr>
              <a:t>span</a:t>
            </a:r>
            <a:r>
              <a:rPr lang="en-US" dirty="0">
                <a:solidFill>
                  <a:srgbClr val="0000CD"/>
                </a:solidFill>
                <a:latin typeface="Consolas" panose="020B0609020204030204" pitchFamily="49" charset="0"/>
              </a:rPr>
              <a:t>&gt;</a:t>
            </a:r>
          </a:p>
          <a:p>
            <a:r>
              <a:rPr lang="en-US" dirty="0">
                <a:solidFill>
                  <a:srgbClr val="0000CD"/>
                </a:solidFill>
                <a:latin typeface="Consolas" panose="020B0609020204030204" pitchFamily="49" charset="0"/>
              </a:rPr>
              <a:t>&lt;</a:t>
            </a:r>
            <a:r>
              <a:rPr lang="en-US" dirty="0" err="1">
                <a:solidFill>
                  <a:srgbClr val="A52A2A"/>
                </a:solidFill>
                <a:latin typeface="Consolas" panose="020B0609020204030204" pitchFamily="49" charset="0"/>
              </a:rPr>
              <a:t>img</a:t>
            </a:r>
            <a:r>
              <a:rPr lang="en-US" dirty="0">
                <a:solidFill>
                  <a:srgbClr val="0000CD"/>
                </a:solidFill>
                <a:latin typeface="Consolas" panose="020B0609020204030204" pitchFamily="49" charset="0"/>
              </a:rPr>
              <a:t>&gt;</a:t>
            </a:r>
          </a:p>
          <a:p>
            <a:pPr marL="0" indent="0">
              <a:buFont typeface="Arial" panose="020B0604020202020204" pitchFamily="34" charset="0"/>
              <a:buNone/>
            </a:pPr>
            <a:r>
              <a:rPr lang="en-US" dirty="0" err="1">
                <a:solidFill>
                  <a:srgbClr val="0000CD"/>
                </a:solidFill>
                <a:latin typeface="Consolas" panose="020B0609020204030204" pitchFamily="49" charset="0"/>
              </a:rPr>
              <a:t>Etc</a:t>
            </a:r>
            <a:r>
              <a:rPr lang="en-US" dirty="0">
                <a:solidFill>
                  <a:srgbClr val="0000CD"/>
                </a:solidFill>
                <a:latin typeface="Consolas" panose="020B0609020204030204" pitchFamily="49" charset="0"/>
              </a:rPr>
              <a:t>…</a:t>
            </a:r>
          </a:p>
          <a:p>
            <a:endParaRPr lang="en-US" dirty="0">
              <a:solidFill>
                <a:srgbClr val="0000CD"/>
              </a:solidFill>
              <a:latin typeface="Consolas" panose="020B0609020204030204" pitchFamily="49" charset="0"/>
            </a:endParaRPr>
          </a:p>
          <a:p>
            <a:endParaRPr lang="en-US" dirty="0"/>
          </a:p>
        </p:txBody>
      </p:sp>
    </p:spTree>
    <p:extLst>
      <p:ext uri="{BB962C8B-B14F-4D97-AF65-F5344CB8AC3E}">
        <p14:creationId xmlns:p14="http://schemas.microsoft.com/office/powerpoint/2010/main" val="1316230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E911A-C5B4-CFE0-2950-6F82C3BF24C1}"/>
              </a:ext>
            </a:extLst>
          </p:cNvPr>
          <p:cNvSpPr>
            <a:spLocks noGrp="1"/>
          </p:cNvSpPr>
          <p:nvPr>
            <p:ph type="title"/>
          </p:nvPr>
        </p:nvSpPr>
        <p:spPr/>
        <p:txBody>
          <a:bodyPr/>
          <a:lstStyle/>
          <a:p>
            <a:r>
              <a:rPr lang="en-US" sz="4400" b="1" dirty="0">
                <a:solidFill>
                  <a:schemeClr val="tx1">
                    <a:lumMod val="75000"/>
                    <a:lumOff val="25000"/>
                  </a:schemeClr>
                </a:solidFill>
              </a:rPr>
              <a:t>Exercise: Block level and inline elements</a:t>
            </a:r>
            <a:endParaRPr lang="en-US" dirty="0"/>
          </a:p>
        </p:txBody>
      </p:sp>
      <p:sp>
        <p:nvSpPr>
          <p:cNvPr id="3" name="Content Placeholder 2">
            <a:extLst>
              <a:ext uri="{FF2B5EF4-FFF2-40B4-BE49-F238E27FC236}">
                <a16:creationId xmlns:a16="http://schemas.microsoft.com/office/drawing/2014/main" id="{07480B0C-996F-01BC-B7F6-32472B530AF9}"/>
              </a:ext>
            </a:extLst>
          </p:cNvPr>
          <p:cNvSpPr>
            <a:spLocks noGrp="1"/>
          </p:cNvSpPr>
          <p:nvPr>
            <p:ph idx="1"/>
          </p:nvPr>
        </p:nvSpPr>
        <p:spPr/>
        <p:txBody>
          <a:bodyPr/>
          <a:lstStyle/>
          <a:p>
            <a:pPr marL="285750" indent="-285750" eaLnBrk="1" hangingPunct="1">
              <a:spcBef>
                <a:spcPts val="1000"/>
              </a:spcBef>
              <a:spcAft>
                <a:spcPts val="1200"/>
              </a:spcAft>
              <a:buFont typeface="Arial" panose="020B0604020202020204" pitchFamily="34" charset="0"/>
              <a:buChar char="•"/>
            </a:pPr>
            <a:r>
              <a:rPr lang="en-US" altLang="en-US" sz="2800" dirty="0"/>
              <a:t>Below is a section of a company’s website where the testimonials of customers are displayed, two  happy customers have sent in their testimonials. </a:t>
            </a:r>
          </a:p>
          <a:p>
            <a:pPr marL="285750" indent="-285750" eaLnBrk="1" hangingPunct="1">
              <a:spcBef>
                <a:spcPts val="1000"/>
              </a:spcBef>
              <a:spcAft>
                <a:spcPts val="1200"/>
              </a:spcAft>
              <a:buFont typeface="Arial" panose="020B0604020202020204" pitchFamily="34" charset="0"/>
              <a:buChar char="•"/>
            </a:pPr>
            <a:r>
              <a:rPr lang="en-US" altLang="en-US" sz="2800" dirty="0"/>
              <a:t>Achieve the below using an appropriate tag combination:</a:t>
            </a:r>
          </a:p>
          <a:p>
            <a:pPr marL="0" indent="0">
              <a:buNone/>
            </a:pPr>
            <a:r>
              <a:rPr lang="en-US" dirty="0"/>
              <a:t>	Testimonials</a:t>
            </a:r>
          </a:p>
          <a:p>
            <a:pPr marL="0" indent="0">
              <a:buNone/>
            </a:pPr>
            <a:r>
              <a:rPr lang="en-US" dirty="0"/>
              <a:t>	1. “I love your </a:t>
            </a:r>
            <a:r>
              <a:rPr lang="en-US" i="1" dirty="0"/>
              <a:t>service</a:t>
            </a:r>
            <a:r>
              <a:rPr lang="en-US" dirty="0"/>
              <a:t>!” – </a:t>
            </a:r>
            <a:r>
              <a:rPr lang="en-US" b="1" i="1" dirty="0"/>
              <a:t>Jane</a:t>
            </a:r>
          </a:p>
          <a:p>
            <a:pPr marL="0" indent="0">
              <a:buNone/>
            </a:pPr>
            <a:r>
              <a:rPr lang="en-US" b="1" i="1" dirty="0"/>
              <a:t>	</a:t>
            </a:r>
            <a:r>
              <a:rPr lang="en-US" dirty="0"/>
              <a:t>2. “I will always </a:t>
            </a:r>
            <a:r>
              <a:rPr lang="en-US" b="1" dirty="0"/>
              <a:t>recommend </a:t>
            </a:r>
            <a:r>
              <a:rPr lang="en-US" dirty="0"/>
              <a:t>you guys” - </a:t>
            </a:r>
            <a:r>
              <a:rPr lang="en-US" b="1" dirty="0"/>
              <a:t>Ayo</a:t>
            </a:r>
            <a:endParaRPr lang="en-US" b="1" i="1" dirty="0"/>
          </a:p>
        </p:txBody>
      </p:sp>
    </p:spTree>
    <p:extLst>
      <p:ext uri="{BB962C8B-B14F-4D97-AF65-F5344CB8AC3E}">
        <p14:creationId xmlns:p14="http://schemas.microsoft.com/office/powerpoint/2010/main" val="323669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F169A-CDD6-9A64-B0DC-2D5CAD446CA7}"/>
              </a:ext>
            </a:extLst>
          </p:cNvPr>
          <p:cNvSpPr>
            <a:spLocks noGrp="1"/>
          </p:cNvSpPr>
          <p:nvPr>
            <p:ph type="title"/>
          </p:nvPr>
        </p:nvSpPr>
        <p:spPr/>
        <p:txBody>
          <a:bodyPr/>
          <a:lstStyle/>
          <a:p>
            <a:r>
              <a:rPr lang="en-US" b="1" dirty="0"/>
              <a:t>Bold &amp; Strong and Italic &amp; Emphasis</a:t>
            </a:r>
          </a:p>
        </p:txBody>
      </p:sp>
      <p:sp>
        <p:nvSpPr>
          <p:cNvPr id="3" name="Content Placeholder 2">
            <a:extLst>
              <a:ext uri="{FF2B5EF4-FFF2-40B4-BE49-F238E27FC236}">
                <a16:creationId xmlns:a16="http://schemas.microsoft.com/office/drawing/2014/main" id="{FA70337C-22BA-9256-6625-12A14B0A60E5}"/>
              </a:ext>
            </a:extLst>
          </p:cNvPr>
          <p:cNvSpPr>
            <a:spLocks noGrp="1"/>
          </p:cNvSpPr>
          <p:nvPr>
            <p:ph idx="1"/>
          </p:nvPr>
        </p:nvSpPr>
        <p:spPr>
          <a:xfrm>
            <a:off x="838200" y="1825625"/>
            <a:ext cx="10515600" cy="4667250"/>
          </a:xfrm>
        </p:spPr>
        <p:txBody>
          <a:bodyPr/>
          <a:lstStyle/>
          <a:p>
            <a:pPr>
              <a:buFont typeface="Wingdings" panose="05000000000000000000" pitchFamily="2" charset="2"/>
              <a:buChar char="Ø"/>
            </a:pPr>
            <a:r>
              <a:rPr lang="en-US" dirty="0"/>
              <a:t>HTML bold tag is represented by &lt;b&gt; tag. It is used to display the written text in bold format. It is a paired tag. If you want to show your text in bold letters, then put it within &lt;b&gt; . . . &lt;/b&gt; tag.</a:t>
            </a:r>
          </a:p>
          <a:p>
            <a:pPr>
              <a:buFont typeface="Wingdings" panose="05000000000000000000" pitchFamily="2" charset="2"/>
              <a:buChar char="Ø"/>
            </a:pPr>
            <a:r>
              <a:rPr lang="en-US" dirty="0"/>
              <a:t>The &lt;strong&gt; tag adds extra semantic meaning and importance to the HTML document. It is recommended to use strong tag for bold format now.</a:t>
            </a:r>
          </a:p>
          <a:p>
            <a:pPr>
              <a:buFont typeface="Wingdings" panose="05000000000000000000" pitchFamily="2" charset="2"/>
              <a:buChar char="Ø"/>
            </a:pPr>
            <a:r>
              <a:rPr lang="en-US" dirty="0"/>
              <a:t>The italic Tag is like putting something in italics just for looks, &lt;</a:t>
            </a:r>
            <a:r>
              <a:rPr lang="en-US" dirty="0" err="1"/>
              <a:t>i</a:t>
            </a:r>
            <a:r>
              <a:rPr lang="en-US" dirty="0"/>
              <a:t>&gt;&lt;/</a:t>
            </a:r>
            <a:r>
              <a:rPr lang="en-US" dirty="0" err="1"/>
              <a:t>i</a:t>
            </a:r>
            <a:r>
              <a:rPr lang="en-US" dirty="0"/>
              <a:t>&gt; </a:t>
            </a:r>
          </a:p>
          <a:p>
            <a:pPr>
              <a:buFont typeface="Wingdings" panose="05000000000000000000" pitchFamily="2" charset="2"/>
              <a:buChar char="Ø"/>
            </a:pPr>
            <a:r>
              <a:rPr lang="en-US" dirty="0"/>
              <a:t>while &lt;</a:t>
            </a:r>
            <a:r>
              <a:rPr lang="en-US" dirty="0" err="1"/>
              <a:t>em</a:t>
            </a:r>
            <a:r>
              <a:rPr lang="en-US" dirty="0"/>
              <a:t>&gt; Tag is for adding real emphasis or importance to the text, indicating that it should be read with more attention. It also looks italicized but &lt;</a:t>
            </a:r>
            <a:r>
              <a:rPr lang="en-US" dirty="0" err="1"/>
              <a:t>em</a:t>
            </a:r>
            <a:r>
              <a:rPr lang="en-US" dirty="0"/>
              <a:t>&gt; have a meaning beyond appearance</a:t>
            </a:r>
          </a:p>
        </p:txBody>
      </p:sp>
    </p:spTree>
    <p:extLst>
      <p:ext uri="{BB962C8B-B14F-4D97-AF65-F5344CB8AC3E}">
        <p14:creationId xmlns:p14="http://schemas.microsoft.com/office/powerpoint/2010/main" val="2899568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E6021-47CC-A0D4-9370-FCA1CFAB225E}"/>
              </a:ext>
            </a:extLst>
          </p:cNvPr>
          <p:cNvSpPr>
            <a:spLocks noGrp="1"/>
          </p:cNvSpPr>
          <p:nvPr>
            <p:ph type="title"/>
          </p:nvPr>
        </p:nvSpPr>
        <p:spPr>
          <a:xfrm>
            <a:off x="838200" y="0"/>
            <a:ext cx="10515600" cy="681037"/>
          </a:xfrm>
        </p:spPr>
        <p:txBody>
          <a:bodyPr>
            <a:normAutofit fontScale="90000"/>
          </a:bodyPr>
          <a:lstStyle/>
          <a:p>
            <a:r>
              <a:rPr lang="en-US" b="1" dirty="0">
                <a:solidFill>
                  <a:schemeClr val="tx1">
                    <a:lumMod val="75000"/>
                    <a:lumOff val="25000"/>
                  </a:schemeClr>
                </a:solidFill>
              </a:rPr>
              <a:t>HTML TEXT FORMATING</a:t>
            </a:r>
            <a:endParaRPr lang="en-US" dirty="0"/>
          </a:p>
        </p:txBody>
      </p:sp>
      <p:sp>
        <p:nvSpPr>
          <p:cNvPr id="3" name="Content Placeholder 2">
            <a:extLst>
              <a:ext uri="{FF2B5EF4-FFF2-40B4-BE49-F238E27FC236}">
                <a16:creationId xmlns:a16="http://schemas.microsoft.com/office/drawing/2014/main" id="{B5A5F218-5D8E-3744-52B2-3DE74CEB2A09}"/>
              </a:ext>
            </a:extLst>
          </p:cNvPr>
          <p:cNvSpPr>
            <a:spLocks noGrp="1"/>
          </p:cNvSpPr>
          <p:nvPr>
            <p:ph idx="1"/>
          </p:nvPr>
        </p:nvSpPr>
        <p:spPr>
          <a:xfrm>
            <a:off x="838200" y="1020726"/>
            <a:ext cx="10515600" cy="5645888"/>
          </a:xfrm>
        </p:spPr>
        <p:txBody>
          <a:bodyPr>
            <a:normAutofit lnSpcReduction="10000"/>
          </a:bodyPr>
          <a:lstStyle/>
          <a:p>
            <a:pPr marL="0" indent="0" eaLnBrk="1" hangingPunct="1">
              <a:buNone/>
            </a:pPr>
            <a:r>
              <a:rPr lang="en-US" altLang="en-US" sz="2800" dirty="0"/>
              <a:t>Just like the bold/strong and the italic/emphasis tags, there are other formatting tags for our HTML text.</a:t>
            </a:r>
          </a:p>
          <a:p>
            <a:pPr marL="514350" indent="-514350" eaLnBrk="1" hangingPunct="1">
              <a:buAutoNum type="arabicPeriod"/>
            </a:pPr>
            <a:r>
              <a:rPr lang="en-US" altLang="en-US" dirty="0"/>
              <a:t>The HTML &lt;u&gt; Tag defines Underlined text. All the text within the &lt;u&gt; and &lt;/u&gt; tags will be underlined.</a:t>
            </a:r>
          </a:p>
          <a:p>
            <a:pPr marL="514350" indent="-514350" eaLnBrk="1" hangingPunct="1">
              <a:buAutoNum type="arabicPeriod"/>
            </a:pPr>
            <a:r>
              <a:rPr lang="en-US" altLang="en-US" sz="2800" dirty="0"/>
              <a:t>The HTML &lt;small&gt; Tag defines small text. This text is used for some side commenting or to write some copyright information.</a:t>
            </a:r>
          </a:p>
          <a:p>
            <a:pPr marL="514350" indent="-514350" eaLnBrk="1" hangingPunct="1">
              <a:buAutoNum type="arabicPeriod"/>
            </a:pPr>
            <a:r>
              <a:rPr lang="en-US" altLang="en-US" sz="2800" dirty="0"/>
              <a:t>The HTML &lt;del&gt; element defines Deleted text. This displays Text with a line strike.</a:t>
            </a:r>
          </a:p>
          <a:p>
            <a:pPr marL="514350" indent="-514350" eaLnBrk="1" hangingPunct="1">
              <a:buAutoNum type="arabicPeriod"/>
            </a:pPr>
            <a:r>
              <a:rPr lang="en-US" altLang="en-US" sz="2800" dirty="0"/>
              <a:t>The HTML &lt;sub&gt; element defines subscripted text. This type of text is small in size and is placed slightly below the normal line of text. While the &lt;sup&gt; place the text slightly above. The sub and sup tags. &lt;sub&gt;&lt;/sub&gt; and &lt;sup&gt;&lt;/sup&gt;</a:t>
            </a:r>
            <a:r>
              <a:rPr lang="en-US" altLang="en-US" dirty="0"/>
              <a:t>. Example, H2O.</a:t>
            </a:r>
            <a:endParaRPr lang="en-US" altLang="en-US" sz="2800" dirty="0"/>
          </a:p>
          <a:p>
            <a:pPr marL="0" indent="0" eaLnBrk="1" hangingPunct="1">
              <a:buNone/>
            </a:pPr>
            <a:r>
              <a:rPr lang="en-US" altLang="en-US" sz="3000" dirty="0">
                <a:solidFill>
                  <a:srgbClr val="C00000"/>
                </a:solidFill>
              </a:rPr>
              <a:t>	H&lt;sub&gt;2&lt;/sub&gt;O and H&lt;sup&gt;2&lt;/sup&gt;O</a:t>
            </a:r>
          </a:p>
          <a:p>
            <a:pPr marL="342900" indent="-342900" eaLnBrk="1" hangingPunct="1">
              <a:buClr>
                <a:schemeClr val="accent4"/>
              </a:buClr>
              <a:buFont typeface="Wingdings" pitchFamily="2" charset="2"/>
              <a:buChar char="§"/>
              <a:defRPr/>
            </a:pPr>
            <a:endParaRPr lang="en-US" sz="2800" dirty="0">
              <a:solidFill>
                <a:schemeClr val="tx1"/>
              </a:solidFill>
            </a:endParaRPr>
          </a:p>
          <a:p>
            <a:pPr marL="342900" indent="-342900" eaLnBrk="1" hangingPunct="1">
              <a:buClr>
                <a:schemeClr val="accent4"/>
              </a:buClr>
              <a:buFont typeface="Wingdings" pitchFamily="2" charset="2"/>
              <a:buChar char="§"/>
              <a:defRPr/>
            </a:pPr>
            <a:endParaRPr lang="en-US" sz="2800" dirty="0">
              <a:solidFill>
                <a:schemeClr val="tx1"/>
              </a:solidFill>
            </a:endParaRPr>
          </a:p>
          <a:p>
            <a:pPr marL="0" indent="0">
              <a:buNone/>
            </a:pPr>
            <a:endParaRPr lang="en-US" dirty="0"/>
          </a:p>
        </p:txBody>
      </p:sp>
    </p:spTree>
    <p:extLst>
      <p:ext uri="{BB962C8B-B14F-4D97-AF65-F5344CB8AC3E}">
        <p14:creationId xmlns:p14="http://schemas.microsoft.com/office/powerpoint/2010/main" val="3012687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115E0-AF72-3755-975E-66CC91263043}"/>
              </a:ext>
            </a:extLst>
          </p:cNvPr>
          <p:cNvSpPr>
            <a:spLocks noGrp="1"/>
          </p:cNvSpPr>
          <p:nvPr>
            <p:ph type="title"/>
          </p:nvPr>
        </p:nvSpPr>
        <p:spPr/>
        <p:txBody>
          <a:bodyPr/>
          <a:lstStyle/>
          <a:p>
            <a:r>
              <a:rPr lang="en-US" b="1" dirty="0"/>
              <a:t>Exercise:</a:t>
            </a:r>
          </a:p>
        </p:txBody>
      </p:sp>
      <p:sp>
        <p:nvSpPr>
          <p:cNvPr id="3" name="Content Placeholder 2">
            <a:extLst>
              <a:ext uri="{FF2B5EF4-FFF2-40B4-BE49-F238E27FC236}">
                <a16:creationId xmlns:a16="http://schemas.microsoft.com/office/drawing/2014/main" id="{9BE8A91E-768E-BAD0-2E22-F7CA8A9D7C9D}"/>
              </a:ext>
            </a:extLst>
          </p:cNvPr>
          <p:cNvSpPr>
            <a:spLocks noGrp="1"/>
          </p:cNvSpPr>
          <p:nvPr>
            <p:ph idx="1"/>
          </p:nvPr>
        </p:nvSpPr>
        <p:spPr/>
        <p:txBody>
          <a:bodyPr>
            <a:normAutofit/>
          </a:bodyPr>
          <a:lstStyle/>
          <a:p>
            <a:pPr marL="0" indent="0" eaLnBrk="1" hangingPunct="1">
              <a:buClr>
                <a:schemeClr val="accent4"/>
              </a:buClr>
              <a:buNone/>
              <a:defRPr/>
            </a:pPr>
            <a:r>
              <a:rPr lang="en-US" sz="3000" dirty="0">
                <a:solidFill>
                  <a:srgbClr val="C00000"/>
                </a:solidFill>
                <a:latin typeface="Arial" panose="020B0604020202020204" pitchFamily="34" charset="0"/>
                <a:cs typeface="Arial" panose="020B0604020202020204" pitchFamily="34" charset="0"/>
              </a:rPr>
              <a:t>Achieve the following using the appropriate HTML tags.</a:t>
            </a:r>
          </a:p>
          <a:p>
            <a:pPr marL="0" indent="0" eaLnBrk="1" hangingPunct="1">
              <a:buClr>
                <a:schemeClr val="accent4"/>
              </a:buClr>
              <a:buNone/>
              <a:defRPr/>
            </a:pPr>
            <a:endParaRPr lang="en-US" sz="3000" dirty="0">
              <a:solidFill>
                <a:srgbClr val="C00000"/>
              </a:solidFill>
              <a:latin typeface="Arial" panose="020B0604020202020204" pitchFamily="34" charset="0"/>
              <a:cs typeface="Arial" panose="020B0604020202020204" pitchFamily="34" charset="0"/>
            </a:endParaRPr>
          </a:p>
          <a:p>
            <a:pPr marL="514350" indent="-514350" eaLnBrk="1" hangingPunct="1">
              <a:buClr>
                <a:schemeClr val="accent4"/>
              </a:buClr>
              <a:buAutoNum type="arabicPeriod"/>
              <a:defRPr/>
            </a:pPr>
            <a:r>
              <a:rPr lang="en-US" sz="3000" b="1" dirty="0">
                <a:solidFill>
                  <a:schemeClr val="tx1"/>
                </a:solidFill>
                <a:latin typeface="Arial" panose="020B0604020202020204" pitchFamily="34" charset="0"/>
                <a:cs typeface="Arial" panose="020B0604020202020204" pitchFamily="34" charset="0"/>
              </a:rPr>
              <a:t>I</a:t>
            </a:r>
            <a:r>
              <a:rPr lang="en-US" sz="3000" dirty="0">
                <a:solidFill>
                  <a:schemeClr val="tx1"/>
                </a:solidFill>
                <a:latin typeface="Arial" panose="020B0604020202020204" pitchFamily="34" charset="0"/>
                <a:cs typeface="Arial" panose="020B0604020202020204" pitchFamily="34" charset="0"/>
              </a:rPr>
              <a:t> am learning </a:t>
            </a:r>
            <a:r>
              <a:rPr lang="en-US" sz="3000" u="sng" dirty="0">
                <a:solidFill>
                  <a:schemeClr val="tx1"/>
                </a:solidFill>
                <a:latin typeface="Arial" panose="020B0604020202020204" pitchFamily="34" charset="0"/>
                <a:cs typeface="Arial" panose="020B0604020202020204" pitchFamily="34" charset="0"/>
              </a:rPr>
              <a:t>Programming</a:t>
            </a:r>
            <a:r>
              <a:rPr lang="en-US" sz="3000" dirty="0">
                <a:solidFill>
                  <a:schemeClr val="tx1"/>
                </a:solidFill>
                <a:latin typeface="Arial" panose="020B0604020202020204" pitchFamily="34" charset="0"/>
                <a:cs typeface="Arial" panose="020B0604020202020204" pitchFamily="34" charset="0"/>
              </a:rPr>
              <a:t> and </a:t>
            </a:r>
            <a:r>
              <a:rPr lang="en-US" sz="3000" i="1" dirty="0">
                <a:solidFill>
                  <a:schemeClr val="tx1"/>
                </a:solidFill>
                <a:latin typeface="Arial" panose="020B0604020202020204" pitchFamily="34" charset="0"/>
                <a:cs typeface="Arial" panose="020B0604020202020204" pitchFamily="34" charset="0"/>
              </a:rPr>
              <a:t>currently</a:t>
            </a:r>
            <a:r>
              <a:rPr lang="en-US" sz="3000" dirty="0">
                <a:solidFill>
                  <a:schemeClr val="tx1"/>
                </a:solidFill>
                <a:latin typeface="Arial" panose="020B0604020202020204" pitchFamily="34" charset="0"/>
                <a:cs typeface="Arial" panose="020B0604020202020204" pitchFamily="34" charset="0"/>
              </a:rPr>
              <a:t> on </a:t>
            </a:r>
            <a:r>
              <a:rPr lang="en-US" sz="3000" b="1" dirty="0">
                <a:solidFill>
                  <a:schemeClr val="tx1"/>
                </a:solidFill>
                <a:latin typeface="Arial" panose="020B0604020202020204" pitchFamily="34" charset="0"/>
                <a:cs typeface="Arial" panose="020B0604020202020204" pitchFamily="34" charset="0"/>
              </a:rPr>
              <a:t>HTML</a:t>
            </a:r>
          </a:p>
          <a:p>
            <a:pPr marL="514350" indent="-514350">
              <a:buClr>
                <a:schemeClr val="accent4"/>
              </a:buClr>
              <a:buFont typeface="Arial" panose="020B0604020202020204" pitchFamily="34" charset="0"/>
              <a:buAutoNum type="arabicPeriod"/>
              <a:defRPr/>
            </a:pPr>
            <a:r>
              <a:rPr lang="en-US" sz="3000" dirty="0">
                <a:latin typeface="Arial" panose="020B0604020202020204" pitchFamily="34" charset="0"/>
                <a:cs typeface="Arial" panose="020B0604020202020204" pitchFamily="34" charset="0"/>
              </a:rPr>
              <a:t>The weather </a:t>
            </a:r>
            <a:r>
              <a:rPr lang="en-US" b="1" i="1" dirty="0">
                <a:latin typeface="Arial" panose="020B0604020202020204" pitchFamily="34" charset="0"/>
                <a:cs typeface="Arial" panose="020B0604020202020204" pitchFamily="34" charset="0"/>
              </a:rPr>
              <a:t>outside</a:t>
            </a:r>
            <a:r>
              <a:rPr lang="en-US" sz="3000" dirty="0">
                <a:latin typeface="Arial" panose="020B0604020202020204" pitchFamily="34" charset="0"/>
                <a:cs typeface="Arial" panose="020B0604020202020204" pitchFamily="34" charset="0"/>
              </a:rPr>
              <a:t> is about </a:t>
            </a:r>
            <a:r>
              <a:rPr lang="en-US" sz="3000" b="0" i="0" dirty="0">
                <a:solidFill>
                  <a:srgbClr val="202124"/>
                </a:solidFill>
                <a:effectLst/>
                <a:latin typeface="Arial" panose="020B0604020202020204" pitchFamily="34" charset="0"/>
                <a:cs typeface="Arial" panose="020B0604020202020204" pitchFamily="34" charset="0"/>
              </a:rPr>
              <a:t>2°C </a:t>
            </a:r>
            <a:r>
              <a:rPr lang="en-US" sz="3000" b="0" i="1" dirty="0">
                <a:solidFill>
                  <a:srgbClr val="202124"/>
                </a:solidFill>
                <a:effectLst/>
                <a:latin typeface="Arial" panose="020B0604020202020204" pitchFamily="34" charset="0"/>
                <a:cs typeface="Arial" panose="020B0604020202020204" pitchFamily="34" charset="0"/>
              </a:rPr>
              <a:t>degrees</a:t>
            </a:r>
            <a:r>
              <a:rPr lang="en-US" sz="3000" b="0" i="0" dirty="0">
                <a:solidFill>
                  <a:srgbClr val="202124"/>
                </a:solidFill>
                <a:effectLst/>
                <a:latin typeface="Arial" panose="020B0604020202020204" pitchFamily="34" charset="0"/>
                <a:cs typeface="Arial" panose="020B0604020202020204" pitchFamily="34" charset="0"/>
              </a:rPr>
              <a:t> Celsius.</a:t>
            </a:r>
          </a:p>
          <a:p>
            <a:pPr marL="514350" indent="-514350">
              <a:buClr>
                <a:schemeClr val="accent4"/>
              </a:buClr>
              <a:buFont typeface="Arial" panose="020B0604020202020204" pitchFamily="34" charset="0"/>
              <a:buAutoNum type="arabicPeriod"/>
              <a:defRPr/>
            </a:pPr>
            <a:r>
              <a:rPr lang="en-US" sz="3000" dirty="0">
                <a:latin typeface="Arial" panose="020B0604020202020204" pitchFamily="34" charset="0"/>
                <a:cs typeface="Arial" panose="020B0604020202020204" pitchFamily="34" charset="0"/>
              </a:rPr>
              <a:t> I have completed this </a:t>
            </a:r>
            <a:r>
              <a:rPr lang="en-US" sz="3000" strike="sngStrike" dirty="0">
                <a:latin typeface="Arial" panose="020B0604020202020204" pitchFamily="34" charset="0"/>
                <a:cs typeface="Arial" panose="020B0604020202020204" pitchFamily="34" charset="0"/>
              </a:rPr>
              <a:t>task</a:t>
            </a:r>
            <a:r>
              <a:rPr lang="en-US" sz="3000" dirty="0">
                <a:latin typeface="Arial" panose="020B0604020202020204" pitchFamily="34" charset="0"/>
                <a:cs typeface="Arial" panose="020B0604020202020204" pitchFamily="34" charset="0"/>
              </a:rPr>
              <a:t> and now </a:t>
            </a:r>
            <a:r>
              <a:rPr lang="en-US" sz="2000" dirty="0">
                <a:latin typeface="Arial" panose="020B0604020202020204" pitchFamily="34" charset="0"/>
                <a:cs typeface="Arial" panose="020B0604020202020204" pitchFamily="34" charset="0"/>
              </a:rPr>
              <a:t>relaxing</a:t>
            </a:r>
            <a:r>
              <a:rPr lang="en-US" sz="3000" dirty="0">
                <a:latin typeface="Arial" panose="020B0604020202020204" pitchFamily="34" charset="0"/>
                <a:cs typeface="Arial" panose="020B0604020202020204" pitchFamily="34" charset="0"/>
              </a:rPr>
              <a:t> </a:t>
            </a:r>
            <a:r>
              <a:rPr lang="en-US" sz="3000" b="1" dirty="0">
                <a:latin typeface="Arial" panose="020B0604020202020204" pitchFamily="34" charset="0"/>
                <a:cs typeface="Arial" panose="020B0604020202020204" pitchFamily="34" charset="0"/>
              </a:rPr>
              <a:t>outside</a:t>
            </a:r>
          </a:p>
          <a:p>
            <a:pPr marL="514350" indent="-514350">
              <a:buClr>
                <a:schemeClr val="accent4"/>
              </a:buClr>
              <a:buFont typeface="Arial" panose="020B0604020202020204" pitchFamily="34" charset="0"/>
              <a:buAutoNum type="arabicPeriod"/>
              <a:defRPr/>
            </a:pPr>
            <a:r>
              <a:rPr lang="en-US" sz="3000" i="0" dirty="0">
                <a:solidFill>
                  <a:srgbClr val="000000"/>
                </a:solidFill>
                <a:effectLst/>
                <a:latin typeface="Arial" panose="020B0604020202020204" pitchFamily="34" charset="0"/>
                <a:cs typeface="Arial" panose="020B0604020202020204" pitchFamily="34" charset="0"/>
              </a:rPr>
              <a:t>I am </a:t>
            </a:r>
            <a:r>
              <a:rPr lang="en-US" sz="3000" i="0" u="sng" dirty="0">
                <a:solidFill>
                  <a:srgbClr val="000000"/>
                </a:solidFill>
                <a:effectLst/>
                <a:latin typeface="Arial" panose="020B0604020202020204" pitchFamily="34" charset="0"/>
                <a:cs typeface="Arial" panose="020B0604020202020204" pitchFamily="34" charset="0"/>
              </a:rPr>
              <a:t>currently</a:t>
            </a:r>
            <a:r>
              <a:rPr lang="en-US" sz="3000" i="0" dirty="0">
                <a:solidFill>
                  <a:srgbClr val="000000"/>
                </a:solidFill>
                <a:effectLst/>
                <a:latin typeface="Arial" panose="020B0604020202020204" pitchFamily="34" charset="0"/>
                <a:cs typeface="Arial" panose="020B0604020202020204" pitchFamily="34" charset="0"/>
              </a:rPr>
              <a:t> learning </a:t>
            </a:r>
            <a:r>
              <a:rPr lang="en-US" sz="3000" b="1" i="0" dirty="0">
                <a:solidFill>
                  <a:srgbClr val="000000"/>
                </a:solidFill>
                <a:effectLst/>
                <a:latin typeface="Arial" panose="020B0604020202020204" pitchFamily="34" charset="0"/>
                <a:cs typeface="Arial" panose="020B0604020202020204" pitchFamily="34" charset="0"/>
              </a:rPr>
              <a:t>HTML </a:t>
            </a:r>
            <a:r>
              <a:rPr lang="en-US" sz="3000" i="0" dirty="0">
                <a:solidFill>
                  <a:srgbClr val="000000"/>
                </a:solidFill>
                <a:effectLst/>
                <a:latin typeface="Arial" panose="020B0604020202020204" pitchFamily="34" charset="0"/>
                <a:cs typeface="Arial" panose="020B0604020202020204" pitchFamily="34" charset="0"/>
              </a:rPr>
              <a:t>and its fun</a:t>
            </a:r>
            <a:r>
              <a:rPr lang="en-US" sz="3000" b="1" i="0" dirty="0">
                <a:solidFill>
                  <a:srgbClr val="000000"/>
                </a:solidFill>
                <a:effectLst/>
                <a:latin typeface="Arial" panose="020B0604020202020204" pitchFamily="34" charset="0"/>
                <a:cs typeface="Arial" panose="020B0604020202020204" pitchFamily="34" charset="0"/>
              </a:rPr>
              <a:t>.</a:t>
            </a:r>
          </a:p>
          <a:p>
            <a:pPr marL="514350" indent="-514350">
              <a:buClr>
                <a:schemeClr val="accent4"/>
              </a:buClr>
              <a:buFont typeface="Arial" panose="020B0604020202020204" pitchFamily="34" charset="0"/>
              <a:buAutoNum type="arabicPeriod"/>
              <a:defRPr/>
            </a:pPr>
            <a:r>
              <a:rPr lang="en-US" sz="3000" b="0" i="0" dirty="0">
                <a:solidFill>
                  <a:srgbClr val="000000"/>
                </a:solidFill>
                <a:effectLst/>
                <a:latin typeface="Times New Roman" panose="02020603050405020304" pitchFamily="18" charset="0"/>
              </a:rPr>
              <a:t>The </a:t>
            </a:r>
            <a:r>
              <a:rPr lang="en-US" sz="3000" b="1" i="0" dirty="0">
                <a:solidFill>
                  <a:srgbClr val="000000"/>
                </a:solidFill>
                <a:effectLst/>
                <a:latin typeface="Times New Roman" panose="02020603050405020304" pitchFamily="18" charset="0"/>
              </a:rPr>
              <a:t>equation</a:t>
            </a:r>
            <a:r>
              <a:rPr lang="en-US" sz="3000" b="0" i="0" dirty="0">
                <a:solidFill>
                  <a:srgbClr val="000000"/>
                </a:solidFill>
                <a:effectLst/>
                <a:latin typeface="Times New Roman" panose="02020603050405020304" pitchFamily="18" charset="0"/>
              </a:rPr>
              <a:t> is: L</a:t>
            </a:r>
            <a:r>
              <a:rPr lang="en-US" sz="3000" b="0" i="0" baseline="-25000" dirty="0">
                <a:solidFill>
                  <a:srgbClr val="000000"/>
                </a:solidFill>
                <a:effectLst/>
                <a:latin typeface="Times New Roman" panose="02020603050405020304" pitchFamily="18" charset="0"/>
              </a:rPr>
              <a:t>4</a:t>
            </a:r>
            <a:r>
              <a:rPr lang="en-US" sz="3000" b="0" i="0" dirty="0">
                <a:solidFill>
                  <a:srgbClr val="000000"/>
                </a:solidFill>
                <a:effectLst/>
                <a:latin typeface="Times New Roman" panose="02020603050405020304" pitchFamily="18" charset="0"/>
              </a:rPr>
              <a:t> + H</a:t>
            </a:r>
            <a:r>
              <a:rPr lang="en-US" sz="3000" b="0" i="0" baseline="30000" dirty="0">
                <a:solidFill>
                  <a:srgbClr val="000000"/>
                </a:solidFill>
                <a:effectLst/>
                <a:latin typeface="Times New Roman" panose="02020603050405020304" pitchFamily="18" charset="0"/>
              </a:rPr>
              <a:t>2</a:t>
            </a:r>
            <a:r>
              <a:rPr lang="en-US" sz="3000" b="0" i="0" dirty="0">
                <a:solidFill>
                  <a:srgbClr val="000000"/>
                </a:solidFill>
                <a:effectLst/>
                <a:latin typeface="Times New Roman" panose="02020603050405020304" pitchFamily="18" charset="0"/>
              </a:rPr>
              <a:t> + K</a:t>
            </a:r>
            <a:r>
              <a:rPr lang="en-US" sz="3000" b="0" i="0" baseline="-25000" dirty="0">
                <a:solidFill>
                  <a:srgbClr val="000000"/>
                </a:solidFill>
                <a:effectLst/>
                <a:latin typeface="Times New Roman" panose="02020603050405020304" pitchFamily="18" charset="0"/>
              </a:rPr>
              <a:t>3</a:t>
            </a:r>
            <a:r>
              <a:rPr lang="en-US" sz="3000" b="0" i="0" baseline="30000" dirty="0">
                <a:solidFill>
                  <a:srgbClr val="000000"/>
                </a:solidFill>
                <a:effectLst/>
                <a:latin typeface="Times New Roman" panose="02020603050405020304" pitchFamily="18" charset="0"/>
              </a:rPr>
              <a:t>2</a:t>
            </a:r>
          </a:p>
          <a:p>
            <a:pPr marL="0" indent="0">
              <a:buClr>
                <a:schemeClr val="accent4"/>
              </a:buClr>
              <a:buNone/>
              <a:defRPr/>
            </a:pPr>
            <a:endParaRPr lang="en-US" sz="3000" dirty="0">
              <a:latin typeface="Arial" panose="020B0604020202020204" pitchFamily="34" charset="0"/>
              <a:cs typeface="Arial" panose="020B0604020202020204" pitchFamily="34" charset="0"/>
            </a:endParaRPr>
          </a:p>
          <a:p>
            <a:pPr marL="514350" indent="-514350" eaLnBrk="1" hangingPunct="1">
              <a:buClr>
                <a:schemeClr val="accent4"/>
              </a:buClr>
              <a:buAutoNum type="arabicPeriod"/>
              <a:defRPr/>
            </a:pPr>
            <a:endParaRPr lang="en-US" sz="3000" dirty="0">
              <a:solidFill>
                <a:schemeClr val="tx1"/>
              </a:solidFill>
              <a:latin typeface="Arial" panose="020B0604020202020204" pitchFamily="34" charset="0"/>
              <a:cs typeface="Arial" panose="020B0604020202020204" pitchFamily="34" charset="0"/>
            </a:endParaRPr>
          </a:p>
          <a:p>
            <a:pPr marL="0" indent="0" eaLnBrk="1" hangingPunct="1">
              <a:buClr>
                <a:schemeClr val="accent4"/>
              </a:buClr>
              <a:buNone/>
              <a:defRPr/>
            </a:pPr>
            <a:endParaRPr lang="en-US" sz="3000" b="1" dirty="0">
              <a:solidFill>
                <a:schemeClr val="tx1"/>
              </a:solidFill>
              <a:latin typeface="Arial" panose="020B0604020202020204" pitchFamily="34" charset="0"/>
              <a:cs typeface="Arial" panose="020B0604020202020204" pitchFamily="34" charset="0"/>
            </a:endParaRPr>
          </a:p>
          <a:p>
            <a:pPr marL="0" indent="0">
              <a:buNone/>
            </a:pPr>
            <a:endParaRPr lang="en-US" sz="3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2773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F8244-DE38-9114-1A4B-63888B3AE674}"/>
              </a:ext>
            </a:extLst>
          </p:cNvPr>
          <p:cNvSpPr>
            <a:spLocks noGrp="1"/>
          </p:cNvSpPr>
          <p:nvPr>
            <p:ph type="title"/>
          </p:nvPr>
        </p:nvSpPr>
        <p:spPr>
          <a:xfrm>
            <a:off x="838200" y="1"/>
            <a:ext cx="10515600" cy="925032"/>
          </a:xfrm>
        </p:spPr>
        <p:txBody>
          <a:bodyPr/>
          <a:lstStyle/>
          <a:p>
            <a:r>
              <a:rPr lang="en-US" b="1" dirty="0"/>
              <a:t>The LIST Element: </a:t>
            </a:r>
            <a:r>
              <a:rPr lang="en-US" b="1" i="1" u="sng" dirty="0"/>
              <a:t>Ordered and Unordered</a:t>
            </a:r>
          </a:p>
        </p:txBody>
      </p:sp>
      <p:sp>
        <p:nvSpPr>
          <p:cNvPr id="3" name="Content Placeholder 2">
            <a:extLst>
              <a:ext uri="{FF2B5EF4-FFF2-40B4-BE49-F238E27FC236}">
                <a16:creationId xmlns:a16="http://schemas.microsoft.com/office/drawing/2014/main" id="{6C1E1DE5-CED9-DC6E-9D85-7F3A899A65A0}"/>
              </a:ext>
            </a:extLst>
          </p:cNvPr>
          <p:cNvSpPr>
            <a:spLocks noGrp="1"/>
          </p:cNvSpPr>
          <p:nvPr>
            <p:ph idx="1"/>
          </p:nvPr>
        </p:nvSpPr>
        <p:spPr>
          <a:xfrm>
            <a:off x="838200" y="1158949"/>
            <a:ext cx="10515600" cy="5333926"/>
          </a:xfrm>
        </p:spPr>
        <p:txBody>
          <a:bodyPr>
            <a:normAutofit lnSpcReduction="10000"/>
          </a:bodyPr>
          <a:lstStyle/>
          <a:p>
            <a:pPr marL="0" indent="0">
              <a:buNone/>
            </a:pPr>
            <a:r>
              <a:rPr lang="en-US" u="sng" dirty="0"/>
              <a:t>THE ORDERED LIST:</a:t>
            </a:r>
          </a:p>
          <a:p>
            <a:pPr marL="0" indent="0">
              <a:buNone/>
            </a:pPr>
            <a:r>
              <a:rPr lang="en-US" dirty="0"/>
              <a:t>This list is created by using &lt;</a:t>
            </a:r>
            <a:r>
              <a:rPr lang="en-US" dirty="0" err="1"/>
              <a:t>ol</a:t>
            </a:r>
            <a:r>
              <a:rPr lang="en-US" dirty="0"/>
              <a:t>&gt; tag. Any series can be used to order the elements, like series of digits, alphabets, roman numerals, etc. All these series gets increased by one with every new element entered in the list.</a:t>
            </a:r>
          </a:p>
          <a:p>
            <a:pPr marL="342900" indent="-342900" eaLnBrk="1" hangingPunct="1">
              <a:buFont typeface="Arial" panose="020B0604020202020204" pitchFamily="34" charset="0"/>
              <a:buChar char="•"/>
            </a:pPr>
            <a:r>
              <a:rPr lang="en-US" altLang="en-US" dirty="0"/>
              <a:t>An ordered list starts with the &lt;</a:t>
            </a:r>
            <a:r>
              <a:rPr lang="en-US" altLang="en-US" dirty="0" err="1"/>
              <a:t>ol</a:t>
            </a:r>
            <a:r>
              <a:rPr lang="en-US" altLang="en-US" dirty="0"/>
              <a:t>&gt; tag. Each list item starts with the &lt;li&gt; tag.</a:t>
            </a:r>
          </a:p>
          <a:p>
            <a:pPr marL="342900" indent="-342900" eaLnBrk="1" hangingPunct="1">
              <a:buFont typeface="Arial" panose="020B0604020202020204" pitchFamily="34" charset="0"/>
              <a:buChar char="•"/>
            </a:pPr>
            <a:r>
              <a:rPr lang="en-US" altLang="en-US" dirty="0"/>
              <a:t>The list items will be marked with numbers by default</a:t>
            </a:r>
          </a:p>
          <a:p>
            <a:pPr marL="0" indent="0">
              <a:spcAft>
                <a:spcPts val="0"/>
              </a:spcAft>
              <a:buNone/>
              <a:defRPr/>
            </a:pPr>
            <a:r>
              <a:rPr lang="en-US" sz="2800" b="1" dirty="0"/>
              <a:t>&lt;</a:t>
            </a:r>
            <a:r>
              <a:rPr lang="en-US" sz="2800" b="1" dirty="0" err="1"/>
              <a:t>ol</a:t>
            </a:r>
            <a:r>
              <a:rPr lang="en-US" sz="2800" b="1" dirty="0"/>
              <a:t>&gt;</a:t>
            </a:r>
          </a:p>
          <a:p>
            <a:pPr marL="0" indent="0">
              <a:spcAft>
                <a:spcPts val="0"/>
              </a:spcAft>
              <a:buNone/>
              <a:defRPr/>
            </a:pPr>
            <a:r>
              <a:rPr lang="en-US" sz="2800" b="1" dirty="0"/>
              <a:t>  </a:t>
            </a:r>
            <a:r>
              <a:rPr lang="en-US" sz="2800" b="1" dirty="0">
                <a:solidFill>
                  <a:srgbClr val="C00000"/>
                </a:solidFill>
              </a:rPr>
              <a:t>&lt;li&gt;</a:t>
            </a:r>
            <a:r>
              <a:rPr lang="en-US" sz="2800" b="1" dirty="0">
                <a:solidFill>
                  <a:schemeClr val="accent2">
                    <a:lumMod val="75000"/>
                  </a:schemeClr>
                </a:solidFill>
              </a:rPr>
              <a:t>Coffee</a:t>
            </a:r>
            <a:r>
              <a:rPr lang="en-US" sz="2800" b="1" dirty="0">
                <a:solidFill>
                  <a:srgbClr val="C00000"/>
                </a:solidFill>
              </a:rPr>
              <a:t>&lt;/li&gt;</a:t>
            </a:r>
          </a:p>
          <a:p>
            <a:pPr marL="0" indent="0">
              <a:spcAft>
                <a:spcPts val="0"/>
              </a:spcAft>
              <a:buNone/>
              <a:defRPr/>
            </a:pPr>
            <a:r>
              <a:rPr lang="en-US" sz="2800" b="1" dirty="0">
                <a:solidFill>
                  <a:srgbClr val="C00000"/>
                </a:solidFill>
              </a:rPr>
              <a:t>  &lt;li&gt;</a:t>
            </a:r>
            <a:r>
              <a:rPr lang="en-US" sz="2800" b="1" dirty="0">
                <a:solidFill>
                  <a:schemeClr val="accent2">
                    <a:lumMod val="75000"/>
                  </a:schemeClr>
                </a:solidFill>
              </a:rPr>
              <a:t>Tea</a:t>
            </a:r>
            <a:r>
              <a:rPr lang="en-US" sz="2800" b="1" dirty="0">
                <a:solidFill>
                  <a:srgbClr val="C00000"/>
                </a:solidFill>
              </a:rPr>
              <a:t>&lt;/li&gt;</a:t>
            </a:r>
          </a:p>
          <a:p>
            <a:pPr marL="0" indent="0">
              <a:spcAft>
                <a:spcPts val="0"/>
              </a:spcAft>
              <a:buNone/>
              <a:defRPr/>
            </a:pPr>
            <a:r>
              <a:rPr lang="en-US" sz="2800" b="1" dirty="0">
                <a:solidFill>
                  <a:srgbClr val="C00000"/>
                </a:solidFill>
              </a:rPr>
              <a:t>  &lt;li&gt;</a:t>
            </a:r>
            <a:r>
              <a:rPr lang="en-US" sz="2800" b="1" dirty="0">
                <a:solidFill>
                  <a:schemeClr val="accent2">
                    <a:lumMod val="75000"/>
                  </a:schemeClr>
                </a:solidFill>
              </a:rPr>
              <a:t>Milk</a:t>
            </a:r>
            <a:r>
              <a:rPr lang="en-US" sz="2800" b="1" dirty="0">
                <a:solidFill>
                  <a:srgbClr val="C00000"/>
                </a:solidFill>
              </a:rPr>
              <a:t>&lt;/li&gt;</a:t>
            </a:r>
          </a:p>
          <a:p>
            <a:pPr marL="0" indent="0">
              <a:spcAft>
                <a:spcPts val="0"/>
              </a:spcAft>
              <a:buNone/>
              <a:defRPr/>
            </a:pPr>
            <a:r>
              <a:rPr lang="en-US" sz="2800" b="1" dirty="0"/>
              <a:t>&lt;/</a:t>
            </a:r>
            <a:r>
              <a:rPr lang="en-US" sz="2800" b="1" dirty="0" err="1"/>
              <a:t>ol</a:t>
            </a:r>
            <a:r>
              <a:rPr lang="en-US" sz="2800" b="1" dirty="0"/>
              <a:t>&gt;</a:t>
            </a:r>
          </a:p>
          <a:p>
            <a:pPr marL="342900" indent="-342900" eaLnBrk="1" hangingPunct="1">
              <a:buFont typeface="Arial" panose="020B0604020202020204" pitchFamily="34" charset="0"/>
              <a:buChar char="•"/>
            </a:pPr>
            <a:endParaRPr lang="en-US" altLang="en-US" dirty="0"/>
          </a:p>
          <a:p>
            <a:pPr marL="0" indent="0">
              <a:buNone/>
            </a:pPr>
            <a:endParaRPr lang="en-US" dirty="0"/>
          </a:p>
          <a:p>
            <a:pPr marL="0" indent="0">
              <a:buNone/>
            </a:pPr>
            <a:endParaRPr lang="en-US" dirty="0"/>
          </a:p>
        </p:txBody>
      </p:sp>
      <p:sp>
        <p:nvSpPr>
          <p:cNvPr id="5" name="TextBox 4">
            <a:extLst>
              <a:ext uri="{FF2B5EF4-FFF2-40B4-BE49-F238E27FC236}">
                <a16:creationId xmlns:a16="http://schemas.microsoft.com/office/drawing/2014/main" id="{AD9E26F2-63C9-335C-3853-0F27420B45A0}"/>
              </a:ext>
            </a:extLst>
          </p:cNvPr>
          <p:cNvSpPr txBox="1"/>
          <p:nvPr/>
        </p:nvSpPr>
        <p:spPr>
          <a:xfrm>
            <a:off x="5473109" y="4386782"/>
            <a:ext cx="4234417" cy="1384995"/>
          </a:xfrm>
          <a:prstGeom prst="rect">
            <a:avLst/>
          </a:prstGeom>
          <a:noFill/>
        </p:spPr>
        <p:txBody>
          <a:bodyPr wrap="square">
            <a:spAutoFit/>
          </a:bodyPr>
          <a:lstStyle/>
          <a:p>
            <a:pPr algn="l">
              <a:buFont typeface="+mj-lt"/>
              <a:buAutoNum type="arabicPeriod"/>
            </a:pPr>
            <a:r>
              <a:rPr lang="en-US" sz="2800" b="0" i="0" dirty="0">
                <a:solidFill>
                  <a:srgbClr val="000000"/>
                </a:solidFill>
                <a:effectLst/>
                <a:latin typeface="system-ui"/>
              </a:rPr>
              <a:t>Coffee</a:t>
            </a:r>
          </a:p>
          <a:p>
            <a:pPr algn="l">
              <a:buFont typeface="+mj-lt"/>
              <a:buAutoNum type="arabicPeriod"/>
            </a:pPr>
            <a:r>
              <a:rPr lang="en-US" sz="2800" b="0" i="0" dirty="0">
                <a:solidFill>
                  <a:srgbClr val="000000"/>
                </a:solidFill>
                <a:effectLst/>
                <a:latin typeface="system-ui"/>
              </a:rPr>
              <a:t>Tea</a:t>
            </a:r>
          </a:p>
          <a:p>
            <a:pPr algn="l">
              <a:buFont typeface="+mj-lt"/>
              <a:buAutoNum type="arabicPeriod"/>
            </a:pPr>
            <a:r>
              <a:rPr lang="en-US" sz="2800" b="0" i="0" dirty="0">
                <a:solidFill>
                  <a:srgbClr val="000000"/>
                </a:solidFill>
                <a:effectLst/>
                <a:latin typeface="system-ui"/>
              </a:rPr>
              <a:t>Milk</a:t>
            </a:r>
          </a:p>
        </p:txBody>
      </p:sp>
    </p:spTree>
    <p:extLst>
      <p:ext uri="{BB962C8B-B14F-4D97-AF65-F5344CB8AC3E}">
        <p14:creationId xmlns:p14="http://schemas.microsoft.com/office/powerpoint/2010/main" val="2883044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4D02C-61FB-E0BB-C2F7-538841DF32A9}"/>
              </a:ext>
            </a:extLst>
          </p:cNvPr>
          <p:cNvSpPr>
            <a:spLocks noGrp="1"/>
          </p:cNvSpPr>
          <p:nvPr>
            <p:ph type="title"/>
          </p:nvPr>
        </p:nvSpPr>
        <p:spPr>
          <a:xfrm>
            <a:off x="838200" y="53163"/>
            <a:ext cx="10515600" cy="1924493"/>
          </a:xfrm>
        </p:spPr>
        <p:txBody>
          <a:bodyPr>
            <a:normAutofit/>
          </a:bodyPr>
          <a:lstStyle/>
          <a:p>
            <a:r>
              <a:rPr lang="en-US" u="sng" dirty="0"/>
              <a:t>The </a:t>
            </a:r>
            <a:r>
              <a:rPr lang="en-US" b="1" i="1" u="sng" dirty="0"/>
              <a:t>type</a:t>
            </a:r>
            <a:r>
              <a:rPr lang="en-US" u="sng" dirty="0"/>
              <a:t> Attribute for an Ordered List</a:t>
            </a:r>
            <a:br>
              <a:rPr lang="en-US" u="sng" dirty="0"/>
            </a:br>
            <a:r>
              <a:rPr lang="en-US" dirty="0"/>
              <a:t/>
            </a:r>
            <a:br>
              <a:rPr lang="en-US" dirty="0"/>
            </a:br>
            <a:r>
              <a:rPr lang="en-US" sz="3300" b="1" dirty="0"/>
              <a:t>NOTE: </a:t>
            </a:r>
            <a:r>
              <a:rPr lang="en-US" sz="2700" dirty="0"/>
              <a:t>ordered list uses the </a:t>
            </a:r>
            <a:r>
              <a:rPr lang="en-US" sz="2700" b="1" dirty="0"/>
              <a:t>type</a:t>
            </a:r>
            <a:r>
              <a:rPr lang="en-US" sz="2700" dirty="0"/>
              <a:t> attribute to control the listing.</a:t>
            </a:r>
          </a:p>
        </p:txBody>
      </p:sp>
      <p:sp>
        <p:nvSpPr>
          <p:cNvPr id="3" name="Content Placeholder 2">
            <a:extLst>
              <a:ext uri="{FF2B5EF4-FFF2-40B4-BE49-F238E27FC236}">
                <a16:creationId xmlns:a16="http://schemas.microsoft.com/office/drawing/2014/main" id="{DC1ED17A-B4F9-FF4E-E12B-AA41254489CE}"/>
              </a:ext>
            </a:extLst>
          </p:cNvPr>
          <p:cNvSpPr>
            <a:spLocks noGrp="1"/>
          </p:cNvSpPr>
          <p:nvPr>
            <p:ph idx="1"/>
          </p:nvPr>
        </p:nvSpPr>
        <p:spPr>
          <a:xfrm>
            <a:off x="838200" y="2335988"/>
            <a:ext cx="10515600" cy="4351338"/>
          </a:xfrm>
        </p:spPr>
        <p:txBody>
          <a:bodyPr/>
          <a:lstStyle/>
          <a:p>
            <a:pPr marL="0" indent="0">
              <a:spcAft>
                <a:spcPct val="0"/>
              </a:spcAft>
              <a:buNone/>
            </a:pPr>
            <a:r>
              <a:rPr lang="en-US" altLang="en-US" sz="2800" b="1" dirty="0"/>
              <a:t>Type	Description</a:t>
            </a:r>
          </a:p>
          <a:p>
            <a:pPr marL="0" indent="0">
              <a:spcAft>
                <a:spcPct val="0"/>
              </a:spcAft>
              <a:buNone/>
            </a:pPr>
            <a:r>
              <a:rPr lang="en-US" altLang="en-US" sz="2800" dirty="0"/>
              <a:t>type="1"	The list items will be numbered with numbers (default)</a:t>
            </a:r>
          </a:p>
          <a:p>
            <a:pPr marL="0" indent="0">
              <a:spcAft>
                <a:spcPct val="0"/>
              </a:spcAft>
              <a:buNone/>
            </a:pPr>
            <a:r>
              <a:rPr lang="en-US" altLang="en-US" sz="2800" dirty="0"/>
              <a:t>type="A“       The list items will be numbered with uppercase letters</a:t>
            </a:r>
          </a:p>
          <a:p>
            <a:pPr marL="0" indent="0">
              <a:spcAft>
                <a:spcPct val="0"/>
              </a:spcAft>
              <a:buNone/>
            </a:pPr>
            <a:r>
              <a:rPr lang="en-US" altLang="en-US" sz="2800" dirty="0"/>
              <a:t>type="a"	The list items will be numbered with lowercase letters</a:t>
            </a:r>
          </a:p>
          <a:p>
            <a:pPr marL="0" indent="0">
              <a:spcAft>
                <a:spcPct val="0"/>
              </a:spcAft>
              <a:buNone/>
            </a:pPr>
            <a:r>
              <a:rPr lang="en-US" altLang="en-US" sz="2800" dirty="0"/>
              <a:t>type="I"	The list items will be numbered with uppercase roman numbers</a:t>
            </a:r>
          </a:p>
          <a:p>
            <a:pPr marL="0" indent="0">
              <a:spcAft>
                <a:spcPct val="0"/>
              </a:spcAft>
              <a:buNone/>
            </a:pPr>
            <a:r>
              <a:rPr lang="en-US" altLang="en-US" sz="2800" dirty="0"/>
              <a:t>type="</a:t>
            </a:r>
            <a:r>
              <a:rPr lang="en-US" altLang="en-US" sz="2800" dirty="0" err="1"/>
              <a:t>i</a:t>
            </a:r>
            <a:r>
              <a:rPr lang="en-US" altLang="en-US" sz="2800" dirty="0"/>
              <a:t>"	The list items will be numbered with lowercase roman numbers</a:t>
            </a:r>
          </a:p>
          <a:p>
            <a:pPr marL="0" indent="0">
              <a:spcAft>
                <a:spcPct val="0"/>
              </a:spcAft>
              <a:buNone/>
            </a:pPr>
            <a:endParaRPr lang="en-US" altLang="en-US" sz="2800" dirty="0"/>
          </a:p>
          <a:p>
            <a:pPr marL="0" indent="0">
              <a:buNone/>
            </a:pPr>
            <a:endParaRPr lang="en-US" dirty="0"/>
          </a:p>
        </p:txBody>
      </p:sp>
    </p:spTree>
    <p:extLst>
      <p:ext uri="{BB962C8B-B14F-4D97-AF65-F5344CB8AC3E}">
        <p14:creationId xmlns:p14="http://schemas.microsoft.com/office/powerpoint/2010/main" val="831562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74D-B6A9-7DEF-0A99-D5946B81CA54}"/>
              </a:ext>
            </a:extLst>
          </p:cNvPr>
          <p:cNvSpPr>
            <a:spLocks noGrp="1"/>
          </p:cNvSpPr>
          <p:nvPr>
            <p:ph type="title"/>
          </p:nvPr>
        </p:nvSpPr>
        <p:spPr>
          <a:xfrm>
            <a:off x="838200" y="255182"/>
            <a:ext cx="10515600" cy="637954"/>
          </a:xfrm>
        </p:spPr>
        <p:txBody>
          <a:bodyPr>
            <a:normAutofit fontScale="90000"/>
          </a:bodyPr>
          <a:lstStyle/>
          <a:p>
            <a:r>
              <a:rPr lang="en-US" dirty="0"/>
              <a:t/>
            </a:r>
            <a:br>
              <a:rPr lang="en-US" dirty="0"/>
            </a:br>
            <a:r>
              <a:rPr lang="en-US" dirty="0"/>
              <a:t>Ordered List: </a:t>
            </a:r>
            <a:r>
              <a:rPr lang="en-US" b="0" i="0" dirty="0">
                <a:solidFill>
                  <a:srgbClr val="000000"/>
                </a:solidFill>
                <a:effectLst/>
                <a:latin typeface="system-ui"/>
              </a:rPr>
              <a:t>The "Start" Attribute</a:t>
            </a:r>
            <a:br>
              <a:rPr lang="en-US" b="0" i="0" dirty="0">
                <a:solidFill>
                  <a:srgbClr val="000000"/>
                </a:solidFill>
                <a:effectLst/>
                <a:latin typeface="system-ui"/>
              </a:rPr>
            </a:br>
            <a:endParaRPr lang="en-US" dirty="0"/>
          </a:p>
        </p:txBody>
      </p:sp>
      <p:sp>
        <p:nvSpPr>
          <p:cNvPr id="3" name="Content Placeholder 2">
            <a:extLst>
              <a:ext uri="{FF2B5EF4-FFF2-40B4-BE49-F238E27FC236}">
                <a16:creationId xmlns:a16="http://schemas.microsoft.com/office/drawing/2014/main" id="{079BD614-D7E9-6F77-8918-800C28C089F9}"/>
              </a:ext>
            </a:extLst>
          </p:cNvPr>
          <p:cNvSpPr>
            <a:spLocks noGrp="1"/>
          </p:cNvSpPr>
          <p:nvPr>
            <p:ph idx="1"/>
          </p:nvPr>
        </p:nvSpPr>
        <p:spPr>
          <a:xfrm>
            <a:off x="838200" y="1116419"/>
            <a:ext cx="10515600" cy="5060543"/>
          </a:xfrm>
        </p:spPr>
        <p:txBody>
          <a:bodyPr>
            <a:normAutofit/>
          </a:bodyPr>
          <a:lstStyle/>
          <a:p>
            <a:r>
              <a:rPr lang="en-US" dirty="0"/>
              <a:t>The start attribute is used to control the counting in the list. By default, the counting starts from '1' or from 'a', but we can change counting to start from a specified number or alphabet. Look at the example below to see the syntax of using this attribute.</a:t>
            </a:r>
          </a:p>
          <a:p>
            <a:pPr marL="0" indent="0">
              <a:buNone/>
            </a:pPr>
            <a:endParaRPr lang="it-IT" dirty="0"/>
          </a:p>
        </p:txBody>
      </p:sp>
      <p:sp>
        <p:nvSpPr>
          <p:cNvPr id="5" name="TextBox 4">
            <a:extLst>
              <a:ext uri="{FF2B5EF4-FFF2-40B4-BE49-F238E27FC236}">
                <a16:creationId xmlns:a16="http://schemas.microsoft.com/office/drawing/2014/main" id="{BAC522F9-F428-C735-9018-C3C70D1CF22E}"/>
              </a:ext>
            </a:extLst>
          </p:cNvPr>
          <p:cNvSpPr txBox="1"/>
          <p:nvPr/>
        </p:nvSpPr>
        <p:spPr>
          <a:xfrm>
            <a:off x="6419408" y="3646690"/>
            <a:ext cx="3341282" cy="1246495"/>
          </a:xfrm>
          <a:prstGeom prst="rect">
            <a:avLst/>
          </a:prstGeom>
          <a:noFill/>
        </p:spPr>
        <p:txBody>
          <a:bodyPr wrap="square">
            <a:spAutoFit/>
          </a:bodyPr>
          <a:lstStyle/>
          <a:p>
            <a:pPr marL="0" indent="0">
              <a:buNone/>
            </a:pPr>
            <a:r>
              <a:rPr lang="it-IT" sz="2500" dirty="0"/>
              <a:t>50. Samsung</a:t>
            </a:r>
          </a:p>
          <a:p>
            <a:pPr marL="0" indent="0">
              <a:buNone/>
            </a:pPr>
            <a:r>
              <a:rPr lang="it-IT" sz="2500" dirty="0"/>
              <a:t>51. Iphone</a:t>
            </a:r>
          </a:p>
          <a:p>
            <a:pPr marL="0" indent="0">
              <a:buNone/>
            </a:pPr>
            <a:r>
              <a:rPr lang="it-IT" sz="2500" dirty="0"/>
              <a:t>52. Nokia</a:t>
            </a:r>
            <a:endParaRPr lang="en-US" sz="2500" dirty="0"/>
          </a:p>
        </p:txBody>
      </p:sp>
      <p:sp>
        <p:nvSpPr>
          <p:cNvPr id="7" name="TextBox 6">
            <a:extLst>
              <a:ext uri="{FF2B5EF4-FFF2-40B4-BE49-F238E27FC236}">
                <a16:creationId xmlns:a16="http://schemas.microsoft.com/office/drawing/2014/main" id="{F6709E2F-7895-9260-1249-91522CAE9BE1}"/>
              </a:ext>
            </a:extLst>
          </p:cNvPr>
          <p:cNvSpPr txBox="1"/>
          <p:nvPr/>
        </p:nvSpPr>
        <p:spPr>
          <a:xfrm>
            <a:off x="1147430" y="3266709"/>
            <a:ext cx="3956198" cy="2400657"/>
          </a:xfrm>
          <a:prstGeom prst="rect">
            <a:avLst/>
          </a:prstGeom>
          <a:noFill/>
        </p:spPr>
        <p:txBody>
          <a:bodyPr wrap="square">
            <a:spAutoFit/>
          </a:bodyPr>
          <a:lstStyle/>
          <a:p>
            <a:pPr marL="0" indent="0">
              <a:buNone/>
            </a:pPr>
            <a:r>
              <a:rPr lang="it-IT" sz="3000" dirty="0"/>
              <a:t>&lt;ol start="50"&gt;</a:t>
            </a:r>
          </a:p>
          <a:p>
            <a:pPr marL="0" indent="0">
              <a:buNone/>
            </a:pPr>
            <a:r>
              <a:rPr lang="it-IT" sz="3000" dirty="0"/>
              <a:t>  &lt;li&gt;Samsung&lt;/li&gt;</a:t>
            </a:r>
          </a:p>
          <a:p>
            <a:pPr marL="0" indent="0">
              <a:buNone/>
            </a:pPr>
            <a:r>
              <a:rPr lang="it-IT" sz="3000" dirty="0"/>
              <a:t>  &lt;li&gt; Iphone &lt;/li&gt;</a:t>
            </a:r>
          </a:p>
          <a:p>
            <a:pPr marL="0" indent="0">
              <a:buNone/>
            </a:pPr>
            <a:r>
              <a:rPr lang="it-IT" sz="3000" dirty="0"/>
              <a:t>  &lt;li&gt;Nokia&lt;/li&gt;</a:t>
            </a:r>
          </a:p>
          <a:p>
            <a:pPr marL="0" indent="0">
              <a:buNone/>
            </a:pPr>
            <a:r>
              <a:rPr lang="it-IT" sz="3000" dirty="0"/>
              <a:t>&lt;/ol&gt;</a:t>
            </a:r>
          </a:p>
        </p:txBody>
      </p:sp>
    </p:spTree>
    <p:extLst>
      <p:ext uri="{BB962C8B-B14F-4D97-AF65-F5344CB8AC3E}">
        <p14:creationId xmlns:p14="http://schemas.microsoft.com/office/powerpoint/2010/main" val="3689976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68F9A-D88E-3BDD-567D-726FEEE38B6D}"/>
              </a:ext>
            </a:extLst>
          </p:cNvPr>
          <p:cNvSpPr>
            <a:spLocks noGrp="1"/>
          </p:cNvSpPr>
          <p:nvPr>
            <p:ph type="title"/>
          </p:nvPr>
        </p:nvSpPr>
        <p:spPr>
          <a:xfrm>
            <a:off x="838200" y="1"/>
            <a:ext cx="10515600" cy="850604"/>
          </a:xfrm>
        </p:spPr>
        <p:txBody>
          <a:bodyPr/>
          <a:lstStyle/>
          <a:p>
            <a:r>
              <a:rPr lang="en-US" dirty="0"/>
              <a:t>Unordered List:</a:t>
            </a:r>
          </a:p>
        </p:txBody>
      </p:sp>
      <p:sp>
        <p:nvSpPr>
          <p:cNvPr id="3" name="Content Placeholder 2">
            <a:extLst>
              <a:ext uri="{FF2B5EF4-FFF2-40B4-BE49-F238E27FC236}">
                <a16:creationId xmlns:a16="http://schemas.microsoft.com/office/drawing/2014/main" id="{6323A6FF-5496-4E3A-04D4-BA29159FC2DC}"/>
              </a:ext>
            </a:extLst>
          </p:cNvPr>
          <p:cNvSpPr>
            <a:spLocks noGrp="1"/>
          </p:cNvSpPr>
          <p:nvPr>
            <p:ph idx="1"/>
          </p:nvPr>
        </p:nvSpPr>
        <p:spPr>
          <a:xfrm>
            <a:off x="838200" y="1073888"/>
            <a:ext cx="10515600" cy="5677786"/>
          </a:xfrm>
        </p:spPr>
        <p:txBody>
          <a:bodyPr>
            <a:normAutofit fontScale="92500" lnSpcReduction="10000"/>
          </a:bodyPr>
          <a:lstStyle/>
          <a:p>
            <a:pPr marL="0" indent="0">
              <a:buNone/>
            </a:pPr>
            <a:r>
              <a:rPr lang="en-US" dirty="0"/>
              <a:t>HTML unordered list is a collection of related items that are listed with no special order or sequence.</a:t>
            </a:r>
          </a:p>
          <a:p>
            <a:pPr marL="0" indent="0">
              <a:buNone/>
            </a:pPr>
            <a:r>
              <a:rPr lang="it-IT" b="0" i="0" dirty="0">
                <a:solidFill>
                  <a:srgbClr val="0000CD"/>
                </a:solidFill>
                <a:effectLst/>
                <a:latin typeface="system-ui"/>
              </a:rPr>
              <a:t>&lt;</a:t>
            </a:r>
            <a:r>
              <a:rPr lang="it-IT" b="0" i="0" dirty="0">
                <a:solidFill>
                  <a:srgbClr val="A52A2A"/>
                </a:solidFill>
                <a:effectLst/>
                <a:latin typeface="system-ui"/>
              </a:rPr>
              <a:t>ul</a:t>
            </a:r>
            <a:r>
              <a:rPr lang="it-IT" b="0" i="0" dirty="0">
                <a:solidFill>
                  <a:srgbClr val="0000CD"/>
                </a:solidFill>
                <a:effectLst/>
                <a:latin typeface="system-ui"/>
              </a:rPr>
              <a:t>&gt;</a:t>
            </a:r>
            <a:r>
              <a:rPr lang="it-IT" dirty="0"/>
              <a:t/>
            </a:r>
            <a:br>
              <a:rPr lang="it-IT" dirty="0"/>
            </a:br>
            <a:r>
              <a:rPr lang="it-IT" dirty="0"/>
              <a:t>  </a:t>
            </a:r>
            <a:r>
              <a:rPr lang="it-IT" b="0" i="0" dirty="0">
                <a:solidFill>
                  <a:srgbClr val="0000CD"/>
                </a:solidFill>
                <a:effectLst/>
                <a:latin typeface="system-ui"/>
              </a:rPr>
              <a:t>&lt;</a:t>
            </a:r>
            <a:r>
              <a:rPr lang="it-IT" b="0" i="0" dirty="0">
                <a:solidFill>
                  <a:srgbClr val="A52A2A"/>
                </a:solidFill>
                <a:effectLst/>
                <a:latin typeface="system-ui"/>
              </a:rPr>
              <a:t>li</a:t>
            </a:r>
            <a:r>
              <a:rPr lang="it-IT" b="0" i="0" dirty="0">
                <a:solidFill>
                  <a:srgbClr val="0000CD"/>
                </a:solidFill>
                <a:effectLst/>
                <a:latin typeface="system-ui"/>
              </a:rPr>
              <a:t>&gt;</a:t>
            </a:r>
            <a:r>
              <a:rPr lang="it-IT" b="0" i="0" dirty="0">
                <a:solidFill>
                  <a:srgbClr val="000000"/>
                </a:solidFill>
                <a:effectLst/>
                <a:latin typeface="system-ui"/>
              </a:rPr>
              <a:t> Harley-Davidson </a:t>
            </a:r>
            <a:r>
              <a:rPr lang="it-IT" b="0" i="0" dirty="0">
                <a:solidFill>
                  <a:srgbClr val="0000CD"/>
                </a:solidFill>
                <a:effectLst/>
                <a:latin typeface="system-ui"/>
              </a:rPr>
              <a:t>&lt;</a:t>
            </a:r>
            <a:r>
              <a:rPr lang="it-IT" b="0" i="0" dirty="0">
                <a:solidFill>
                  <a:srgbClr val="A52A2A"/>
                </a:solidFill>
                <a:effectLst/>
                <a:latin typeface="system-ui"/>
              </a:rPr>
              <a:t>/li</a:t>
            </a:r>
            <a:r>
              <a:rPr lang="it-IT" b="0" i="0" dirty="0">
                <a:solidFill>
                  <a:srgbClr val="0000CD"/>
                </a:solidFill>
                <a:effectLst/>
                <a:latin typeface="system-ui"/>
              </a:rPr>
              <a:t>&gt;</a:t>
            </a:r>
            <a:r>
              <a:rPr lang="it-IT" dirty="0"/>
              <a:t/>
            </a:r>
            <a:br>
              <a:rPr lang="it-IT" dirty="0"/>
            </a:br>
            <a:r>
              <a:rPr lang="it-IT" dirty="0"/>
              <a:t>  </a:t>
            </a:r>
            <a:r>
              <a:rPr lang="it-IT" b="0" i="0" dirty="0">
                <a:solidFill>
                  <a:srgbClr val="0000CD"/>
                </a:solidFill>
                <a:effectLst/>
                <a:latin typeface="system-ui"/>
              </a:rPr>
              <a:t>&lt;</a:t>
            </a:r>
            <a:r>
              <a:rPr lang="it-IT" b="0" i="0" dirty="0">
                <a:solidFill>
                  <a:srgbClr val="A52A2A"/>
                </a:solidFill>
                <a:effectLst/>
                <a:latin typeface="system-ui"/>
              </a:rPr>
              <a:t>li</a:t>
            </a:r>
            <a:r>
              <a:rPr lang="it-IT" b="0" i="0" dirty="0">
                <a:solidFill>
                  <a:srgbClr val="0000CD"/>
                </a:solidFill>
                <a:effectLst/>
                <a:latin typeface="system-ui"/>
              </a:rPr>
              <a:t>&gt;</a:t>
            </a:r>
            <a:r>
              <a:rPr lang="it-IT" b="0" i="0" dirty="0">
                <a:solidFill>
                  <a:srgbClr val="000000"/>
                </a:solidFill>
                <a:effectLst/>
                <a:latin typeface="system-ui"/>
              </a:rPr>
              <a:t> Ducati </a:t>
            </a:r>
            <a:r>
              <a:rPr lang="it-IT" b="0" i="0" dirty="0">
                <a:solidFill>
                  <a:srgbClr val="0000CD"/>
                </a:solidFill>
                <a:effectLst/>
                <a:latin typeface="system-ui"/>
              </a:rPr>
              <a:t>&lt;</a:t>
            </a:r>
            <a:r>
              <a:rPr lang="it-IT" b="0" i="0" dirty="0">
                <a:solidFill>
                  <a:srgbClr val="A52A2A"/>
                </a:solidFill>
                <a:effectLst/>
                <a:latin typeface="system-ui"/>
              </a:rPr>
              <a:t>/li</a:t>
            </a:r>
            <a:r>
              <a:rPr lang="it-IT" b="0" i="0" dirty="0">
                <a:solidFill>
                  <a:srgbClr val="0000CD"/>
                </a:solidFill>
                <a:effectLst/>
                <a:latin typeface="system-ui"/>
              </a:rPr>
              <a:t>&gt;</a:t>
            </a:r>
            <a:r>
              <a:rPr lang="it-IT" dirty="0"/>
              <a:t/>
            </a:r>
            <a:br>
              <a:rPr lang="it-IT" dirty="0"/>
            </a:br>
            <a:r>
              <a:rPr lang="it-IT" dirty="0"/>
              <a:t>  </a:t>
            </a:r>
            <a:r>
              <a:rPr lang="it-IT" b="0" i="0" dirty="0">
                <a:solidFill>
                  <a:srgbClr val="0000CD"/>
                </a:solidFill>
                <a:effectLst/>
                <a:latin typeface="system-ui"/>
              </a:rPr>
              <a:t>&lt;</a:t>
            </a:r>
            <a:r>
              <a:rPr lang="it-IT" b="0" i="0" dirty="0">
                <a:solidFill>
                  <a:srgbClr val="A52A2A"/>
                </a:solidFill>
                <a:effectLst/>
                <a:latin typeface="system-ui"/>
              </a:rPr>
              <a:t>li</a:t>
            </a:r>
            <a:r>
              <a:rPr lang="it-IT" b="0" i="0" dirty="0">
                <a:solidFill>
                  <a:srgbClr val="0000CD"/>
                </a:solidFill>
                <a:effectLst/>
                <a:latin typeface="system-ui"/>
              </a:rPr>
              <a:t>&gt;</a:t>
            </a:r>
            <a:r>
              <a:rPr lang="it-IT" b="0" i="0" dirty="0">
                <a:solidFill>
                  <a:srgbClr val="000000"/>
                </a:solidFill>
                <a:effectLst/>
                <a:latin typeface="system-ui"/>
              </a:rPr>
              <a:t> BMW </a:t>
            </a:r>
            <a:r>
              <a:rPr lang="it-IT" b="0" i="0" dirty="0">
                <a:solidFill>
                  <a:srgbClr val="0000CD"/>
                </a:solidFill>
                <a:effectLst/>
                <a:latin typeface="system-ui"/>
              </a:rPr>
              <a:t>&lt;</a:t>
            </a:r>
            <a:r>
              <a:rPr lang="it-IT" b="0" i="0" dirty="0">
                <a:solidFill>
                  <a:srgbClr val="A52A2A"/>
                </a:solidFill>
                <a:effectLst/>
                <a:latin typeface="system-ui"/>
              </a:rPr>
              <a:t>/li</a:t>
            </a:r>
            <a:r>
              <a:rPr lang="it-IT" b="0" i="0" dirty="0">
                <a:solidFill>
                  <a:srgbClr val="0000CD"/>
                </a:solidFill>
                <a:effectLst/>
                <a:latin typeface="system-ui"/>
              </a:rPr>
              <a:t>&gt;	</a:t>
            </a:r>
            <a:r>
              <a:rPr lang="it-IT" dirty="0"/>
              <a:t/>
            </a:r>
            <a:br>
              <a:rPr lang="it-IT" dirty="0"/>
            </a:br>
            <a:r>
              <a:rPr lang="it-IT" b="0" i="0" dirty="0">
                <a:solidFill>
                  <a:srgbClr val="0000CD"/>
                </a:solidFill>
                <a:effectLst/>
                <a:latin typeface="system-ui"/>
              </a:rPr>
              <a:t>&lt;</a:t>
            </a:r>
            <a:r>
              <a:rPr lang="it-IT" b="0" i="0" dirty="0">
                <a:solidFill>
                  <a:srgbClr val="A52A2A"/>
                </a:solidFill>
                <a:effectLst/>
                <a:latin typeface="system-ui"/>
              </a:rPr>
              <a:t>/ul</a:t>
            </a:r>
            <a:r>
              <a:rPr lang="it-IT" b="0" i="0" dirty="0">
                <a:solidFill>
                  <a:srgbClr val="0000CD"/>
                </a:solidFill>
                <a:effectLst/>
                <a:latin typeface="system-ui"/>
              </a:rPr>
              <a:t>&gt;</a:t>
            </a:r>
          </a:p>
          <a:p>
            <a:pPr marL="0" indent="0">
              <a:buNone/>
            </a:pPr>
            <a:endParaRPr lang="it-IT" dirty="0">
              <a:solidFill>
                <a:srgbClr val="0000CD"/>
              </a:solidFill>
              <a:latin typeface="system-ui"/>
            </a:endParaRPr>
          </a:p>
          <a:p>
            <a:pPr marL="0" indent="0">
              <a:buNone/>
            </a:pPr>
            <a:r>
              <a:rPr lang="it-IT" dirty="0">
                <a:solidFill>
                  <a:srgbClr val="0000CD"/>
                </a:solidFill>
                <a:latin typeface="system-ui"/>
              </a:rPr>
              <a:t>The Unordered list also uses the type attributes  set to the parent &lt;ul&gt;, and they are;</a:t>
            </a:r>
          </a:p>
          <a:p>
            <a:pPr>
              <a:buFont typeface="Wingdings" panose="05000000000000000000" pitchFamily="2" charset="2"/>
              <a:buChar char="§"/>
            </a:pPr>
            <a:r>
              <a:rPr lang="en-US" dirty="0"/>
              <a:t>type="disc"		Sets the list item marker to a bullet (default).</a:t>
            </a:r>
          </a:p>
          <a:p>
            <a:pPr>
              <a:buFont typeface="Wingdings" panose="05000000000000000000" pitchFamily="2" charset="2"/>
              <a:buChar char="§"/>
            </a:pPr>
            <a:r>
              <a:rPr lang="en-US" dirty="0"/>
              <a:t>type="circle"	Sets the list item marker to a circle.</a:t>
            </a:r>
          </a:p>
          <a:p>
            <a:pPr>
              <a:buFont typeface="Wingdings" panose="05000000000000000000" pitchFamily="2" charset="2"/>
              <a:buChar char="§"/>
            </a:pPr>
            <a:r>
              <a:rPr lang="en-US" dirty="0"/>
              <a:t>type="square"	Sets the list item marker to a square.</a:t>
            </a:r>
          </a:p>
          <a:p>
            <a:pPr>
              <a:buFont typeface="Wingdings" panose="05000000000000000000" pitchFamily="2" charset="2"/>
              <a:buChar char="§"/>
            </a:pPr>
            <a:r>
              <a:rPr lang="en-US" dirty="0"/>
              <a:t>type="none"	The list type will remove the bullets.</a:t>
            </a:r>
          </a:p>
        </p:txBody>
      </p:sp>
      <p:sp>
        <p:nvSpPr>
          <p:cNvPr id="5" name="TextBox 4">
            <a:extLst>
              <a:ext uri="{FF2B5EF4-FFF2-40B4-BE49-F238E27FC236}">
                <a16:creationId xmlns:a16="http://schemas.microsoft.com/office/drawing/2014/main" id="{34148ECD-01FC-F389-4708-FD058EAE7522}"/>
              </a:ext>
            </a:extLst>
          </p:cNvPr>
          <p:cNvSpPr txBox="1"/>
          <p:nvPr/>
        </p:nvSpPr>
        <p:spPr>
          <a:xfrm>
            <a:off x="5643230" y="2355962"/>
            <a:ext cx="3458240" cy="1292662"/>
          </a:xfrm>
          <a:prstGeom prst="rect">
            <a:avLst/>
          </a:prstGeom>
          <a:noFill/>
        </p:spPr>
        <p:txBody>
          <a:bodyPr wrap="square">
            <a:spAutoFit/>
          </a:bodyPr>
          <a:lstStyle/>
          <a:p>
            <a:pPr algn="l">
              <a:buFont typeface="Arial" panose="020B0604020202020204" pitchFamily="34" charset="0"/>
              <a:buChar char="•"/>
            </a:pPr>
            <a:r>
              <a:rPr lang="en-US" sz="2600" b="0" i="0" dirty="0">
                <a:solidFill>
                  <a:srgbClr val="000000"/>
                </a:solidFill>
                <a:effectLst/>
                <a:latin typeface="system-ui"/>
              </a:rPr>
              <a:t>Harley-Davidson</a:t>
            </a:r>
          </a:p>
          <a:p>
            <a:pPr algn="l">
              <a:buFont typeface="Arial" panose="020B0604020202020204" pitchFamily="34" charset="0"/>
              <a:buChar char="•"/>
            </a:pPr>
            <a:r>
              <a:rPr lang="en-US" sz="2600" b="0" i="0" dirty="0">
                <a:solidFill>
                  <a:srgbClr val="000000"/>
                </a:solidFill>
                <a:effectLst/>
                <a:latin typeface="system-ui"/>
              </a:rPr>
              <a:t>Ducati</a:t>
            </a:r>
          </a:p>
          <a:p>
            <a:pPr algn="l">
              <a:buFont typeface="Arial" panose="020B0604020202020204" pitchFamily="34" charset="0"/>
              <a:buChar char="•"/>
            </a:pPr>
            <a:r>
              <a:rPr lang="en-US" sz="2600" b="0" i="0" dirty="0">
                <a:solidFill>
                  <a:srgbClr val="000000"/>
                </a:solidFill>
                <a:effectLst/>
                <a:latin typeface="system-ui"/>
              </a:rPr>
              <a:t>BMW</a:t>
            </a:r>
          </a:p>
        </p:txBody>
      </p:sp>
    </p:spTree>
    <p:extLst>
      <p:ext uri="{BB962C8B-B14F-4D97-AF65-F5344CB8AC3E}">
        <p14:creationId xmlns:p14="http://schemas.microsoft.com/office/powerpoint/2010/main" val="1586361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C9BFD-0857-65E8-D564-DF42CA335B6B}"/>
              </a:ext>
            </a:extLst>
          </p:cNvPr>
          <p:cNvSpPr>
            <a:spLocks noGrp="1"/>
          </p:cNvSpPr>
          <p:nvPr>
            <p:ph type="title"/>
          </p:nvPr>
        </p:nvSpPr>
        <p:spPr>
          <a:xfrm>
            <a:off x="838200" y="1"/>
            <a:ext cx="10515600" cy="1244008"/>
          </a:xfrm>
        </p:spPr>
        <p:txBody>
          <a:bodyPr/>
          <a:lstStyle/>
          <a:p>
            <a:r>
              <a:rPr lang="en-US" dirty="0"/>
              <a:t>Nested Tags</a:t>
            </a:r>
            <a:r>
              <a:rPr lang="en-US" b="1" dirty="0"/>
              <a:t>: list inside another list</a:t>
            </a:r>
          </a:p>
        </p:txBody>
      </p:sp>
      <p:sp>
        <p:nvSpPr>
          <p:cNvPr id="3" name="Content Placeholder 2">
            <a:extLst>
              <a:ext uri="{FF2B5EF4-FFF2-40B4-BE49-F238E27FC236}">
                <a16:creationId xmlns:a16="http://schemas.microsoft.com/office/drawing/2014/main" id="{0BC1F5C5-5D8E-86A2-7202-79593DDACAA6}"/>
              </a:ext>
            </a:extLst>
          </p:cNvPr>
          <p:cNvSpPr>
            <a:spLocks noGrp="1"/>
          </p:cNvSpPr>
          <p:nvPr>
            <p:ph idx="1"/>
          </p:nvPr>
        </p:nvSpPr>
        <p:spPr>
          <a:xfrm>
            <a:off x="6616108" y="1537182"/>
            <a:ext cx="4850219" cy="5171962"/>
          </a:xfrm>
        </p:spPr>
        <p:txBody>
          <a:bodyPr>
            <a:normAutofit/>
          </a:bodyPr>
          <a:lstStyle/>
          <a:p>
            <a:r>
              <a:rPr lang="en-US" dirty="0"/>
              <a:t>Cars</a:t>
            </a:r>
          </a:p>
          <a:p>
            <a:r>
              <a:rPr lang="en-US" dirty="0"/>
              <a:t>House</a:t>
            </a:r>
          </a:p>
          <a:p>
            <a:r>
              <a:rPr lang="en-US" dirty="0"/>
              <a:t>Cities</a:t>
            </a:r>
          </a:p>
          <a:p>
            <a:pPr marL="0" indent="0">
              <a:buNone/>
            </a:pPr>
            <a:r>
              <a:rPr lang="en-US" dirty="0"/>
              <a:t>	1. Jos</a:t>
            </a:r>
          </a:p>
          <a:p>
            <a:pPr marL="0" indent="0">
              <a:buNone/>
            </a:pPr>
            <a:r>
              <a:rPr lang="en-US" dirty="0"/>
              <a:t>	2. Ikeja</a:t>
            </a:r>
          </a:p>
          <a:p>
            <a:r>
              <a:rPr lang="en-US" dirty="0"/>
              <a:t>Fruits</a:t>
            </a:r>
          </a:p>
          <a:p>
            <a:endParaRPr lang="en-US" dirty="0"/>
          </a:p>
          <a:p>
            <a:pPr marL="0" indent="0">
              <a:buNone/>
            </a:pPr>
            <a:r>
              <a:rPr lang="en-US" b="1" u="sng" dirty="0"/>
              <a:t>Note</a:t>
            </a:r>
            <a:r>
              <a:rPr lang="en-US" dirty="0"/>
              <a:t>: </a:t>
            </a:r>
            <a:r>
              <a:rPr lang="en-US" dirty="0">
                <a:solidFill>
                  <a:schemeClr val="accent2">
                    <a:lumMod val="75000"/>
                  </a:schemeClr>
                </a:solidFill>
              </a:rPr>
              <a:t>The nested tag came before the closing &lt;/li&gt;, and the new tag begin with an </a:t>
            </a:r>
            <a:r>
              <a:rPr lang="en-US" dirty="0" err="1">
                <a:solidFill>
                  <a:schemeClr val="accent2">
                    <a:lumMod val="75000"/>
                  </a:schemeClr>
                </a:solidFill>
              </a:rPr>
              <a:t>ol</a:t>
            </a:r>
            <a:r>
              <a:rPr lang="en-US" dirty="0">
                <a:solidFill>
                  <a:schemeClr val="accent2">
                    <a:lumMod val="75000"/>
                  </a:schemeClr>
                </a:solidFill>
              </a:rPr>
              <a:t> or </a:t>
            </a:r>
            <a:r>
              <a:rPr lang="en-US" dirty="0" err="1">
                <a:solidFill>
                  <a:schemeClr val="accent2">
                    <a:lumMod val="75000"/>
                  </a:schemeClr>
                </a:solidFill>
              </a:rPr>
              <a:t>ul</a:t>
            </a:r>
            <a:r>
              <a:rPr lang="en-US" dirty="0">
                <a:solidFill>
                  <a:schemeClr val="accent2">
                    <a:lumMod val="75000"/>
                  </a:schemeClr>
                </a:solidFill>
              </a:rPr>
              <a:t>.</a:t>
            </a:r>
          </a:p>
        </p:txBody>
      </p:sp>
      <p:sp>
        <p:nvSpPr>
          <p:cNvPr id="4" name="Title 1">
            <a:extLst>
              <a:ext uri="{FF2B5EF4-FFF2-40B4-BE49-F238E27FC236}">
                <a16:creationId xmlns:a16="http://schemas.microsoft.com/office/drawing/2014/main" id="{0413D8CF-E06F-0464-1FD9-0E590D173959}"/>
              </a:ext>
            </a:extLst>
          </p:cNvPr>
          <p:cNvSpPr txBox="1">
            <a:spLocks/>
          </p:cNvSpPr>
          <p:nvPr/>
        </p:nvSpPr>
        <p:spPr>
          <a:xfrm>
            <a:off x="838200" y="783339"/>
            <a:ext cx="10515600" cy="7538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buNone/>
            </a:pPr>
            <a:r>
              <a:rPr lang="en-US" altLang="en-US" sz="2000" b="1" dirty="0"/>
              <a:t>Tags can be placed within another tag…</a:t>
            </a:r>
          </a:p>
        </p:txBody>
      </p:sp>
      <p:sp>
        <p:nvSpPr>
          <p:cNvPr id="5" name="Content Placeholder 2">
            <a:extLst>
              <a:ext uri="{FF2B5EF4-FFF2-40B4-BE49-F238E27FC236}">
                <a16:creationId xmlns:a16="http://schemas.microsoft.com/office/drawing/2014/main" id="{7A6CA023-3831-9C99-6F61-D0D03010FA05}"/>
              </a:ext>
            </a:extLst>
          </p:cNvPr>
          <p:cNvSpPr txBox="1">
            <a:spLocks/>
          </p:cNvSpPr>
          <p:nvPr/>
        </p:nvSpPr>
        <p:spPr>
          <a:xfrm>
            <a:off x="382773" y="1537182"/>
            <a:ext cx="5023884" cy="494816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endParaRPr lang="it-IT" dirty="0"/>
          </a:p>
          <a:p>
            <a:pPr marL="0" indent="0">
              <a:buFont typeface="Arial" panose="020B0604020202020204" pitchFamily="34" charset="0"/>
              <a:buNone/>
              <a:defRPr/>
            </a:pPr>
            <a:r>
              <a:rPr lang="it-IT" sz="3200" b="1" dirty="0"/>
              <a:t>&lt;ul&gt;</a:t>
            </a:r>
            <a:br>
              <a:rPr lang="it-IT" sz="3200" b="1" dirty="0"/>
            </a:br>
            <a:r>
              <a:rPr lang="it-IT" sz="3200" b="1" dirty="0"/>
              <a:t>  	&lt;li&gt;Cars&lt;/li&gt;</a:t>
            </a:r>
            <a:br>
              <a:rPr lang="it-IT" sz="3200" b="1" dirty="0"/>
            </a:br>
            <a:r>
              <a:rPr lang="it-IT" sz="3200" b="1" dirty="0"/>
              <a:t>  	&lt;li&gt;House&lt;/li&gt;</a:t>
            </a:r>
            <a:br>
              <a:rPr lang="it-IT" sz="3200" b="1" dirty="0"/>
            </a:br>
            <a:r>
              <a:rPr lang="it-IT" sz="3200" b="1" dirty="0"/>
              <a:t>  	&lt;li&gt;Cities</a:t>
            </a:r>
          </a:p>
          <a:p>
            <a:pPr marL="0" indent="0">
              <a:buFont typeface="Arial" panose="020B0604020202020204" pitchFamily="34" charset="0"/>
              <a:buNone/>
              <a:defRPr/>
            </a:pPr>
            <a:r>
              <a:rPr lang="it-IT" sz="3200" b="1" dirty="0"/>
              <a:t>		&lt;ol&gt;</a:t>
            </a:r>
          </a:p>
          <a:p>
            <a:pPr marL="0" indent="0">
              <a:buFont typeface="Arial" panose="020B0604020202020204" pitchFamily="34" charset="0"/>
              <a:buNone/>
              <a:defRPr/>
            </a:pPr>
            <a:r>
              <a:rPr lang="it-IT" sz="3200" b="1" dirty="0"/>
              <a:t>			&lt;li&gt;Jos&lt;/li&gt;</a:t>
            </a:r>
          </a:p>
          <a:p>
            <a:pPr marL="0" indent="0">
              <a:buFont typeface="Arial" panose="020B0604020202020204" pitchFamily="34" charset="0"/>
              <a:buNone/>
              <a:defRPr/>
            </a:pPr>
            <a:r>
              <a:rPr lang="it-IT" sz="3200" b="1" dirty="0"/>
              <a:t>			&lt;li&gt;Ikeja&lt;/li&gt;</a:t>
            </a:r>
          </a:p>
          <a:p>
            <a:pPr marL="0" indent="0">
              <a:buFont typeface="Arial" panose="020B0604020202020204" pitchFamily="34" charset="0"/>
              <a:buNone/>
              <a:defRPr/>
            </a:pPr>
            <a:r>
              <a:rPr lang="it-IT" sz="3200" b="1" dirty="0"/>
              <a:t>		&lt;/ol&gt;</a:t>
            </a:r>
          </a:p>
          <a:p>
            <a:pPr marL="0" indent="0">
              <a:buFont typeface="Arial" panose="020B0604020202020204" pitchFamily="34" charset="0"/>
              <a:buNone/>
              <a:defRPr/>
            </a:pPr>
            <a:r>
              <a:rPr lang="it-IT" sz="3200" b="1" dirty="0"/>
              <a:t>	&lt;/li&gt;</a:t>
            </a:r>
          </a:p>
          <a:p>
            <a:pPr marL="0" indent="0">
              <a:buFont typeface="Arial" panose="020B0604020202020204" pitchFamily="34" charset="0"/>
              <a:buNone/>
              <a:defRPr/>
            </a:pPr>
            <a:r>
              <a:rPr lang="it-IT" sz="3200" b="1" dirty="0"/>
              <a:t>	 &lt;li&gt;Fruits&lt;/li&gt;</a:t>
            </a:r>
          </a:p>
          <a:p>
            <a:pPr marL="0" indent="0">
              <a:buFont typeface="Arial" panose="020B0604020202020204" pitchFamily="34" charset="0"/>
              <a:buNone/>
              <a:defRPr/>
            </a:pPr>
            <a:r>
              <a:rPr lang="it-IT" sz="3200" b="1" dirty="0"/>
              <a:t>	</a:t>
            </a:r>
          </a:p>
          <a:p>
            <a:pPr marL="0" indent="0">
              <a:buFont typeface="Arial" panose="020B0604020202020204" pitchFamily="34" charset="0"/>
              <a:buNone/>
              <a:defRPr/>
            </a:pPr>
            <a:r>
              <a:rPr lang="it-IT" sz="3200" b="1" dirty="0"/>
              <a:t>&lt;/ul&gt;</a:t>
            </a:r>
            <a:endParaRPr lang="en-US" sz="3200" b="1"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5444522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359A-E247-BC64-4032-6DEBEBCD76D0}"/>
              </a:ext>
            </a:extLst>
          </p:cNvPr>
          <p:cNvSpPr>
            <a:spLocks noGrp="1"/>
          </p:cNvSpPr>
          <p:nvPr>
            <p:ph type="title"/>
          </p:nvPr>
        </p:nvSpPr>
        <p:spPr>
          <a:xfrm>
            <a:off x="838200" y="1"/>
            <a:ext cx="10515600" cy="606056"/>
          </a:xfrm>
        </p:spPr>
        <p:txBody>
          <a:bodyPr>
            <a:normAutofit fontScale="90000"/>
          </a:bodyPr>
          <a:lstStyle/>
          <a:p>
            <a:r>
              <a:rPr lang="en-US" b="1" i="1" dirty="0" smtClean="0"/>
              <a:t>Class Exercise.</a:t>
            </a:r>
            <a:endParaRPr lang="en-US" b="1" i="1" dirty="0"/>
          </a:p>
        </p:txBody>
      </p:sp>
      <p:sp>
        <p:nvSpPr>
          <p:cNvPr id="7" name="Content Placeholder 6">
            <a:extLst>
              <a:ext uri="{FF2B5EF4-FFF2-40B4-BE49-F238E27FC236}">
                <a16:creationId xmlns:a16="http://schemas.microsoft.com/office/drawing/2014/main" id="{FFA25771-BF9C-9E62-E704-2925D475AF12}"/>
              </a:ext>
            </a:extLst>
          </p:cNvPr>
          <p:cNvSpPr>
            <a:spLocks noGrp="1"/>
          </p:cNvSpPr>
          <p:nvPr>
            <p:ph idx="1"/>
          </p:nvPr>
        </p:nvSpPr>
        <p:spPr>
          <a:xfrm>
            <a:off x="838200" y="744279"/>
            <a:ext cx="10515600" cy="5911702"/>
          </a:xfrm>
        </p:spPr>
        <p:txBody>
          <a:bodyPr>
            <a:noAutofit/>
          </a:bodyPr>
          <a:lstStyle/>
          <a:p>
            <a:r>
              <a:rPr lang="en-US" sz="2400" dirty="0"/>
              <a:t>Politics</a:t>
            </a:r>
          </a:p>
          <a:p>
            <a:r>
              <a:rPr lang="en-US" sz="2400" dirty="0"/>
              <a:t>Entertainment</a:t>
            </a:r>
          </a:p>
          <a:p>
            <a:pPr marL="457200" lvl="1" indent="0">
              <a:buNone/>
            </a:pPr>
            <a:r>
              <a:rPr lang="en-US" dirty="0"/>
              <a:t>a.	TV shows</a:t>
            </a:r>
          </a:p>
          <a:p>
            <a:pPr marL="457200" lvl="1" indent="0">
              <a:buNone/>
            </a:pPr>
            <a:r>
              <a:rPr lang="en-US" dirty="0"/>
              <a:t>b. 	Music</a:t>
            </a:r>
          </a:p>
          <a:p>
            <a:pPr marL="457200" lvl="1" indent="0">
              <a:buNone/>
            </a:pPr>
            <a:r>
              <a:rPr lang="en-US" dirty="0"/>
              <a:t>	</a:t>
            </a:r>
            <a:r>
              <a:rPr lang="en-US" u="sng" dirty="0"/>
              <a:t>POPULAR MUSIC GENRE</a:t>
            </a:r>
          </a:p>
          <a:p>
            <a:pPr marL="457200" lvl="1" indent="0">
              <a:buNone/>
            </a:pPr>
            <a:r>
              <a:rPr lang="en-US" dirty="0"/>
              <a:t>	A. Rap</a:t>
            </a:r>
          </a:p>
          <a:p>
            <a:pPr marL="457200" lvl="1" indent="0">
              <a:buNone/>
            </a:pPr>
            <a:r>
              <a:rPr lang="en-US" dirty="0"/>
              <a:t>	B. Classical</a:t>
            </a:r>
          </a:p>
          <a:p>
            <a:pPr marL="457200" lvl="1" indent="0">
              <a:buNone/>
            </a:pPr>
            <a:r>
              <a:rPr lang="en-US" dirty="0"/>
              <a:t>	C. Pop</a:t>
            </a:r>
          </a:p>
          <a:p>
            <a:pPr marL="457200" lvl="1" indent="0">
              <a:buNone/>
            </a:pPr>
            <a:r>
              <a:rPr lang="en-US" dirty="0"/>
              <a:t>c. Movies</a:t>
            </a:r>
          </a:p>
          <a:p>
            <a:r>
              <a:rPr lang="en-US" sz="2400" dirty="0"/>
              <a:t>Sport</a:t>
            </a:r>
          </a:p>
          <a:p>
            <a:pPr marL="457200" lvl="1" indent="0">
              <a:buNone/>
            </a:pPr>
            <a:r>
              <a:rPr lang="en-US" dirty="0"/>
              <a:t>1.  Basket ball</a:t>
            </a:r>
          </a:p>
          <a:p>
            <a:pPr marL="457200" lvl="1" indent="0">
              <a:buNone/>
            </a:pPr>
            <a:r>
              <a:rPr lang="en-US" dirty="0"/>
              <a:t>2. Football</a:t>
            </a:r>
          </a:p>
          <a:p>
            <a:pPr marL="457200" lvl="1" indent="0">
              <a:buNone/>
            </a:pPr>
            <a:r>
              <a:rPr lang="en-US" dirty="0"/>
              <a:t>	i. Champions league</a:t>
            </a:r>
          </a:p>
          <a:p>
            <a:pPr marL="457200" lvl="1" indent="0">
              <a:buNone/>
            </a:pPr>
            <a:r>
              <a:rPr lang="en-US" dirty="0"/>
              <a:t>	ii. Premier league</a:t>
            </a:r>
          </a:p>
          <a:p>
            <a:pPr marL="457200" lvl="1" indent="0">
              <a:buNone/>
            </a:pPr>
            <a:r>
              <a:rPr lang="en-US" dirty="0"/>
              <a:t>3. Boxing</a:t>
            </a:r>
          </a:p>
          <a:p>
            <a:pPr marL="457200" lvl="1" indent="0">
              <a:buNone/>
            </a:pPr>
            <a:r>
              <a:rPr lang="en-US" dirty="0"/>
              <a:t>	</a:t>
            </a:r>
          </a:p>
          <a:p>
            <a:pPr marL="457200" lvl="1" indent="0">
              <a:buNone/>
            </a:pPr>
            <a:endParaRPr lang="en-US" b="1" dirty="0"/>
          </a:p>
        </p:txBody>
      </p:sp>
    </p:spTree>
    <p:extLst>
      <p:ext uri="{BB962C8B-B14F-4D97-AF65-F5344CB8AC3E}">
        <p14:creationId xmlns:p14="http://schemas.microsoft.com/office/powerpoint/2010/main" val="1403900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F8D82-D2C5-C560-7282-EDDF51FE15E9}"/>
              </a:ext>
            </a:extLst>
          </p:cNvPr>
          <p:cNvSpPr>
            <a:spLocks noGrp="1"/>
          </p:cNvSpPr>
          <p:nvPr>
            <p:ph type="title"/>
          </p:nvPr>
        </p:nvSpPr>
        <p:spPr/>
        <p:txBody>
          <a:bodyPr/>
          <a:lstStyle/>
          <a:p>
            <a:r>
              <a:rPr lang="en-US" b="1" i="1" dirty="0"/>
              <a:t>Assignment 1:</a:t>
            </a:r>
          </a:p>
        </p:txBody>
      </p:sp>
      <p:sp>
        <p:nvSpPr>
          <p:cNvPr id="3" name="Content Placeholder 2">
            <a:extLst>
              <a:ext uri="{FF2B5EF4-FFF2-40B4-BE49-F238E27FC236}">
                <a16:creationId xmlns:a16="http://schemas.microsoft.com/office/drawing/2014/main" id="{D9CF790F-9EC4-A5F6-EC67-8DBCAA030106}"/>
              </a:ext>
            </a:extLst>
          </p:cNvPr>
          <p:cNvSpPr>
            <a:spLocks noGrp="1"/>
          </p:cNvSpPr>
          <p:nvPr>
            <p:ph idx="1"/>
          </p:nvPr>
        </p:nvSpPr>
        <p:spPr/>
        <p:txBody>
          <a:bodyPr>
            <a:normAutofit/>
          </a:bodyPr>
          <a:lstStyle/>
          <a:p>
            <a:pPr eaLnBrk="1" hangingPunct="1"/>
            <a:r>
              <a:rPr lang="en-US" altLang="en-US" sz="4000" dirty="0"/>
              <a:t>Create a single personal web page using various tags you have learnt to style. Also use the various &lt;h&gt; tags to highlight different </a:t>
            </a:r>
            <a:r>
              <a:rPr lang="en-US" altLang="en-US" sz="4000" b="1" dirty="0"/>
              <a:t>Headings</a:t>
            </a:r>
            <a:r>
              <a:rPr lang="en-US" altLang="en-US" sz="4000" dirty="0"/>
              <a:t> such as ‘About Me’, ‘Hobbies’, Education’, ‘Experience’, </a:t>
            </a:r>
            <a:r>
              <a:rPr lang="en-US" altLang="en-US" sz="4000" dirty="0" err="1"/>
              <a:t>etc</a:t>
            </a:r>
            <a:r>
              <a:rPr lang="en-US" altLang="en-US" sz="4000" dirty="0"/>
              <a:t>…</a:t>
            </a:r>
          </a:p>
          <a:p>
            <a:pPr marL="0" indent="0" eaLnBrk="1" hangingPunct="1">
              <a:buNone/>
            </a:pPr>
            <a:endParaRPr lang="en-US" altLang="en-US" sz="4000" dirty="0"/>
          </a:p>
          <a:p>
            <a:pPr eaLnBrk="1" hangingPunct="1"/>
            <a:r>
              <a:rPr lang="en-US" altLang="en-US" sz="4000" dirty="0"/>
              <a:t>NOTE: itemize your hobbies using of list tags.</a:t>
            </a:r>
          </a:p>
          <a:p>
            <a:endParaRPr lang="en-US" sz="4000" dirty="0"/>
          </a:p>
        </p:txBody>
      </p:sp>
    </p:spTree>
    <p:extLst>
      <p:ext uri="{BB962C8B-B14F-4D97-AF65-F5344CB8AC3E}">
        <p14:creationId xmlns:p14="http://schemas.microsoft.com/office/powerpoint/2010/main" val="2988274289"/>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5870</TotalTime>
  <Words>1576</Words>
  <Application>Microsoft Office PowerPoint</Application>
  <PresentationFormat>Widescreen</PresentationFormat>
  <Paragraphs>232</Paragraphs>
  <Slides>27</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27</vt:i4>
      </vt:variant>
    </vt:vector>
  </HeadingPairs>
  <TitlesOfParts>
    <vt:vector size="43" baseType="lpstr">
      <vt:lpstr>arial</vt:lpstr>
      <vt:lpstr>arial</vt:lpstr>
      <vt:lpstr>Calibri</vt:lpstr>
      <vt:lpstr>Calibri Light</vt:lpstr>
      <vt:lpstr>Candara Light</vt:lpstr>
      <vt:lpstr>Consolas</vt:lpstr>
      <vt:lpstr>Corbel</vt:lpstr>
      <vt:lpstr>Google Sans</vt:lpstr>
      <vt:lpstr>Inter</vt:lpstr>
      <vt:lpstr>Segoe UI</vt:lpstr>
      <vt:lpstr>Segoe UI Light</vt:lpstr>
      <vt:lpstr>system-ui</vt:lpstr>
      <vt:lpstr>Times New Roman</vt:lpstr>
      <vt:lpstr>Verdana</vt:lpstr>
      <vt:lpstr>Wingdings</vt:lpstr>
      <vt:lpstr>Office Theme</vt:lpstr>
      <vt:lpstr>PowerPoint Presentation</vt:lpstr>
      <vt:lpstr>PowerPoint Presentation</vt:lpstr>
      <vt:lpstr>HTML Editors</vt:lpstr>
      <vt:lpstr>INTRODUCTION TO HTML - TAGS</vt:lpstr>
      <vt:lpstr>Types of HTML Element</vt:lpstr>
      <vt:lpstr>What is an HTML Element?</vt:lpstr>
      <vt:lpstr>PowerPoint Presentation</vt:lpstr>
      <vt:lpstr>Understanding the Anatomy of an HTML Document</vt:lpstr>
      <vt:lpstr>THE &lt;!DOCTYPE&gt; DECLARATION </vt:lpstr>
      <vt:lpstr>Common Components of web pages</vt:lpstr>
      <vt:lpstr>Html tags for placing texts</vt:lpstr>
      <vt:lpstr>Other common tags</vt:lpstr>
      <vt:lpstr>THE HEADING TAGS</vt:lpstr>
      <vt:lpstr>INLINE AND BLOCK LEVEL ELEMENTS</vt:lpstr>
      <vt:lpstr>HOW THE WEB BROWSER DISPLAY CONTENTS</vt:lpstr>
      <vt:lpstr>Some common Block and Inline Elements</vt:lpstr>
      <vt:lpstr>Exercise: Block level and inline elements</vt:lpstr>
      <vt:lpstr>Bold &amp; Strong and Italic &amp; Emphasis</vt:lpstr>
      <vt:lpstr>HTML TEXT FORMATING</vt:lpstr>
      <vt:lpstr>Exercise:</vt:lpstr>
      <vt:lpstr>The LIST Element: Ordered and Unordered</vt:lpstr>
      <vt:lpstr>The type Attribute for an Ordered List  NOTE: ordered list uses the type attribute to control the listing.</vt:lpstr>
      <vt:lpstr> Ordered List: The "Start" Attribute </vt:lpstr>
      <vt:lpstr>Unordered List:</vt:lpstr>
      <vt:lpstr>Nested Tags: list inside another list</vt:lpstr>
      <vt:lpstr>Class Exercise.</vt:lpstr>
      <vt:lpstr>Assignment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 SOFTWARE</dc:title>
  <dc:creator>USER</dc:creator>
  <cp:lastModifiedBy>Windows User</cp:lastModifiedBy>
  <cp:revision>32</cp:revision>
  <dcterms:created xsi:type="dcterms:W3CDTF">2024-01-13T17:06:09Z</dcterms:created>
  <dcterms:modified xsi:type="dcterms:W3CDTF">2025-09-06T15:10:05Z</dcterms:modified>
</cp:coreProperties>
</file>