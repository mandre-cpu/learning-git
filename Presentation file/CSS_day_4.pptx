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47729B-39FC-413D-9BD5-F63B862920E9}" type="datetimeFigureOut">
              <a:rPr lang="en-US" smtClean="0"/>
              <a:t>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286A8A-615A-4149-995C-B6EEF0CF2EFF}" type="slidenum">
              <a:rPr lang="en-US" smtClean="0"/>
              <a:t>‹#›</a:t>
            </a:fld>
            <a:endParaRPr lang="en-US"/>
          </a:p>
        </p:txBody>
      </p:sp>
    </p:spTree>
    <p:extLst>
      <p:ext uri="{BB962C8B-B14F-4D97-AF65-F5344CB8AC3E}">
        <p14:creationId xmlns:p14="http://schemas.microsoft.com/office/powerpoint/2010/main" val="1552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BB44F-6D80-E474-B80B-EB58ED87E7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6028DE-A9D0-4419-9EF1-FBFF4362E0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BB9565-CEBF-4290-5A59-2303182AE8F3}"/>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5" name="Footer Placeholder 4">
            <a:extLst>
              <a:ext uri="{FF2B5EF4-FFF2-40B4-BE49-F238E27FC236}">
                <a16:creationId xmlns:a16="http://schemas.microsoft.com/office/drawing/2014/main" id="{D8E9EBB0-B263-D532-E290-7AF9517DA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FD69D1-A0DE-4B8F-4BD1-36D082A53C3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74924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093AB-2137-ECB5-1884-7ECF1E4B3B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12F47E-6743-02F3-C728-3E5C03BEB0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F4DAD3-0C06-9DCA-4C18-A46CCEAC753A}"/>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5" name="Footer Placeholder 4">
            <a:extLst>
              <a:ext uri="{FF2B5EF4-FFF2-40B4-BE49-F238E27FC236}">
                <a16:creationId xmlns:a16="http://schemas.microsoft.com/office/drawing/2014/main" id="{3AB91EBA-0B2F-A0F4-2253-7B95128ADE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EAE253-E60A-F8BA-43A1-970548782CDB}"/>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68334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F211-79EC-A966-9DEB-EEFA628C76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02EC2C-B2F7-04F8-91EC-AB52849DFB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73D744-3DD6-F832-A4FD-FA4C9EF166D8}"/>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5" name="Footer Placeholder 4">
            <a:extLst>
              <a:ext uri="{FF2B5EF4-FFF2-40B4-BE49-F238E27FC236}">
                <a16:creationId xmlns:a16="http://schemas.microsoft.com/office/drawing/2014/main" id="{30EDF1D1-DF96-FE7A-ACF8-F23600750B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BFFEF-3DF2-AD12-124F-979AA26249E5}"/>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6304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463A1-1B0A-A2C3-97E1-F239316CD7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65C097-63CF-0519-1AA6-BC90B3CC1D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037921-4AC2-C9C1-9358-B9862E1F86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61C00B-09BB-B412-7693-D08E22E45C7C}"/>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6" name="Footer Placeholder 5">
            <a:extLst>
              <a:ext uri="{FF2B5EF4-FFF2-40B4-BE49-F238E27FC236}">
                <a16:creationId xmlns:a16="http://schemas.microsoft.com/office/drawing/2014/main" id="{900D25EB-A3E9-1B38-C873-15FC9DA81D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909310-EA11-352F-39AE-26FCEED034D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492263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945A-C7A5-1043-3B87-BF048B1DE5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52DE52-76FC-6EE4-4BCB-F7ACC32D90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0759D4-D5C8-BDE9-6F53-23AE70D110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A7AFA0-2DEB-095F-C07A-8B5B4116D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EBA38-9CD8-873D-42D5-D63511990E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0A2F4D-73DE-5C02-965B-1A9EB4E6EE31}"/>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8" name="Footer Placeholder 7">
            <a:extLst>
              <a:ext uri="{FF2B5EF4-FFF2-40B4-BE49-F238E27FC236}">
                <a16:creationId xmlns:a16="http://schemas.microsoft.com/office/drawing/2014/main" id="{34AC0A7B-51D6-860B-FBE4-F5AD18D585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3D94BB-94BA-BD77-E656-BD8AD49E0689}"/>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889870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DC9F-13FD-617A-D851-650FBC31DD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10CDF0-1CB3-3367-94CA-A7B54E0F11A9}"/>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4" name="Footer Placeholder 3">
            <a:extLst>
              <a:ext uri="{FF2B5EF4-FFF2-40B4-BE49-F238E27FC236}">
                <a16:creationId xmlns:a16="http://schemas.microsoft.com/office/drawing/2014/main" id="{D83B6E34-927F-1D21-83CE-7519F59102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BF10B2-80FF-43DA-F546-306F5AE138C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976638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9485E2-2430-B585-7203-DAEAC4A066B9}"/>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3" name="Footer Placeholder 2">
            <a:extLst>
              <a:ext uri="{FF2B5EF4-FFF2-40B4-BE49-F238E27FC236}">
                <a16:creationId xmlns:a16="http://schemas.microsoft.com/office/drawing/2014/main" id="{136169D3-7E9D-764E-57D6-FF6B980F2D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F83435-4A0D-A0DB-D5AA-673390880327}"/>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4126243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B7BB-F664-1DAF-37D8-3374820882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FAD7B7-8C19-038A-BAB6-4C8777C98C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24AAF4-9966-B61A-C087-DB96220F2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4DB6C6-EB43-CBDF-1469-0B0FD4CD01B1}"/>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6" name="Footer Placeholder 5">
            <a:extLst>
              <a:ext uri="{FF2B5EF4-FFF2-40B4-BE49-F238E27FC236}">
                <a16:creationId xmlns:a16="http://schemas.microsoft.com/office/drawing/2014/main" id="{C965C3A4-07B1-9CEF-D519-CDB1112B58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42988E-2568-CF08-CFF1-E7CEB77B9BA1}"/>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3767645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6913-3F40-D6E0-57D3-D5D65FC52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3AD43B-FFBC-F6BD-C162-32952B2632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A8BDA0-1FD4-B8C4-1130-5180683E26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4D698-2CAE-C25E-2355-A8F954667681}"/>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6" name="Footer Placeholder 5">
            <a:extLst>
              <a:ext uri="{FF2B5EF4-FFF2-40B4-BE49-F238E27FC236}">
                <a16:creationId xmlns:a16="http://schemas.microsoft.com/office/drawing/2014/main" id="{18D976B6-C412-434B-6204-62E9F7F743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B7EDBC-19DD-04FE-1AAB-ADFC971A4787}"/>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225136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5B336-CC3C-05AA-0F27-3D749949FF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6A0CC8-82C3-4D3E-B61B-D5EF90E292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FE89B-EEB6-15FD-9DA9-04DAE7C1AE6F}"/>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5" name="Footer Placeholder 4">
            <a:extLst>
              <a:ext uri="{FF2B5EF4-FFF2-40B4-BE49-F238E27FC236}">
                <a16:creationId xmlns:a16="http://schemas.microsoft.com/office/drawing/2014/main" id="{A2C77B26-D246-BC73-B0E0-CA58D0A68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35B480-2F03-20FF-5354-D7C1F2B7E300}"/>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84312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BDA255-F904-AC56-116B-68F5B30B98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8E6515-CB08-99F4-EF71-F115F5C673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B56DD5-417B-699F-1D83-7CDC602D4609}"/>
              </a:ext>
            </a:extLst>
          </p:cNvPr>
          <p:cNvSpPr>
            <a:spLocks noGrp="1"/>
          </p:cNvSpPr>
          <p:nvPr>
            <p:ph type="dt" sz="half" idx="10"/>
          </p:nvPr>
        </p:nvSpPr>
        <p:spPr/>
        <p:txBody>
          <a:bodyPr/>
          <a:lstStyle/>
          <a:p>
            <a:fld id="{8F02FA5E-585C-4C83-8AFA-F6ABB6703307}" type="datetimeFigureOut">
              <a:rPr lang="en-US" smtClean="0"/>
              <a:t>11/1/2025</a:t>
            </a:fld>
            <a:endParaRPr lang="en-US"/>
          </a:p>
        </p:txBody>
      </p:sp>
      <p:sp>
        <p:nvSpPr>
          <p:cNvPr id="5" name="Footer Placeholder 4">
            <a:extLst>
              <a:ext uri="{FF2B5EF4-FFF2-40B4-BE49-F238E27FC236}">
                <a16:creationId xmlns:a16="http://schemas.microsoft.com/office/drawing/2014/main" id="{DD216A18-7D8C-681E-3BDF-E8381DA8D4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FD18A-F822-789C-29D7-0A42C6217515}"/>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508744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EA0BE7-71AD-FF6C-37F7-D240A7C32D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B96787-B0D8-A513-862F-BA24A5E792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00A5F-525E-FD0F-610D-D444A060B3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2FA5E-585C-4C83-8AFA-F6ABB6703307}" type="datetimeFigureOut">
              <a:rPr lang="en-US" smtClean="0"/>
              <a:t>11/1/2025</a:t>
            </a:fld>
            <a:endParaRPr lang="en-US"/>
          </a:p>
        </p:txBody>
      </p:sp>
      <p:sp>
        <p:nvSpPr>
          <p:cNvPr id="5" name="Footer Placeholder 4">
            <a:extLst>
              <a:ext uri="{FF2B5EF4-FFF2-40B4-BE49-F238E27FC236}">
                <a16:creationId xmlns:a16="http://schemas.microsoft.com/office/drawing/2014/main" id="{B319AF49-3EB9-D4A2-BF02-770FBA2A80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970D14-2171-25F5-EB5F-36E7E005FD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0443E1-30A8-4532-992B-132183190527}" type="slidenum">
              <a:rPr lang="en-US" smtClean="0"/>
              <a:t>‹#›</a:t>
            </a:fld>
            <a:endParaRPr lang="en-US"/>
          </a:p>
        </p:txBody>
      </p:sp>
    </p:spTree>
    <p:extLst>
      <p:ext uri="{BB962C8B-B14F-4D97-AF65-F5344CB8AC3E}">
        <p14:creationId xmlns:p14="http://schemas.microsoft.com/office/powerpoint/2010/main" val="4078440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6D80C-18DB-2885-109D-484BA435812C}"/>
              </a:ext>
            </a:extLst>
          </p:cNvPr>
          <p:cNvSpPr>
            <a:spLocks noGrp="1"/>
          </p:cNvSpPr>
          <p:nvPr>
            <p:ph type="title"/>
          </p:nvPr>
        </p:nvSpPr>
        <p:spPr>
          <a:xfrm>
            <a:off x="1534696" y="1"/>
            <a:ext cx="9520158" cy="691116"/>
          </a:xfrm>
        </p:spPr>
        <p:txBody>
          <a:bodyPr>
            <a:normAutofit fontScale="90000"/>
          </a:bodyPr>
          <a:lstStyle/>
          <a:p>
            <a:r>
              <a:rPr lang="en-US" sz="4400" u="sng" dirty="0"/>
              <a:t>CSS opacity &amp; transparency</a:t>
            </a:r>
          </a:p>
        </p:txBody>
      </p:sp>
      <p:sp>
        <p:nvSpPr>
          <p:cNvPr id="3" name="Content Placeholder 2">
            <a:extLst>
              <a:ext uri="{FF2B5EF4-FFF2-40B4-BE49-F238E27FC236}">
                <a16:creationId xmlns:a16="http://schemas.microsoft.com/office/drawing/2014/main" id="{F0068C24-C65F-A2E8-4C57-7A37AC052F37}"/>
              </a:ext>
            </a:extLst>
          </p:cNvPr>
          <p:cNvSpPr>
            <a:spLocks noGrp="1"/>
          </p:cNvSpPr>
          <p:nvPr>
            <p:ph idx="1"/>
          </p:nvPr>
        </p:nvSpPr>
        <p:spPr>
          <a:xfrm>
            <a:off x="850606" y="797442"/>
            <a:ext cx="11092432" cy="6039293"/>
          </a:xfrm>
        </p:spPr>
        <p:txBody>
          <a:bodyPr>
            <a:normAutofit/>
          </a:bodyPr>
          <a:lstStyle/>
          <a:p>
            <a:pPr marL="0" indent="0">
              <a:buNone/>
            </a:pPr>
            <a:r>
              <a:rPr lang="en-US" sz="2200" dirty="0"/>
              <a:t>The </a:t>
            </a:r>
            <a:r>
              <a:rPr lang="en-US" sz="2200" b="1" dirty="0"/>
              <a:t>opacity</a:t>
            </a:r>
            <a:r>
              <a:rPr lang="en-US" sz="2200" dirty="0"/>
              <a:t> property specifies the opacity/transparency of an element.</a:t>
            </a:r>
          </a:p>
          <a:p>
            <a:pPr marL="0" indent="0">
              <a:buNone/>
            </a:pPr>
            <a:r>
              <a:rPr lang="en-US" sz="2200" dirty="0"/>
              <a:t>The opacity property can take a value from </a:t>
            </a:r>
            <a:r>
              <a:rPr lang="en-US" sz="2200" dirty="0">
                <a:solidFill>
                  <a:srgbClr val="FF0000"/>
                </a:solidFill>
              </a:rPr>
              <a:t>0.0 - 1.0</a:t>
            </a:r>
            <a:r>
              <a:rPr lang="en-US" sz="2200" dirty="0"/>
              <a:t>. The lower the value, the more transparent: </a:t>
            </a:r>
            <a:r>
              <a:rPr lang="en-US" sz="2100" b="0" i="0" dirty="0">
                <a:solidFill>
                  <a:srgbClr val="000000"/>
                </a:solidFill>
                <a:effectLst/>
                <a:latin typeface="Times New Roman" panose="02020603050405020304" pitchFamily="18" charset="0"/>
              </a:rPr>
              <a:t>When using the opacity property to add transparency to the background of an element, all of its child elements become transparent as well. This can make the text inside a fully transparent element hard to read:</a:t>
            </a:r>
          </a:p>
          <a:p>
            <a:pPr marL="0" indent="0" algn="l">
              <a:buNone/>
            </a:pPr>
            <a:r>
              <a:rPr lang="en-US" sz="2000" b="1" i="0" dirty="0">
                <a:solidFill>
                  <a:srgbClr val="000000"/>
                </a:solidFill>
                <a:effectLst/>
                <a:highlight>
                  <a:srgbClr val="FFFFFF"/>
                </a:highlight>
                <a:latin typeface="Segoe UI" panose="020B0502040204020203" pitchFamily="34" charset="0"/>
              </a:rPr>
              <a:t>Transparency using RGBA</a:t>
            </a:r>
          </a:p>
          <a:p>
            <a:pPr marL="0" indent="0">
              <a:buNone/>
            </a:pPr>
            <a:r>
              <a:rPr lang="en-US" sz="2200" dirty="0"/>
              <a:t>You learned from our CSS Colors Chapter, that you can use RGB as a color value. In addition to RGB, you can use an RGB color value with an alpha channel (RGBA) - which specifies the opacity for a color.</a:t>
            </a:r>
          </a:p>
          <a:p>
            <a:pPr marL="0" indent="0">
              <a:buNone/>
            </a:pPr>
            <a:r>
              <a:rPr lang="en-US" sz="2200" dirty="0"/>
              <a:t>An RGBA color value is specified with </a:t>
            </a:r>
            <a:r>
              <a:rPr lang="en-US" sz="2200" dirty="0" err="1"/>
              <a:t>rgba</a:t>
            </a:r>
            <a:r>
              <a:rPr lang="en-US" sz="2200" dirty="0"/>
              <a:t>(red, green, blue, alpha). The alpha parameter is a number between 0.0 (fully transparent) and 1.0 (fully opaque).</a:t>
            </a:r>
          </a:p>
        </p:txBody>
      </p:sp>
    </p:spTree>
    <p:extLst>
      <p:ext uri="{BB962C8B-B14F-4D97-AF65-F5344CB8AC3E}">
        <p14:creationId xmlns:p14="http://schemas.microsoft.com/office/powerpoint/2010/main" val="149146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C7CE80-6A55-F324-574D-C7C3CFC31A60}"/>
              </a:ext>
            </a:extLst>
          </p:cNvPr>
          <p:cNvSpPr>
            <a:spLocks noGrp="1"/>
          </p:cNvSpPr>
          <p:nvPr>
            <p:ph idx="1"/>
          </p:nvPr>
        </p:nvSpPr>
        <p:spPr>
          <a:xfrm>
            <a:off x="6613452" y="2916864"/>
            <a:ext cx="5656520" cy="2622698"/>
          </a:xfrm>
        </p:spPr>
        <p:txBody>
          <a:bodyPr/>
          <a:lstStyle/>
          <a:p>
            <a:pPr marL="0" indent="0">
              <a:buNone/>
            </a:pPr>
            <a:r>
              <a:rPr lang="en-US" sz="2000" dirty="0"/>
              <a:t>&lt;p&gt;</a:t>
            </a:r>
            <a:r>
              <a:rPr lang="en-US" sz="2000" b="1" dirty="0"/>
              <a:t>Using RGBA color values</a:t>
            </a:r>
            <a:r>
              <a:rPr lang="en-US" sz="2000" dirty="0"/>
              <a:t>:&lt;/p&gt;</a:t>
            </a:r>
          </a:p>
          <a:p>
            <a:pPr marL="0" indent="0">
              <a:buNone/>
            </a:pPr>
            <a:r>
              <a:rPr lang="en-US" sz="2000" dirty="0"/>
              <a:t>&lt;div class="first"&gt;&lt;p&gt;10% opacity&lt;/p&gt;&lt;/div&gt;</a:t>
            </a:r>
          </a:p>
          <a:p>
            <a:pPr marL="0" indent="0">
              <a:buNone/>
            </a:pPr>
            <a:r>
              <a:rPr lang="en-US" sz="2000" dirty="0"/>
              <a:t>&lt;div class="second"&gt;&lt;p&gt;30% opacity&lt;/p&gt;&lt;/div&gt;</a:t>
            </a:r>
          </a:p>
          <a:p>
            <a:pPr marL="0" indent="0">
              <a:buNone/>
            </a:pPr>
            <a:r>
              <a:rPr lang="en-US" sz="2000" dirty="0"/>
              <a:t>&lt;div class="third"&gt;&lt;p&gt;60% opacity&lt;/p&gt;&lt;/div&gt;</a:t>
            </a:r>
          </a:p>
          <a:p>
            <a:pPr marL="0" indent="0">
              <a:buNone/>
            </a:pPr>
            <a:r>
              <a:rPr lang="en-US" sz="2000" dirty="0"/>
              <a:t>&lt;div&gt;&lt;p&gt;default&lt;/p&gt;&lt;/div&gt;</a:t>
            </a:r>
          </a:p>
          <a:p>
            <a:pPr marL="0" indent="0">
              <a:buNone/>
            </a:pPr>
            <a:endParaRPr lang="en-US" dirty="0"/>
          </a:p>
        </p:txBody>
      </p:sp>
      <p:sp>
        <p:nvSpPr>
          <p:cNvPr id="4" name="Content Placeholder 2">
            <a:extLst>
              <a:ext uri="{FF2B5EF4-FFF2-40B4-BE49-F238E27FC236}">
                <a16:creationId xmlns:a16="http://schemas.microsoft.com/office/drawing/2014/main" id="{84F2157B-C50C-38BF-E90C-B9668802D501}"/>
              </a:ext>
            </a:extLst>
          </p:cNvPr>
          <p:cNvSpPr txBox="1">
            <a:spLocks/>
          </p:cNvSpPr>
          <p:nvPr/>
        </p:nvSpPr>
        <p:spPr>
          <a:xfrm>
            <a:off x="279992" y="2916864"/>
            <a:ext cx="6333460" cy="2867247"/>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None/>
            </a:pPr>
            <a:r>
              <a:rPr lang="en-US" sz="2000" dirty="0"/>
              <a:t>&lt;h1&gt;</a:t>
            </a:r>
            <a:r>
              <a:rPr lang="en-US" sz="2000" b="1" dirty="0"/>
              <a:t>Using opacity property</a:t>
            </a:r>
            <a:r>
              <a:rPr lang="en-US" sz="2000" dirty="0"/>
              <a:t>&lt;/h1&gt;</a:t>
            </a:r>
          </a:p>
          <a:p>
            <a:pPr marL="0" indent="0">
              <a:buNone/>
            </a:pPr>
            <a:r>
              <a:rPr lang="en-US" sz="2000" dirty="0"/>
              <a:t>&lt;div style="opacity:0.1;"&gt;&lt;p&gt;10% opacity&lt;/p&gt;&lt;/div&gt;</a:t>
            </a:r>
          </a:p>
          <a:p>
            <a:pPr marL="0" indent="0">
              <a:buNone/>
            </a:pPr>
            <a:r>
              <a:rPr lang="en-US" sz="2000" dirty="0"/>
              <a:t>&lt;div style="opacity:0.3;"&gt;&lt;p&gt;30% opacity&lt;/p&gt;&lt;/div&gt;</a:t>
            </a:r>
          </a:p>
          <a:p>
            <a:pPr marL="0" indent="0">
              <a:buNone/>
            </a:pPr>
            <a:r>
              <a:rPr lang="en-US" sz="2000" dirty="0"/>
              <a:t>&lt;div style="opacity:0.6;"&gt;&lt;p&gt;60% opacity&lt;/p&gt;&lt;/div&gt;</a:t>
            </a:r>
          </a:p>
          <a:p>
            <a:pPr marL="0" indent="0">
              <a:buNone/>
            </a:pPr>
            <a:r>
              <a:rPr lang="en-US" sz="2000" dirty="0"/>
              <a:t>&lt;div&gt;&lt;p&gt;opacity 1&lt;/p&gt;&lt;/div&gt;</a:t>
            </a:r>
          </a:p>
        </p:txBody>
      </p:sp>
      <p:sp>
        <p:nvSpPr>
          <p:cNvPr id="6" name="TextBox 5">
            <a:extLst>
              <a:ext uri="{FF2B5EF4-FFF2-40B4-BE49-F238E27FC236}">
                <a16:creationId xmlns:a16="http://schemas.microsoft.com/office/drawing/2014/main" id="{69CFE189-72D7-CC92-2EC2-AA53B19C7E1D}"/>
              </a:ext>
            </a:extLst>
          </p:cNvPr>
          <p:cNvSpPr txBox="1"/>
          <p:nvPr/>
        </p:nvSpPr>
        <p:spPr>
          <a:xfrm>
            <a:off x="2921295" y="319552"/>
            <a:ext cx="6182832" cy="1754326"/>
          </a:xfrm>
          <a:prstGeom prst="rect">
            <a:avLst/>
          </a:prstGeom>
          <a:noFill/>
        </p:spPr>
        <p:txBody>
          <a:bodyPr wrap="square">
            <a:spAutoFit/>
          </a:bodyPr>
          <a:lstStyle/>
          <a:p>
            <a:r>
              <a:rPr lang="en-US" dirty="0"/>
              <a:t>General CSS setting for both.</a:t>
            </a:r>
          </a:p>
          <a:p>
            <a:endParaRPr lang="en-US" dirty="0"/>
          </a:p>
          <a:p>
            <a:r>
              <a:rPr lang="en-US" dirty="0">
                <a:solidFill>
                  <a:schemeClr val="accent5">
                    <a:lumMod val="75000"/>
                  </a:schemeClr>
                </a:solidFill>
              </a:rPr>
              <a:t>div</a:t>
            </a:r>
            <a:r>
              <a:rPr lang="en-US" dirty="0">
                <a:solidFill>
                  <a:srgbClr val="FF0000"/>
                </a:solidFill>
              </a:rPr>
              <a:t> {</a:t>
            </a:r>
          </a:p>
          <a:p>
            <a:r>
              <a:rPr lang="en-US" dirty="0">
                <a:solidFill>
                  <a:srgbClr val="FF0000"/>
                </a:solidFill>
              </a:rPr>
              <a:t>  background: </a:t>
            </a:r>
            <a:r>
              <a:rPr lang="en-US" dirty="0" err="1">
                <a:solidFill>
                  <a:srgbClr val="FF0000"/>
                </a:solidFill>
              </a:rPr>
              <a:t>rgb</a:t>
            </a:r>
            <a:r>
              <a:rPr lang="en-US" dirty="0">
                <a:solidFill>
                  <a:srgbClr val="FF0000"/>
                </a:solidFill>
              </a:rPr>
              <a:t>(4, 170, 109);</a:t>
            </a:r>
          </a:p>
          <a:p>
            <a:r>
              <a:rPr lang="en-US" dirty="0">
                <a:solidFill>
                  <a:srgbClr val="FF0000"/>
                </a:solidFill>
              </a:rPr>
              <a:t>  padding: 10px;</a:t>
            </a:r>
          </a:p>
          <a:p>
            <a:r>
              <a:rPr lang="en-US" dirty="0">
                <a:solidFill>
                  <a:srgbClr val="FF0000"/>
                </a:solidFill>
              </a:rPr>
              <a:t>}</a:t>
            </a:r>
          </a:p>
        </p:txBody>
      </p:sp>
    </p:spTree>
    <p:extLst>
      <p:ext uri="{BB962C8B-B14F-4D97-AF65-F5344CB8AC3E}">
        <p14:creationId xmlns:p14="http://schemas.microsoft.com/office/powerpoint/2010/main" val="4053419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A23288-725B-C592-28D9-7383AF0AAEDB}"/>
              </a:ext>
            </a:extLst>
          </p:cNvPr>
          <p:cNvSpPr>
            <a:spLocks noGrp="1"/>
          </p:cNvSpPr>
          <p:nvPr>
            <p:ph idx="1"/>
          </p:nvPr>
        </p:nvSpPr>
        <p:spPr>
          <a:xfrm>
            <a:off x="1534696" y="276448"/>
            <a:ext cx="9520158" cy="5869171"/>
          </a:xfrm>
        </p:spPr>
        <p:txBody>
          <a:bodyPr>
            <a:normAutofit/>
          </a:bodyPr>
          <a:lstStyle/>
          <a:p>
            <a:pPr marL="0" indent="0">
              <a:buNone/>
            </a:pPr>
            <a:r>
              <a:rPr lang="en-US" dirty="0"/>
              <a:t> </a:t>
            </a:r>
            <a:r>
              <a:rPr lang="en-US" b="1" dirty="0"/>
              <a:t>NOTE: </a:t>
            </a:r>
            <a:r>
              <a:rPr lang="en-US" dirty="0"/>
              <a:t>text-decoration set to </a:t>
            </a:r>
            <a:r>
              <a:rPr lang="en-US" sz="2200" b="1" i="1" dirty="0"/>
              <a:t>none</a:t>
            </a:r>
            <a:r>
              <a:rPr lang="en-US" dirty="0"/>
              <a:t> removes the underline and other </a:t>
            </a:r>
            <a:r>
              <a:rPr lang="en-US" dirty="0" err="1"/>
              <a:t>properies</a:t>
            </a:r>
            <a:r>
              <a:rPr lang="en-US" dirty="0"/>
              <a:t> from the text</a:t>
            </a:r>
          </a:p>
          <a:p>
            <a:pPr marL="0" indent="0">
              <a:buNone/>
            </a:pPr>
            <a:r>
              <a:rPr lang="en-US" b="0" i="0" dirty="0">
                <a:solidFill>
                  <a:srgbClr val="A52A2A"/>
                </a:solidFill>
                <a:effectLst/>
                <a:latin typeface="Consolas" panose="020B0609020204030204" pitchFamily="49" charset="0"/>
              </a:rPr>
              <a:t>a </a:t>
            </a:r>
            <a:r>
              <a:rPr lang="en-US" b="0" i="0" dirty="0">
                <a:solidFill>
                  <a:srgbClr val="000000"/>
                </a:solidFill>
                <a:effectLst/>
                <a:latin typeface="Consolas" panose="020B0609020204030204" pitchFamily="49" charset="0"/>
              </a:rPr>
              <a:t>{</a:t>
            </a:r>
            <a:r>
              <a:rPr lang="en-US" dirty="0">
                <a:solidFill>
                  <a:srgbClr val="FF0000"/>
                </a:solidFill>
                <a:latin typeface="Consolas" panose="020B0609020204030204" pitchFamily="49" charset="0"/>
              </a:rPr>
              <a:t> </a:t>
            </a:r>
            <a:r>
              <a:rPr lang="en-US" b="0" i="0" dirty="0">
                <a:solidFill>
                  <a:srgbClr val="FF0000"/>
                </a:solidFill>
                <a:effectLst/>
                <a:latin typeface="Consolas" panose="020B0609020204030204" pitchFamily="49" charset="0"/>
              </a:rPr>
              <a:t>text-decoration</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none</a:t>
            </a:r>
            <a:r>
              <a:rPr lang="en-US" b="0" i="0" dirty="0">
                <a:solidFill>
                  <a:srgbClr val="000000"/>
                </a:solidFill>
                <a:effectLst/>
                <a:latin typeface="Consolas" panose="020B0609020204030204" pitchFamily="49" charset="0"/>
              </a:rPr>
              <a:t>;}</a:t>
            </a:r>
          </a:p>
          <a:p>
            <a:pPr>
              <a:buFont typeface="Wingdings" panose="05000000000000000000" pitchFamily="2" charset="2"/>
              <a:buChar char="Ø"/>
            </a:pPr>
            <a:r>
              <a:rPr lang="en-US" dirty="0">
                <a:solidFill>
                  <a:srgbClr val="000000"/>
                </a:solidFill>
                <a:latin typeface="+mj-lt"/>
              </a:rPr>
              <a:t>The text-spacing property create space between our text characters and the value can be set in </a:t>
            </a:r>
            <a:r>
              <a:rPr lang="en-US" sz="2200" b="1" i="1" dirty="0" err="1">
                <a:solidFill>
                  <a:srgbClr val="000000"/>
                </a:solidFill>
                <a:latin typeface="+mj-lt"/>
              </a:rPr>
              <a:t>px</a:t>
            </a:r>
            <a:endParaRPr lang="en-US" sz="2200" b="1" i="1" dirty="0">
              <a:solidFill>
                <a:srgbClr val="000000"/>
              </a:solidFill>
              <a:latin typeface="+mj-lt"/>
            </a:endParaRPr>
          </a:p>
          <a:p>
            <a:pPr>
              <a:buFont typeface="Wingdings" panose="05000000000000000000" pitchFamily="2" charset="2"/>
              <a:buChar char="Ø"/>
            </a:pPr>
            <a:r>
              <a:rPr lang="en-US" dirty="0">
                <a:solidFill>
                  <a:srgbClr val="000000"/>
                </a:solidFill>
                <a:latin typeface="+mj-lt"/>
              </a:rPr>
              <a:t>The line-height specifies the space between lines, and can also be set in </a:t>
            </a:r>
            <a:r>
              <a:rPr lang="en-US" b="1" i="1" dirty="0" err="1">
                <a:solidFill>
                  <a:srgbClr val="000000"/>
                </a:solidFill>
                <a:latin typeface="+mj-lt"/>
              </a:rPr>
              <a:t>px</a:t>
            </a:r>
            <a:endParaRPr lang="en-US" b="1" i="1" dirty="0">
              <a:solidFill>
                <a:srgbClr val="000000"/>
              </a:solidFill>
              <a:latin typeface="+mj-lt"/>
            </a:endParaRPr>
          </a:p>
          <a:p>
            <a:pPr>
              <a:buFont typeface="Wingdings" panose="05000000000000000000" pitchFamily="2" charset="2"/>
              <a:buChar char="Ø"/>
            </a:pPr>
            <a:r>
              <a:rPr lang="en-US" dirty="0">
                <a:solidFill>
                  <a:srgbClr val="000000"/>
                </a:solidFill>
                <a:latin typeface="+mj-lt"/>
              </a:rPr>
              <a:t>The text-shadow property add shadow to our text. In its simplest use, you only specify the horizontal shadow (2px) and the vertical shadow (2px):</a:t>
            </a:r>
          </a:p>
          <a:p>
            <a:pPr marL="0" indent="0">
              <a:buNone/>
            </a:pPr>
            <a:r>
              <a:rPr lang="en-US" sz="2000" b="1" i="0" dirty="0">
                <a:solidFill>
                  <a:srgbClr val="A52A2A"/>
                </a:solidFill>
                <a:effectLst/>
                <a:latin typeface="Consolas" panose="020B0609020204030204" pitchFamily="49" charset="0"/>
              </a:rPr>
              <a:t>h1 </a:t>
            </a:r>
            <a:r>
              <a:rPr lang="en-US" sz="2000" b="1" i="0" dirty="0">
                <a:solidFill>
                  <a:srgbClr val="000000"/>
                </a:solidFill>
                <a:effectLst/>
                <a:latin typeface="Consolas" panose="020B0609020204030204" pitchFamily="49" charset="0"/>
              </a:rPr>
              <a:t>{</a:t>
            </a:r>
            <a:r>
              <a:rPr lang="en-US" sz="2000" b="1" i="0" dirty="0">
                <a:solidFill>
                  <a:srgbClr val="FF0000"/>
                </a:solidFill>
                <a:effectLst/>
                <a:latin typeface="Consolas" panose="020B0609020204030204" pitchFamily="49" charset="0"/>
              </a:rPr>
              <a:t/>
            </a:r>
            <a:br>
              <a:rPr lang="en-US" sz="2000" b="1" i="0" dirty="0">
                <a:solidFill>
                  <a:srgbClr val="FF0000"/>
                </a:solidFill>
                <a:effectLst/>
                <a:latin typeface="Consolas" panose="020B0609020204030204" pitchFamily="49" charset="0"/>
              </a:rPr>
            </a:br>
            <a:r>
              <a:rPr lang="en-US" sz="2000" b="1" i="0" dirty="0">
                <a:solidFill>
                  <a:srgbClr val="FF0000"/>
                </a:solidFill>
                <a:effectLst/>
                <a:latin typeface="Consolas" panose="020B0609020204030204" pitchFamily="49" charset="0"/>
              </a:rPr>
              <a:t>  text-shadow</a:t>
            </a:r>
            <a:r>
              <a:rPr lang="en-US" sz="2000" b="1" i="0" dirty="0">
                <a:solidFill>
                  <a:srgbClr val="000000"/>
                </a:solidFill>
                <a:effectLst/>
                <a:latin typeface="Consolas" panose="020B0609020204030204" pitchFamily="49" charset="0"/>
              </a:rPr>
              <a:t>:</a:t>
            </a:r>
            <a:r>
              <a:rPr lang="en-US" sz="2000" b="1" i="0" dirty="0">
                <a:solidFill>
                  <a:srgbClr val="0000CD"/>
                </a:solidFill>
                <a:effectLst/>
                <a:latin typeface="Consolas" panose="020B0609020204030204" pitchFamily="49" charset="0"/>
              </a:rPr>
              <a:t> 2px </a:t>
            </a:r>
            <a:r>
              <a:rPr lang="en-US" sz="2000" b="1" i="0" dirty="0" err="1">
                <a:solidFill>
                  <a:srgbClr val="0000CD"/>
                </a:solidFill>
                <a:effectLst/>
                <a:latin typeface="Consolas" panose="020B0609020204030204" pitchFamily="49" charset="0"/>
              </a:rPr>
              <a:t>2px</a:t>
            </a:r>
            <a:r>
              <a:rPr lang="en-US" sz="2000" b="1" i="0" dirty="0">
                <a:solidFill>
                  <a:srgbClr val="000000"/>
                </a:solidFill>
                <a:effectLst/>
                <a:latin typeface="Consolas" panose="020B0609020204030204" pitchFamily="49" charset="0"/>
              </a:rPr>
              <a:t>;</a:t>
            </a:r>
            <a:r>
              <a:rPr lang="en-US" sz="2000" b="1" i="0" dirty="0">
                <a:solidFill>
                  <a:srgbClr val="FF0000"/>
                </a:solidFill>
                <a:effectLst/>
                <a:latin typeface="Consolas" panose="020B0609020204030204" pitchFamily="49" charset="0"/>
              </a:rPr>
              <a:t/>
            </a:r>
            <a:br>
              <a:rPr lang="en-US" sz="2000" b="1" i="0" dirty="0">
                <a:solidFill>
                  <a:srgbClr val="FF0000"/>
                </a:solidFill>
                <a:effectLst/>
                <a:latin typeface="Consolas" panose="020B0609020204030204" pitchFamily="49" charset="0"/>
              </a:rPr>
            </a:br>
            <a:r>
              <a:rPr lang="en-US" sz="2000" b="1" i="0" dirty="0">
                <a:solidFill>
                  <a:srgbClr val="000000"/>
                </a:solidFill>
                <a:effectLst/>
                <a:latin typeface="Consolas" panose="020B0609020204030204" pitchFamily="49" charset="0"/>
              </a:rPr>
              <a:t>}</a:t>
            </a:r>
            <a:endParaRPr lang="en-US" sz="2200" b="1" dirty="0">
              <a:solidFill>
                <a:srgbClr val="000000"/>
              </a:solidFill>
              <a:latin typeface="+mj-lt"/>
            </a:endParaRPr>
          </a:p>
          <a:p>
            <a:pPr marL="0" indent="0">
              <a:buNone/>
            </a:pPr>
            <a:endParaRPr lang="en-US" sz="2200" b="1" i="1" dirty="0">
              <a:latin typeface="+mj-lt"/>
            </a:endParaRPr>
          </a:p>
          <a:p>
            <a:pPr marL="0" indent="0">
              <a:buNone/>
            </a:pPr>
            <a:endParaRPr lang="en-US" dirty="0"/>
          </a:p>
        </p:txBody>
      </p:sp>
      <p:sp>
        <p:nvSpPr>
          <p:cNvPr id="4" name="TextBox 12">
            <a:extLst>
              <a:ext uri="{FF2B5EF4-FFF2-40B4-BE49-F238E27FC236}">
                <a16:creationId xmlns:a16="http://schemas.microsoft.com/office/drawing/2014/main" id="{FD5B868F-DEF1-905A-3E85-CBAF11601E3B}"/>
              </a:ext>
            </a:extLst>
          </p:cNvPr>
          <p:cNvSpPr txBox="1"/>
          <p:nvPr/>
        </p:nvSpPr>
        <p:spPr>
          <a:xfrm>
            <a:off x="5699530" y="4006280"/>
            <a:ext cx="5570980" cy="2000548"/>
          </a:xfrm>
          <a:prstGeom prst="rect">
            <a:avLst/>
          </a:prstGeom>
          <a:noFill/>
        </p:spPr>
        <p:txBody>
          <a:bodyPr wrap="square">
            <a:spAutoFit/>
          </a:bodyPr>
          <a:lstStyle>
            <a:defPPr>
              <a:defRPr lang="en-US"/>
            </a:defPPr>
            <a:lvl1pPr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sz="2000" b="1" i="0" dirty="0">
                <a:solidFill>
                  <a:srgbClr val="A52A2A"/>
                </a:solidFill>
                <a:effectLst/>
                <a:latin typeface="Consolas" panose="020B0609020204030204" pitchFamily="49" charset="0"/>
              </a:rPr>
              <a:t>h1 </a:t>
            </a:r>
            <a:r>
              <a:rPr lang="en-US" sz="2000" b="1" i="0" dirty="0">
                <a:solidFill>
                  <a:srgbClr val="000000"/>
                </a:solidFill>
                <a:effectLst/>
                <a:latin typeface="Consolas" panose="020B0609020204030204" pitchFamily="49" charset="0"/>
              </a:rPr>
              <a:t>{</a:t>
            </a:r>
            <a:r>
              <a:rPr lang="en-US" sz="2000" b="1" i="0" dirty="0">
                <a:solidFill>
                  <a:srgbClr val="FF0000"/>
                </a:solidFill>
                <a:effectLst/>
                <a:latin typeface="Consolas" panose="020B0609020204030204" pitchFamily="49" charset="0"/>
              </a:rPr>
              <a:t/>
            </a:r>
            <a:br>
              <a:rPr lang="en-US" sz="2000" b="1" i="0" dirty="0">
                <a:solidFill>
                  <a:srgbClr val="FF0000"/>
                </a:solidFill>
                <a:effectLst/>
                <a:latin typeface="Consolas" panose="020B0609020204030204" pitchFamily="49" charset="0"/>
              </a:rPr>
            </a:br>
            <a:r>
              <a:rPr lang="en-US" sz="2000" b="1" i="0" dirty="0">
                <a:solidFill>
                  <a:srgbClr val="FF0000"/>
                </a:solidFill>
                <a:effectLst/>
                <a:latin typeface="Consolas" panose="020B0609020204030204" pitchFamily="49" charset="0"/>
              </a:rPr>
              <a:t>  text-shadow</a:t>
            </a:r>
            <a:r>
              <a:rPr lang="en-US" sz="2000" b="1" i="0" dirty="0">
                <a:solidFill>
                  <a:srgbClr val="000000"/>
                </a:solidFill>
                <a:effectLst/>
                <a:latin typeface="Consolas" panose="020B0609020204030204" pitchFamily="49" charset="0"/>
              </a:rPr>
              <a:t>:</a:t>
            </a:r>
            <a:r>
              <a:rPr lang="en-US" sz="2000" b="1" i="0" dirty="0">
                <a:solidFill>
                  <a:srgbClr val="0000CD"/>
                </a:solidFill>
                <a:effectLst/>
                <a:latin typeface="Consolas" panose="020B0609020204030204" pitchFamily="49" charset="0"/>
              </a:rPr>
              <a:t> 2px </a:t>
            </a:r>
            <a:r>
              <a:rPr lang="en-US" sz="2000" b="1" i="0" dirty="0" err="1">
                <a:solidFill>
                  <a:srgbClr val="0000CD"/>
                </a:solidFill>
                <a:effectLst/>
                <a:latin typeface="Consolas" panose="020B0609020204030204" pitchFamily="49" charset="0"/>
              </a:rPr>
              <a:t>2px</a:t>
            </a:r>
            <a:r>
              <a:rPr lang="en-US" sz="2000" b="1" i="0" dirty="0">
                <a:solidFill>
                  <a:srgbClr val="0000CD"/>
                </a:solidFill>
                <a:effectLst/>
                <a:latin typeface="Consolas" panose="020B0609020204030204" pitchFamily="49" charset="0"/>
              </a:rPr>
              <a:t> 5px red</a:t>
            </a:r>
            <a:r>
              <a:rPr lang="en-US" sz="2000" b="1" i="0" dirty="0">
                <a:solidFill>
                  <a:srgbClr val="000000"/>
                </a:solidFill>
                <a:effectLst/>
                <a:latin typeface="Consolas" panose="020B0609020204030204" pitchFamily="49" charset="0"/>
              </a:rPr>
              <a:t>;</a:t>
            </a:r>
            <a:r>
              <a:rPr lang="en-US" sz="2000" b="1" i="0" dirty="0">
                <a:solidFill>
                  <a:srgbClr val="FF0000"/>
                </a:solidFill>
                <a:effectLst/>
                <a:latin typeface="Consolas" panose="020B0609020204030204" pitchFamily="49" charset="0"/>
              </a:rPr>
              <a:t/>
            </a:r>
            <a:br>
              <a:rPr lang="en-US" sz="2000" b="1" i="0" dirty="0">
                <a:solidFill>
                  <a:srgbClr val="FF0000"/>
                </a:solidFill>
                <a:effectLst/>
                <a:latin typeface="Consolas" panose="020B0609020204030204" pitchFamily="49" charset="0"/>
              </a:rPr>
            </a:br>
            <a:r>
              <a:rPr lang="en-US" sz="2000" b="1" i="0" dirty="0">
                <a:solidFill>
                  <a:srgbClr val="000000"/>
                </a:solidFill>
                <a:effectLst/>
                <a:latin typeface="Consolas" panose="020B0609020204030204" pitchFamily="49" charset="0"/>
              </a:rPr>
              <a:t>}</a:t>
            </a:r>
          </a:p>
          <a:p>
            <a:pPr>
              <a:buFont typeface="Wingdings" pitchFamily="2" charset="2"/>
              <a:buChar char="§"/>
              <a:defRPr/>
            </a:pPr>
            <a:endParaRPr lang="en-US" sz="2000" b="1" i="0" dirty="0">
              <a:solidFill>
                <a:srgbClr val="000000"/>
              </a:solidFill>
              <a:effectLst/>
              <a:latin typeface="Consolas" panose="020B0609020204030204" pitchFamily="49" charset="0"/>
            </a:endParaRPr>
          </a:p>
          <a:p>
            <a:pPr>
              <a:defRPr/>
            </a:pPr>
            <a:r>
              <a:rPr lang="en-US" sz="2000" b="1" dirty="0">
                <a:solidFill>
                  <a:srgbClr val="000000"/>
                </a:solidFill>
                <a:latin typeface="Consolas" panose="020B0609020204030204" pitchFamily="49" charset="0"/>
                <a:cs typeface="Arial" charset="0"/>
              </a:rPr>
              <a:t>Here, we added </a:t>
            </a:r>
            <a:r>
              <a:rPr lang="en-US" sz="2200" b="1" i="1" dirty="0">
                <a:solidFill>
                  <a:srgbClr val="000000"/>
                </a:solidFill>
                <a:latin typeface="Consolas" panose="020B0609020204030204" pitchFamily="49" charset="0"/>
                <a:cs typeface="Arial" charset="0"/>
              </a:rPr>
              <a:t>blur</a:t>
            </a:r>
            <a:r>
              <a:rPr lang="en-US" sz="2000" b="1" dirty="0">
                <a:solidFill>
                  <a:srgbClr val="000000"/>
                </a:solidFill>
                <a:latin typeface="Consolas" panose="020B0609020204030204" pitchFamily="49" charset="0"/>
                <a:cs typeface="Arial" charset="0"/>
              </a:rPr>
              <a:t> of 5px and the color </a:t>
            </a:r>
            <a:r>
              <a:rPr lang="en-US" sz="2200" b="1" i="1" dirty="0">
                <a:solidFill>
                  <a:srgbClr val="C00000"/>
                </a:solidFill>
                <a:latin typeface="Consolas" panose="020B0609020204030204" pitchFamily="49" charset="0"/>
                <a:cs typeface="Arial" charset="0"/>
              </a:rPr>
              <a:t>red</a:t>
            </a:r>
            <a:r>
              <a:rPr lang="en-US" sz="2000" b="1" dirty="0">
                <a:solidFill>
                  <a:srgbClr val="000000"/>
                </a:solidFill>
                <a:latin typeface="Consolas" panose="020B0609020204030204" pitchFamily="49" charset="0"/>
                <a:cs typeface="Arial" charset="0"/>
              </a:rPr>
              <a:t> in the order above.</a:t>
            </a:r>
            <a:endParaRPr lang="en-US" sz="2000" b="1" dirty="0">
              <a:latin typeface="+mj-lt"/>
              <a:cs typeface="Arial" charset="0"/>
            </a:endParaRPr>
          </a:p>
        </p:txBody>
      </p:sp>
    </p:spTree>
    <p:extLst>
      <p:ext uri="{BB962C8B-B14F-4D97-AF65-F5344CB8AC3E}">
        <p14:creationId xmlns:p14="http://schemas.microsoft.com/office/powerpoint/2010/main" val="2432808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C94B882-C2BF-8318-37BE-984EF37E40E4}"/>
              </a:ext>
            </a:extLst>
          </p:cNvPr>
          <p:cNvSpPr>
            <a:spLocks noGrp="1"/>
          </p:cNvSpPr>
          <p:nvPr>
            <p:ph type="subTitle" idx="1"/>
          </p:nvPr>
        </p:nvSpPr>
        <p:spPr>
          <a:xfrm>
            <a:off x="1918948" y="499731"/>
            <a:ext cx="8561746" cy="5114260"/>
          </a:xfrm>
        </p:spPr>
        <p:txBody>
          <a:bodyPr>
            <a:noAutofit/>
          </a:bodyPr>
          <a:lstStyle/>
          <a:p>
            <a:pPr marL="0" indent="0" algn="ctr">
              <a:buNone/>
            </a:pPr>
            <a:r>
              <a:rPr lang="en-US" sz="10000" dirty="0">
                <a:solidFill>
                  <a:schemeClr val="accent5">
                    <a:lumMod val="75000"/>
                  </a:schemeClr>
                </a:solidFill>
              </a:rPr>
              <a:t>CSS</a:t>
            </a:r>
            <a:r>
              <a:rPr lang="en-US" sz="10000" dirty="0"/>
              <a:t> </a:t>
            </a:r>
          </a:p>
          <a:p>
            <a:pPr marL="0" indent="0" algn="ctr">
              <a:buNone/>
            </a:pPr>
            <a:r>
              <a:rPr lang="en-US" sz="5000" dirty="0"/>
              <a:t>FLEXBOX PROPERTIES</a:t>
            </a:r>
          </a:p>
          <a:p>
            <a:pPr marL="0" indent="0" algn="ctr">
              <a:buNone/>
            </a:pPr>
            <a:r>
              <a:rPr lang="en-US" sz="5000" cap="none" dirty="0">
                <a:solidFill>
                  <a:srgbClr val="C00000"/>
                </a:solidFill>
              </a:rPr>
              <a:t>flex</a:t>
            </a:r>
            <a:r>
              <a:rPr lang="en-US" sz="5000" cap="none" dirty="0"/>
              <a:t> rules for </a:t>
            </a:r>
            <a:r>
              <a:rPr lang="en-US" sz="5000" cap="none" dirty="0">
                <a:solidFill>
                  <a:srgbClr val="0070C0"/>
                </a:solidFill>
              </a:rPr>
              <a:t>parents</a:t>
            </a:r>
            <a:r>
              <a:rPr lang="en-US" sz="5000" cap="none" dirty="0"/>
              <a:t>.</a:t>
            </a:r>
          </a:p>
          <a:p>
            <a:endParaRPr lang="en-US" sz="10000" dirty="0"/>
          </a:p>
        </p:txBody>
      </p:sp>
    </p:spTree>
    <p:extLst>
      <p:ext uri="{BB962C8B-B14F-4D97-AF65-F5344CB8AC3E}">
        <p14:creationId xmlns:p14="http://schemas.microsoft.com/office/powerpoint/2010/main" val="3038503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ACCA-66EC-C8A1-4893-6DB2DAD3A882}"/>
              </a:ext>
            </a:extLst>
          </p:cNvPr>
          <p:cNvSpPr>
            <a:spLocks noGrp="1"/>
          </p:cNvSpPr>
          <p:nvPr>
            <p:ph type="title"/>
          </p:nvPr>
        </p:nvSpPr>
        <p:spPr>
          <a:xfrm>
            <a:off x="1534696" y="1"/>
            <a:ext cx="9520158" cy="808073"/>
          </a:xfrm>
        </p:spPr>
        <p:txBody>
          <a:bodyPr/>
          <a:lstStyle/>
          <a:p>
            <a:r>
              <a:rPr lang="en-US" dirty="0"/>
              <a:t>Flex parent &amp;&amp; Flex items</a:t>
            </a:r>
          </a:p>
        </p:txBody>
      </p:sp>
      <p:sp>
        <p:nvSpPr>
          <p:cNvPr id="3" name="Content Placeholder 2">
            <a:extLst>
              <a:ext uri="{FF2B5EF4-FFF2-40B4-BE49-F238E27FC236}">
                <a16:creationId xmlns:a16="http://schemas.microsoft.com/office/drawing/2014/main" id="{F919DA72-1F5C-10B5-D35D-C689EA169760}"/>
              </a:ext>
            </a:extLst>
          </p:cNvPr>
          <p:cNvSpPr>
            <a:spLocks noGrp="1"/>
          </p:cNvSpPr>
          <p:nvPr>
            <p:ph idx="1"/>
          </p:nvPr>
        </p:nvSpPr>
        <p:spPr>
          <a:xfrm>
            <a:off x="1534696" y="1052624"/>
            <a:ext cx="9520158" cy="4413722"/>
          </a:xfrm>
        </p:spPr>
        <p:txBody>
          <a:bodyPr>
            <a:normAutofit fontScale="92500"/>
          </a:bodyPr>
          <a:lstStyle/>
          <a:p>
            <a:pPr marL="0" indent="0">
              <a:buNone/>
            </a:pPr>
            <a:r>
              <a:rPr lang="en-US" dirty="0"/>
              <a:t>To start using the Flexbox model, you need to first define a flex container. </a:t>
            </a:r>
            <a:r>
              <a:rPr lang="en-US" sz="2000" b="0" i="0" dirty="0">
                <a:solidFill>
                  <a:srgbClr val="000000"/>
                </a:solidFill>
                <a:effectLst/>
                <a:latin typeface="Times New Roman" panose="02020603050405020304" pitchFamily="18" charset="0"/>
                <a:cs typeface="Times New Roman" panose="02020603050405020304" pitchFamily="18" charset="0"/>
              </a:rPr>
              <a:t>The Flexible Box Layout makes it easier to design a flexible responsive layout structure without using float or positioning.</a:t>
            </a:r>
            <a:endParaRPr lang="en-US" dirty="0"/>
          </a:p>
          <a:p>
            <a:pPr>
              <a:buFont typeface="Wingdings" panose="05000000000000000000" pitchFamily="2" charset="2"/>
              <a:buChar char="Ø"/>
            </a:pPr>
            <a:r>
              <a:rPr lang="en-US" b="1" dirty="0"/>
              <a:t>Flex container: </a:t>
            </a:r>
            <a:r>
              <a:rPr lang="en-US" dirty="0"/>
              <a:t>The flex container specifies the properties of the parent. It is declared by setting the display property of an element to either flex or inline-flex. The flex container becomes flexible by setting the display property to flex:</a:t>
            </a:r>
          </a:p>
          <a:p>
            <a:pPr>
              <a:buFont typeface="Wingdings" panose="05000000000000000000" pitchFamily="2" charset="2"/>
              <a:buChar char="Ø"/>
            </a:pPr>
            <a:r>
              <a:rPr lang="en-US" b="1" dirty="0"/>
              <a:t>Flex items: </a:t>
            </a:r>
            <a:r>
              <a:rPr lang="en-US" dirty="0"/>
              <a:t>The flex items specify the properties of the children. There may be one or more flex items inside a flex container.</a:t>
            </a:r>
          </a:p>
          <a:p>
            <a:pPr marL="0" indent="0">
              <a:buNone/>
            </a:pPr>
            <a:r>
              <a:rPr lang="en-US" sz="2500" b="1" i="1" u="sng" dirty="0"/>
              <a:t>Note: </a:t>
            </a:r>
            <a:r>
              <a:rPr lang="en-US" dirty="0"/>
              <a:t>Flexbox specifies how flex items are set inside a flex container. It sets the flex items inside a flex container along a flex line.</a:t>
            </a:r>
          </a:p>
        </p:txBody>
      </p:sp>
    </p:spTree>
    <p:extLst>
      <p:ext uri="{BB962C8B-B14F-4D97-AF65-F5344CB8AC3E}">
        <p14:creationId xmlns:p14="http://schemas.microsoft.com/office/powerpoint/2010/main" val="502776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DB4CFF-B3B2-54AE-94C9-8FE72C1F3E6D}"/>
              </a:ext>
            </a:extLst>
          </p:cNvPr>
          <p:cNvSpPr>
            <a:spLocks noGrp="1"/>
          </p:cNvSpPr>
          <p:nvPr>
            <p:ph idx="1"/>
          </p:nvPr>
        </p:nvSpPr>
        <p:spPr>
          <a:xfrm>
            <a:off x="1148316" y="233916"/>
            <a:ext cx="10122196" cy="5466345"/>
          </a:xfrm>
        </p:spPr>
        <p:txBody>
          <a:bodyPr>
            <a:noAutofit/>
          </a:bodyPr>
          <a:lstStyle/>
          <a:p>
            <a:pPr algn="l"/>
            <a:r>
              <a:rPr lang="en-US" sz="2400" b="0" i="0" dirty="0">
                <a:solidFill>
                  <a:srgbClr val="000000"/>
                </a:solidFill>
                <a:effectLst/>
                <a:latin typeface="Times New Roman" panose="02020603050405020304" pitchFamily="18" charset="0"/>
                <a:cs typeface="Times New Roman" panose="02020603050405020304" pitchFamily="18" charset="0"/>
              </a:rPr>
              <a:t>Flexible Layout must have a parent element with the </a:t>
            </a:r>
            <a:r>
              <a:rPr lang="en-US" sz="2400" b="1" i="1" dirty="0">
                <a:solidFill>
                  <a:srgbClr val="000000"/>
                </a:solidFill>
                <a:effectLst/>
                <a:latin typeface="Times New Roman" panose="02020603050405020304" pitchFamily="18" charset="0"/>
                <a:cs typeface="Times New Roman" panose="02020603050405020304" pitchFamily="18" charset="0"/>
              </a:rPr>
              <a:t>display</a:t>
            </a:r>
            <a:r>
              <a:rPr lang="en-US" sz="2400" b="0" i="0" dirty="0">
                <a:solidFill>
                  <a:srgbClr val="000000"/>
                </a:solidFill>
                <a:effectLst/>
                <a:latin typeface="Times New Roman" panose="02020603050405020304" pitchFamily="18" charset="0"/>
                <a:cs typeface="Times New Roman" panose="02020603050405020304" pitchFamily="18" charset="0"/>
              </a:rPr>
              <a:t> property set to </a:t>
            </a:r>
            <a:r>
              <a:rPr lang="en-US" sz="2400" b="1" i="1" dirty="0">
                <a:solidFill>
                  <a:srgbClr val="000000"/>
                </a:solidFill>
                <a:effectLst/>
                <a:latin typeface="Times New Roman" panose="02020603050405020304" pitchFamily="18" charset="0"/>
                <a:cs typeface="Times New Roman" panose="02020603050405020304" pitchFamily="18" charset="0"/>
              </a:rPr>
              <a:t>flex</a:t>
            </a:r>
            <a:r>
              <a:rPr lang="en-US" sz="2400" b="0" i="0" dirty="0">
                <a:solidFill>
                  <a:srgbClr val="000000"/>
                </a:solidFill>
                <a:effectLst/>
                <a:latin typeface="Times New Roman" panose="02020603050405020304" pitchFamily="18" charset="0"/>
                <a:cs typeface="Times New Roman" panose="02020603050405020304" pitchFamily="18" charset="0"/>
              </a:rPr>
              <a:t>.</a:t>
            </a:r>
          </a:p>
          <a:p>
            <a:pPr algn="l"/>
            <a:r>
              <a:rPr lang="en-US" sz="2400" b="0" i="0" dirty="0">
                <a:solidFill>
                  <a:srgbClr val="000000"/>
                </a:solidFill>
                <a:effectLst/>
                <a:latin typeface="Times New Roman" panose="02020603050405020304" pitchFamily="18" charset="0"/>
                <a:cs typeface="Times New Roman" panose="02020603050405020304" pitchFamily="18" charset="0"/>
              </a:rPr>
              <a:t>Direct child elements(s) of the flexible container automatically become flexible items.</a:t>
            </a:r>
          </a:p>
          <a:p>
            <a:r>
              <a:rPr lang="en-US" altLang="en-US" sz="2300" dirty="0"/>
              <a:t>By default, flex Items will attempt to fit within a row but you can control this </a:t>
            </a:r>
            <a:r>
              <a:rPr lang="en-US" altLang="en-US" sz="2300" dirty="0" err="1"/>
              <a:t>behaviour</a:t>
            </a:r>
            <a:r>
              <a:rPr lang="en-US" altLang="en-US" sz="2300" dirty="0"/>
              <a:t> using flex-wrap property. The values it takes are:</a:t>
            </a:r>
          </a:p>
          <a:p>
            <a:pPr eaLnBrk="1" hangingPunct="1">
              <a:buClr>
                <a:srgbClr val="0070C0"/>
              </a:buClr>
              <a:buFont typeface="Wingdings" panose="05000000000000000000" pitchFamily="2" charset="2"/>
              <a:buChar char="§"/>
            </a:pPr>
            <a:r>
              <a:rPr lang="en-US" altLang="en-US" sz="2400" b="1" dirty="0" err="1"/>
              <a:t>nowrap</a:t>
            </a:r>
            <a:r>
              <a:rPr lang="en-US" altLang="en-US" sz="2400" b="1" dirty="0"/>
              <a:t> | wrap | wrap-reverse</a:t>
            </a:r>
          </a:p>
          <a:p>
            <a:pPr eaLnBrk="1" hangingPunct="1">
              <a:buClr>
                <a:srgbClr val="0070C0"/>
              </a:buClr>
              <a:buFont typeface="Wingdings" panose="05000000000000000000" pitchFamily="2" charset="2"/>
              <a:buChar char="§"/>
            </a:pPr>
            <a:r>
              <a:rPr lang="en-US" altLang="en-US" sz="2300" dirty="0"/>
              <a:t>The </a:t>
            </a:r>
            <a:r>
              <a:rPr lang="en-US" altLang="en-US" sz="2300" dirty="0" err="1"/>
              <a:t>nowrap</a:t>
            </a:r>
            <a:r>
              <a:rPr lang="en-US" altLang="en-US" sz="2300" dirty="0"/>
              <a:t> value (default) forces the items to stay within a single line, while wrap allows them to wrap onto multiple lines if necessary. </a:t>
            </a:r>
            <a:r>
              <a:rPr lang="en-US" altLang="en-US" sz="2300" b="1" i="1" dirty="0">
                <a:solidFill>
                  <a:srgbClr val="C00000"/>
                </a:solidFill>
              </a:rPr>
              <a:t>Flex-wrap property is set on the flex container</a:t>
            </a:r>
            <a:endParaRPr lang="en-US" sz="2300" b="1" i="1" dirty="0">
              <a:solidFill>
                <a:srgbClr val="C00000"/>
              </a:solidFill>
              <a:effectLst/>
              <a:latin typeface="Times New Roman" panose="02020603050405020304" pitchFamily="18" charset="0"/>
              <a:cs typeface="Times New Roman" panose="02020603050405020304" pitchFamily="18" charset="0"/>
            </a:endParaRPr>
          </a:p>
          <a:p>
            <a:pPr algn="l"/>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6406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3F468-9499-D250-166C-4487F603F03D}"/>
              </a:ext>
            </a:extLst>
          </p:cNvPr>
          <p:cNvSpPr>
            <a:spLocks noGrp="1"/>
          </p:cNvSpPr>
          <p:nvPr>
            <p:ph type="title"/>
          </p:nvPr>
        </p:nvSpPr>
        <p:spPr>
          <a:xfrm>
            <a:off x="1534696" y="1"/>
            <a:ext cx="9520158" cy="839972"/>
          </a:xfrm>
        </p:spPr>
        <p:txBody>
          <a:bodyPr>
            <a:normAutofit/>
          </a:bodyPr>
          <a:lstStyle/>
          <a:p>
            <a:r>
              <a:rPr lang="en-US" sz="4000" u="sng" dirty="0"/>
              <a:t>Flex-Container</a:t>
            </a:r>
          </a:p>
        </p:txBody>
      </p:sp>
      <p:sp>
        <p:nvSpPr>
          <p:cNvPr id="3" name="Content Placeholder 2">
            <a:extLst>
              <a:ext uri="{FF2B5EF4-FFF2-40B4-BE49-F238E27FC236}">
                <a16:creationId xmlns:a16="http://schemas.microsoft.com/office/drawing/2014/main" id="{3BD4B309-55C5-031B-E5A9-870AB7580A09}"/>
              </a:ext>
            </a:extLst>
          </p:cNvPr>
          <p:cNvSpPr>
            <a:spLocks noGrp="1"/>
          </p:cNvSpPr>
          <p:nvPr>
            <p:ph idx="1"/>
          </p:nvPr>
        </p:nvSpPr>
        <p:spPr>
          <a:xfrm>
            <a:off x="1534696" y="1041992"/>
            <a:ext cx="9520158" cy="4424354"/>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The flex container becomes flexible by setting the display property to flex:</a:t>
            </a:r>
          </a:p>
        </p:txBody>
      </p:sp>
      <p:pic>
        <p:nvPicPr>
          <p:cNvPr id="6" name="Picture 5">
            <a:extLst>
              <a:ext uri="{FF2B5EF4-FFF2-40B4-BE49-F238E27FC236}">
                <a16:creationId xmlns:a16="http://schemas.microsoft.com/office/drawing/2014/main" id="{2704ED7C-78B4-052B-B1D9-B5A69C9C0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905" y="1391653"/>
            <a:ext cx="10671481" cy="1527095"/>
          </a:xfrm>
          <a:prstGeom prst="rect">
            <a:avLst/>
          </a:prstGeom>
        </p:spPr>
      </p:pic>
      <p:sp>
        <p:nvSpPr>
          <p:cNvPr id="7" name="Content Placeholder 2">
            <a:extLst>
              <a:ext uri="{FF2B5EF4-FFF2-40B4-BE49-F238E27FC236}">
                <a16:creationId xmlns:a16="http://schemas.microsoft.com/office/drawing/2014/main" id="{77EDEBAA-5E45-1C71-F5C8-F78E25194A9B}"/>
              </a:ext>
            </a:extLst>
          </p:cNvPr>
          <p:cNvSpPr txBox="1">
            <a:spLocks/>
          </p:cNvSpPr>
          <p:nvPr/>
        </p:nvSpPr>
        <p:spPr>
          <a:xfrm>
            <a:off x="1137146" y="3666202"/>
            <a:ext cx="4196253" cy="199274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div</a:t>
            </a:r>
            <a:r>
              <a:rPr lang="en-US" dirty="0">
                <a:solidFill>
                  <a:srgbClr val="FF0000"/>
                </a:solidFill>
                <a:latin typeface="Consolas" panose="020B0609020204030204" pitchFamily="49" charset="0"/>
              </a:rPr>
              <a:t> class</a:t>
            </a:r>
            <a:r>
              <a:rPr lang="en-US" dirty="0">
                <a:solidFill>
                  <a:srgbClr val="0000CD"/>
                </a:solidFill>
                <a:latin typeface="Consolas" panose="020B0609020204030204" pitchFamily="49" charset="0"/>
              </a:rPr>
              <a:t>="flex-container"&gt;</a:t>
            </a:r>
            <a:r>
              <a:rPr lang="en-US" dirty="0"/>
              <a:t/>
            </a:r>
            <a:br>
              <a:rPr lang="en-US" dirty="0"/>
            </a:b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div</a:t>
            </a:r>
            <a:r>
              <a:rPr lang="en-US" dirty="0">
                <a:solidFill>
                  <a:srgbClr val="0000CD"/>
                </a:solidFill>
                <a:latin typeface="Consolas" panose="020B0609020204030204" pitchFamily="49" charset="0"/>
              </a:rPr>
              <a:t>&gt;</a:t>
            </a:r>
            <a:r>
              <a:rPr lang="en-US" dirty="0">
                <a:solidFill>
                  <a:srgbClr val="000000"/>
                </a:solidFill>
                <a:latin typeface="Consolas" panose="020B0609020204030204" pitchFamily="49" charset="0"/>
              </a:rPr>
              <a:t>1</a:t>
            </a:r>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/div</a:t>
            </a:r>
            <a:r>
              <a:rPr lang="en-US" dirty="0">
                <a:solidFill>
                  <a:srgbClr val="0000CD"/>
                </a:solidFill>
                <a:latin typeface="Consolas" panose="020B0609020204030204" pitchFamily="49" charset="0"/>
              </a:rPr>
              <a:t>&gt;</a:t>
            </a:r>
            <a:r>
              <a:rPr lang="en-US" dirty="0"/>
              <a:t/>
            </a:r>
            <a:br>
              <a:rPr lang="en-US" dirty="0"/>
            </a:b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div</a:t>
            </a:r>
            <a:r>
              <a:rPr lang="en-US" dirty="0">
                <a:solidFill>
                  <a:srgbClr val="0000CD"/>
                </a:solidFill>
                <a:latin typeface="Consolas" panose="020B0609020204030204" pitchFamily="49" charset="0"/>
              </a:rPr>
              <a:t>&gt;</a:t>
            </a:r>
            <a:r>
              <a:rPr lang="en-US" dirty="0">
                <a:solidFill>
                  <a:srgbClr val="000000"/>
                </a:solidFill>
                <a:latin typeface="Consolas" panose="020B0609020204030204" pitchFamily="49" charset="0"/>
              </a:rPr>
              <a:t>2</a:t>
            </a:r>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/div</a:t>
            </a:r>
            <a:r>
              <a:rPr lang="en-US" dirty="0">
                <a:solidFill>
                  <a:srgbClr val="0000CD"/>
                </a:solidFill>
                <a:latin typeface="Consolas" panose="020B0609020204030204" pitchFamily="49" charset="0"/>
              </a:rPr>
              <a:t>&gt;</a:t>
            </a:r>
            <a:r>
              <a:rPr lang="en-US" dirty="0"/>
              <a:t/>
            </a:r>
            <a:br>
              <a:rPr lang="en-US" dirty="0"/>
            </a:b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div</a:t>
            </a:r>
            <a:r>
              <a:rPr lang="en-US" dirty="0">
                <a:solidFill>
                  <a:srgbClr val="0000CD"/>
                </a:solidFill>
                <a:latin typeface="Consolas" panose="020B0609020204030204" pitchFamily="49" charset="0"/>
              </a:rPr>
              <a:t>&gt;</a:t>
            </a:r>
            <a:r>
              <a:rPr lang="en-US" dirty="0">
                <a:solidFill>
                  <a:srgbClr val="000000"/>
                </a:solidFill>
                <a:latin typeface="Consolas" panose="020B0609020204030204" pitchFamily="49" charset="0"/>
              </a:rPr>
              <a:t>3</a:t>
            </a:r>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/div</a:t>
            </a:r>
            <a:r>
              <a:rPr lang="en-US" dirty="0">
                <a:solidFill>
                  <a:srgbClr val="0000CD"/>
                </a:solidFill>
                <a:latin typeface="Consolas" panose="020B0609020204030204" pitchFamily="49" charset="0"/>
              </a:rPr>
              <a:t>&gt;</a:t>
            </a:r>
            <a:r>
              <a:rPr lang="en-US" dirty="0"/>
              <a:t/>
            </a:r>
            <a:br>
              <a:rPr lang="en-US" dirty="0"/>
            </a:br>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/div</a:t>
            </a:r>
            <a:r>
              <a:rPr lang="en-US" dirty="0">
                <a:solidFill>
                  <a:srgbClr val="0000CD"/>
                </a:solidFill>
                <a:latin typeface="Consolas" panose="020B0609020204030204" pitchFamily="49" charset="0"/>
              </a:rPr>
              <a:t>&gt;</a:t>
            </a:r>
            <a:endParaRPr lang="en-US" dirty="0"/>
          </a:p>
        </p:txBody>
      </p:sp>
      <p:sp>
        <p:nvSpPr>
          <p:cNvPr id="8" name="Content Placeholder 2">
            <a:extLst>
              <a:ext uri="{FF2B5EF4-FFF2-40B4-BE49-F238E27FC236}">
                <a16:creationId xmlns:a16="http://schemas.microsoft.com/office/drawing/2014/main" id="{DA138C0B-8B91-5B2A-3C83-4322CEA6A0EB}"/>
              </a:ext>
            </a:extLst>
          </p:cNvPr>
          <p:cNvSpPr txBox="1">
            <a:spLocks/>
          </p:cNvSpPr>
          <p:nvPr/>
        </p:nvSpPr>
        <p:spPr>
          <a:xfrm>
            <a:off x="6285645" y="3675623"/>
            <a:ext cx="4196253" cy="199274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.flex-container {</a:t>
            </a:r>
          </a:p>
          <a:p>
            <a:pPr marL="0" indent="0">
              <a:buNone/>
            </a:pPr>
            <a:r>
              <a:rPr lang="en-US" sz="2000" b="1" dirty="0">
                <a:latin typeface="Times New Roman" panose="02020603050405020304" pitchFamily="18" charset="0"/>
                <a:cs typeface="Times New Roman" panose="02020603050405020304" pitchFamily="18" charset="0"/>
              </a:rPr>
              <a:t>  display: flex;</a:t>
            </a:r>
          </a:p>
          <a:p>
            <a:pPr marL="0" indent="0">
              <a:buNone/>
            </a:pPr>
            <a:r>
              <a:rPr lang="en-US" sz="2000" b="1" dirty="0">
                <a:latin typeface="Times New Roman" panose="02020603050405020304" pitchFamily="18" charset="0"/>
                <a:cs typeface="Times New Roman" panose="02020603050405020304" pitchFamily="18" charset="0"/>
              </a:rPr>
              <a:t>  background-color: </a:t>
            </a:r>
            <a:r>
              <a:rPr lang="en-US" sz="2000" b="1" dirty="0" err="1">
                <a:latin typeface="Times New Roman" panose="02020603050405020304" pitchFamily="18" charset="0"/>
                <a:cs typeface="Times New Roman" panose="02020603050405020304" pitchFamily="18" charset="0"/>
              </a:rPr>
              <a:t>DodgerBlue</a:t>
            </a:r>
            <a:r>
              <a:rPr lang="en-US" sz="2000" b="1"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19339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DB3AC-5F56-096C-8479-B65FC14A2C2E}"/>
              </a:ext>
            </a:extLst>
          </p:cNvPr>
          <p:cNvSpPr>
            <a:spLocks noGrp="1"/>
          </p:cNvSpPr>
          <p:nvPr>
            <p:ph type="title"/>
          </p:nvPr>
        </p:nvSpPr>
        <p:spPr>
          <a:xfrm>
            <a:off x="1534696" y="1"/>
            <a:ext cx="9520158" cy="839972"/>
          </a:xfrm>
        </p:spPr>
        <p:txBody>
          <a:bodyPr/>
          <a:lstStyle/>
          <a:p>
            <a:r>
              <a:rPr lang="en-US" b="1" u="sng" dirty="0"/>
              <a:t>Flex Container || Parent </a:t>
            </a:r>
          </a:p>
        </p:txBody>
      </p:sp>
      <p:sp>
        <p:nvSpPr>
          <p:cNvPr id="3" name="Content Placeholder 2">
            <a:extLst>
              <a:ext uri="{FF2B5EF4-FFF2-40B4-BE49-F238E27FC236}">
                <a16:creationId xmlns:a16="http://schemas.microsoft.com/office/drawing/2014/main" id="{3604BE3A-F663-70A0-402D-74DC6267A393}"/>
              </a:ext>
            </a:extLst>
          </p:cNvPr>
          <p:cNvSpPr>
            <a:spLocks noGrp="1"/>
          </p:cNvSpPr>
          <p:nvPr>
            <p:ph idx="1"/>
          </p:nvPr>
        </p:nvSpPr>
        <p:spPr>
          <a:xfrm>
            <a:off x="1534696" y="1212112"/>
            <a:ext cx="9520158" cy="4254233"/>
          </a:xfrm>
        </p:spPr>
        <p:txBody>
          <a:bodyPr>
            <a:noAutofit/>
          </a:bodyPr>
          <a:lstStyle/>
          <a:p>
            <a:pPr marL="0" indent="0">
              <a:buNone/>
            </a:pPr>
            <a:r>
              <a:rPr lang="en-US" sz="2200" dirty="0"/>
              <a:t>The flex </a:t>
            </a:r>
            <a:r>
              <a:rPr lang="en-US" sz="2200" b="1" i="1" dirty="0"/>
              <a:t>Container</a:t>
            </a:r>
            <a:r>
              <a:rPr lang="en-US" sz="2200" dirty="0"/>
              <a:t> or </a:t>
            </a:r>
            <a:r>
              <a:rPr lang="en-US" sz="2200" b="1" i="1" dirty="0"/>
              <a:t>Parent</a:t>
            </a:r>
            <a:r>
              <a:rPr lang="en-US" sz="2200" dirty="0"/>
              <a:t> has some properties which only works when applied to the flex parent, they are:</a:t>
            </a:r>
          </a:p>
          <a:p>
            <a:pPr marL="0" indent="0">
              <a:lnSpc>
                <a:spcPct val="100000"/>
              </a:lnSpc>
              <a:buNone/>
            </a:pPr>
            <a:r>
              <a:rPr lang="en-US" sz="2400" b="1" dirty="0">
                <a:solidFill>
                  <a:srgbClr val="C00000"/>
                </a:solidFill>
              </a:rPr>
              <a:t>flex-direction</a:t>
            </a:r>
          </a:p>
          <a:p>
            <a:pPr marL="0" indent="0">
              <a:lnSpc>
                <a:spcPct val="100000"/>
              </a:lnSpc>
              <a:buNone/>
            </a:pPr>
            <a:r>
              <a:rPr lang="en-US" sz="2400" b="1" dirty="0">
                <a:solidFill>
                  <a:srgbClr val="C00000"/>
                </a:solidFill>
              </a:rPr>
              <a:t>flex-wrap</a:t>
            </a:r>
          </a:p>
          <a:p>
            <a:pPr marL="0" indent="0">
              <a:lnSpc>
                <a:spcPct val="100000"/>
              </a:lnSpc>
              <a:buNone/>
            </a:pPr>
            <a:r>
              <a:rPr lang="en-US" sz="2400" b="1" dirty="0">
                <a:solidFill>
                  <a:srgbClr val="C00000"/>
                </a:solidFill>
              </a:rPr>
              <a:t>justify-content</a:t>
            </a:r>
          </a:p>
          <a:p>
            <a:pPr marL="0" indent="0">
              <a:lnSpc>
                <a:spcPct val="100000"/>
              </a:lnSpc>
              <a:buNone/>
            </a:pPr>
            <a:r>
              <a:rPr lang="en-US" sz="2400" b="1" dirty="0">
                <a:solidFill>
                  <a:srgbClr val="C00000"/>
                </a:solidFill>
              </a:rPr>
              <a:t>align-items</a:t>
            </a:r>
          </a:p>
          <a:p>
            <a:pPr marL="0" indent="0">
              <a:lnSpc>
                <a:spcPct val="100000"/>
              </a:lnSpc>
              <a:buNone/>
            </a:pPr>
            <a:r>
              <a:rPr lang="en-US" sz="2400" b="1" dirty="0">
                <a:solidFill>
                  <a:srgbClr val="C00000"/>
                </a:solidFill>
              </a:rPr>
              <a:t>align-content</a:t>
            </a:r>
          </a:p>
          <a:p>
            <a:pPr marL="0" indent="0">
              <a:lnSpc>
                <a:spcPct val="100000"/>
              </a:lnSpc>
              <a:buNone/>
            </a:pPr>
            <a:r>
              <a:rPr lang="en-US" sz="2400" b="1" dirty="0">
                <a:solidFill>
                  <a:srgbClr val="C00000"/>
                </a:solidFill>
              </a:rPr>
              <a:t>Flex-flow</a:t>
            </a:r>
            <a:endParaRPr lang="en-US" sz="2400" dirty="0">
              <a:solidFill>
                <a:srgbClr val="C00000"/>
              </a:solidFill>
            </a:endParaRPr>
          </a:p>
          <a:p>
            <a:pPr marL="0" indent="0">
              <a:buNone/>
            </a:pPr>
            <a:r>
              <a:rPr lang="en-US" sz="2200" dirty="0"/>
              <a:t>Recall that the parent or container is the main container housing other items within it which are called the flex items.</a:t>
            </a:r>
          </a:p>
        </p:txBody>
      </p:sp>
    </p:spTree>
    <p:extLst>
      <p:ext uri="{BB962C8B-B14F-4D97-AF65-F5344CB8AC3E}">
        <p14:creationId xmlns:p14="http://schemas.microsoft.com/office/powerpoint/2010/main" val="1317423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78CBFB-D19A-BE68-8308-3D73651D544D}"/>
              </a:ext>
            </a:extLst>
          </p:cNvPr>
          <p:cNvSpPr>
            <a:spLocks noGrp="1"/>
          </p:cNvSpPr>
          <p:nvPr>
            <p:ph idx="1"/>
          </p:nvPr>
        </p:nvSpPr>
        <p:spPr>
          <a:xfrm>
            <a:off x="202019" y="116958"/>
            <a:ext cx="5893981" cy="5837275"/>
          </a:xfrm>
        </p:spPr>
        <p:txBody>
          <a:bodyPr>
            <a:normAutofit fontScale="92500" lnSpcReduction="20000"/>
          </a:bodyPr>
          <a:lstStyle/>
          <a:p>
            <a:pPr marL="0" indent="0">
              <a:buNone/>
            </a:pPr>
            <a:r>
              <a:rPr lang="en-US" sz="2400" b="1" u="sng" dirty="0">
                <a:solidFill>
                  <a:srgbClr val="C00000"/>
                </a:solidFill>
              </a:rPr>
              <a:t>Flex-direction</a:t>
            </a:r>
          </a:p>
          <a:p>
            <a:pPr marL="0" indent="0">
              <a:buNone/>
            </a:pPr>
            <a:r>
              <a:rPr lang="en-US" dirty="0"/>
              <a:t>This specifies the direction the container wants to stack the flex items. The default flex-direction is set to row from left to right on the horizontal axis.</a:t>
            </a:r>
          </a:p>
          <a:p>
            <a:pPr marL="0" indent="0">
              <a:buNone/>
            </a:pPr>
            <a:r>
              <a:rPr lang="en-US" dirty="0"/>
              <a:t>However, we can set the flex-direction to column to give a vertical layout from top to bottom. Other values are; </a:t>
            </a:r>
            <a:r>
              <a:rPr lang="en-US" b="1" i="1" dirty="0">
                <a:solidFill>
                  <a:srgbClr val="7030A0"/>
                </a:solidFill>
              </a:rPr>
              <a:t>row, column-reverse &amp; row-reverse</a:t>
            </a:r>
          </a:p>
          <a:p>
            <a:pPr marL="0" indent="0">
              <a:buNone/>
            </a:pPr>
            <a:r>
              <a:rPr lang="en-US" b="1" i="1" dirty="0"/>
              <a:t>Column-reverse change flex-direction to column but from bottom to top. Same with row-reverse.</a:t>
            </a:r>
          </a:p>
          <a:p>
            <a:pPr marL="0" indent="0">
              <a:buNone/>
            </a:pPr>
            <a:r>
              <a:rPr lang="en-US" b="1" dirty="0">
                <a:solidFill>
                  <a:srgbClr val="C00000"/>
                </a:solidFill>
              </a:rPr>
              <a:t>.container {</a:t>
            </a:r>
          </a:p>
          <a:p>
            <a:pPr marL="0" indent="0">
              <a:buNone/>
            </a:pPr>
            <a:r>
              <a:rPr lang="en-US" b="1" dirty="0">
                <a:solidFill>
                  <a:srgbClr val="0070C0"/>
                </a:solidFill>
              </a:rPr>
              <a:t>display: flex;</a:t>
            </a:r>
          </a:p>
          <a:p>
            <a:pPr marL="0" indent="0">
              <a:buNone/>
            </a:pPr>
            <a:r>
              <a:rPr lang="en-US" b="1" dirty="0">
                <a:solidFill>
                  <a:srgbClr val="0070C0"/>
                </a:solidFill>
              </a:rPr>
              <a:t>Flex-direction: column;</a:t>
            </a:r>
          </a:p>
          <a:p>
            <a:pPr marL="0" indent="0">
              <a:buNone/>
            </a:pPr>
            <a:r>
              <a:rPr lang="en-US" b="1" dirty="0">
                <a:solidFill>
                  <a:srgbClr val="C00000"/>
                </a:solidFill>
              </a:rPr>
              <a:t>}</a:t>
            </a:r>
          </a:p>
        </p:txBody>
      </p:sp>
      <p:sp>
        <p:nvSpPr>
          <p:cNvPr id="6" name="Content Placeholder 2">
            <a:extLst>
              <a:ext uri="{FF2B5EF4-FFF2-40B4-BE49-F238E27FC236}">
                <a16:creationId xmlns:a16="http://schemas.microsoft.com/office/drawing/2014/main" id="{6B6F79BB-4B34-68F4-248B-E7B8BC375242}"/>
              </a:ext>
            </a:extLst>
          </p:cNvPr>
          <p:cNvSpPr txBox="1">
            <a:spLocks/>
          </p:cNvSpPr>
          <p:nvPr/>
        </p:nvSpPr>
        <p:spPr>
          <a:xfrm>
            <a:off x="6652501" y="116958"/>
            <a:ext cx="4561304" cy="583727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2400" b="1" u="sng" dirty="0">
                <a:solidFill>
                  <a:srgbClr val="C00000"/>
                </a:solidFill>
              </a:rPr>
              <a:t>Flex-Wrap</a:t>
            </a:r>
          </a:p>
          <a:p>
            <a:pPr marL="0" indent="0">
              <a:lnSpc>
                <a:spcPct val="150000"/>
              </a:lnSpc>
              <a:buFont typeface="Arial" panose="020B0604020202020204" pitchFamily="34" charset="0"/>
              <a:buNone/>
            </a:pPr>
            <a:r>
              <a:rPr lang="en-US" dirty="0"/>
              <a:t>This specifies whether the flex items should wrap or not. The values are: </a:t>
            </a:r>
            <a:r>
              <a:rPr lang="en-US" b="1" dirty="0"/>
              <a:t>wrap; </a:t>
            </a:r>
            <a:r>
              <a:rPr lang="en-US" b="1" dirty="0" err="1"/>
              <a:t>nowrap</a:t>
            </a:r>
            <a:r>
              <a:rPr lang="en-US" b="1" dirty="0"/>
              <a:t>; wrap-reverse</a:t>
            </a:r>
          </a:p>
          <a:p>
            <a:pPr marL="0" indent="0">
              <a:buFont typeface="Arial" panose="020B0604020202020204" pitchFamily="34" charset="0"/>
              <a:buNone/>
            </a:pPr>
            <a:r>
              <a:rPr lang="en-US" b="1" dirty="0">
                <a:solidFill>
                  <a:srgbClr val="C00000"/>
                </a:solidFill>
              </a:rPr>
              <a:t>.container {</a:t>
            </a:r>
          </a:p>
          <a:p>
            <a:pPr marL="0" indent="0">
              <a:buFont typeface="Arial" panose="020B0604020202020204" pitchFamily="34" charset="0"/>
              <a:buNone/>
            </a:pPr>
            <a:r>
              <a:rPr lang="en-US" b="1" dirty="0">
                <a:solidFill>
                  <a:srgbClr val="0070C0"/>
                </a:solidFill>
              </a:rPr>
              <a:t>display: flex;</a:t>
            </a:r>
          </a:p>
          <a:p>
            <a:pPr marL="0" indent="0">
              <a:buFont typeface="Arial" panose="020B0604020202020204" pitchFamily="34" charset="0"/>
              <a:buNone/>
            </a:pPr>
            <a:r>
              <a:rPr lang="en-US" b="1" dirty="0">
                <a:solidFill>
                  <a:srgbClr val="0070C0"/>
                </a:solidFill>
              </a:rPr>
              <a:t>flex-wrap: </a:t>
            </a:r>
            <a:r>
              <a:rPr lang="en-US" b="1" i="1" dirty="0">
                <a:solidFill>
                  <a:srgbClr val="0070C0"/>
                </a:solidFill>
              </a:rPr>
              <a:t>wrap; OR </a:t>
            </a:r>
            <a:r>
              <a:rPr lang="en-US" b="1" i="1" dirty="0" err="1">
                <a:solidFill>
                  <a:srgbClr val="0070C0"/>
                </a:solidFill>
              </a:rPr>
              <a:t>nowrap</a:t>
            </a:r>
            <a:r>
              <a:rPr lang="en-US" b="1" i="1" dirty="0">
                <a:solidFill>
                  <a:srgbClr val="0070C0"/>
                </a:solidFill>
              </a:rPr>
              <a:t>;</a:t>
            </a:r>
          </a:p>
          <a:p>
            <a:pPr marL="0" indent="0">
              <a:buFont typeface="Arial" panose="020B0604020202020204" pitchFamily="34" charset="0"/>
              <a:buNone/>
            </a:pPr>
            <a:r>
              <a:rPr lang="en-US" b="1" dirty="0">
                <a:solidFill>
                  <a:srgbClr val="C00000"/>
                </a:solidFill>
              </a:rPr>
              <a:t>}</a:t>
            </a:r>
          </a:p>
          <a:p>
            <a:pPr marL="0" indent="0">
              <a:buFont typeface="Arial" panose="020B0604020202020204" pitchFamily="34" charset="0"/>
              <a:buNone/>
            </a:pPr>
            <a:r>
              <a:rPr lang="en-US" dirty="0"/>
              <a:t>The wrap-reverse value specifies that the flexible items will wrap if necessary, but in a reverse order:</a:t>
            </a:r>
          </a:p>
          <a:p>
            <a:pPr marL="0" indent="0">
              <a:buNone/>
            </a:pPr>
            <a:r>
              <a:rPr lang="en-US" sz="2400" b="1" dirty="0">
                <a:solidFill>
                  <a:srgbClr val="0070C0"/>
                </a:solidFill>
              </a:rPr>
              <a:t>flex-wrap: </a:t>
            </a:r>
            <a:r>
              <a:rPr lang="en-US" sz="2400" b="1" i="1" dirty="0">
                <a:solidFill>
                  <a:srgbClr val="0070C0"/>
                </a:solidFill>
              </a:rPr>
              <a:t>wrap-reverse;</a:t>
            </a:r>
            <a:endParaRPr lang="en-US" sz="2400" b="1" dirty="0">
              <a:solidFill>
                <a:srgbClr val="C00000"/>
              </a:solidFill>
            </a:endParaRPr>
          </a:p>
        </p:txBody>
      </p:sp>
    </p:spTree>
    <p:extLst>
      <p:ext uri="{BB962C8B-B14F-4D97-AF65-F5344CB8AC3E}">
        <p14:creationId xmlns:p14="http://schemas.microsoft.com/office/powerpoint/2010/main" val="3144043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0993E40-C5F7-6257-EAE0-4E04F1BB2FB0}"/>
              </a:ext>
            </a:extLst>
          </p:cNvPr>
          <p:cNvSpPr>
            <a:spLocks noGrp="1"/>
          </p:cNvSpPr>
          <p:nvPr>
            <p:ph idx="1"/>
          </p:nvPr>
        </p:nvSpPr>
        <p:spPr>
          <a:xfrm>
            <a:off x="1534696" y="159488"/>
            <a:ext cx="4079295" cy="5306857"/>
          </a:xfrm>
        </p:spPr>
        <p:txBody>
          <a:bodyPr>
            <a:normAutofit lnSpcReduction="10000"/>
          </a:bodyPr>
          <a:lstStyle/>
          <a:p>
            <a:pPr marL="0" indent="0">
              <a:buFont typeface="Arial" panose="020B0604020202020204" pitchFamily="34" charset="0"/>
              <a:buNone/>
            </a:pPr>
            <a:r>
              <a:rPr lang="en-US" sz="2800" b="1" u="sng" dirty="0">
                <a:solidFill>
                  <a:srgbClr val="C00000"/>
                </a:solidFill>
              </a:rPr>
              <a:t>Justify-content</a:t>
            </a:r>
          </a:p>
          <a:p>
            <a:pPr marL="0" indent="0">
              <a:buFont typeface="Arial" panose="020B0604020202020204" pitchFamily="34" charset="0"/>
              <a:buNone/>
            </a:pPr>
            <a:r>
              <a:rPr lang="en-US" dirty="0"/>
              <a:t>This is used to align the flex  items horizontally (along the x axis) at the center of the container.</a:t>
            </a:r>
          </a:p>
          <a:p>
            <a:pPr marL="0" indent="0">
              <a:buFont typeface="Arial" panose="020B0604020202020204" pitchFamily="34" charset="0"/>
              <a:buNone/>
            </a:pPr>
            <a:r>
              <a:rPr lang="en-US" dirty="0"/>
              <a:t>The values can be set to </a:t>
            </a:r>
            <a:r>
              <a:rPr lang="en-US" b="1" dirty="0"/>
              <a:t>flex-start; flex-end; center; space-between; space-around;</a:t>
            </a:r>
          </a:p>
          <a:p>
            <a:pPr marL="0" indent="0">
              <a:buFont typeface="Arial" panose="020B0604020202020204" pitchFamily="34" charset="0"/>
              <a:buNone/>
            </a:pPr>
            <a:r>
              <a:rPr lang="en-US" b="1" dirty="0">
                <a:solidFill>
                  <a:srgbClr val="C00000"/>
                </a:solidFill>
              </a:rPr>
              <a:t>.container {</a:t>
            </a:r>
          </a:p>
          <a:p>
            <a:pPr marL="0" indent="0">
              <a:buFont typeface="Arial" panose="020B0604020202020204" pitchFamily="34" charset="0"/>
              <a:buNone/>
            </a:pPr>
            <a:r>
              <a:rPr lang="en-US" b="1" dirty="0">
                <a:solidFill>
                  <a:srgbClr val="0070C0"/>
                </a:solidFill>
              </a:rPr>
              <a:t>display: flex;</a:t>
            </a:r>
          </a:p>
          <a:p>
            <a:pPr marL="0" indent="0">
              <a:buFont typeface="Arial" panose="020B0604020202020204" pitchFamily="34" charset="0"/>
              <a:buNone/>
            </a:pPr>
            <a:r>
              <a:rPr lang="en-US" b="1" dirty="0">
                <a:solidFill>
                  <a:srgbClr val="0070C0"/>
                </a:solidFill>
              </a:rPr>
              <a:t>Justify-content: center;</a:t>
            </a:r>
          </a:p>
          <a:p>
            <a:pPr marL="0" indent="0">
              <a:buFont typeface="Arial" panose="020B0604020202020204" pitchFamily="34" charset="0"/>
              <a:buNone/>
            </a:pPr>
            <a:r>
              <a:rPr lang="en-US" b="1" dirty="0">
                <a:solidFill>
                  <a:srgbClr val="C00000"/>
                </a:solidFill>
              </a:rPr>
              <a:t>}</a:t>
            </a:r>
          </a:p>
          <a:p>
            <a:pPr marL="0" indent="0">
              <a:buNone/>
            </a:pPr>
            <a:endParaRPr lang="en-US" dirty="0"/>
          </a:p>
        </p:txBody>
      </p:sp>
      <p:sp>
        <p:nvSpPr>
          <p:cNvPr id="5" name="Content Placeholder 2">
            <a:extLst>
              <a:ext uri="{FF2B5EF4-FFF2-40B4-BE49-F238E27FC236}">
                <a16:creationId xmlns:a16="http://schemas.microsoft.com/office/drawing/2014/main" id="{D6422641-65A0-49D8-58DB-7B20DA3EBDF4}"/>
              </a:ext>
            </a:extLst>
          </p:cNvPr>
          <p:cNvSpPr txBox="1">
            <a:spLocks/>
          </p:cNvSpPr>
          <p:nvPr/>
        </p:nvSpPr>
        <p:spPr>
          <a:xfrm>
            <a:off x="6578011" y="297712"/>
            <a:ext cx="4561304" cy="583727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2400" b="1" u="sng" dirty="0">
                <a:solidFill>
                  <a:srgbClr val="C00000"/>
                </a:solidFill>
              </a:rPr>
              <a:t>Align-Items</a:t>
            </a:r>
          </a:p>
          <a:p>
            <a:pPr marL="0" indent="0">
              <a:buFont typeface="Arial" panose="020B0604020202020204" pitchFamily="34" charset="0"/>
              <a:buNone/>
            </a:pPr>
            <a:r>
              <a:rPr lang="en-US" dirty="0"/>
              <a:t>This is also set on the parent container and it is used to align the flex items vertically.</a:t>
            </a:r>
          </a:p>
          <a:p>
            <a:pPr marL="0" indent="0">
              <a:buFont typeface="Arial" panose="020B0604020202020204" pitchFamily="34" charset="0"/>
              <a:buNone/>
            </a:pPr>
            <a:r>
              <a:rPr lang="en-US" dirty="0"/>
              <a:t>Its values can be set to: </a:t>
            </a:r>
            <a:r>
              <a:rPr lang="en-US" b="1" dirty="0"/>
              <a:t>center, flex-start; flex-end; stretch</a:t>
            </a:r>
          </a:p>
          <a:p>
            <a:pPr marL="0" indent="0">
              <a:buFont typeface="Arial" panose="020B0604020202020204" pitchFamily="34" charset="0"/>
              <a:buNone/>
            </a:pPr>
            <a:r>
              <a:rPr lang="en-US" b="1" dirty="0">
                <a:solidFill>
                  <a:srgbClr val="C00000"/>
                </a:solidFill>
              </a:rPr>
              <a:t>.container {</a:t>
            </a:r>
          </a:p>
          <a:p>
            <a:pPr marL="0" indent="0">
              <a:buFont typeface="Arial" panose="020B0604020202020204" pitchFamily="34" charset="0"/>
              <a:buNone/>
            </a:pPr>
            <a:r>
              <a:rPr lang="en-US" b="1" dirty="0">
                <a:solidFill>
                  <a:srgbClr val="0070C0"/>
                </a:solidFill>
              </a:rPr>
              <a:t>display: flex;</a:t>
            </a:r>
          </a:p>
          <a:p>
            <a:pPr marL="0" indent="0">
              <a:buFont typeface="Arial" panose="020B0604020202020204" pitchFamily="34" charset="0"/>
              <a:buNone/>
            </a:pPr>
            <a:r>
              <a:rPr lang="en-US" b="1" dirty="0">
                <a:solidFill>
                  <a:srgbClr val="0070C0"/>
                </a:solidFill>
              </a:rPr>
              <a:t>align-items: center;</a:t>
            </a:r>
          </a:p>
          <a:p>
            <a:pPr marL="0" indent="0">
              <a:buFont typeface="Arial" panose="020B0604020202020204" pitchFamily="34" charset="0"/>
              <a:buNone/>
            </a:pPr>
            <a:r>
              <a:rPr lang="en-US" b="1" dirty="0">
                <a:solidFill>
                  <a:srgbClr val="C00000"/>
                </a:solidFill>
              </a:rPr>
              <a:t>}</a:t>
            </a:r>
          </a:p>
        </p:txBody>
      </p:sp>
    </p:spTree>
    <p:extLst>
      <p:ext uri="{BB962C8B-B14F-4D97-AF65-F5344CB8AC3E}">
        <p14:creationId xmlns:p14="http://schemas.microsoft.com/office/powerpoint/2010/main" val="418979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C43360E6-0C4B-D7DF-30CD-AA1BA23FB79C}"/>
              </a:ext>
            </a:extLst>
          </p:cNvPr>
          <p:cNvSpPr>
            <a:spLocks noGrp="1"/>
          </p:cNvSpPr>
          <p:nvPr>
            <p:ph idx="1"/>
          </p:nvPr>
        </p:nvSpPr>
        <p:spPr>
          <a:xfrm>
            <a:off x="1222744" y="159488"/>
            <a:ext cx="4391247" cy="5837275"/>
          </a:xfrm>
        </p:spPr>
        <p:txBody>
          <a:bodyPr>
            <a:normAutofit fontScale="92500"/>
          </a:bodyPr>
          <a:lstStyle/>
          <a:p>
            <a:pPr marL="0" indent="0">
              <a:buFont typeface="Arial" panose="020B0604020202020204" pitchFamily="34" charset="0"/>
              <a:buNone/>
            </a:pPr>
            <a:r>
              <a:rPr lang="en-US" sz="2800" b="1" u="sng" dirty="0">
                <a:solidFill>
                  <a:srgbClr val="C00000"/>
                </a:solidFill>
              </a:rPr>
              <a:t>Flex-Flow</a:t>
            </a:r>
          </a:p>
          <a:p>
            <a:pPr marL="0" indent="0">
              <a:buFont typeface="Arial" panose="020B0604020202020204" pitchFamily="34" charset="0"/>
              <a:buNone/>
            </a:pPr>
            <a:r>
              <a:rPr lang="en-US" dirty="0"/>
              <a:t>Flex-flow makes the flexible items display in reverse order, and wrap if necessary: The flex-flow property is a shorthand property for:- </a:t>
            </a:r>
            <a:r>
              <a:rPr lang="en-US" b="1" i="1" dirty="0"/>
              <a:t>flex-direction,</a:t>
            </a:r>
            <a:r>
              <a:rPr lang="en-US" dirty="0"/>
              <a:t> and the </a:t>
            </a:r>
            <a:r>
              <a:rPr lang="en-US" b="1" i="1" dirty="0"/>
              <a:t>flex-wrap</a:t>
            </a:r>
          </a:p>
          <a:p>
            <a:pPr marL="0" indent="0">
              <a:buFont typeface="Arial" panose="020B0604020202020204" pitchFamily="34" charset="0"/>
              <a:buNone/>
            </a:pPr>
            <a:r>
              <a:rPr lang="en-US" dirty="0"/>
              <a:t>Note: If the elements are not flexible items, the flex-flow property has no effect.</a:t>
            </a:r>
          </a:p>
          <a:p>
            <a:pPr marL="0" indent="0">
              <a:buFont typeface="Arial" panose="020B0604020202020204" pitchFamily="34" charset="0"/>
              <a:buNone/>
            </a:pPr>
            <a:r>
              <a:rPr lang="en-US" b="0" i="0" dirty="0">
                <a:solidFill>
                  <a:srgbClr val="A52A2A"/>
                </a:solidFill>
                <a:effectLst/>
                <a:highlight>
                  <a:srgbClr val="FFFFFF"/>
                </a:highlight>
                <a:latin typeface="Consolas" panose="020B0609020204030204" pitchFamily="49" charset="0"/>
              </a:rPr>
              <a:t>div </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display</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flex</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flex-flow</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row-reverse wrap</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
            </a:r>
            <a:br>
              <a:rPr lang="en-US" b="0" i="0" dirty="0">
                <a:solidFill>
                  <a:srgbClr val="FF0000"/>
                </a:solidFill>
                <a:effectLst/>
                <a:highlight>
                  <a:srgbClr val="FFFFFF"/>
                </a:highlight>
                <a:latin typeface="Consolas" panose="020B0609020204030204" pitchFamily="49" charset="0"/>
              </a:rPr>
            </a:br>
            <a:r>
              <a:rPr lang="en-US" b="0" i="0" dirty="0">
                <a:solidFill>
                  <a:srgbClr val="000000"/>
                </a:solidFill>
                <a:effectLst/>
                <a:highlight>
                  <a:srgbClr val="FFFFFF"/>
                </a:highlight>
                <a:latin typeface="Consolas" panose="020B0609020204030204" pitchFamily="49" charset="0"/>
              </a:rPr>
              <a:t>}</a:t>
            </a:r>
            <a:endParaRPr lang="en-US" dirty="0"/>
          </a:p>
        </p:txBody>
      </p:sp>
      <p:sp>
        <p:nvSpPr>
          <p:cNvPr id="5" name="Content Placeholder 2">
            <a:extLst>
              <a:ext uri="{FF2B5EF4-FFF2-40B4-BE49-F238E27FC236}">
                <a16:creationId xmlns:a16="http://schemas.microsoft.com/office/drawing/2014/main" id="{F6E911C5-E0C6-EBE0-9AA5-F4EDCE5E61F1}"/>
              </a:ext>
            </a:extLst>
          </p:cNvPr>
          <p:cNvSpPr txBox="1">
            <a:spLocks/>
          </p:cNvSpPr>
          <p:nvPr/>
        </p:nvSpPr>
        <p:spPr>
          <a:xfrm>
            <a:off x="6578011" y="297712"/>
            <a:ext cx="4561304" cy="583727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2400" b="1" u="sng" dirty="0">
                <a:solidFill>
                  <a:srgbClr val="C00000"/>
                </a:solidFill>
              </a:rPr>
              <a:t>Align-Content</a:t>
            </a:r>
          </a:p>
          <a:p>
            <a:pPr marL="0" indent="0">
              <a:buFont typeface="Arial" panose="020B0604020202020204" pitchFamily="34" charset="0"/>
              <a:buNone/>
            </a:pPr>
            <a:r>
              <a:rPr lang="en-US" dirty="0"/>
              <a:t>The align-content property is used to align the flex lines. It modifies the behavior of the flex-wrap property. It is similar to align-items, but instead of aligning flex items, it aligns flex lines. It has values as; </a:t>
            </a:r>
            <a:r>
              <a:rPr lang="en-US" b="1" i="1" dirty="0">
                <a:solidFill>
                  <a:srgbClr val="7030A0"/>
                </a:solidFill>
              </a:rPr>
              <a:t>space-between, space-around, stretch, flex-end, flex-start</a:t>
            </a:r>
          </a:p>
          <a:p>
            <a:pPr marL="0" indent="0">
              <a:buFont typeface="Arial" panose="020B0604020202020204" pitchFamily="34" charset="0"/>
              <a:buNone/>
            </a:pPr>
            <a:r>
              <a:rPr lang="en-US" b="0" i="0" dirty="0">
                <a:solidFill>
                  <a:srgbClr val="A52A2A"/>
                </a:solidFill>
                <a:effectLst/>
                <a:highlight>
                  <a:srgbClr val="FFFFFF"/>
                </a:highlight>
                <a:latin typeface="Consolas" panose="020B0609020204030204" pitchFamily="49" charset="0"/>
              </a:rPr>
              <a:t>.flex-container </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display</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flex</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height</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600px</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flex-wrap</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wrap</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align-content</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stretch</a:t>
            </a:r>
            <a:r>
              <a:rPr lang="en-US" b="0" i="0" dirty="0">
                <a:solidFill>
                  <a:srgbClr val="000000"/>
                </a:solidFill>
                <a:effectLst/>
                <a:highlight>
                  <a:srgbClr val="FFFFFF"/>
                </a:highlight>
                <a:latin typeface="Consolas" panose="020B0609020204030204" pitchFamily="49" charset="0"/>
              </a:rPr>
              <a:t>;</a:t>
            </a:r>
            <a:r>
              <a:rPr lang="en-US" b="0" i="0" dirty="0">
                <a:solidFill>
                  <a:srgbClr val="FF0000"/>
                </a:solidFill>
                <a:effectLst/>
                <a:highlight>
                  <a:srgbClr val="FFFFFF"/>
                </a:highlight>
                <a:latin typeface="Consolas" panose="020B0609020204030204" pitchFamily="49" charset="0"/>
              </a:rPr>
              <a:t/>
            </a:r>
            <a:br>
              <a:rPr lang="en-US" b="0" i="0" dirty="0">
                <a:solidFill>
                  <a:srgbClr val="FF0000"/>
                </a:solidFill>
                <a:effectLst/>
                <a:highlight>
                  <a:srgbClr val="FFFFFF"/>
                </a:highlight>
                <a:latin typeface="Consolas" panose="020B0609020204030204" pitchFamily="49" charset="0"/>
              </a:rPr>
            </a:br>
            <a:r>
              <a:rPr lang="en-US" b="0" i="0" dirty="0">
                <a:solidFill>
                  <a:srgbClr val="000000"/>
                </a:solidFill>
                <a:effectLst/>
                <a:highlight>
                  <a:srgbClr val="FFFFFF"/>
                </a:highlight>
                <a:latin typeface="Consolas" panose="020B0609020204030204" pitchFamily="49" charset="0"/>
              </a:rPr>
              <a:t>}</a:t>
            </a:r>
            <a:endParaRPr lang="en-US" b="1" dirty="0">
              <a:solidFill>
                <a:srgbClr val="C00000"/>
              </a:solidFill>
            </a:endParaRPr>
          </a:p>
        </p:txBody>
      </p:sp>
    </p:spTree>
    <p:extLst>
      <p:ext uri="{BB962C8B-B14F-4D97-AF65-F5344CB8AC3E}">
        <p14:creationId xmlns:p14="http://schemas.microsoft.com/office/powerpoint/2010/main" val="1728915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47B36-DCDA-738A-361C-4A76F667060D}"/>
              </a:ext>
            </a:extLst>
          </p:cNvPr>
          <p:cNvSpPr>
            <a:spLocks noGrp="1"/>
          </p:cNvSpPr>
          <p:nvPr>
            <p:ph type="title"/>
          </p:nvPr>
        </p:nvSpPr>
        <p:spPr>
          <a:xfrm>
            <a:off x="1534696" y="170122"/>
            <a:ext cx="9520158" cy="691116"/>
          </a:xfrm>
        </p:spPr>
        <p:txBody>
          <a:bodyPr>
            <a:normAutofit fontScale="90000"/>
          </a:bodyPr>
          <a:lstStyle/>
          <a:p>
            <a:r>
              <a:rPr lang="en-US" b="1" dirty="0"/>
              <a:t>Class Exercise:</a:t>
            </a:r>
          </a:p>
        </p:txBody>
      </p:sp>
      <p:pic>
        <p:nvPicPr>
          <p:cNvPr id="4" name="Content Placeholder 3">
            <a:extLst>
              <a:ext uri="{FF2B5EF4-FFF2-40B4-BE49-F238E27FC236}">
                <a16:creationId xmlns:a16="http://schemas.microsoft.com/office/drawing/2014/main" id="{25DE4834-5A62-4F4A-C2FF-E35A49A007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3712" y="2911756"/>
            <a:ext cx="10963974" cy="1944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a:extLst>
              <a:ext uri="{FF2B5EF4-FFF2-40B4-BE49-F238E27FC236}">
                <a16:creationId xmlns:a16="http://schemas.microsoft.com/office/drawing/2014/main" id="{AFBCC853-2170-0094-30B7-7082C7DEDCA8}"/>
              </a:ext>
            </a:extLst>
          </p:cNvPr>
          <p:cNvSpPr>
            <a:spLocks noGrp="1"/>
          </p:cNvSpPr>
          <p:nvPr/>
        </p:nvSpPr>
        <p:spPr bwMode="auto">
          <a:xfrm>
            <a:off x="1353879" y="1485824"/>
            <a:ext cx="9108558" cy="142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marL="182563" indent="-182563" algn="l" rtl="0" eaLnBrk="0" fontAlgn="base" hangingPunct="0">
              <a:lnSpc>
                <a:spcPct val="90000"/>
              </a:lnSpc>
              <a:spcBef>
                <a:spcPts val="1200"/>
              </a:spcBef>
              <a:spcAft>
                <a:spcPct val="0"/>
              </a:spcAft>
              <a:buClr>
                <a:schemeClr val="accent1"/>
              </a:buClr>
              <a:buFont typeface="Wingdings 2" panose="05020102010507070707" pitchFamily="18" charset="2"/>
              <a:buChar char=""/>
              <a:defRPr sz="2000" kern="1200">
                <a:solidFill>
                  <a:srgbClr val="595959"/>
                </a:solidFill>
                <a:latin typeface="+mn-lt"/>
                <a:ea typeface="+mn-ea"/>
                <a:cs typeface="+mn-cs"/>
              </a:defRPr>
            </a:lvl1pPr>
            <a:lvl2pPr marL="685800" indent="-182563" algn="l" rtl="0" eaLnBrk="0" fontAlgn="base" hangingPunct="0">
              <a:lnSpc>
                <a:spcPct val="90000"/>
              </a:lnSpc>
              <a:spcBef>
                <a:spcPts val="250"/>
              </a:spcBef>
              <a:spcAft>
                <a:spcPts val="250"/>
              </a:spcAft>
              <a:buClr>
                <a:schemeClr val="accent1"/>
              </a:buClr>
              <a:buFont typeface="Wingdings 2" panose="05020102010507070707" pitchFamily="18" charset="2"/>
              <a:buChar char=""/>
              <a:defRPr sz="2800" kern="1200">
                <a:solidFill>
                  <a:srgbClr val="595959"/>
                </a:solidFill>
                <a:latin typeface="+mn-lt"/>
                <a:ea typeface="+mn-ea"/>
                <a:cs typeface="+mn-cs"/>
              </a:defRPr>
            </a:lvl2pPr>
            <a:lvl3pPr marL="1143000" indent="-182563" algn="l" rtl="0" eaLnBrk="0" fontAlgn="base" hangingPunct="0">
              <a:lnSpc>
                <a:spcPct val="90000"/>
              </a:lnSpc>
              <a:spcBef>
                <a:spcPts val="250"/>
              </a:spcBef>
              <a:spcAft>
                <a:spcPts val="250"/>
              </a:spcAft>
              <a:buClr>
                <a:schemeClr val="accent1"/>
              </a:buClr>
              <a:buFont typeface="Wingdings 2" panose="05020102010507070707" pitchFamily="18" charset="2"/>
              <a:buChar char=""/>
              <a:defRPr sz="1600" kern="1200">
                <a:solidFill>
                  <a:srgbClr val="595959"/>
                </a:solidFill>
                <a:latin typeface="+mn-lt"/>
                <a:ea typeface="+mn-ea"/>
                <a:cs typeface="+mn-cs"/>
              </a:defRPr>
            </a:lvl3pPr>
            <a:lvl4pPr marL="1600200" indent="-182563" algn="l" rtl="0" eaLnBrk="0" fontAlgn="base" hangingPunct="0">
              <a:lnSpc>
                <a:spcPct val="90000"/>
              </a:lnSpc>
              <a:spcBef>
                <a:spcPts val="250"/>
              </a:spcBef>
              <a:spcAft>
                <a:spcPts val="250"/>
              </a:spcAft>
              <a:buClr>
                <a:schemeClr val="accent1"/>
              </a:buClr>
              <a:buFont typeface="Wingdings 2" panose="05020102010507070707" pitchFamily="18" charset="2"/>
              <a:buChar char=""/>
              <a:defRPr sz="1400" kern="1200">
                <a:solidFill>
                  <a:srgbClr val="595959"/>
                </a:solidFill>
                <a:latin typeface="+mn-lt"/>
                <a:ea typeface="+mn-ea"/>
                <a:cs typeface="+mn-cs"/>
              </a:defRPr>
            </a:lvl4pPr>
            <a:lvl5pPr marL="2057400" indent="-182563" algn="l" rtl="0" eaLnBrk="0" fontAlgn="base" hangingPunct="0">
              <a:lnSpc>
                <a:spcPct val="90000"/>
              </a:lnSpc>
              <a:spcBef>
                <a:spcPts val="250"/>
              </a:spcBef>
              <a:spcAft>
                <a:spcPts val="250"/>
              </a:spcAft>
              <a:buClr>
                <a:schemeClr val="accent1"/>
              </a:buClr>
              <a:buFont typeface="Wingdings 2" panose="05020102010507070707" pitchFamily="18" charset="2"/>
              <a:buChar char=""/>
              <a:defRPr sz="1400" kern="1200">
                <a:solidFill>
                  <a:srgbClr val="595959"/>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r>
              <a:rPr lang="en-US" altLang="en-US" sz="2400" dirty="0">
                <a:solidFill>
                  <a:schemeClr val="tx1"/>
                </a:solidFill>
              </a:rPr>
              <a:t>Using flex, recreate the above navigation bar</a:t>
            </a:r>
          </a:p>
        </p:txBody>
      </p:sp>
    </p:spTree>
    <p:extLst>
      <p:ext uri="{BB962C8B-B14F-4D97-AF65-F5344CB8AC3E}">
        <p14:creationId xmlns:p14="http://schemas.microsoft.com/office/powerpoint/2010/main" val="2035998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3BD58-0049-B417-7B2D-FF24794C2372}"/>
              </a:ext>
            </a:extLst>
          </p:cNvPr>
          <p:cNvSpPr>
            <a:spLocks noGrp="1"/>
          </p:cNvSpPr>
          <p:nvPr>
            <p:ph type="title"/>
          </p:nvPr>
        </p:nvSpPr>
        <p:spPr>
          <a:xfrm>
            <a:off x="1534696" y="0"/>
            <a:ext cx="9520158" cy="1049235"/>
          </a:xfrm>
        </p:spPr>
        <p:txBody>
          <a:bodyPr>
            <a:normAutofit/>
          </a:bodyPr>
          <a:lstStyle/>
          <a:p>
            <a:r>
              <a:rPr lang="en-US" sz="4400" dirty="0"/>
              <a:t>FLEX RULES FOR flex-items</a:t>
            </a:r>
          </a:p>
        </p:txBody>
      </p:sp>
      <p:sp>
        <p:nvSpPr>
          <p:cNvPr id="3" name="Content Placeholder 2">
            <a:extLst>
              <a:ext uri="{FF2B5EF4-FFF2-40B4-BE49-F238E27FC236}">
                <a16:creationId xmlns:a16="http://schemas.microsoft.com/office/drawing/2014/main" id="{F0D94958-9498-5DB5-4965-87E63C5A56C3}"/>
              </a:ext>
            </a:extLst>
          </p:cNvPr>
          <p:cNvSpPr>
            <a:spLocks noGrp="1"/>
          </p:cNvSpPr>
          <p:nvPr>
            <p:ph idx="1"/>
          </p:nvPr>
        </p:nvSpPr>
        <p:spPr>
          <a:xfrm>
            <a:off x="1534696" y="1233377"/>
            <a:ext cx="9520158" cy="4550735"/>
          </a:xfrm>
        </p:spPr>
        <p:txBody>
          <a:bodyPr>
            <a:normAutofit/>
          </a:bodyPr>
          <a:lstStyle/>
          <a:p>
            <a:pPr marL="0" indent="0">
              <a:buNone/>
            </a:pPr>
            <a:r>
              <a:rPr lang="en-US" dirty="0"/>
              <a:t>Note that the direct child elements of a flex container automatically become flexible (flex) items.</a:t>
            </a:r>
          </a:p>
          <a:p>
            <a:pPr marL="0" indent="0">
              <a:buNone/>
            </a:pPr>
            <a:r>
              <a:rPr lang="en-US" sz="2000" dirty="0"/>
              <a:t>The flex items have some properties which are:</a:t>
            </a:r>
          </a:p>
          <a:p>
            <a:pPr marL="0" indent="0">
              <a:buNone/>
            </a:pPr>
            <a:r>
              <a:rPr lang="en-US" sz="2000" b="1" dirty="0">
                <a:solidFill>
                  <a:srgbClr val="C00000"/>
                </a:solidFill>
              </a:rPr>
              <a:t>Order</a:t>
            </a:r>
          </a:p>
          <a:p>
            <a:pPr marL="0" indent="0">
              <a:buNone/>
            </a:pPr>
            <a:r>
              <a:rPr lang="en-US" sz="2000" b="1" dirty="0">
                <a:solidFill>
                  <a:srgbClr val="C00000"/>
                </a:solidFill>
              </a:rPr>
              <a:t>flex-grow</a:t>
            </a:r>
          </a:p>
          <a:p>
            <a:pPr marL="0" indent="0">
              <a:buNone/>
            </a:pPr>
            <a:r>
              <a:rPr lang="en-US" sz="2000" b="1" dirty="0">
                <a:solidFill>
                  <a:srgbClr val="C00000"/>
                </a:solidFill>
              </a:rPr>
              <a:t>flex-shrink</a:t>
            </a:r>
          </a:p>
          <a:p>
            <a:pPr marL="0" indent="0">
              <a:buNone/>
            </a:pPr>
            <a:r>
              <a:rPr lang="en-US" b="1" dirty="0">
                <a:solidFill>
                  <a:srgbClr val="C00000"/>
                </a:solidFill>
              </a:rPr>
              <a:t>flex</a:t>
            </a:r>
            <a:r>
              <a:rPr lang="en-US" sz="2000" b="1" dirty="0">
                <a:solidFill>
                  <a:srgbClr val="C00000"/>
                </a:solidFill>
              </a:rPr>
              <a:t>-</a:t>
            </a:r>
            <a:r>
              <a:rPr lang="en-US" b="1" dirty="0">
                <a:solidFill>
                  <a:srgbClr val="C00000"/>
                </a:solidFill>
              </a:rPr>
              <a:t>basis</a:t>
            </a:r>
          </a:p>
          <a:p>
            <a:pPr marL="0" indent="0">
              <a:buNone/>
            </a:pPr>
            <a:r>
              <a:rPr lang="en-US" sz="2000" b="1" dirty="0">
                <a:solidFill>
                  <a:srgbClr val="C00000"/>
                </a:solidFill>
              </a:rPr>
              <a:t>flex</a:t>
            </a:r>
          </a:p>
          <a:p>
            <a:pPr marL="0" indent="0">
              <a:buNone/>
            </a:pPr>
            <a:r>
              <a:rPr lang="en-US" sz="2000" b="1" dirty="0">
                <a:solidFill>
                  <a:srgbClr val="C00000"/>
                </a:solidFill>
              </a:rPr>
              <a:t>align-self</a:t>
            </a:r>
            <a:endParaRPr lang="en-US" sz="2000" dirty="0">
              <a:solidFill>
                <a:srgbClr val="C00000"/>
              </a:solidFill>
            </a:endParaRPr>
          </a:p>
          <a:p>
            <a:pPr marL="0" indent="0">
              <a:buNone/>
            </a:pPr>
            <a:r>
              <a:rPr lang="en-US" sz="2000" dirty="0"/>
              <a:t>Recall that the Parent container is the main container housing other items within it which are called the flex items.</a:t>
            </a:r>
          </a:p>
          <a:p>
            <a:pPr marL="0" indent="0">
              <a:buNone/>
            </a:pPr>
            <a:endParaRPr lang="en-US" dirty="0"/>
          </a:p>
        </p:txBody>
      </p:sp>
    </p:spTree>
    <p:extLst>
      <p:ext uri="{BB962C8B-B14F-4D97-AF65-F5344CB8AC3E}">
        <p14:creationId xmlns:p14="http://schemas.microsoft.com/office/powerpoint/2010/main" val="201692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1178DEF-E4A2-E954-FEAA-5B7F49B007B2}"/>
              </a:ext>
            </a:extLst>
          </p:cNvPr>
          <p:cNvSpPr>
            <a:spLocks noGrp="1"/>
          </p:cNvSpPr>
          <p:nvPr>
            <p:ph idx="1"/>
          </p:nvPr>
        </p:nvSpPr>
        <p:spPr>
          <a:xfrm>
            <a:off x="1286540" y="116958"/>
            <a:ext cx="4809460" cy="5837275"/>
          </a:xfrm>
        </p:spPr>
        <p:txBody>
          <a:bodyPr>
            <a:noAutofit/>
          </a:bodyPr>
          <a:lstStyle/>
          <a:p>
            <a:pPr marL="0" indent="0">
              <a:buNone/>
            </a:pPr>
            <a:r>
              <a:rPr lang="en-US" b="1" u="sng" dirty="0">
                <a:solidFill>
                  <a:srgbClr val="C00000"/>
                </a:solidFill>
              </a:rPr>
              <a:t>Order</a:t>
            </a:r>
          </a:p>
          <a:p>
            <a:pPr marL="0" indent="0">
              <a:buNone/>
            </a:pPr>
            <a:r>
              <a:rPr lang="en-US" dirty="0"/>
              <a:t>This specifies the order of the flex items</a:t>
            </a: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="flex-container"&gt;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="order: 3"&gt;</a:t>
            </a:r>
            <a:r>
              <a:rPr lang="en-US" b="0" i="0" dirty="0">
                <a:solidFill>
                  <a:srgbClr val="000000"/>
                </a:solidFill>
                <a:effectLst/>
                <a:latin typeface="Consolas" panose="020B0609020204030204" pitchFamily="49" charset="0"/>
              </a:rPr>
              <a:t>1</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="order: 2"&gt;</a:t>
            </a:r>
            <a:r>
              <a:rPr lang="en-US" b="0" i="0" dirty="0">
                <a:solidFill>
                  <a:srgbClr val="000000"/>
                </a:solidFill>
                <a:effectLst/>
                <a:latin typeface="Consolas" panose="020B0609020204030204" pitchFamily="49" charset="0"/>
              </a:rPr>
              <a:t>2</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="order: 4"&gt;</a:t>
            </a:r>
            <a:r>
              <a:rPr lang="en-US" b="0" i="0" dirty="0">
                <a:solidFill>
                  <a:srgbClr val="000000"/>
                </a:solidFill>
                <a:effectLst/>
                <a:latin typeface="Consolas" panose="020B0609020204030204" pitchFamily="49" charset="0"/>
              </a:rPr>
              <a:t>3</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="order: 1"&gt;</a:t>
            </a:r>
            <a:r>
              <a:rPr lang="en-US" b="0" i="0" dirty="0">
                <a:solidFill>
                  <a:srgbClr val="000000"/>
                </a:solidFill>
                <a:effectLst/>
                <a:latin typeface="Consolas" panose="020B0609020204030204" pitchFamily="49" charset="0"/>
              </a:rPr>
              <a:t>4</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p>
          <a:p>
            <a:pPr marL="0" indent="0">
              <a:buNone/>
            </a:pPr>
            <a:endParaRPr lang="en-US" b="1" dirty="0">
              <a:solidFill>
                <a:srgbClr val="C00000"/>
              </a:solidFill>
            </a:endParaRPr>
          </a:p>
          <a:p>
            <a:pPr marL="0" indent="0">
              <a:buNone/>
            </a:pPr>
            <a:endParaRPr lang="en-US" b="1" dirty="0">
              <a:solidFill>
                <a:srgbClr val="C00000"/>
              </a:solidFill>
            </a:endParaRPr>
          </a:p>
          <a:p>
            <a:pPr marL="0" indent="0">
              <a:buNone/>
            </a:pPr>
            <a:endParaRPr lang="en-US" dirty="0"/>
          </a:p>
          <a:p>
            <a:pPr marL="0" indent="0">
              <a:buNone/>
            </a:pPr>
            <a:r>
              <a:rPr lang="en-US" dirty="0"/>
              <a:t>This mean 1 should be in position 3, 2 should be in position 2, 3 should be in position 4 and 4 should be in position 1.</a:t>
            </a:r>
          </a:p>
        </p:txBody>
      </p:sp>
      <p:sp>
        <p:nvSpPr>
          <p:cNvPr id="5" name="Content Placeholder 2">
            <a:extLst>
              <a:ext uri="{FF2B5EF4-FFF2-40B4-BE49-F238E27FC236}">
                <a16:creationId xmlns:a16="http://schemas.microsoft.com/office/drawing/2014/main" id="{3DF4648B-A115-6F8D-2137-C478F6F01B99}"/>
              </a:ext>
            </a:extLst>
          </p:cNvPr>
          <p:cNvSpPr txBox="1">
            <a:spLocks/>
          </p:cNvSpPr>
          <p:nvPr/>
        </p:nvSpPr>
        <p:spPr>
          <a:xfrm>
            <a:off x="6652501" y="116958"/>
            <a:ext cx="5139006" cy="583727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2400" b="1" u="sng" dirty="0">
                <a:solidFill>
                  <a:srgbClr val="C00000"/>
                </a:solidFill>
              </a:rPr>
              <a:t>Flex-grow</a:t>
            </a:r>
          </a:p>
          <a:p>
            <a:pPr marL="0" indent="0">
              <a:lnSpc>
                <a:spcPct val="150000"/>
              </a:lnSpc>
              <a:buFont typeface="Arial" panose="020B0604020202020204" pitchFamily="34" charset="0"/>
              <a:buNone/>
            </a:pPr>
            <a:r>
              <a:rPr lang="en-US" dirty="0"/>
              <a:t>This specifies how much a flex item will grow relative to the rest of the flex items. The value must be a number.</a:t>
            </a:r>
            <a:endParaRPr lang="en-US" b="1" dirty="0"/>
          </a:p>
          <a:p>
            <a:pPr marL="0" indent="0">
              <a:buFont typeface="Arial" panose="020B0604020202020204" pitchFamily="34" charse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="flex-container"&gt;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="flex-grow: 1"&gt;</a:t>
            </a:r>
            <a:r>
              <a:rPr lang="en-US" b="0" i="0" dirty="0">
                <a:solidFill>
                  <a:srgbClr val="000000"/>
                </a:solidFill>
                <a:effectLst/>
                <a:latin typeface="Consolas" panose="020B0609020204030204" pitchFamily="49" charset="0"/>
              </a:rPr>
              <a:t>1</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="flex-grow: 1"&gt;</a:t>
            </a:r>
            <a:r>
              <a:rPr lang="en-US" b="0" i="0" dirty="0">
                <a:solidFill>
                  <a:srgbClr val="000000"/>
                </a:solidFill>
                <a:effectLst/>
                <a:latin typeface="Consolas" panose="020B0609020204030204" pitchFamily="49" charset="0"/>
              </a:rPr>
              <a:t>2</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="flex-grow: 8"&gt;</a:t>
            </a:r>
            <a:r>
              <a:rPr lang="en-US" b="0" i="0" dirty="0">
                <a:solidFill>
                  <a:srgbClr val="000000"/>
                </a:solidFill>
                <a:effectLst/>
                <a:latin typeface="Consolas" panose="020B0609020204030204" pitchFamily="49" charset="0"/>
              </a:rPr>
              <a:t>3</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p>
        </p:txBody>
      </p:sp>
      <p:pic>
        <p:nvPicPr>
          <p:cNvPr id="7" name="Picture 6">
            <a:extLst>
              <a:ext uri="{FF2B5EF4-FFF2-40B4-BE49-F238E27FC236}">
                <a16:creationId xmlns:a16="http://schemas.microsoft.com/office/drawing/2014/main" id="{646B7540-3FAE-E63A-722B-1231B26BF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2060" y="3508465"/>
            <a:ext cx="4821263" cy="1201758"/>
          </a:xfrm>
          <a:prstGeom prst="rect">
            <a:avLst/>
          </a:prstGeom>
        </p:spPr>
      </p:pic>
      <p:pic>
        <p:nvPicPr>
          <p:cNvPr id="9" name="Picture 8">
            <a:extLst>
              <a:ext uri="{FF2B5EF4-FFF2-40B4-BE49-F238E27FC236}">
                <a16:creationId xmlns:a16="http://schemas.microsoft.com/office/drawing/2014/main" id="{BE3BCF63-870F-49FA-D4C4-33C81D74F9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498" y="3938590"/>
            <a:ext cx="5139007" cy="1037447"/>
          </a:xfrm>
          <a:prstGeom prst="rect">
            <a:avLst/>
          </a:prstGeom>
        </p:spPr>
      </p:pic>
    </p:spTree>
    <p:extLst>
      <p:ext uri="{BB962C8B-B14F-4D97-AF65-F5344CB8AC3E}">
        <p14:creationId xmlns:p14="http://schemas.microsoft.com/office/powerpoint/2010/main" val="2689922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2042A4F-8CC0-8814-B6AC-DB300A824723}"/>
              </a:ext>
            </a:extLst>
          </p:cNvPr>
          <p:cNvSpPr>
            <a:spLocks noGrp="1"/>
          </p:cNvSpPr>
          <p:nvPr>
            <p:ph idx="1"/>
          </p:nvPr>
        </p:nvSpPr>
        <p:spPr>
          <a:xfrm>
            <a:off x="616688" y="116958"/>
            <a:ext cx="5479312" cy="6666614"/>
          </a:xfrm>
        </p:spPr>
        <p:txBody>
          <a:bodyPr>
            <a:noAutofit/>
          </a:bodyPr>
          <a:lstStyle/>
          <a:p>
            <a:pPr marL="0" indent="0">
              <a:buNone/>
            </a:pPr>
            <a:r>
              <a:rPr lang="en-US" b="1" u="sng" dirty="0">
                <a:solidFill>
                  <a:srgbClr val="C00000"/>
                </a:solidFill>
              </a:rPr>
              <a:t>Flex-shrink</a:t>
            </a:r>
          </a:p>
          <a:p>
            <a:pPr marL="0" indent="0">
              <a:buNone/>
            </a:pPr>
            <a:r>
              <a:rPr lang="en-US" dirty="0"/>
              <a:t>The flex-shrink property specifies how much a flex item will shrink relative to the rest of the flex items.</a:t>
            </a:r>
            <a:endParaRPr lang="en-US" b="0" i="0" dirty="0">
              <a:solidFill>
                <a:srgbClr val="0000CD"/>
              </a:solidFill>
              <a:effectLst/>
              <a:latin typeface="Consolas" panose="020B0609020204030204" pitchFamily="49" charset="0"/>
            </a:endParaRPr>
          </a:p>
          <a:p>
            <a:pPr marL="0" indent="0">
              <a:buNone/>
            </a:pP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FF0000"/>
                </a:solidFill>
                <a:effectLst/>
                <a:latin typeface="Consolas" panose="020B0609020204030204" pitchFamily="49" charset="0"/>
              </a:rPr>
              <a:t> class</a:t>
            </a:r>
            <a:r>
              <a:rPr lang="en-US" sz="1800" b="0" i="0" dirty="0">
                <a:solidFill>
                  <a:srgbClr val="0000CD"/>
                </a:solidFill>
                <a:effectLst/>
                <a:latin typeface="Consolas" panose="020B0609020204030204" pitchFamily="49" charset="0"/>
              </a:rPr>
              <a:t>="flex-container"&gt;</a:t>
            </a:r>
            <a:r>
              <a:rPr lang="en-US" sz="1800" dirty="0"/>
              <a:t/>
            </a:r>
            <a:br>
              <a:rPr lang="en-US" sz="1800" dirty="0"/>
            </a:br>
            <a:r>
              <a:rPr lang="en-US" sz="1800" b="0" i="0" dirty="0">
                <a:solidFill>
                  <a:srgbClr val="000000"/>
                </a:solidFill>
                <a:effectLst/>
                <a:latin typeface="Consolas" panose="020B0609020204030204" pitchFamily="49" charset="0"/>
              </a:rPr>
              <a:t>  </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b="0" i="0" dirty="0">
                <a:solidFill>
                  <a:srgbClr val="000000"/>
                </a:solidFill>
                <a:effectLst/>
                <a:latin typeface="Consolas" panose="020B0609020204030204" pitchFamily="49" charset="0"/>
              </a:rPr>
              <a:t>1</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dirty="0"/>
              <a:t/>
            </a:r>
            <a:br>
              <a:rPr lang="en-US" sz="1800" dirty="0"/>
            </a:br>
            <a:r>
              <a:rPr lang="en-US" sz="1800" b="0" i="0" dirty="0">
                <a:solidFill>
                  <a:srgbClr val="000000"/>
                </a:solidFill>
                <a:effectLst/>
                <a:latin typeface="Consolas" panose="020B0609020204030204" pitchFamily="49" charset="0"/>
              </a:rPr>
              <a:t>  </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b="0" i="0" dirty="0">
                <a:solidFill>
                  <a:srgbClr val="000000"/>
                </a:solidFill>
                <a:effectLst/>
                <a:latin typeface="Consolas" panose="020B0609020204030204" pitchFamily="49" charset="0"/>
              </a:rPr>
              <a:t>2</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dirty="0"/>
              <a:t/>
            </a:r>
            <a:br>
              <a:rPr lang="en-US" sz="1800" dirty="0"/>
            </a:br>
            <a:r>
              <a:rPr lang="en-US" sz="1800" b="0" i="0" dirty="0">
                <a:solidFill>
                  <a:srgbClr val="000000"/>
                </a:solidFill>
                <a:effectLst/>
                <a:latin typeface="Consolas" panose="020B0609020204030204" pitchFamily="49" charset="0"/>
              </a:rPr>
              <a:t>  </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FF0000"/>
                </a:solidFill>
                <a:effectLst/>
                <a:latin typeface="Consolas" panose="020B0609020204030204" pitchFamily="49" charset="0"/>
              </a:rPr>
              <a:t> style</a:t>
            </a:r>
            <a:r>
              <a:rPr lang="en-US" sz="1800" b="0" i="0" dirty="0">
                <a:solidFill>
                  <a:srgbClr val="0000CD"/>
                </a:solidFill>
                <a:effectLst/>
                <a:latin typeface="Consolas" panose="020B0609020204030204" pitchFamily="49" charset="0"/>
              </a:rPr>
              <a:t>="flex-shrink: 0"&gt;</a:t>
            </a:r>
            <a:r>
              <a:rPr lang="en-US" sz="1800" b="0" i="0" dirty="0">
                <a:solidFill>
                  <a:srgbClr val="000000"/>
                </a:solidFill>
                <a:effectLst/>
                <a:latin typeface="Consolas" panose="020B0609020204030204" pitchFamily="49" charset="0"/>
              </a:rPr>
              <a:t>3</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dirty="0"/>
              <a:t/>
            </a:r>
            <a:br>
              <a:rPr lang="en-US" sz="1800" dirty="0"/>
            </a:br>
            <a:r>
              <a:rPr lang="en-US" sz="1800" b="0" i="0" dirty="0">
                <a:solidFill>
                  <a:srgbClr val="000000"/>
                </a:solidFill>
                <a:effectLst/>
                <a:latin typeface="Consolas" panose="020B0609020204030204" pitchFamily="49" charset="0"/>
              </a:rPr>
              <a:t>  </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b="0" i="0" dirty="0">
                <a:solidFill>
                  <a:srgbClr val="000000"/>
                </a:solidFill>
                <a:effectLst/>
                <a:latin typeface="Consolas" panose="020B0609020204030204" pitchFamily="49" charset="0"/>
              </a:rPr>
              <a:t>4</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dirty="0"/>
              <a:t/>
            </a:r>
            <a:br>
              <a:rPr lang="en-US" sz="1800" dirty="0"/>
            </a:br>
            <a:r>
              <a:rPr lang="en-US" sz="1800" b="0" i="0" dirty="0">
                <a:solidFill>
                  <a:srgbClr val="000000"/>
                </a:solidFill>
                <a:effectLst/>
                <a:latin typeface="Consolas" panose="020B0609020204030204" pitchFamily="49" charset="0"/>
              </a:rPr>
              <a:t>  </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b="0" i="0" dirty="0">
                <a:solidFill>
                  <a:srgbClr val="000000"/>
                </a:solidFill>
                <a:effectLst/>
                <a:latin typeface="Consolas" panose="020B0609020204030204" pitchFamily="49" charset="0"/>
              </a:rPr>
              <a:t>5</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dirty="0"/>
              <a:t/>
            </a:r>
            <a:br>
              <a:rPr lang="en-US" sz="1800" dirty="0"/>
            </a:br>
            <a:r>
              <a:rPr lang="en-US" sz="1800" b="0" i="0" dirty="0">
                <a:solidFill>
                  <a:srgbClr val="000000"/>
                </a:solidFill>
                <a:effectLst/>
                <a:latin typeface="Consolas" panose="020B0609020204030204" pitchFamily="49" charset="0"/>
              </a:rPr>
              <a:t>  </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b="0" i="0" dirty="0">
                <a:solidFill>
                  <a:srgbClr val="000000"/>
                </a:solidFill>
                <a:effectLst/>
                <a:latin typeface="Consolas" panose="020B0609020204030204" pitchFamily="49" charset="0"/>
              </a:rPr>
              <a:t>6</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dirty="0"/>
              <a:t/>
            </a:r>
            <a:br>
              <a:rPr lang="en-US" sz="1800" dirty="0"/>
            </a:br>
            <a:r>
              <a:rPr lang="en-US" sz="1800" b="0" i="0" dirty="0">
                <a:solidFill>
                  <a:srgbClr val="000000"/>
                </a:solidFill>
                <a:effectLst/>
                <a:latin typeface="Consolas" panose="020B0609020204030204" pitchFamily="49" charset="0"/>
              </a:rPr>
              <a:t>  </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b="0" i="0" dirty="0">
                <a:solidFill>
                  <a:srgbClr val="000000"/>
                </a:solidFill>
                <a:effectLst/>
                <a:latin typeface="Consolas" panose="020B0609020204030204" pitchFamily="49" charset="0"/>
              </a:rPr>
              <a:t>7</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dirty="0"/>
              <a:t/>
            </a:r>
            <a:br>
              <a:rPr lang="en-US" sz="1800" dirty="0"/>
            </a:br>
            <a:r>
              <a:rPr lang="en-US" sz="1800" b="0" i="0" dirty="0">
                <a:solidFill>
                  <a:srgbClr val="000000"/>
                </a:solidFill>
                <a:effectLst/>
                <a:latin typeface="Consolas" panose="020B0609020204030204" pitchFamily="49" charset="0"/>
              </a:rPr>
              <a:t>  </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b="0" i="0" dirty="0">
                <a:solidFill>
                  <a:srgbClr val="000000"/>
                </a:solidFill>
                <a:effectLst/>
                <a:latin typeface="Consolas" panose="020B0609020204030204" pitchFamily="49" charset="0"/>
              </a:rPr>
              <a:t>8</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dirty="0"/>
              <a:t/>
            </a:r>
            <a:br>
              <a:rPr lang="en-US" sz="1800" dirty="0"/>
            </a:br>
            <a:r>
              <a:rPr lang="en-US" sz="1800" b="0" i="0" dirty="0">
                <a:solidFill>
                  <a:srgbClr val="000000"/>
                </a:solidFill>
                <a:effectLst/>
                <a:latin typeface="Consolas" panose="020B0609020204030204" pitchFamily="49" charset="0"/>
              </a:rPr>
              <a:t>  </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b="0" i="0" dirty="0">
                <a:solidFill>
                  <a:srgbClr val="000000"/>
                </a:solidFill>
                <a:effectLst/>
                <a:latin typeface="Consolas" panose="020B0609020204030204" pitchFamily="49" charset="0"/>
              </a:rPr>
              <a:t>9</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dirty="0"/>
              <a:t/>
            </a:r>
            <a:br>
              <a:rPr lang="en-US" sz="1800" dirty="0"/>
            </a:br>
            <a:r>
              <a:rPr lang="en-US" sz="1800" b="0" i="0" dirty="0">
                <a:solidFill>
                  <a:srgbClr val="000000"/>
                </a:solidFill>
                <a:effectLst/>
                <a:latin typeface="Consolas" panose="020B0609020204030204" pitchFamily="49" charset="0"/>
              </a:rPr>
              <a:t>  </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b="0" i="0" dirty="0">
                <a:solidFill>
                  <a:srgbClr val="000000"/>
                </a:solidFill>
                <a:effectLst/>
                <a:latin typeface="Consolas" panose="020B0609020204030204" pitchFamily="49" charset="0"/>
              </a:rPr>
              <a:t>10</a:t>
            </a: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r>
              <a:rPr lang="en-US" sz="1800" dirty="0"/>
              <a:t/>
            </a:r>
            <a:br>
              <a:rPr lang="en-US" sz="1800" dirty="0"/>
            </a:br>
            <a:r>
              <a:rPr lang="en-US" sz="1800" b="0" i="0" dirty="0">
                <a:solidFill>
                  <a:srgbClr val="0000CD"/>
                </a:solidFill>
                <a:effectLst/>
                <a:latin typeface="Consolas" panose="020B0609020204030204" pitchFamily="49" charset="0"/>
              </a:rPr>
              <a:t>&lt;</a:t>
            </a:r>
            <a:r>
              <a:rPr lang="en-US" sz="1800" b="0" i="0" dirty="0">
                <a:solidFill>
                  <a:srgbClr val="A52A2A"/>
                </a:solidFill>
                <a:effectLst/>
                <a:latin typeface="Consolas" panose="020B0609020204030204" pitchFamily="49" charset="0"/>
              </a:rPr>
              <a:t>/div</a:t>
            </a:r>
            <a:r>
              <a:rPr lang="en-US" sz="1800" b="0" i="0" dirty="0">
                <a:solidFill>
                  <a:srgbClr val="0000CD"/>
                </a:solidFill>
                <a:effectLst/>
                <a:latin typeface="Consolas" panose="020B0609020204030204" pitchFamily="49" charset="0"/>
              </a:rPr>
              <a:t>&gt;</a:t>
            </a:r>
            <a:endParaRPr lang="en-US" sz="1800" b="1" dirty="0">
              <a:solidFill>
                <a:srgbClr val="C00000"/>
              </a:solidFill>
            </a:endParaRPr>
          </a:p>
          <a:p>
            <a:pPr marL="0" indent="0">
              <a:buNone/>
            </a:pPr>
            <a:endParaRPr lang="en-US" b="1" dirty="0">
              <a:solidFill>
                <a:srgbClr val="C00000"/>
              </a:solidFill>
            </a:endParaRPr>
          </a:p>
          <a:p>
            <a:pPr marL="0" indent="0">
              <a:buNone/>
            </a:pPr>
            <a:endParaRPr lang="en-US" dirty="0"/>
          </a:p>
        </p:txBody>
      </p:sp>
      <p:sp>
        <p:nvSpPr>
          <p:cNvPr id="5" name="Content Placeholder 2">
            <a:extLst>
              <a:ext uri="{FF2B5EF4-FFF2-40B4-BE49-F238E27FC236}">
                <a16:creationId xmlns:a16="http://schemas.microsoft.com/office/drawing/2014/main" id="{46A581F4-1BB3-C7E1-427F-E1AF4023BF6A}"/>
              </a:ext>
            </a:extLst>
          </p:cNvPr>
          <p:cNvSpPr txBox="1">
            <a:spLocks/>
          </p:cNvSpPr>
          <p:nvPr/>
        </p:nvSpPr>
        <p:spPr>
          <a:xfrm>
            <a:off x="6422065" y="116958"/>
            <a:ext cx="5369442" cy="583727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2400" b="1" u="sng" dirty="0">
                <a:solidFill>
                  <a:srgbClr val="C00000"/>
                </a:solidFill>
              </a:rPr>
              <a:t>Flex</a:t>
            </a:r>
          </a:p>
          <a:p>
            <a:pPr marL="0" indent="0">
              <a:lnSpc>
                <a:spcPct val="150000"/>
              </a:lnSpc>
              <a:buFont typeface="Arial" panose="020B0604020202020204" pitchFamily="34" charset="0"/>
              <a:buNone/>
            </a:pPr>
            <a:r>
              <a:rPr lang="en-US" dirty="0"/>
              <a:t>The flex property is a shorthand property for the </a:t>
            </a:r>
            <a:r>
              <a:rPr lang="en-US" b="1" i="1" dirty="0">
                <a:solidFill>
                  <a:srgbClr val="C00000"/>
                </a:solidFill>
              </a:rPr>
              <a:t>flex-grow, flex-shrink, and flex-basis </a:t>
            </a:r>
            <a:r>
              <a:rPr lang="en-US" dirty="0"/>
              <a:t>properties.</a:t>
            </a:r>
          </a:p>
          <a:p>
            <a:pPr marL="0" indent="0">
              <a:lnSpc>
                <a:spcPct val="150000"/>
              </a:lnSpc>
              <a:buFont typeface="Arial" panose="020B0604020202020204" pitchFamily="34" charset="0"/>
              <a:buNone/>
            </a:pPr>
            <a:r>
              <a:rPr lang="en-US" dirty="0"/>
              <a:t>Example: Let the third flex item not grow (0), not shrink (0), and with an initial length of 200 pixels:</a:t>
            </a:r>
          </a:p>
          <a:p>
            <a:pPr marL="0" indent="0">
              <a:lnSpc>
                <a:spcPct val="150000"/>
              </a:lnSpc>
              <a:buFont typeface="Arial" panose="020B0604020202020204" pitchFamily="34" charse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FF0000"/>
                </a:solidFill>
                <a:effectLst/>
                <a:latin typeface="Consolas" panose="020B0609020204030204" pitchFamily="49" charset="0"/>
              </a:rPr>
              <a:t> class</a:t>
            </a:r>
            <a:r>
              <a:rPr lang="en-US" b="0" i="0" dirty="0">
                <a:solidFill>
                  <a:srgbClr val="0000CD"/>
                </a:solidFill>
                <a:effectLst/>
                <a:latin typeface="Consolas" panose="020B0609020204030204" pitchFamily="49" charset="0"/>
              </a:rPr>
              <a:t>="flex-container"&gt;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1</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2</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sz="1900" b="0" i="0" dirty="0">
                <a:solidFill>
                  <a:srgbClr val="0000CD"/>
                </a:solidFill>
                <a:effectLst/>
                <a:latin typeface="Consolas" panose="020B0609020204030204" pitchFamily="49" charset="0"/>
              </a:rPr>
              <a:t>&lt;</a:t>
            </a:r>
            <a:r>
              <a:rPr lang="en-US" sz="1900" b="0" i="0" dirty="0">
                <a:solidFill>
                  <a:srgbClr val="A52A2A"/>
                </a:solidFill>
                <a:effectLst/>
                <a:latin typeface="Consolas" panose="020B0609020204030204" pitchFamily="49" charset="0"/>
              </a:rPr>
              <a:t>div</a:t>
            </a:r>
            <a:r>
              <a:rPr lang="en-US" sz="1900" b="0" i="0" dirty="0">
                <a:solidFill>
                  <a:srgbClr val="FF0000"/>
                </a:solidFill>
                <a:effectLst/>
                <a:latin typeface="Consolas" panose="020B0609020204030204" pitchFamily="49" charset="0"/>
              </a:rPr>
              <a:t> style</a:t>
            </a:r>
            <a:r>
              <a:rPr lang="en-US" sz="1900" b="0" i="0" dirty="0">
                <a:solidFill>
                  <a:srgbClr val="0000CD"/>
                </a:solidFill>
                <a:effectLst/>
                <a:latin typeface="Consolas" panose="020B0609020204030204" pitchFamily="49" charset="0"/>
              </a:rPr>
              <a:t>="flex: 0 0 200px"&gt;</a:t>
            </a:r>
            <a:r>
              <a:rPr lang="en-US" sz="1900" b="0" i="0" dirty="0">
                <a:solidFill>
                  <a:srgbClr val="000000"/>
                </a:solidFill>
                <a:effectLst/>
                <a:latin typeface="Consolas" panose="020B0609020204030204" pitchFamily="49" charset="0"/>
              </a:rPr>
              <a:t>3</a:t>
            </a:r>
            <a:r>
              <a:rPr lang="en-US" sz="1900" b="0" i="0" dirty="0">
                <a:solidFill>
                  <a:srgbClr val="0000CD"/>
                </a:solidFill>
                <a:effectLst/>
                <a:latin typeface="Consolas" panose="020B0609020204030204" pitchFamily="49" charset="0"/>
              </a:rPr>
              <a:t>&lt;</a:t>
            </a:r>
            <a:r>
              <a:rPr lang="en-US" sz="1900" b="0" i="0" dirty="0">
                <a:solidFill>
                  <a:srgbClr val="A52A2A"/>
                </a:solidFill>
                <a:effectLst/>
                <a:latin typeface="Consolas" panose="020B0609020204030204" pitchFamily="49" charset="0"/>
              </a:rPr>
              <a:t>/div</a:t>
            </a:r>
            <a:r>
              <a:rPr lang="en-US" sz="1900"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4</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p>
        </p:txBody>
      </p:sp>
    </p:spTree>
    <p:extLst>
      <p:ext uri="{BB962C8B-B14F-4D97-AF65-F5344CB8AC3E}">
        <p14:creationId xmlns:p14="http://schemas.microsoft.com/office/powerpoint/2010/main" val="3867050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4E8AB4-2916-7EF1-5A15-95F6F4C2056A}"/>
              </a:ext>
            </a:extLst>
          </p:cNvPr>
          <p:cNvSpPr>
            <a:spLocks noGrp="1"/>
          </p:cNvSpPr>
          <p:nvPr>
            <p:ph idx="1"/>
          </p:nvPr>
        </p:nvSpPr>
        <p:spPr>
          <a:xfrm>
            <a:off x="1534696" y="691116"/>
            <a:ext cx="9520158" cy="4775229"/>
          </a:xfrm>
        </p:spPr>
        <p:txBody>
          <a:bodyPr>
            <a:normAutofit/>
          </a:bodyPr>
          <a:lstStyle/>
          <a:p>
            <a:pPr marL="0" indent="0" algn="ctr">
              <a:buNone/>
            </a:pPr>
            <a:r>
              <a:rPr lang="en-US" sz="10000" dirty="0"/>
              <a:t>C</a:t>
            </a:r>
            <a:r>
              <a:rPr lang="en-US" sz="10000" dirty="0">
                <a:solidFill>
                  <a:srgbClr val="0070C0"/>
                </a:solidFill>
              </a:rPr>
              <a:t>S</a:t>
            </a:r>
            <a:r>
              <a:rPr lang="en-US" sz="10000" dirty="0"/>
              <a:t>S</a:t>
            </a:r>
          </a:p>
          <a:p>
            <a:pPr marL="0" indent="0" algn="ctr">
              <a:buNone/>
            </a:pPr>
            <a:r>
              <a:rPr lang="en-US" sz="10000" dirty="0">
                <a:solidFill>
                  <a:srgbClr val="C00000"/>
                </a:solidFill>
              </a:rPr>
              <a:t>POSITIONING</a:t>
            </a:r>
          </a:p>
        </p:txBody>
      </p:sp>
    </p:spTree>
    <p:extLst>
      <p:ext uri="{BB962C8B-B14F-4D97-AF65-F5344CB8AC3E}">
        <p14:creationId xmlns:p14="http://schemas.microsoft.com/office/powerpoint/2010/main" val="3235133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B6C4-7267-7BC0-815F-266773494C82}"/>
              </a:ext>
            </a:extLst>
          </p:cNvPr>
          <p:cNvSpPr>
            <a:spLocks noGrp="1"/>
          </p:cNvSpPr>
          <p:nvPr>
            <p:ph type="title"/>
          </p:nvPr>
        </p:nvSpPr>
        <p:spPr>
          <a:xfrm>
            <a:off x="1460268" y="1"/>
            <a:ext cx="9520158" cy="754911"/>
          </a:xfrm>
        </p:spPr>
        <p:txBody>
          <a:bodyPr/>
          <a:lstStyle/>
          <a:p>
            <a:r>
              <a:rPr lang="en-US" b="1" u="sng" dirty="0"/>
              <a:t>Positioning</a:t>
            </a:r>
            <a:r>
              <a:rPr lang="en-US" b="1" dirty="0"/>
              <a:t> </a:t>
            </a:r>
            <a:r>
              <a:rPr lang="en-US" sz="3400" b="1" u="sng" dirty="0"/>
              <a:t>Rules</a:t>
            </a:r>
            <a:r>
              <a:rPr lang="en-US" b="1" dirty="0"/>
              <a:t>:</a:t>
            </a:r>
          </a:p>
        </p:txBody>
      </p:sp>
      <p:sp>
        <p:nvSpPr>
          <p:cNvPr id="3" name="Content Placeholder 2">
            <a:extLst>
              <a:ext uri="{FF2B5EF4-FFF2-40B4-BE49-F238E27FC236}">
                <a16:creationId xmlns:a16="http://schemas.microsoft.com/office/drawing/2014/main" id="{868B8B1D-CE80-E643-913F-3F13AB8C2386}"/>
              </a:ext>
            </a:extLst>
          </p:cNvPr>
          <p:cNvSpPr>
            <a:spLocks noGrp="1"/>
          </p:cNvSpPr>
          <p:nvPr>
            <p:ph idx="1"/>
          </p:nvPr>
        </p:nvSpPr>
        <p:spPr>
          <a:xfrm>
            <a:off x="1460268" y="890908"/>
            <a:ext cx="10618319" cy="5076184"/>
          </a:xfrm>
        </p:spPr>
        <p:txBody>
          <a:bodyPr>
            <a:noAutofit/>
          </a:bodyPr>
          <a:lstStyle/>
          <a:p>
            <a:pPr marL="0" indent="0">
              <a:buNone/>
            </a:pPr>
            <a:r>
              <a:rPr lang="en-US" altLang="en-US" sz="2200" dirty="0"/>
              <a:t>Sometimes you want an element to appear at a particular distance from the edges.</a:t>
            </a:r>
          </a:p>
          <a:p>
            <a:pPr marL="0" indent="0">
              <a:buNone/>
            </a:pPr>
            <a:r>
              <a:rPr lang="en-US" altLang="en-US" sz="2200" dirty="0"/>
              <a:t>You can then specify the elements where on the page they should appear. </a:t>
            </a:r>
            <a:r>
              <a:rPr lang="en-US" altLang="en-US" sz="2200" dirty="0">
                <a:latin typeface="Courier New" panose="02070309020205020404" pitchFamily="49" charset="0"/>
                <a:cs typeface="Courier New" panose="02070309020205020404" pitchFamily="49" charset="0"/>
              </a:rPr>
              <a:t>(</a:t>
            </a:r>
            <a:r>
              <a:rPr lang="en-US" altLang="en-US" sz="2200" dirty="0">
                <a:solidFill>
                  <a:srgbClr val="C00000"/>
                </a:solidFill>
                <a:latin typeface="Consolas" panose="020B0609020204030204" pitchFamily="49" charset="0"/>
                <a:cs typeface="Courier New" panose="02070309020205020404" pitchFamily="49" charset="0"/>
              </a:rPr>
              <a:t>top, right, bottom,</a:t>
            </a:r>
            <a:r>
              <a:rPr lang="en-US" altLang="en-US" sz="2200" dirty="0">
                <a:cs typeface="Courier New" panose="02070309020205020404" pitchFamily="49" charset="0"/>
              </a:rPr>
              <a:t> or</a:t>
            </a:r>
            <a:r>
              <a:rPr lang="en-US" altLang="en-US" sz="2200" dirty="0">
                <a:solidFill>
                  <a:srgbClr val="C00000"/>
                </a:solidFill>
                <a:latin typeface="Consolas" panose="020B0609020204030204" pitchFamily="49" charset="0"/>
                <a:cs typeface="Courier New" panose="02070309020205020404" pitchFamily="49" charset="0"/>
              </a:rPr>
              <a:t> left</a:t>
            </a:r>
            <a:r>
              <a:rPr lang="en-US" altLang="en-US" sz="2200" dirty="0">
                <a:latin typeface="Courier New" panose="02070309020205020404" pitchFamily="49" charset="0"/>
                <a:cs typeface="Courier New" panose="02070309020205020404" pitchFamily="49" charset="0"/>
              </a:rPr>
              <a:t>)</a:t>
            </a:r>
            <a:endParaRPr lang="en-US" sz="2200" dirty="0"/>
          </a:p>
          <a:p>
            <a:pPr marL="0" indent="0">
              <a:buNone/>
            </a:pPr>
            <a:r>
              <a:rPr lang="en-US" sz="2200" dirty="0"/>
              <a:t>The position property specifies the type of positioning method used for an element </a:t>
            </a:r>
            <a:r>
              <a:rPr lang="en-US" sz="2400" b="1" i="1" dirty="0"/>
              <a:t>(static, relative, fixed, absolute, or sticky)</a:t>
            </a:r>
            <a:r>
              <a:rPr lang="en-US" sz="2200" b="1" i="1" dirty="0"/>
              <a:t>.</a:t>
            </a:r>
          </a:p>
          <a:p>
            <a:pPr marL="0" indent="0">
              <a:buNone/>
            </a:pPr>
            <a:r>
              <a:rPr lang="en-US" sz="2200" dirty="0"/>
              <a:t>Elements are then positioned using the top, bottom, left, and right properties. However, these properties will not work unless the position property is set first. They also work differently depending on the position value.</a:t>
            </a:r>
          </a:p>
          <a:p>
            <a:pPr>
              <a:buFont typeface="Wingdings" panose="05000000000000000000" pitchFamily="2" charset="2"/>
              <a:buChar char="Ø"/>
            </a:pPr>
            <a:r>
              <a:rPr lang="en-US" altLang="en-US" sz="2200" b="1" i="1" dirty="0"/>
              <a:t>Top, right, left or bottom will not work if the position is not set. </a:t>
            </a:r>
          </a:p>
          <a:p>
            <a:pPr>
              <a:buFont typeface="Wingdings" panose="05000000000000000000" pitchFamily="2" charset="2"/>
              <a:buChar char="Ø"/>
            </a:pPr>
            <a:r>
              <a:rPr lang="en-US" altLang="en-US" sz="2200" b="1" i="1" dirty="0"/>
              <a:t>These (top, right, bottom, left) will not have an effect on statically positioned elements</a:t>
            </a:r>
          </a:p>
          <a:p>
            <a:pPr marL="0" indent="0">
              <a:buNone/>
            </a:pPr>
            <a:endParaRPr lang="en-US" sz="2200" dirty="0"/>
          </a:p>
        </p:txBody>
      </p:sp>
    </p:spTree>
    <p:extLst>
      <p:ext uri="{BB962C8B-B14F-4D97-AF65-F5344CB8AC3E}">
        <p14:creationId xmlns:p14="http://schemas.microsoft.com/office/powerpoint/2010/main" val="1899934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94B86-3E2B-A02F-B1ED-D8CF9ED17248}"/>
              </a:ext>
            </a:extLst>
          </p:cNvPr>
          <p:cNvSpPr>
            <a:spLocks noGrp="1"/>
          </p:cNvSpPr>
          <p:nvPr>
            <p:ph type="title"/>
          </p:nvPr>
        </p:nvSpPr>
        <p:spPr>
          <a:xfrm>
            <a:off x="1534696" y="-88615"/>
            <a:ext cx="9520158" cy="928588"/>
          </a:xfrm>
        </p:spPr>
        <p:txBody>
          <a:bodyPr/>
          <a:lstStyle/>
          <a:p>
            <a:r>
              <a:rPr lang="en-US" dirty="0"/>
              <a:t>STATIC POSITIONING</a:t>
            </a:r>
          </a:p>
        </p:txBody>
      </p:sp>
      <p:sp>
        <p:nvSpPr>
          <p:cNvPr id="3" name="Content Placeholder 2">
            <a:extLst>
              <a:ext uri="{FF2B5EF4-FFF2-40B4-BE49-F238E27FC236}">
                <a16:creationId xmlns:a16="http://schemas.microsoft.com/office/drawing/2014/main" id="{888056A6-749A-50CE-3FB4-3FE43AA0783D}"/>
              </a:ext>
            </a:extLst>
          </p:cNvPr>
          <p:cNvSpPr>
            <a:spLocks noGrp="1"/>
          </p:cNvSpPr>
          <p:nvPr>
            <p:ph idx="1"/>
          </p:nvPr>
        </p:nvSpPr>
        <p:spPr>
          <a:xfrm>
            <a:off x="1534696" y="1339702"/>
            <a:ext cx="9520158" cy="4126643"/>
          </a:xfrm>
        </p:spPr>
        <p:txBody>
          <a:bodyPr>
            <a:normAutofit fontScale="85000" lnSpcReduction="20000"/>
          </a:bodyPr>
          <a:lstStyle/>
          <a:p>
            <a:pPr marL="0" indent="0">
              <a:buNone/>
            </a:pPr>
            <a:r>
              <a:rPr lang="en-US" dirty="0"/>
              <a:t>An element with position: static; is not positioned in any special way, it is positioned according to the normal flow of the page. </a:t>
            </a:r>
            <a:r>
              <a:rPr lang="en-US" b="1" dirty="0"/>
              <a:t>Static positioned elements are not affected by the top, bottom, left, and right properties.</a:t>
            </a:r>
          </a:p>
          <a:p>
            <a:pPr marL="0" indent="0">
              <a:buNone/>
            </a:pPr>
            <a:endParaRPr lang="en-US" dirty="0"/>
          </a:p>
          <a:p>
            <a:pPr marL="0" indent="0">
              <a:buNone/>
            </a:pPr>
            <a:r>
              <a:rPr lang="en-US" b="1" u="sng" dirty="0"/>
              <a:t>Note</a:t>
            </a:r>
            <a:r>
              <a:rPr lang="en-US" dirty="0"/>
              <a:t>: HTML elements are positioned static by default. This is the default position of an element.</a:t>
            </a:r>
          </a:p>
          <a:p>
            <a:pPr marL="0" indent="0">
              <a:buNone/>
            </a:pPr>
            <a:endParaRPr lang="en-US" dirty="0"/>
          </a:p>
          <a:p>
            <a:pPr marL="0" indent="0">
              <a:buNone/>
            </a:pPr>
            <a:r>
              <a:rPr lang="en-US" b="0" i="0" dirty="0" err="1">
                <a:solidFill>
                  <a:srgbClr val="A52A2A"/>
                </a:solidFill>
                <a:effectLst/>
                <a:latin typeface="Consolas" panose="020B0609020204030204" pitchFamily="49" charset="0"/>
              </a:rPr>
              <a:t>div.first</a:t>
            </a:r>
            <a:r>
              <a:rPr lang="en-US" b="0" i="0" dirty="0">
                <a:solidFill>
                  <a:srgbClr val="A52A2A"/>
                </a:solidFill>
                <a:effectLst/>
                <a:latin typeface="Consolas" panose="020B0609020204030204" pitchFamily="49" charset="0"/>
              </a:rPr>
              <a:t> </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position</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static</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border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2px solid red</a:t>
            </a:r>
            <a:r>
              <a:rPr lang="en-US" b="0" i="0" dirty="0">
                <a:solidFill>
                  <a:srgbClr val="000000"/>
                </a:solidFill>
                <a:effectLst/>
                <a:latin typeface="Consolas" panose="020B0609020204030204" pitchFamily="49" charset="0"/>
              </a:rPr>
              <a:t>;</a:t>
            </a:r>
          </a:p>
          <a:p>
            <a:pPr marL="0" indent="0">
              <a:buNone/>
            </a:pPr>
            <a:r>
              <a:rPr lang="en-US" dirty="0">
                <a:solidFill>
                  <a:srgbClr val="FF0000"/>
                </a:solidFill>
                <a:latin typeface="Consolas" panose="020B0609020204030204" pitchFamily="49" charset="0"/>
              </a:rPr>
              <a:t>  width: 100px;</a:t>
            </a:r>
            <a:r>
              <a:rPr lang="en-US" b="0" i="0" dirty="0">
                <a:solidFill>
                  <a:srgbClr val="FF0000"/>
                </a:solidFill>
                <a:effectLst/>
                <a:latin typeface="Consolas" panose="020B0609020204030204" pitchFamily="49" charset="0"/>
              </a:rPr>
              <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Tree>
    <p:extLst>
      <p:ext uri="{BB962C8B-B14F-4D97-AF65-F5344CB8AC3E}">
        <p14:creationId xmlns:p14="http://schemas.microsoft.com/office/powerpoint/2010/main" val="2495851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2361773-D4CC-A523-B391-DC0530ED8A75}"/>
              </a:ext>
            </a:extLst>
          </p:cNvPr>
          <p:cNvSpPr>
            <a:spLocks noGrp="1"/>
          </p:cNvSpPr>
          <p:nvPr>
            <p:ph type="title"/>
          </p:nvPr>
        </p:nvSpPr>
        <p:spPr>
          <a:xfrm>
            <a:off x="1534696" y="-88615"/>
            <a:ext cx="9520158" cy="928588"/>
          </a:xfrm>
        </p:spPr>
        <p:txBody>
          <a:bodyPr/>
          <a:lstStyle/>
          <a:p>
            <a:r>
              <a:rPr lang="en-US" dirty="0"/>
              <a:t>RELATIVE POSITIONING</a:t>
            </a:r>
          </a:p>
        </p:txBody>
      </p:sp>
      <p:sp>
        <p:nvSpPr>
          <p:cNvPr id="7" name="Content Placeholder 2">
            <a:extLst>
              <a:ext uri="{FF2B5EF4-FFF2-40B4-BE49-F238E27FC236}">
                <a16:creationId xmlns:a16="http://schemas.microsoft.com/office/drawing/2014/main" id="{7C5659FC-5DA7-D802-D06F-51B0A1C423ED}"/>
              </a:ext>
            </a:extLst>
          </p:cNvPr>
          <p:cNvSpPr>
            <a:spLocks noGrp="1"/>
          </p:cNvSpPr>
          <p:nvPr>
            <p:ph idx="1"/>
          </p:nvPr>
        </p:nvSpPr>
        <p:spPr>
          <a:xfrm>
            <a:off x="1534696" y="1339702"/>
            <a:ext cx="9520158" cy="4126643"/>
          </a:xfrm>
        </p:spPr>
        <p:txBody>
          <a:bodyPr>
            <a:normAutofit/>
          </a:bodyPr>
          <a:lstStyle/>
          <a:p>
            <a:pPr marL="0" indent="0">
              <a:buNone/>
            </a:pPr>
            <a:r>
              <a:rPr lang="en-US" altLang="en-US" sz="2000" dirty="0">
                <a:cs typeface="Courier New" panose="02070309020205020404" pitchFamily="49" charset="0"/>
              </a:rPr>
              <a:t>This means an element is positioned relative to its “normal” position, other contents will </a:t>
            </a:r>
            <a:r>
              <a:rPr lang="en-US" altLang="en-US" sz="2000" b="1" dirty="0">
                <a:cs typeface="Courier New" panose="02070309020205020404" pitchFamily="49" charset="0"/>
              </a:rPr>
              <a:t>not</a:t>
            </a:r>
            <a:r>
              <a:rPr lang="en-US" altLang="en-US" sz="2000" dirty="0">
                <a:cs typeface="Courier New" panose="02070309020205020404" pitchFamily="49" charset="0"/>
              </a:rPr>
              <a:t> take any gap left by it.</a:t>
            </a:r>
          </a:p>
          <a:p>
            <a:pPr marL="0" indent="0">
              <a:buNone/>
            </a:pPr>
            <a:r>
              <a:rPr lang="en-US" dirty="0"/>
              <a:t>Setting the top, right, bottom, and left properties of a relatively positioned element will cause it to be adjusted away from its normal position. Other content will not be adjusted to fit into any gap left by the element.</a:t>
            </a:r>
          </a:p>
          <a:p>
            <a:pPr marL="0" indent="0">
              <a:buNone/>
            </a:pPr>
            <a:endParaRPr lang="en-US" dirty="0"/>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b="0" i="0" dirty="0">
              <a:solidFill>
                <a:srgbClr val="A52A2A"/>
              </a:solidFill>
              <a:effectLst/>
              <a:latin typeface="Consolas" panose="020B0609020204030204" pitchFamily="49" charset="0"/>
            </a:endParaRPr>
          </a:p>
          <a:p>
            <a:pPr marL="0" indent="0">
              <a:buNone/>
            </a:pPr>
            <a:endParaRPr lang="en-US" dirty="0">
              <a:solidFill>
                <a:srgbClr val="A52A2A"/>
              </a:solidFill>
              <a:latin typeface="Consolas" panose="020B0609020204030204" pitchFamily="49" charset="0"/>
            </a:endParaRPr>
          </a:p>
        </p:txBody>
      </p:sp>
      <p:pic>
        <p:nvPicPr>
          <p:cNvPr id="8" name="Picture 7">
            <a:extLst>
              <a:ext uri="{FF2B5EF4-FFF2-40B4-BE49-F238E27FC236}">
                <a16:creationId xmlns:a16="http://schemas.microsoft.com/office/drawing/2014/main" id="{576FEFD4-095D-7345-1BC6-160FE25D88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696" y="3614940"/>
            <a:ext cx="10402876" cy="235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7692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00D2A5-7778-E83E-D11D-271818C916AB}"/>
              </a:ext>
            </a:extLst>
          </p:cNvPr>
          <p:cNvSpPr>
            <a:spLocks noGrp="1"/>
          </p:cNvSpPr>
          <p:nvPr>
            <p:ph idx="1"/>
          </p:nvPr>
        </p:nvSpPr>
        <p:spPr>
          <a:xfrm>
            <a:off x="1403498" y="361507"/>
            <a:ext cx="9930809" cy="5688419"/>
          </a:xfrm>
        </p:spPr>
        <p:txBody>
          <a:bodyPr>
            <a:normAutofit/>
          </a:bodyPr>
          <a:lstStyle/>
          <a:p>
            <a:pPr marL="0" indent="0">
              <a:buNone/>
            </a:pPr>
            <a:r>
              <a:rPr lang="en-US" sz="1800" b="1" i="0" dirty="0">
                <a:solidFill>
                  <a:srgbClr val="A52A2A"/>
                </a:solidFill>
                <a:effectLst/>
                <a:latin typeface="Consolas" panose="020B0609020204030204" pitchFamily="49" charset="0"/>
              </a:rPr>
              <a:t>&lt;div style="border: 2px solid red; width: 500px; margin: auto; height: 100px;"&gt;</a:t>
            </a:r>
            <a:r>
              <a:rPr lang="en-US" sz="1800" b="1" i="0" dirty="0">
                <a:solidFill>
                  <a:schemeClr val="accent6">
                    <a:lumMod val="75000"/>
                  </a:schemeClr>
                </a:solidFill>
                <a:effectLst/>
                <a:latin typeface="Consolas" panose="020B0609020204030204" pitchFamily="49" charset="0"/>
              </a:rPr>
              <a:t>div 1</a:t>
            </a:r>
            <a:r>
              <a:rPr lang="en-US" sz="1800" b="1" i="0" dirty="0">
                <a:solidFill>
                  <a:srgbClr val="A52A2A"/>
                </a:solidFill>
                <a:effectLst/>
                <a:latin typeface="Consolas" panose="020B0609020204030204" pitchFamily="49" charset="0"/>
              </a:rPr>
              <a:t>&lt;/div&gt;</a:t>
            </a:r>
          </a:p>
          <a:p>
            <a:pPr marL="0" indent="0">
              <a:buNone/>
            </a:pPr>
            <a:r>
              <a:rPr lang="en-US" sz="1800" b="1" i="0" dirty="0">
                <a:solidFill>
                  <a:srgbClr val="A52A2A"/>
                </a:solidFill>
                <a:effectLst/>
                <a:latin typeface="Consolas" panose="020B0609020204030204" pitchFamily="49" charset="0"/>
              </a:rPr>
              <a:t>&lt;div style="border: 2px solid green; width: 500px; margin: auto; height: 100px; position: relative; top: 30px;"&gt;</a:t>
            </a:r>
            <a:r>
              <a:rPr lang="en-US" sz="1800" b="1" i="0" dirty="0">
                <a:solidFill>
                  <a:schemeClr val="accent6">
                    <a:lumMod val="75000"/>
                  </a:schemeClr>
                </a:solidFill>
                <a:effectLst/>
                <a:latin typeface="Consolas" panose="020B0609020204030204" pitchFamily="49" charset="0"/>
              </a:rPr>
              <a:t>div 2</a:t>
            </a:r>
            <a:r>
              <a:rPr lang="en-US" sz="1800" b="1" i="0" dirty="0">
                <a:solidFill>
                  <a:srgbClr val="A52A2A"/>
                </a:solidFill>
                <a:effectLst/>
                <a:latin typeface="Consolas" panose="020B0609020204030204" pitchFamily="49" charset="0"/>
              </a:rPr>
              <a:t>&lt;/div&gt;</a:t>
            </a:r>
          </a:p>
          <a:p>
            <a:pPr marL="0" indent="0">
              <a:buNone/>
            </a:pPr>
            <a:r>
              <a:rPr lang="en-US" sz="1800" b="1" i="0" dirty="0">
                <a:solidFill>
                  <a:srgbClr val="A52A2A"/>
                </a:solidFill>
                <a:effectLst/>
                <a:latin typeface="Consolas" panose="020B0609020204030204" pitchFamily="49" charset="0"/>
              </a:rPr>
              <a:t>&lt;div style="border: 2px solid blue; width: 500px; margin: auto; height: 100px;"&gt;</a:t>
            </a:r>
            <a:r>
              <a:rPr lang="en-US" sz="1800" b="1" i="0" dirty="0">
                <a:solidFill>
                  <a:schemeClr val="accent6">
                    <a:lumMod val="75000"/>
                  </a:schemeClr>
                </a:solidFill>
                <a:effectLst/>
                <a:latin typeface="Consolas" panose="020B0609020204030204" pitchFamily="49" charset="0"/>
              </a:rPr>
              <a:t>div 3</a:t>
            </a:r>
            <a:r>
              <a:rPr lang="en-US" sz="1800" b="1" i="0" dirty="0">
                <a:solidFill>
                  <a:srgbClr val="A52A2A"/>
                </a:solidFill>
                <a:effectLst/>
                <a:latin typeface="Consolas" panose="020B0609020204030204" pitchFamily="49" charset="0"/>
              </a:rPr>
              <a:t>&lt;/div&gt; </a:t>
            </a:r>
          </a:p>
          <a:p>
            <a:pPr marL="0" indent="0">
              <a:buNone/>
            </a:pPr>
            <a:r>
              <a:rPr lang="en-US" altLang="en-US" sz="2400" b="1" dirty="0">
                <a:cs typeface="Courier New" panose="02070309020205020404" pitchFamily="49" charset="0"/>
              </a:rPr>
              <a:t>NOTE</a:t>
            </a:r>
            <a:r>
              <a:rPr lang="en-US" altLang="en-US" sz="2400" dirty="0">
                <a:cs typeface="Courier New" panose="02070309020205020404" pitchFamily="49" charset="0"/>
              </a:rPr>
              <a:t>:  if the element shifts as a result of the top, left, bottom, right  specifications, other contents will not take any gap left by it as long as  </a:t>
            </a:r>
            <a:r>
              <a:rPr lang="en-US" altLang="en-US" sz="2400" b="1" dirty="0">
                <a:solidFill>
                  <a:srgbClr val="0070C0"/>
                </a:solidFill>
                <a:latin typeface="Consolas" panose="020B0609020204030204" pitchFamily="49" charset="0"/>
                <a:cs typeface="Courier New" panose="02070309020205020404" pitchFamily="49" charset="0"/>
              </a:rPr>
              <a:t>position: relative;</a:t>
            </a:r>
          </a:p>
          <a:p>
            <a:pPr marL="0" indent="0">
              <a:buNone/>
            </a:pPr>
            <a:r>
              <a:rPr lang="en-US" altLang="en-US" sz="2400" b="1" dirty="0">
                <a:cs typeface="Courier New" panose="02070309020205020404" pitchFamily="49" charset="0"/>
              </a:rPr>
              <a:t>QUIZ: Try the other sides too, try bottom, left and right  too </a:t>
            </a:r>
            <a:r>
              <a:rPr lang="en-US" altLang="en-US" sz="2400" b="1" u="sng" dirty="0">
                <a:cs typeface="Courier New" panose="02070309020205020404" pitchFamily="49" charset="0"/>
              </a:rPr>
              <a:t>while position is set at relative</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894357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9663</TotalTime>
  <Words>1505</Words>
  <Application>Microsoft Office PowerPoint</Application>
  <PresentationFormat>Widescreen</PresentationFormat>
  <Paragraphs>158</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Calibri</vt:lpstr>
      <vt:lpstr>Calibri Light</vt:lpstr>
      <vt:lpstr>Consolas</vt:lpstr>
      <vt:lpstr>Courier New</vt:lpstr>
      <vt:lpstr>Segoe UI</vt:lpstr>
      <vt:lpstr>Times New Roman</vt:lpstr>
      <vt:lpstr>Wingdings</vt:lpstr>
      <vt:lpstr>Wingdings 2</vt:lpstr>
      <vt:lpstr>Office Theme</vt:lpstr>
      <vt:lpstr>CSS opacity &amp; transparency</vt:lpstr>
      <vt:lpstr>PowerPoint Presentation</vt:lpstr>
      <vt:lpstr>PowerPoint Presentation</vt:lpstr>
      <vt:lpstr>PowerPoint Presentation</vt:lpstr>
      <vt:lpstr>Flex parent &amp;&amp; Flex items</vt:lpstr>
      <vt:lpstr>PowerPoint Presentation</vt:lpstr>
      <vt:lpstr>Flex-Container</vt:lpstr>
      <vt:lpstr>Flex Container || Parent </vt:lpstr>
      <vt:lpstr>PowerPoint Presentation</vt:lpstr>
      <vt:lpstr>PowerPoint Presentation</vt:lpstr>
      <vt:lpstr>PowerPoint Presentation</vt:lpstr>
      <vt:lpstr>Class Exercise:</vt:lpstr>
      <vt:lpstr>FLEX RULES FOR flex-items</vt:lpstr>
      <vt:lpstr>PowerPoint Presentation</vt:lpstr>
      <vt:lpstr>PowerPoint Presentation</vt:lpstr>
      <vt:lpstr>PowerPoint Presentation</vt:lpstr>
      <vt:lpstr>Positioning Rules:</vt:lpstr>
      <vt:lpstr>STATIC POSITIONING</vt:lpstr>
      <vt:lpstr>RELATIVE POSITIONING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Windows User</cp:lastModifiedBy>
  <cp:revision>45</cp:revision>
  <dcterms:created xsi:type="dcterms:W3CDTF">2024-01-17T09:09:54Z</dcterms:created>
  <dcterms:modified xsi:type="dcterms:W3CDTF">2025-11-01T18:17:20Z</dcterms:modified>
</cp:coreProperties>
</file>