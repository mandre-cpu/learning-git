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1" r:id="rId5"/>
    <p:sldId id="259" r:id="rId6"/>
    <p:sldId id="264" r:id="rId7"/>
    <p:sldId id="265" r:id="rId8"/>
    <p:sldId id="266" r:id="rId9"/>
    <p:sldId id="267" r:id="rId10"/>
    <p:sldId id="272" r:id="rId11"/>
    <p:sldId id="268" r:id="rId12"/>
    <p:sldId id="270" r:id="rId13"/>
    <p:sldId id="271" r:id="rId14"/>
    <p:sldId id="273" r:id="rId15"/>
    <p:sldId id="283" r:id="rId16"/>
    <p:sldId id="274" r:id="rId17"/>
    <p:sldId id="275" r:id="rId18"/>
    <p:sldId id="278" r:id="rId19"/>
    <p:sldId id="276" r:id="rId20"/>
    <p:sldId id="282" r:id="rId21"/>
    <p:sldId id="277" r:id="rId22"/>
    <p:sldId id="269" r:id="rId23"/>
    <p:sldId id="279" r:id="rId24"/>
    <p:sldId id="280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B44F-6D80-E474-B80B-EB58ED87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028DE-A9D0-4419-9EF1-FBFF4362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9565-CEBF-4290-5A59-2303182A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EBB0-B263-D532-E290-7AF9517D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69D1-A0DE-4B8F-4BD1-36D082A5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93AB-2137-ECB5-1884-7ECF1E4B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F47E-6743-02F3-C728-3E5C03BEB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4DAD3-0C06-9DCA-4C18-A46CCEAC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1EBA-0B2F-A0F4-2253-7B95128A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AE253-E60A-F8BA-43A1-9705487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F211-79EC-A966-9DEB-EEFA628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EC2C-B2F7-04F8-91EC-AB52849D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744-3DD6-F832-A4FD-FA4C9EF1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F1D1-DF96-FE7A-ACF8-F2360075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FFEF-3DF2-AD12-124F-979AA262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63A1-1B0A-A2C3-97E1-F239316C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C097-63CF-0519-1AA6-BC90B3CC1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7921-4AC2-C9C1-9358-B9862E1F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1C00B-09BB-B412-7693-D08E22E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25EB-A3E9-1B38-C873-15FC9DA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9310-EA11-352F-39AE-26FCEED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945A-C7A5-1043-3B87-BF048B1D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2DE52-76FC-6EE4-4BCB-F7ACC32D9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759D4-D5C8-BDE9-6F53-23AE70D11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7AFA0-2DEB-095F-C07A-8B5B4116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BA38-9CD8-873D-42D5-D63511990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A2F4D-73DE-5C02-965B-1A9EB4E6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C0A7B-51D6-860B-FBE4-F5AD18D5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D94BB-94BA-BD77-E656-BD8AD49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C9F-13FD-617A-D851-650FBC31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0CDF0-1CB3-3367-94CA-A7B54E0F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6E34-927F-1D21-83CE-7519F591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10B2-80FF-43DA-F546-306F5AE1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485E2-2430-B585-7203-DAEAC4A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169D3-7E9D-764E-57D6-FF6B980F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83435-4A0D-A0DB-D5AA-673390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B7BB-F664-1DAF-37D8-33748208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D7B7-8C19-038A-BAB6-4C8777C98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4AAF4-9966-B61A-C087-DB96220F2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DB6C6-EB43-CBDF-1469-0B0FD4CD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C3A4-07B1-9CEF-D519-CDB1112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988E-2568-CF08-CFF1-E7CEB77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6913-3F40-D6E0-57D3-D5D65FC5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AD43B-FFBC-F6BD-C162-32952B263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8BDA0-1FD4-B8C4-1130-5180683E2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D698-2CAE-C25E-2355-A8F9546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976B6-C412-434B-6204-62E9F7F7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EDBC-19DD-04FE-1AAB-ADFC971A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3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336-CC3C-05AA-0F27-3D74994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A0CC8-82C3-4D3E-B61B-D5EF90E29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E89B-EEB6-15FD-9DA9-04DAE7C1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7B26-D246-BC73-B0E0-CA58D0A6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B480-2F03-20FF-5354-D7C1F2B7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DA255-F904-AC56-116B-68F5B30B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E6515-CB08-99F4-EF71-F115F5C6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6DD5-417B-699F-1D83-7CDC602D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6A18-7D8C-681E-3BDF-E8381DA8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D18A-F822-789C-29D7-0A42C621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4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A0BE7-71AD-FF6C-37F7-D240A7C3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96787-B0D8-A513-862F-BA24A5E7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0A5F-525E-FD0F-610D-D444A060B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2FA5E-585C-4C83-8AFA-F6ABB6703307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AF49-3EB9-D4A2-BF02-770FBA2A8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0D14-2171-25F5-EB5F-36E7E005F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4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F609-1F02-587F-3055-8499579A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037"/>
            <a:ext cx="9144000" cy="903767"/>
          </a:xfrm>
        </p:spPr>
        <p:txBody>
          <a:bodyPr>
            <a:normAutofit fontScale="90000"/>
          </a:bodyPr>
          <a:lstStyle/>
          <a:p>
            <a:r>
              <a:rPr lang="en-US" dirty="0"/>
              <a:t>TAGS AND ATTRIBUTES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A8DF00F-EC12-E880-99A7-70463FBEE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91" y="3530009"/>
            <a:ext cx="11940362" cy="2530549"/>
          </a:xfrm>
        </p:spPr>
        <p:txBody>
          <a:bodyPr>
            <a:normAutofit/>
          </a:bodyPr>
          <a:lstStyle/>
          <a:p>
            <a:r>
              <a:rPr lang="en-US" sz="6000" dirty="0"/>
              <a:t>&lt;p  id=“para1”&gt; Hello World &lt;/p&gt;</a:t>
            </a:r>
          </a:p>
          <a:p>
            <a:endParaRPr lang="en-US" sz="6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5866D9-D683-A12E-3D28-7C98400DFCF3}"/>
              </a:ext>
            </a:extLst>
          </p:cNvPr>
          <p:cNvSpPr txBox="1">
            <a:spLocks/>
          </p:cNvSpPr>
          <p:nvPr/>
        </p:nvSpPr>
        <p:spPr>
          <a:xfrm>
            <a:off x="1304259" y="1307804"/>
            <a:ext cx="10444717" cy="222220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1. HTML attributes provide additional information about HTML elements.</a:t>
            </a:r>
          </a:p>
          <a:p>
            <a:pPr algn="l"/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2. Attributes usually come in name/value pairs like: 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name="value“ 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sz="6000" dirty="0">
                <a:latin typeface="Verdana" panose="020B0604030504040204" pitchFamily="34" charset="0"/>
                <a:ea typeface="Verdana" panose="020B0604030504040204" pitchFamily="34" charset="0"/>
              </a:rPr>
              <a:t>Your tags can have attributes to tell the browser more about the tag.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172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1B42-49D2-D14F-943B-7619AB9B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rmAutofit fontScale="90000"/>
          </a:bodyPr>
          <a:lstStyle/>
          <a:p>
            <a:r>
              <a:rPr lang="en-US" dirty="0"/>
              <a:t>A &lt;P&gt; tag with attribute, value and content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BE6C5A-B726-E7A9-6F6F-F44003F4DC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74" y="1048097"/>
            <a:ext cx="10696354" cy="4927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895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1752-1814-BBF5-77FE-DD085BA3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Marquee and its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10A85-77D8-632E-CD94-D99211CF4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 marquee is a block-level element that allow text or images scroll through our browser. *Although </a:t>
            </a:r>
            <a:r>
              <a:rPr lang="en-US" b="1" dirty="0"/>
              <a:t>deprecated</a:t>
            </a:r>
            <a:r>
              <a:rPr lang="en-US" dirty="0"/>
              <a:t>, but most recent browsers still supports its usage.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&lt;marquee&gt; I am scrolling &lt;/marquee&gt;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&lt;marquee behavior="scroll" direction="left" </a:t>
            </a:r>
            <a:r>
              <a:rPr lang="en-US" sz="2800" dirty="0" err="1"/>
              <a:t>scrollamount</a:t>
            </a:r>
            <a:r>
              <a:rPr lang="en-US" sz="2800" dirty="0"/>
              <a:t>="5"&gt; This is a </a:t>
            </a:r>
            <a:r>
              <a:rPr lang="en-US" sz="2800" dirty="0" err="1"/>
              <a:t>maquee</a:t>
            </a:r>
            <a:r>
              <a:rPr lang="en-US" sz="2800" dirty="0"/>
              <a:t> &lt;/marquee&gt;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We also have other behavior values such: slide,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alternate, 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/>
              <a:t>QUIZ</a:t>
            </a:r>
            <a:r>
              <a:rPr lang="en-US" sz="2800" dirty="0"/>
              <a:t>: Why will align not have visible effect on an inline element like span? *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0B1752-1814-BBF5-77FE-DD085BA3D290}"/>
              </a:ext>
            </a:extLst>
          </p:cNvPr>
          <p:cNvSpPr txBox="1">
            <a:spLocks/>
          </p:cNvSpPr>
          <p:nvPr/>
        </p:nvSpPr>
        <p:spPr>
          <a:xfrm>
            <a:off x="838200" y="3274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Marquee and its attributes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9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4D1E-0F96-F57E-2A2E-36FCC3EB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6929"/>
          </a:xfrm>
        </p:spPr>
        <p:txBody>
          <a:bodyPr/>
          <a:lstStyle/>
          <a:p>
            <a:r>
              <a:rPr lang="en-US" dirty="0"/>
              <a:t>HTML5 style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174E3-E32B-E62D-47F6-D5270C269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153"/>
            <a:ext cx="10515600" cy="55501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Setting the style of an HTML element, can be done with the style attribute.</a:t>
            </a:r>
          </a:p>
          <a:p>
            <a:pPr marL="0" indent="0">
              <a:buNone/>
            </a:pPr>
            <a:r>
              <a:rPr lang="en-US" dirty="0"/>
              <a:t>The HTML style attribute has the following syntax:</a:t>
            </a:r>
          </a:p>
          <a:p>
            <a:pPr marL="0" indent="0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US" b="0" i="1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tagname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i="1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Other attributes are: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background-color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Color</a:t>
            </a:r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Font-size 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px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,%, 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pt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 rem, 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em</a:t>
            </a:r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text-align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Font-family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84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8F8F-0A7C-6E13-2DC4-12F5B9E1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ysClr val="windowText" lastClr="000000"/>
                </a:solidFill>
                <a:latin typeface="+mj-lt"/>
              </a:rPr>
              <a:t>Classwork</a:t>
            </a:r>
            <a:r>
              <a:rPr lang="en-US" sz="2800" b="1" dirty="0">
                <a:solidFill>
                  <a:sysClr val="windowText" lastClr="000000"/>
                </a:solidFill>
              </a:rPr>
              <a:t>: </a:t>
            </a:r>
            <a:r>
              <a:rPr lang="en-US" sz="2800" dirty="0">
                <a:solidFill>
                  <a:sysClr val="windowText" lastClr="000000"/>
                </a:solidFill>
                <a:latin typeface="+mj-lt"/>
              </a:rPr>
              <a:t>Design a web page for the opening of the letter below.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6CE8-9756-99E0-5DEC-B05F0C369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r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dirty="0" err="1"/>
              <a:t>SanerClimes</a:t>
            </a:r>
            <a:r>
              <a:rPr lang="en-US" altLang="en-US" sz="2800" dirty="0"/>
              <a:t> Systems Ltd,</a:t>
            </a:r>
          </a:p>
          <a:p>
            <a:pPr lvl="1" algn="r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dirty="0"/>
              <a:t>							</a:t>
            </a:r>
            <a:r>
              <a:rPr lang="en-US" altLang="en-US" sz="2800" dirty="0" err="1"/>
              <a:t>Osolo</a:t>
            </a:r>
            <a:r>
              <a:rPr lang="en-US" altLang="en-US" sz="2800" dirty="0"/>
              <a:t> way, </a:t>
            </a:r>
            <a:r>
              <a:rPr lang="en-US" altLang="en-US" sz="2800" dirty="0" err="1"/>
              <a:t>opp</a:t>
            </a:r>
            <a:r>
              <a:rPr lang="en-US" altLang="en-US" sz="2800" dirty="0"/>
              <a:t> Dominos</a:t>
            </a:r>
          </a:p>
          <a:p>
            <a:pPr lvl="1" algn="r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dirty="0" err="1"/>
              <a:t>Isolo</a:t>
            </a:r>
            <a:r>
              <a:rPr lang="en-US" altLang="en-US" sz="2800" dirty="0"/>
              <a:t>, Lagos State.</a:t>
            </a:r>
          </a:p>
          <a:p>
            <a:pPr lvl="1" algn="r" eaLnBrk="1" hangingPunct="1">
              <a:buFont typeface="Arial" panose="020B0604020202020204" pitchFamily="34" charset="0"/>
              <a:buNone/>
              <a:defRPr/>
            </a:pPr>
            <a:endParaRPr lang="en-US" altLang="en-US" sz="2800" dirty="0"/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dirty="0"/>
              <a:t>Dear Sir,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800" u="sng" dirty="0"/>
              <a:t>APPLICATION FOR THE ROLE OF  A PROGRAMMER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endParaRPr lang="en-US" sz="2800" u="sng" dirty="0"/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Write 5 block-level elements in an Ordered list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Write 5 Inline elements in an Unordered list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Use a marquee to display “Thank You for accepting me”</a:t>
            </a:r>
          </a:p>
        </p:txBody>
      </p:sp>
    </p:spTree>
    <p:extLst>
      <p:ext uri="{BB962C8B-B14F-4D97-AF65-F5344CB8AC3E}">
        <p14:creationId xmlns:p14="http://schemas.microsoft.com/office/powerpoint/2010/main" val="333993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D36F-852A-0BCC-3BD8-F5813EC26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</a:t>
            </a:r>
            <a:r>
              <a:rPr lang="en-US" b="1" dirty="0" smtClean="0"/>
              <a:t>IMAGE TAG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CB30F-EFE9-8E9B-ADF3-E50248F8F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344"/>
            <a:ext cx="10515600" cy="5329869"/>
          </a:xfrm>
        </p:spPr>
        <p:txBody>
          <a:bodyPr>
            <a:normAutofit fontScale="77500" lnSpcReduction="20000"/>
          </a:bodyPr>
          <a:lstStyle/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The HTML image tag is a Self </a:t>
            </a:r>
            <a:r>
              <a:rPr lang="en-US" dirty="0" smtClean="0"/>
              <a:t>closing AND uses the </a:t>
            </a:r>
            <a:r>
              <a:rPr lang="en-US" dirty="0" err="1" smtClean="0"/>
              <a:t>src</a:t>
            </a:r>
            <a:r>
              <a:rPr lang="en-US" dirty="0" smtClean="0"/>
              <a:t> attribute.</a:t>
            </a:r>
            <a:endParaRPr lang="en-US" dirty="0"/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Defined by the tag &lt;</a:t>
            </a:r>
            <a:r>
              <a:rPr lang="en-US" dirty="0" err="1"/>
              <a:t>img</a:t>
            </a:r>
            <a:r>
              <a:rPr lang="en-US" dirty="0"/>
              <a:t>&gt;, and the attribute </a:t>
            </a:r>
            <a:r>
              <a:rPr lang="en-US" dirty="0" err="1"/>
              <a:t>src</a:t>
            </a:r>
            <a:r>
              <a:rPr lang="en-US" dirty="0"/>
              <a:t> and alt, it does not have a closing tag. &lt;</a:t>
            </a:r>
            <a:r>
              <a:rPr lang="en-US" dirty="0" err="1"/>
              <a:t>img</a:t>
            </a:r>
            <a:r>
              <a:rPr lang="en-US" dirty="0"/>
              <a:t> /&gt;</a:t>
            </a:r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Attributes: width, height, alt (Hint width and height are in pixels or percentage, The </a:t>
            </a:r>
            <a:r>
              <a:rPr lang="en-US" dirty="0" err="1"/>
              <a:t>src</a:t>
            </a:r>
            <a:r>
              <a:rPr lang="en-US" dirty="0"/>
              <a:t> attribute contains a URL pointing to the image you want to embed in the page. </a:t>
            </a:r>
            <a:r>
              <a:rPr lang="en-US" dirty="0" smtClean="0"/>
              <a:t>)</a:t>
            </a:r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=“” /&gt;</a:t>
            </a:r>
          </a:p>
          <a:p>
            <a:pPr marL="0" indent="0" eaLnBrk="1" fontAlgn="auto" hangingPunct="1">
              <a:buNone/>
              <a:defRPr/>
            </a:pPr>
            <a:endParaRPr lang="en-US" dirty="0"/>
          </a:p>
          <a:p>
            <a:pPr marL="0" indent="0" eaLnBrk="1" fontAlgn="auto" hangingPunct="1">
              <a:buNone/>
              <a:defRPr/>
            </a:pPr>
            <a:r>
              <a:rPr lang="en-US" b="1" dirty="0" smtClean="0"/>
              <a:t>Syntax</a:t>
            </a:r>
            <a:r>
              <a:rPr lang="en-US" dirty="0"/>
              <a:t>:</a:t>
            </a:r>
            <a:endParaRPr lang="en-US" dirty="0" smtClean="0"/>
          </a:p>
          <a:p>
            <a:pPr marL="0" indent="0">
              <a:buNone/>
              <a:defRPr/>
            </a:pPr>
            <a:r>
              <a:rPr lang="en-US" sz="3800" dirty="0">
                <a:solidFill>
                  <a:schemeClr val="accent1">
                    <a:lumMod val="50000"/>
                  </a:schemeClr>
                </a:solidFill>
              </a:rPr>
              <a:t>&lt;</a:t>
            </a:r>
            <a:r>
              <a:rPr lang="en-US" sz="3800" dirty="0" err="1">
                <a:solidFill>
                  <a:schemeClr val="accent1">
                    <a:lumMod val="50000"/>
                  </a:schemeClr>
                </a:solidFill>
              </a:rPr>
              <a:t>img</a:t>
            </a:r>
            <a:r>
              <a:rPr lang="en-US" sz="3800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sz="3800" dirty="0" err="1">
                <a:solidFill>
                  <a:srgbClr val="C00000"/>
                </a:solidFill>
              </a:rPr>
              <a:t>src</a:t>
            </a:r>
            <a:r>
              <a:rPr lang="en-US" sz="3800" dirty="0">
                <a:solidFill>
                  <a:schemeClr val="accent1">
                    <a:lumMod val="50000"/>
                  </a:schemeClr>
                </a:solidFill>
              </a:rPr>
              <a:t>="</a:t>
            </a:r>
            <a:r>
              <a:rPr lang="en-US" sz="3800" i="1" dirty="0" err="1">
                <a:solidFill>
                  <a:schemeClr val="accent1">
                    <a:lumMod val="50000"/>
                  </a:schemeClr>
                </a:solidFill>
              </a:rPr>
              <a:t>url</a:t>
            </a:r>
            <a:r>
              <a:rPr lang="en-US" sz="3800" dirty="0">
                <a:solidFill>
                  <a:schemeClr val="accent1">
                    <a:lumMod val="50000"/>
                  </a:schemeClr>
                </a:solidFill>
              </a:rPr>
              <a:t>" </a:t>
            </a:r>
            <a:r>
              <a:rPr lang="en-US" sz="3800" dirty="0">
                <a:solidFill>
                  <a:srgbClr val="C00000"/>
                </a:solidFill>
              </a:rPr>
              <a:t>alt</a:t>
            </a:r>
            <a:r>
              <a:rPr lang="en-US" sz="3800" dirty="0">
                <a:solidFill>
                  <a:schemeClr val="accent1">
                    <a:lumMod val="50000"/>
                  </a:schemeClr>
                </a:solidFill>
              </a:rPr>
              <a:t>="</a:t>
            </a:r>
            <a:r>
              <a:rPr lang="en-US" sz="3800" i="1" dirty="0" err="1">
                <a:solidFill>
                  <a:schemeClr val="accent1">
                    <a:lumMod val="50000"/>
                  </a:schemeClr>
                </a:solidFill>
              </a:rPr>
              <a:t>alternatetext</a:t>
            </a:r>
            <a:r>
              <a:rPr lang="en-US" sz="3800" dirty="0" smtClean="0">
                <a:solidFill>
                  <a:schemeClr val="accent1">
                    <a:lumMod val="50000"/>
                  </a:schemeClr>
                </a:solidFill>
              </a:rPr>
              <a:t>"&gt;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=“images/mydogpic.jpg" width="100" height="216" alt=“dog photo" /&gt;</a:t>
            </a:r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If a browser cannot find an image, it will display the value of the alt attribute</a:t>
            </a:r>
          </a:p>
          <a:p>
            <a:pPr marL="342900" indent="-3429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dirty="0"/>
              <a:t>The alt attribute also helps when displaying websites where pictures are turned off (maybe to save bandwidth)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14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4DA7-5D8A-6561-2E03-EC5F7FAD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207E-1B10-0C85-C307-160674BA3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016"/>
            <a:ext cx="10515600" cy="4351338"/>
          </a:xfrm>
        </p:spPr>
        <p:txBody>
          <a:bodyPr>
            <a:normAutofit lnSpcReduction="10000"/>
          </a:bodyPr>
          <a:lstStyle/>
          <a:p>
            <a:pPr marL="342900" indent="-342900" eaLnBrk="1" hangingPunct="1">
              <a:buFontTx/>
              <a:buChar char="•"/>
            </a:pPr>
            <a:endParaRPr lang="en-US" altLang="en-US" dirty="0"/>
          </a:p>
          <a:p>
            <a:pPr marL="342900" indent="-342900" eaLnBrk="1" hangingPunct="1">
              <a:buFontTx/>
              <a:buChar char="•"/>
            </a:pPr>
            <a:r>
              <a:rPr lang="en-US" altLang="en-US" dirty="0"/>
              <a:t>Images in another folder: expects to find in the same folder or sub folder, then specify the sub-folder name.</a:t>
            </a:r>
          </a:p>
          <a:p>
            <a:pPr marL="342900" indent="-342900" eaLnBrk="1" hangingPunct="1">
              <a:buFontTx/>
              <a:buChar char="•"/>
            </a:pPr>
            <a:r>
              <a:rPr lang="en-US" altLang="en-US" dirty="0"/>
              <a:t>Images on another server: different from where your file is – specify absolute/full website address</a:t>
            </a:r>
            <a:r>
              <a:rPr lang="en-US" altLang="en-US" dirty="0" smtClean="0"/>
              <a:t>.</a:t>
            </a:r>
          </a:p>
          <a:p>
            <a:pPr marL="342900" indent="-342900" eaLnBrk="1" hangingPunct="1">
              <a:buFontTx/>
              <a:buChar char="•"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 smtClean="0"/>
              <a:t>CLASS EXERCISE</a:t>
            </a:r>
            <a:r>
              <a:rPr lang="en-US" altLang="en-US" dirty="0" smtClean="0"/>
              <a:t>:</a:t>
            </a:r>
          </a:p>
          <a:p>
            <a:pPr marL="0" indent="0" eaLnBrk="1" hangingPunct="1">
              <a:buNone/>
            </a:pPr>
            <a:r>
              <a:rPr lang="en-US" altLang="en-US" dirty="0" smtClean="0"/>
              <a:t>Update </a:t>
            </a:r>
            <a:r>
              <a:rPr lang="en-US" altLang="en-US" dirty="0"/>
              <a:t>your personal web page assignment to include ‘Gallery’ section, </a:t>
            </a:r>
            <a:r>
              <a:rPr lang="en-US" altLang="en-US" sz="3200" dirty="0"/>
              <a:t>use marquee to form the photo </a:t>
            </a:r>
            <a:r>
              <a:rPr lang="en-US" altLang="en-US" sz="3200" dirty="0" smtClean="0"/>
              <a:t>gallery of at least 4 images and set the scroll direction to left.</a:t>
            </a:r>
            <a:endParaRPr lang="en-US" alt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7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AF51-45EA-5E13-6171-F9E8161C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Specifying Image Location</a:t>
            </a:r>
            <a:endParaRPr lang="en-US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09553AB-37AB-DA44-F4FE-CD5E62F91E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13" y="1690689"/>
            <a:ext cx="10943571" cy="405089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0280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858-EE40-8B90-C337-992176D0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977"/>
            <a:ext cx="10515600" cy="46783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SPECIFYING IMAGE FILE PATH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EB3B4C-7269-40E0-3A19-6629114FA5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32" y="1066029"/>
            <a:ext cx="9400952" cy="54332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844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F5AE-1B75-EC7C-699D-B78FB7A2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Exercise: </a:t>
            </a:r>
            <a:r>
              <a:rPr lang="en-US" b="1" dirty="0"/>
              <a:t/>
            </a:r>
            <a:br>
              <a:rPr lang="en-US" b="1" dirty="0"/>
            </a:br>
            <a:r>
              <a:rPr lang="en-US" altLang="en-US" sz="3600" dirty="0"/>
              <a:t>Using the given folder structure, create a site using images from the folders</a:t>
            </a:r>
            <a:br>
              <a:rPr lang="en-US" altLang="en-US" sz="3600" dirty="0"/>
            </a:br>
            <a:endParaRPr lang="en-US" sz="3600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ED338DD1-CA7A-8D8B-7F79-F6732D7107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070" y="1956391"/>
            <a:ext cx="3950693" cy="4401880"/>
          </a:xfrm>
          <a:prstGeom prst="rect">
            <a:avLst/>
          </a:prstGeom>
          <a:solidFill>
            <a:srgbClr val="EDEF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4583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84AE-6874-E976-1E6C-B6AF8603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498"/>
          </a:xfrm>
        </p:spPr>
        <p:txBody>
          <a:bodyPr>
            <a:noAutofit/>
          </a:bodyPr>
          <a:lstStyle/>
          <a:p>
            <a:r>
              <a:rPr lang="en-US" sz="5000" b="1" dirty="0"/>
              <a:t>HTML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33813-41A2-4A6F-7B4C-DE728683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6126126" cy="48053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Sometimes in your web application, you need to create a table which holds data just as you have it in word processing documents: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 table is a structured set of data made up of rows and columns (</a:t>
            </a:r>
            <a:r>
              <a:rPr lang="en-US" altLang="en-US" b="1" dirty="0"/>
              <a:t>tabular data</a:t>
            </a:r>
            <a:r>
              <a:rPr lang="en-US" altLang="en-US" dirty="0"/>
              <a:t>).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 table allows you to quickly and easily look up values that indicate some kind of connection between different types of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It is a combination of nested tags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889BE9-4DAF-0A1D-D60E-E36085D15CFA}"/>
              </a:ext>
            </a:extLst>
          </p:cNvPr>
          <p:cNvSpPr txBox="1">
            <a:spLocks/>
          </p:cNvSpPr>
          <p:nvPr/>
        </p:nvSpPr>
        <p:spPr>
          <a:xfrm>
            <a:off x="4892749" y="1566531"/>
            <a:ext cx="6126126" cy="480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725AFB-B916-6E05-F52B-F16E81BAC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26" y="1488557"/>
            <a:ext cx="4667693" cy="380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09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3EBD-6A30-F17D-BF13-0DB04D40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b="1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2891A-0335-EB34-120F-4D68DDBBD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0847"/>
            <a:ext cx="9879419" cy="566715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3200" dirty="0"/>
              <a:t>An HTML table is defined with the &lt;table&gt; tag.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3200" dirty="0"/>
              <a:t>Each table row is defined with the &lt;tr&gt; tag.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3200" dirty="0"/>
              <a:t>A table header is defined with the &lt;</a:t>
            </a:r>
            <a:r>
              <a:rPr lang="en-US" sz="3200" dirty="0" err="1"/>
              <a:t>th</a:t>
            </a:r>
            <a:r>
              <a:rPr lang="en-US" sz="3200" dirty="0"/>
              <a:t>&gt; tag (instead of &lt;td&gt;). By default, table headings are bold and centered.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3200" dirty="0"/>
              <a:t>A table data/cell is defined with the &lt;td&gt; tag.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3200" dirty="0"/>
              <a:t>The &lt;td&gt; elements are the data containers of the table. Also, the numbers of </a:t>
            </a:r>
            <a:r>
              <a:rPr lang="en-US" sz="3200" b="1" i="1" dirty="0"/>
              <a:t>td’s </a:t>
            </a:r>
            <a:r>
              <a:rPr lang="en-US" sz="3200" dirty="0"/>
              <a:t>will determine the number of columns we will have</a:t>
            </a:r>
            <a:endParaRPr lang="en-US" sz="3200" b="1" dirty="0"/>
          </a:p>
          <a:p>
            <a:pPr marL="0" indent="0">
              <a:buNone/>
              <a:defRPr/>
            </a:pPr>
            <a:r>
              <a:rPr lang="en-US" sz="3200" b="1" dirty="0"/>
              <a:t>NOTE: </a:t>
            </a:r>
          </a:p>
          <a:p>
            <a:pPr marL="0" indent="0">
              <a:buNone/>
              <a:defRPr/>
            </a:pPr>
            <a:r>
              <a:rPr lang="en-US" sz="3200" b="1" dirty="0"/>
              <a:t>Contents can not be written in the &lt;tr&gt; or &lt;table&gt; tag directly!</a:t>
            </a:r>
          </a:p>
          <a:p>
            <a:pPr>
              <a:defRPr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6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C812-53F9-33F7-E9ED-D48DE236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057"/>
            <a:ext cx="10515600" cy="1084632"/>
          </a:xfrm>
        </p:spPr>
        <p:txBody>
          <a:bodyPr>
            <a:normAutofit fontScale="9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 HTML tables allow web developers to arrange data into rows and columns.</a:t>
            </a: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Table structure is well represented using the attribute ‘border” at the opening tag of the table.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/>
            </a:r>
            <a:b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2E65F-E084-F1D0-AD4E-54CFD6692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452"/>
            <a:ext cx="10515600" cy="45507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table border=“1”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Company 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&gt;Food Production&lt;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Maria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Bolu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Ikeja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Livestock Production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Ayo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Osa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Lekki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/table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420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617C-3536-6CDC-4C66-DF49FA50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will look like: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6BD342-98D9-4802-B1D2-7E03CE07C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240870"/>
              </p:ext>
            </p:extLst>
          </p:nvPr>
        </p:nvGraphicFramePr>
        <p:xfrm>
          <a:off x="838200" y="1825625"/>
          <a:ext cx="10187763" cy="31078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5921">
                  <a:extLst>
                    <a:ext uri="{9D8B030D-6E8A-4147-A177-3AD203B41FA5}">
                      <a16:colId xmlns:a16="http://schemas.microsoft.com/office/drawing/2014/main" val="2421025904"/>
                    </a:ext>
                  </a:extLst>
                </a:gridCol>
                <a:gridCol w="3395921">
                  <a:extLst>
                    <a:ext uri="{9D8B030D-6E8A-4147-A177-3AD203B41FA5}">
                      <a16:colId xmlns:a16="http://schemas.microsoft.com/office/drawing/2014/main" val="3328542964"/>
                    </a:ext>
                  </a:extLst>
                </a:gridCol>
                <a:gridCol w="3395921">
                  <a:extLst>
                    <a:ext uri="{9D8B030D-6E8A-4147-A177-3AD203B41FA5}">
                      <a16:colId xmlns:a16="http://schemas.microsoft.com/office/drawing/2014/main" val="2871044728"/>
                    </a:ext>
                  </a:extLst>
                </a:gridCol>
              </a:tblGrid>
              <a:tr h="1035961">
                <a:tc>
                  <a:txBody>
                    <a:bodyPr/>
                    <a:lstStyle/>
                    <a:p>
                      <a:r>
                        <a:rPr lang="en-US" sz="2500" b="1" dirty="0"/>
                        <a:t>Company </a:t>
                      </a:r>
                      <a:r>
                        <a:rPr lang="en-US" sz="2500" b="1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endParaRPr lang="en-US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dirty="0"/>
                        <a:t>Contact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1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393590"/>
                  </a:ext>
                </a:extLst>
              </a:tr>
              <a:tr h="1035961">
                <a:tc>
                  <a:txBody>
                    <a:bodyPr/>
                    <a:lstStyle/>
                    <a:p>
                      <a:r>
                        <a:rPr lang="en-US" dirty="0"/>
                        <a:t>Food Production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Maria </a:t>
                      </a:r>
                      <a:r>
                        <a:rPr lang="en-US" dirty="0" err="1"/>
                        <a:t>Bolu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Ikeja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703356"/>
                  </a:ext>
                </a:extLst>
              </a:tr>
              <a:tr h="1035961"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Livestock Production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Ayo </a:t>
                      </a:r>
                      <a:r>
                        <a:rPr lang="en-US" dirty="0" err="1"/>
                        <a:t>Osa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Lekki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872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763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3108A-84DC-8AFC-16C6-08D326C5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04" y="0"/>
            <a:ext cx="11109251" cy="1127051"/>
          </a:xfrm>
        </p:spPr>
        <p:txBody>
          <a:bodyPr/>
          <a:lstStyle/>
          <a:p>
            <a:r>
              <a:rPr lang="en-US" b="1" dirty="0"/>
              <a:t>HTML special entities, </a:t>
            </a:r>
            <a:r>
              <a:rPr lang="en-US" b="1" dirty="0" err="1"/>
              <a:t>synmbols</a:t>
            </a:r>
            <a:r>
              <a:rPr lang="en-US" b="1" dirty="0"/>
              <a:t> and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903D3-6077-8CC0-E5FA-FD2DCE6F1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" y="1265275"/>
            <a:ext cx="6440673" cy="533754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&lt;p&gt; This is a  &amp;</a:t>
            </a:r>
            <a:r>
              <a:rPr lang="en-US" sz="2600" dirty="0" err="1"/>
              <a:t>lt</a:t>
            </a:r>
            <a:r>
              <a:rPr lang="en-US" sz="2600" dirty="0"/>
              <a:t>; p &amp;</a:t>
            </a:r>
            <a:r>
              <a:rPr lang="en-US" sz="2600" dirty="0" err="1"/>
              <a:t>gt</a:t>
            </a:r>
            <a:r>
              <a:rPr lang="en-US" sz="2600" dirty="0"/>
              <a:t>; &lt;/p&gt;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none breaking space &amp;</a:t>
            </a:r>
            <a:r>
              <a:rPr lang="en-US" sz="2600" dirty="0" err="1"/>
              <a:t>nbsp</a:t>
            </a:r>
            <a:r>
              <a:rPr lang="en-US" sz="2600" dirty="0"/>
              <a:t>; code&lt;/p&gt;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naira sign &amp;#8358; &lt;/p&gt;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euro sign &amp;#8364; &lt;/p&gt;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cedi sign &amp;#8373; &lt;/p&gt;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Copyright sign &amp;copy; or &amp;#169; &lt;/p&gt;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registered trademark sign &amp;reg; &lt;/p&gt;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/>
              <a:t>  &lt;p&gt;The fraction sign &amp;frac12; or &amp;#189;&lt;/p&gt;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532F51-8CF2-03A0-335F-6B974E0C4AEF}"/>
              </a:ext>
            </a:extLst>
          </p:cNvPr>
          <p:cNvSpPr txBox="1">
            <a:spLocks/>
          </p:cNvSpPr>
          <p:nvPr/>
        </p:nvSpPr>
        <p:spPr>
          <a:xfrm>
            <a:off x="6780028" y="1371969"/>
            <a:ext cx="541197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&lt;p&gt;The arrow down sign &amp;#8595; &lt;/p&gt;</a:t>
            </a:r>
          </a:p>
          <a:p>
            <a:pPr marL="0" indent="0">
              <a:buNone/>
            </a:pPr>
            <a:r>
              <a:rPr lang="en-US" sz="2600" dirty="0"/>
              <a:t>  &lt;p&gt;The arrow front sign &amp;#8594; &lt;/p&gt;</a:t>
            </a:r>
          </a:p>
          <a:p>
            <a:pPr marL="0" indent="0">
              <a:buNone/>
            </a:pPr>
            <a:r>
              <a:rPr lang="en-US" sz="2600" dirty="0"/>
              <a:t>  &lt;p&gt;The back arrow sign &amp;#8592; &lt;/p&gt;</a:t>
            </a:r>
          </a:p>
          <a:p>
            <a:pPr marL="0" indent="0">
              <a:buNone/>
            </a:pPr>
            <a:r>
              <a:rPr lang="en-US" sz="2600" dirty="0"/>
              <a:t>  &lt;p&gt;The up arrow &amp;#8593; &lt;/p&gt;</a:t>
            </a:r>
          </a:p>
          <a:p>
            <a:pPr marL="0" indent="0">
              <a:buNone/>
            </a:pPr>
            <a:r>
              <a:rPr lang="en-US" sz="2600" dirty="0"/>
              <a:t>  &lt;p&gt;The left-over-right arrow &amp;#8646; &lt;/p&gt;</a:t>
            </a:r>
          </a:p>
        </p:txBody>
      </p:sp>
    </p:spTree>
    <p:extLst>
      <p:ext uri="{BB962C8B-B14F-4D97-AF65-F5344CB8AC3E}">
        <p14:creationId xmlns:p14="http://schemas.microsoft.com/office/powerpoint/2010/main" val="317052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D584-6728-F5DE-19DB-E6C9F095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 Exercise: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73A2E-B746-1722-542D-167707C15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table of 3 rows and 3 columns. </a:t>
            </a:r>
          </a:p>
          <a:p>
            <a:pPr marL="0" indent="0">
              <a:buNone/>
            </a:pPr>
            <a:r>
              <a:rPr lang="en-US" dirty="0"/>
              <a:t>Let the &lt;</a:t>
            </a:r>
            <a:r>
              <a:rPr lang="en-US" dirty="0" err="1"/>
              <a:t>th</a:t>
            </a:r>
            <a:r>
              <a:rPr lang="en-US" dirty="0"/>
              <a:t>&gt; be </a:t>
            </a:r>
          </a:p>
          <a:p>
            <a:r>
              <a:rPr lang="en-US" dirty="0"/>
              <a:t>S/N</a:t>
            </a:r>
          </a:p>
          <a:p>
            <a:r>
              <a:rPr lang="en-US" dirty="0"/>
              <a:t>Name</a:t>
            </a:r>
          </a:p>
          <a:p>
            <a:r>
              <a:rPr lang="en-US" dirty="0"/>
              <a:t>Photo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Insert any image in the photo column. </a:t>
            </a:r>
            <a:r>
              <a:rPr lang="en-US" b="1" dirty="0"/>
              <a:t>Hint, remember nested tags.</a:t>
            </a:r>
          </a:p>
        </p:txBody>
      </p:sp>
    </p:spTree>
    <p:extLst>
      <p:ext uri="{BB962C8B-B14F-4D97-AF65-F5344CB8AC3E}">
        <p14:creationId xmlns:p14="http://schemas.microsoft.com/office/powerpoint/2010/main" val="2425072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02AA-2994-350F-5D5F-2C6B8BE19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ATTRIBUTES OF HTML TABLE, HEADING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C6AA1-6473-F8DB-B518-D916FD6B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dirty="0">
                <a:latin typeface="+mj-lt"/>
              </a:rPr>
              <a:t>You will notice that the </a:t>
            </a:r>
            <a:r>
              <a:rPr lang="en-US" sz="2800" dirty="0"/>
              <a:t>width of the table and each &lt;td&gt; grows with the contents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dirty="0"/>
              <a:t>The table element is somewhat rigid because the size of one &lt;td&gt; affects the other &lt;td&gt;s below and above it.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dirty="0">
                <a:latin typeface="+mj-lt"/>
              </a:rPr>
              <a:t>You can make use of the width attribute to control the size of the width; 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dirty="0">
                <a:latin typeface="+mj-lt"/>
              </a:rPr>
              <a:t>Dimensions can be in </a:t>
            </a:r>
            <a:r>
              <a:rPr lang="en-US" sz="2800" dirty="0" err="1">
                <a:latin typeface="+mj-lt"/>
              </a:rPr>
              <a:t>px</a:t>
            </a:r>
            <a:r>
              <a:rPr lang="en-US" sz="2800" dirty="0">
                <a:latin typeface="+mj-lt"/>
              </a:rPr>
              <a:t> or %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dirty="0">
                <a:latin typeface="+mj-lt"/>
              </a:rPr>
              <a:t>Rather than using &lt;td&gt;&lt;/td&gt; for the heading, we can separate the look and feel of the headings by replacing &lt;td&gt; with &lt;</a:t>
            </a:r>
            <a:r>
              <a:rPr lang="en-US" sz="2800" dirty="0" err="1">
                <a:latin typeface="+mj-lt"/>
              </a:rPr>
              <a:t>th</a:t>
            </a:r>
            <a:r>
              <a:rPr lang="en-US" sz="2800" dirty="0">
                <a:latin typeface="+mj-lt"/>
              </a:rPr>
              <a:t>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829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609C-9E49-21F0-55AE-7EA11235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ATTRIBUTES OF HTML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CB18-E46E-8CA7-86CA-E7A3CB895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17112" cy="4351338"/>
          </a:xfrm>
        </p:spPr>
        <p:txBody>
          <a:bodyPr/>
          <a:lstStyle/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b="1" u="sng" dirty="0">
                <a:latin typeface="+mj-lt"/>
              </a:rPr>
              <a:t>Question</a:t>
            </a:r>
            <a:r>
              <a:rPr lang="en-US" sz="2800" b="1" dirty="0">
                <a:latin typeface="+mj-lt"/>
              </a:rPr>
              <a:t>:  </a:t>
            </a:r>
            <a:r>
              <a:rPr lang="en-US" sz="2800" dirty="0"/>
              <a:t>A table’s dimension has been specified in % as shown :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2800" dirty="0"/>
              <a:t>What will be the width of the ‘score’ column ?</a:t>
            </a:r>
            <a:endParaRPr lang="en-US" sz="2800" b="1" dirty="0">
              <a:latin typeface="+mj-lt"/>
            </a:endParaRPr>
          </a:p>
          <a:p>
            <a:pPr marL="0" indent="0">
              <a:buClr>
                <a:schemeClr val="bg2">
                  <a:lumMod val="25000"/>
                </a:schemeClr>
              </a:buClr>
              <a:buNone/>
              <a:defRPr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E799D9-203E-71A8-199A-344394BFB520}"/>
              </a:ext>
            </a:extLst>
          </p:cNvPr>
          <p:cNvSpPr txBox="1">
            <a:spLocks/>
          </p:cNvSpPr>
          <p:nvPr/>
        </p:nvSpPr>
        <p:spPr>
          <a:xfrm>
            <a:off x="4537443" y="1825625"/>
            <a:ext cx="73710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33772-91F8-56E8-D5F1-FF8B3B1DD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019" y="1825624"/>
            <a:ext cx="7185975" cy="39691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559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1D02-A7BF-8E4C-F655-D52EEEE3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ATTRIBUTES OF HTML 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CB2A-9044-36EB-EC19-98773D314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0356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j-lt"/>
              </a:rPr>
              <a:t>Other table attributes are: </a:t>
            </a:r>
            <a:r>
              <a:rPr lang="en-US" sz="3200" dirty="0" err="1">
                <a:latin typeface="+mj-lt"/>
              </a:rPr>
              <a:t>cellspacing</a:t>
            </a:r>
            <a:r>
              <a:rPr lang="en-US" sz="3200" dirty="0">
                <a:latin typeface="+mj-lt"/>
              </a:rPr>
              <a:t>, cellpadding, align (alignment per td), height,</a:t>
            </a:r>
            <a:r>
              <a:rPr lang="en-US" altLang="en-US" sz="3200" dirty="0">
                <a:latin typeface="+mj-lt"/>
              </a:rPr>
              <a:t> </a:t>
            </a:r>
            <a:r>
              <a:rPr lang="en-US" altLang="en-US" sz="3200" dirty="0" err="1">
                <a:latin typeface="+mj-lt"/>
              </a:rPr>
              <a:t>bgcolor</a:t>
            </a:r>
            <a:r>
              <a:rPr lang="en-US" altLang="en-US" sz="3200" dirty="0">
                <a:latin typeface="+mj-lt"/>
              </a:rPr>
              <a:t>(On any of the tags)</a:t>
            </a:r>
            <a:endParaRPr lang="en-US" sz="3200" dirty="0">
              <a:latin typeface="+mj-lt"/>
            </a:endParaRP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altLang="en-US" sz="3200" dirty="0" err="1">
                <a:latin typeface="+mj-lt"/>
              </a:rPr>
              <a:t>Cellspacing</a:t>
            </a:r>
            <a:r>
              <a:rPr lang="en-US" altLang="en-US" sz="3200" dirty="0">
                <a:latin typeface="+mj-lt"/>
              </a:rPr>
              <a:t> and Cellpadding: Applies only to the Table (not td)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altLang="en-US" sz="3200" dirty="0">
                <a:latin typeface="+mj-lt"/>
              </a:rPr>
              <a:t>Height: Applies only to the td. (Not the Table)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3200" dirty="0">
                <a:latin typeface="+mj-lt"/>
              </a:rPr>
              <a:t>The frame attribute which also have values like; above, below, border, box. On the Table tag.</a:t>
            </a:r>
          </a:p>
          <a:p>
            <a:pPr marL="342900" indent="-342900">
              <a:buClr>
                <a:schemeClr val="bg2">
                  <a:lumMod val="25000"/>
                </a:schemeClr>
              </a:buClr>
              <a:buFont typeface="Wingdings" pitchFamily="2" charset="2"/>
              <a:buChar char="§"/>
              <a:defRPr/>
            </a:pPr>
            <a:r>
              <a:rPr lang="en-US" sz="3200" b="1" dirty="0">
                <a:latin typeface="+mj-lt"/>
              </a:rPr>
              <a:t>EXERCISE:  </a:t>
            </a:r>
            <a:r>
              <a:rPr lang="en-US" sz="3200" dirty="0">
                <a:latin typeface="+mj-lt"/>
              </a:rPr>
              <a:t>Apply any of the above properties on the table you just created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379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8237-30FB-893A-7462-A563F3CFE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032"/>
            <a:ext cx="10515600" cy="1013103"/>
          </a:xfrm>
        </p:spPr>
        <p:txBody>
          <a:bodyPr/>
          <a:lstStyle/>
          <a:p>
            <a:r>
              <a:rPr lang="en-US" b="1" dirty="0"/>
              <a:t>Some Style Attributes of the HTML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C563-831C-0BF8-E084-A703A615B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527"/>
            <a:ext cx="10515600" cy="4351338"/>
          </a:xfrm>
        </p:spPr>
        <p:txBody>
          <a:bodyPr/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border-collapse: collapse;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border: 1px solid black; 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background-color: red;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color: white;</a:t>
            </a: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60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874F-06EA-80CA-53E2-9E025271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559"/>
          </a:xfrm>
        </p:spPr>
        <p:txBody>
          <a:bodyPr/>
          <a:lstStyle/>
          <a:p>
            <a:r>
              <a:rPr lang="en-US" dirty="0"/>
              <a:t>SPANNING TABLE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DA91-9172-9245-D47B-F0099B2E3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4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Understanding </a:t>
            </a:r>
            <a:r>
              <a:rPr lang="en-US" sz="2800" dirty="0" err="1">
                <a:solidFill>
                  <a:schemeClr val="tx1"/>
                </a:solidFill>
              </a:rPr>
              <a:t>colspan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Understanding </a:t>
            </a:r>
            <a:r>
              <a:rPr lang="en-US" dirty="0" err="1"/>
              <a:t>row</a:t>
            </a:r>
            <a:r>
              <a:rPr lang="en-US" sz="2800" dirty="0" err="1">
                <a:solidFill>
                  <a:schemeClr val="tx1"/>
                </a:solidFill>
              </a:rPr>
              <a:t>span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2B486-11C3-E8B8-360F-3D6398039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" r="1527" b="13953"/>
          <a:stretch>
            <a:fillRect/>
          </a:stretch>
        </p:blipFill>
        <p:spPr bwMode="auto">
          <a:xfrm>
            <a:off x="1316167" y="1892595"/>
            <a:ext cx="9768425" cy="209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796D9B-F301-FB74-C1F4-44792A8D7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" r="1656"/>
          <a:stretch>
            <a:fillRect/>
          </a:stretch>
        </p:blipFill>
        <p:spPr bwMode="auto">
          <a:xfrm>
            <a:off x="1316167" y="4399554"/>
            <a:ext cx="9768425" cy="1969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278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6E009-CBA4-B757-5317-80AC358D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6809"/>
          </a:xfrm>
        </p:spPr>
        <p:txBody>
          <a:bodyPr/>
          <a:lstStyle/>
          <a:p>
            <a:r>
              <a:rPr lang="en-US" b="1" dirty="0"/>
              <a:t>COLSPAN: one occupying many spaces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60CFB-5A63-4E6F-E9DA-D6DC1EA4F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219" y="1038816"/>
            <a:ext cx="10515600" cy="4351338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&lt;table border='1'&gt;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&lt;tr&gt;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  &lt;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&gt;Name&lt;/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  &lt;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 </a:t>
            </a:r>
            <a:r>
              <a:rPr lang="en-US" sz="2600" b="1" dirty="0" err="1">
                <a:latin typeface="+mj-lt"/>
              </a:rPr>
              <a:t>colspan</a:t>
            </a:r>
            <a:r>
              <a:rPr lang="en-US" sz="2600" b="1" dirty="0">
                <a:latin typeface="+mj-lt"/>
              </a:rPr>
              <a:t>="2"&gt;Telephone&lt;/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&lt;/tr&gt;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&lt;tr&gt;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  &lt;td&gt;</a:t>
            </a:r>
            <a:r>
              <a:rPr lang="en-US" sz="2600" b="1" dirty="0" err="1">
                <a:latin typeface="+mj-lt"/>
              </a:rPr>
              <a:t>Abidemi</a:t>
            </a:r>
            <a:r>
              <a:rPr lang="en-US" sz="2600" b="1" dirty="0">
                <a:latin typeface="+mj-lt"/>
              </a:rPr>
              <a:t> Oni&lt;/td&gt;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  &lt;td&gt;0803 4545 677&lt;/td&gt;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  &lt;td&gt;+155577855&lt;/td&gt;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      &lt;/tr&gt;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  &lt;/table&gt;</a:t>
            </a:r>
          </a:p>
          <a:p>
            <a:pPr marL="0" indent="0">
              <a:buNone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690626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6E62-ABA6-20E0-7D1C-81C9006B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68554"/>
          </a:xfrm>
        </p:spPr>
        <p:txBody>
          <a:bodyPr/>
          <a:lstStyle/>
          <a:p>
            <a:r>
              <a:rPr lang="en-US" b="1" dirty="0"/>
              <a:t>ROWSPAN: one occupying many spaces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AE8C0-9061-4BF2-6195-74156809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530" y="1012427"/>
            <a:ext cx="7072423" cy="4833145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&lt;table border='1' width='100%'&gt;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&lt;tr&gt;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  &lt;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&gt;Name:&lt;/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  &lt;td&gt;</a:t>
            </a:r>
            <a:r>
              <a:rPr lang="en-US" sz="2600" b="1" dirty="0" err="1">
                <a:latin typeface="+mj-lt"/>
              </a:rPr>
              <a:t>Abidemi</a:t>
            </a:r>
            <a:r>
              <a:rPr lang="en-US" sz="2600" b="1" dirty="0">
                <a:latin typeface="+mj-lt"/>
              </a:rPr>
              <a:t> Oni&lt;/td&gt;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&lt;/tr&gt;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&lt;tr&gt;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  &lt;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 </a:t>
            </a:r>
            <a:r>
              <a:rPr lang="en-US" sz="2600" b="1" dirty="0" err="1">
                <a:latin typeface="+mj-lt"/>
              </a:rPr>
              <a:t>rowspan</a:t>
            </a:r>
            <a:r>
              <a:rPr lang="en-US" sz="2600" b="1" dirty="0">
                <a:latin typeface="+mj-lt"/>
              </a:rPr>
              <a:t>="2"&gt;Telephone:&lt;/</a:t>
            </a:r>
            <a:r>
              <a:rPr lang="en-US" sz="2600" b="1" dirty="0" err="1">
                <a:latin typeface="+mj-lt"/>
              </a:rPr>
              <a:t>th</a:t>
            </a:r>
            <a:r>
              <a:rPr lang="en-US" sz="2600" b="1" dirty="0">
                <a:latin typeface="+mj-lt"/>
              </a:rPr>
              <a:t>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  &lt;td&gt;0803 455 6767&lt;/td&gt;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&lt;/tr&gt;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&lt;tr&gt;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  &lt;td&gt;+155577855&lt;/td&gt;</a:t>
            </a:r>
          </a:p>
          <a:p>
            <a:pPr marL="457200" lvl="1" indent="0">
              <a:buNone/>
              <a:defRPr/>
            </a:pPr>
            <a:r>
              <a:rPr lang="en-US" sz="2600" b="1" dirty="0">
                <a:latin typeface="+mj-lt"/>
              </a:rPr>
              <a:t>  &lt;/tr&gt;</a:t>
            </a:r>
          </a:p>
          <a:p>
            <a:pPr marL="0" indent="0" eaLnBrk="1" hangingPunct="1">
              <a:buNone/>
              <a:defRPr/>
            </a:pPr>
            <a:r>
              <a:rPr lang="en-US" sz="2600" b="1" dirty="0">
                <a:latin typeface="+mj-lt"/>
              </a:rPr>
              <a:t>&lt;/table&gt;</a:t>
            </a:r>
          </a:p>
          <a:p>
            <a:pPr marL="0" indent="0">
              <a:buNone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192906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704C-B997-C260-F0E1-3238E7B9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6D454E2D-28AF-E642-12E6-760BB01885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56" y="1392865"/>
            <a:ext cx="10747744" cy="5100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755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BAFE0-4381-1F0F-F3DD-E3426920F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40" y="965200"/>
            <a:ext cx="11863119" cy="5185545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F6B874F-06EA-80CA-53E2-9E025271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40" y="365125"/>
            <a:ext cx="11189360" cy="772559"/>
          </a:xfrm>
        </p:spPr>
        <p:txBody>
          <a:bodyPr/>
          <a:lstStyle/>
          <a:p>
            <a:r>
              <a:rPr lang="en-US" b="1" i="1" dirty="0" smtClean="0"/>
              <a:t>Assignment: </a:t>
            </a:r>
            <a:r>
              <a:rPr lang="en-US" sz="3200" b="1" dirty="0" smtClean="0"/>
              <a:t>Attempt the table design below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8938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9616</TotalTime>
  <Words>1129</Words>
  <Application>Microsoft Office PowerPoint</Application>
  <PresentationFormat>Widescreen</PresentationFormat>
  <Paragraphs>178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inter-regular</vt:lpstr>
      <vt:lpstr>Verdana</vt:lpstr>
      <vt:lpstr>Wingdings</vt:lpstr>
      <vt:lpstr>Office Theme</vt:lpstr>
      <vt:lpstr>TAGS AND ATTRIBUTES</vt:lpstr>
      <vt:lpstr>A &lt;P&gt; tag with attribute, value and content</vt:lpstr>
      <vt:lpstr>Marquee and its attributes</vt:lpstr>
      <vt:lpstr>HTML5 style attributes</vt:lpstr>
      <vt:lpstr>Classwork: Design a web page for the opening of the letter below.</vt:lpstr>
      <vt:lpstr>HTML IMAGE TAG</vt:lpstr>
      <vt:lpstr>HTML IMAGE</vt:lpstr>
      <vt:lpstr>Specifying Image Location</vt:lpstr>
      <vt:lpstr>SPECIFYING IMAGE FILE PATH</vt:lpstr>
      <vt:lpstr>Exercise:  Using the given folder structure, create a site using images from the folders </vt:lpstr>
      <vt:lpstr>HTML TABLE</vt:lpstr>
      <vt:lpstr>TABLE</vt:lpstr>
      <vt:lpstr>An HTML tables allow web developers to arrange data into rows and columns.  The Table structure is well represented using the attribute ‘border” at the opening tag of the table.   </vt:lpstr>
      <vt:lpstr>What it will look like:</vt:lpstr>
      <vt:lpstr>HTML special entities, synmbols and characters</vt:lpstr>
      <vt:lpstr>Class Exercise:</vt:lpstr>
      <vt:lpstr>ATTRIBUTES OF HTML TABLE, HEADING</vt:lpstr>
      <vt:lpstr>ATTRIBUTES OF HTML TABLE</vt:lpstr>
      <vt:lpstr>ATTRIBUTES OF HTML TABLE</vt:lpstr>
      <vt:lpstr>Some Style Attributes of the HTML Table</vt:lpstr>
      <vt:lpstr>SPANNING TABLE ROWS AND COLUMNS</vt:lpstr>
      <vt:lpstr>COLSPAN: one occupying many spaces</vt:lpstr>
      <vt:lpstr>ROWSPAN: one occupying many spaces</vt:lpstr>
      <vt:lpstr>Exercise</vt:lpstr>
      <vt:lpstr>Assignment: Attempt the table design below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33</cp:revision>
  <dcterms:created xsi:type="dcterms:W3CDTF">2024-01-17T09:09:54Z</dcterms:created>
  <dcterms:modified xsi:type="dcterms:W3CDTF">2025-09-13T14:58:42Z</dcterms:modified>
</cp:coreProperties>
</file>