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8" d="100"/>
          <a:sy n="68" d="100"/>
        </p:scale>
        <p:origin x="61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47729B-39FC-413D-9BD5-F63B862920E9}" type="datetimeFigureOut">
              <a:rPr lang="en-US" smtClean="0"/>
              <a:t>11/8/2025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286A8A-615A-4149-995C-B6EEF0CF2EFF}" type="slidenum">
              <a:rPr lang="en-US" smtClean="0"/>
              <a:t>‹#›</a:t>
            </a:fld>
            <a:endParaRPr lang="en-US"/>
          </a:p>
        </p:txBody>
      </p:sp>
    </p:spTree>
    <p:extLst>
      <p:ext uri="{BB962C8B-B14F-4D97-AF65-F5344CB8AC3E}">
        <p14:creationId xmlns:p14="http://schemas.microsoft.com/office/powerpoint/2010/main" val="155267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BB44F-6D80-E474-B80B-EB58ED87E7F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E6028DE-A9D0-4419-9EF1-FBFF4362E0D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6BB9565-CEBF-4290-5A59-2303182AE8F3}"/>
              </a:ext>
            </a:extLst>
          </p:cNvPr>
          <p:cNvSpPr>
            <a:spLocks noGrp="1"/>
          </p:cNvSpPr>
          <p:nvPr>
            <p:ph type="dt" sz="half" idx="10"/>
          </p:nvPr>
        </p:nvSpPr>
        <p:spPr/>
        <p:txBody>
          <a:bodyPr/>
          <a:lstStyle/>
          <a:p>
            <a:fld id="{8F02FA5E-585C-4C83-8AFA-F6ABB6703307}" type="datetimeFigureOut">
              <a:rPr lang="en-US" smtClean="0"/>
              <a:t>11/8/2025</a:t>
            </a:fld>
            <a:endParaRPr lang="en-US"/>
          </a:p>
        </p:txBody>
      </p:sp>
      <p:sp>
        <p:nvSpPr>
          <p:cNvPr id="5" name="Footer Placeholder 4">
            <a:extLst>
              <a:ext uri="{FF2B5EF4-FFF2-40B4-BE49-F238E27FC236}">
                <a16:creationId xmlns:a16="http://schemas.microsoft.com/office/drawing/2014/main" id="{D8E9EBB0-B263-D532-E290-7AF9517DA0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FD69D1-A0DE-4B8F-4BD1-36D082A53C3F}"/>
              </a:ext>
            </a:extLst>
          </p:cNvPr>
          <p:cNvSpPr>
            <a:spLocks noGrp="1"/>
          </p:cNvSpPr>
          <p:nvPr>
            <p:ph type="sldNum" sz="quarter" idx="12"/>
          </p:nvPr>
        </p:nvSpPr>
        <p:spPr/>
        <p:txBody>
          <a:bodyPr/>
          <a:lstStyle/>
          <a:p>
            <a:fld id="{DA0443E1-30A8-4532-992B-132183190527}" type="slidenum">
              <a:rPr lang="en-US" smtClean="0"/>
              <a:t>‹#›</a:t>
            </a:fld>
            <a:endParaRPr lang="en-US"/>
          </a:p>
        </p:txBody>
      </p:sp>
    </p:spTree>
    <p:extLst>
      <p:ext uri="{BB962C8B-B14F-4D97-AF65-F5344CB8AC3E}">
        <p14:creationId xmlns:p14="http://schemas.microsoft.com/office/powerpoint/2010/main" val="2749248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093AB-2137-ECB5-1884-7ECF1E4B3BC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F12F47E-6743-02F3-C728-3E5C03BEB0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2F4DAD3-0C06-9DCA-4C18-A46CCEAC753A}"/>
              </a:ext>
            </a:extLst>
          </p:cNvPr>
          <p:cNvSpPr>
            <a:spLocks noGrp="1"/>
          </p:cNvSpPr>
          <p:nvPr>
            <p:ph type="dt" sz="half" idx="10"/>
          </p:nvPr>
        </p:nvSpPr>
        <p:spPr/>
        <p:txBody>
          <a:bodyPr/>
          <a:lstStyle/>
          <a:p>
            <a:fld id="{8F02FA5E-585C-4C83-8AFA-F6ABB6703307}" type="datetimeFigureOut">
              <a:rPr lang="en-US" smtClean="0"/>
              <a:t>11/8/2025</a:t>
            </a:fld>
            <a:endParaRPr lang="en-US"/>
          </a:p>
        </p:txBody>
      </p:sp>
      <p:sp>
        <p:nvSpPr>
          <p:cNvPr id="5" name="Footer Placeholder 4">
            <a:extLst>
              <a:ext uri="{FF2B5EF4-FFF2-40B4-BE49-F238E27FC236}">
                <a16:creationId xmlns:a16="http://schemas.microsoft.com/office/drawing/2014/main" id="{3AB91EBA-0B2F-A0F4-2253-7B95128ADE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EAE253-E60A-F8BA-43A1-970548782CDB}"/>
              </a:ext>
            </a:extLst>
          </p:cNvPr>
          <p:cNvSpPr>
            <a:spLocks noGrp="1"/>
          </p:cNvSpPr>
          <p:nvPr>
            <p:ph type="sldNum" sz="quarter" idx="12"/>
          </p:nvPr>
        </p:nvSpPr>
        <p:spPr/>
        <p:txBody>
          <a:bodyPr/>
          <a:lstStyle/>
          <a:p>
            <a:fld id="{DA0443E1-30A8-4532-992B-132183190527}" type="slidenum">
              <a:rPr lang="en-US" smtClean="0"/>
              <a:t>‹#›</a:t>
            </a:fld>
            <a:endParaRPr lang="en-US"/>
          </a:p>
        </p:txBody>
      </p:sp>
    </p:spTree>
    <p:extLst>
      <p:ext uri="{BB962C8B-B14F-4D97-AF65-F5344CB8AC3E}">
        <p14:creationId xmlns:p14="http://schemas.microsoft.com/office/powerpoint/2010/main" val="683345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CF211-79EC-A966-9DEB-EEFA628C766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902EC2C-B2F7-04F8-91EC-AB52849DFB5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573D744-3DD6-F832-A4FD-FA4C9EF166D8}"/>
              </a:ext>
            </a:extLst>
          </p:cNvPr>
          <p:cNvSpPr>
            <a:spLocks noGrp="1"/>
          </p:cNvSpPr>
          <p:nvPr>
            <p:ph type="dt" sz="half" idx="10"/>
          </p:nvPr>
        </p:nvSpPr>
        <p:spPr/>
        <p:txBody>
          <a:bodyPr/>
          <a:lstStyle/>
          <a:p>
            <a:fld id="{8F02FA5E-585C-4C83-8AFA-F6ABB6703307}" type="datetimeFigureOut">
              <a:rPr lang="en-US" smtClean="0"/>
              <a:t>11/8/2025</a:t>
            </a:fld>
            <a:endParaRPr lang="en-US"/>
          </a:p>
        </p:txBody>
      </p:sp>
      <p:sp>
        <p:nvSpPr>
          <p:cNvPr id="5" name="Footer Placeholder 4">
            <a:extLst>
              <a:ext uri="{FF2B5EF4-FFF2-40B4-BE49-F238E27FC236}">
                <a16:creationId xmlns:a16="http://schemas.microsoft.com/office/drawing/2014/main" id="{30EDF1D1-DF96-FE7A-ACF8-F23600750B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DBFFEF-3DF2-AD12-124F-979AA26249E5}"/>
              </a:ext>
            </a:extLst>
          </p:cNvPr>
          <p:cNvSpPr>
            <a:spLocks noGrp="1"/>
          </p:cNvSpPr>
          <p:nvPr>
            <p:ph type="sldNum" sz="quarter" idx="12"/>
          </p:nvPr>
        </p:nvSpPr>
        <p:spPr/>
        <p:txBody>
          <a:bodyPr/>
          <a:lstStyle/>
          <a:p>
            <a:fld id="{DA0443E1-30A8-4532-992B-132183190527}" type="slidenum">
              <a:rPr lang="en-US" smtClean="0"/>
              <a:t>‹#›</a:t>
            </a:fld>
            <a:endParaRPr lang="en-US"/>
          </a:p>
        </p:txBody>
      </p:sp>
    </p:spTree>
    <p:extLst>
      <p:ext uri="{BB962C8B-B14F-4D97-AF65-F5344CB8AC3E}">
        <p14:creationId xmlns:p14="http://schemas.microsoft.com/office/powerpoint/2010/main" val="163044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463A1-1B0A-A2C3-97E1-F239316CD77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A65C097-63CF-0519-1AA6-BC90B3CC1D8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037921-4AC2-C9C1-9358-B9862E1F868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161C00B-09BB-B412-7693-D08E22E45C7C}"/>
              </a:ext>
            </a:extLst>
          </p:cNvPr>
          <p:cNvSpPr>
            <a:spLocks noGrp="1"/>
          </p:cNvSpPr>
          <p:nvPr>
            <p:ph type="dt" sz="half" idx="10"/>
          </p:nvPr>
        </p:nvSpPr>
        <p:spPr/>
        <p:txBody>
          <a:bodyPr/>
          <a:lstStyle/>
          <a:p>
            <a:fld id="{8F02FA5E-585C-4C83-8AFA-F6ABB6703307}" type="datetimeFigureOut">
              <a:rPr lang="en-US" smtClean="0"/>
              <a:t>11/8/2025</a:t>
            </a:fld>
            <a:endParaRPr lang="en-US"/>
          </a:p>
        </p:txBody>
      </p:sp>
      <p:sp>
        <p:nvSpPr>
          <p:cNvPr id="6" name="Footer Placeholder 5">
            <a:extLst>
              <a:ext uri="{FF2B5EF4-FFF2-40B4-BE49-F238E27FC236}">
                <a16:creationId xmlns:a16="http://schemas.microsoft.com/office/drawing/2014/main" id="{900D25EB-A3E9-1B38-C873-15FC9DA81D6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909310-EA11-352F-39AE-26FCEED034DF}"/>
              </a:ext>
            </a:extLst>
          </p:cNvPr>
          <p:cNvSpPr>
            <a:spLocks noGrp="1"/>
          </p:cNvSpPr>
          <p:nvPr>
            <p:ph type="sldNum" sz="quarter" idx="12"/>
          </p:nvPr>
        </p:nvSpPr>
        <p:spPr/>
        <p:txBody>
          <a:bodyPr/>
          <a:lstStyle/>
          <a:p>
            <a:fld id="{DA0443E1-30A8-4532-992B-132183190527}" type="slidenum">
              <a:rPr lang="en-US" smtClean="0"/>
              <a:t>‹#›</a:t>
            </a:fld>
            <a:endParaRPr lang="en-US"/>
          </a:p>
        </p:txBody>
      </p:sp>
    </p:spTree>
    <p:extLst>
      <p:ext uri="{BB962C8B-B14F-4D97-AF65-F5344CB8AC3E}">
        <p14:creationId xmlns:p14="http://schemas.microsoft.com/office/powerpoint/2010/main" val="4922631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E945A-C7A5-1043-3B87-BF048B1DE5B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F52DE52-76FC-6EE4-4BCB-F7ACC32D90F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A0759D4-D5C8-BDE9-6F53-23AE70D1107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8A7AFA0-2DEB-095F-C07A-8B5B4116DF0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EBA38-9CD8-873D-42D5-D63511990E9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00A2F4D-73DE-5C02-965B-1A9EB4E6EE31}"/>
              </a:ext>
            </a:extLst>
          </p:cNvPr>
          <p:cNvSpPr>
            <a:spLocks noGrp="1"/>
          </p:cNvSpPr>
          <p:nvPr>
            <p:ph type="dt" sz="half" idx="10"/>
          </p:nvPr>
        </p:nvSpPr>
        <p:spPr/>
        <p:txBody>
          <a:bodyPr/>
          <a:lstStyle/>
          <a:p>
            <a:fld id="{8F02FA5E-585C-4C83-8AFA-F6ABB6703307}" type="datetimeFigureOut">
              <a:rPr lang="en-US" smtClean="0"/>
              <a:t>11/8/2025</a:t>
            </a:fld>
            <a:endParaRPr lang="en-US"/>
          </a:p>
        </p:txBody>
      </p:sp>
      <p:sp>
        <p:nvSpPr>
          <p:cNvPr id="8" name="Footer Placeholder 7">
            <a:extLst>
              <a:ext uri="{FF2B5EF4-FFF2-40B4-BE49-F238E27FC236}">
                <a16:creationId xmlns:a16="http://schemas.microsoft.com/office/drawing/2014/main" id="{34AC0A7B-51D6-860B-FBE4-F5AD18D5856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A3D94BB-94BA-BD77-E656-BD8AD49E0689}"/>
              </a:ext>
            </a:extLst>
          </p:cNvPr>
          <p:cNvSpPr>
            <a:spLocks noGrp="1"/>
          </p:cNvSpPr>
          <p:nvPr>
            <p:ph type="sldNum" sz="quarter" idx="12"/>
          </p:nvPr>
        </p:nvSpPr>
        <p:spPr/>
        <p:txBody>
          <a:bodyPr/>
          <a:lstStyle/>
          <a:p>
            <a:fld id="{DA0443E1-30A8-4532-992B-132183190527}" type="slidenum">
              <a:rPr lang="en-US" smtClean="0"/>
              <a:t>‹#›</a:t>
            </a:fld>
            <a:endParaRPr lang="en-US"/>
          </a:p>
        </p:txBody>
      </p:sp>
    </p:spTree>
    <p:extLst>
      <p:ext uri="{BB962C8B-B14F-4D97-AF65-F5344CB8AC3E}">
        <p14:creationId xmlns:p14="http://schemas.microsoft.com/office/powerpoint/2010/main" val="28898705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98DC9F-13FD-617A-D851-650FBC31DDD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410CDF0-1CB3-3367-94CA-A7B54E0F11A9}"/>
              </a:ext>
            </a:extLst>
          </p:cNvPr>
          <p:cNvSpPr>
            <a:spLocks noGrp="1"/>
          </p:cNvSpPr>
          <p:nvPr>
            <p:ph type="dt" sz="half" idx="10"/>
          </p:nvPr>
        </p:nvSpPr>
        <p:spPr/>
        <p:txBody>
          <a:bodyPr/>
          <a:lstStyle/>
          <a:p>
            <a:fld id="{8F02FA5E-585C-4C83-8AFA-F6ABB6703307}" type="datetimeFigureOut">
              <a:rPr lang="en-US" smtClean="0"/>
              <a:t>11/8/2025</a:t>
            </a:fld>
            <a:endParaRPr lang="en-US"/>
          </a:p>
        </p:txBody>
      </p:sp>
      <p:sp>
        <p:nvSpPr>
          <p:cNvPr id="4" name="Footer Placeholder 3">
            <a:extLst>
              <a:ext uri="{FF2B5EF4-FFF2-40B4-BE49-F238E27FC236}">
                <a16:creationId xmlns:a16="http://schemas.microsoft.com/office/drawing/2014/main" id="{D83B6E34-927F-1D21-83CE-7519F591028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6BF10B2-80FF-43DA-F546-306F5AE138CF}"/>
              </a:ext>
            </a:extLst>
          </p:cNvPr>
          <p:cNvSpPr>
            <a:spLocks noGrp="1"/>
          </p:cNvSpPr>
          <p:nvPr>
            <p:ph type="sldNum" sz="quarter" idx="12"/>
          </p:nvPr>
        </p:nvSpPr>
        <p:spPr/>
        <p:txBody>
          <a:bodyPr/>
          <a:lstStyle/>
          <a:p>
            <a:fld id="{DA0443E1-30A8-4532-992B-132183190527}" type="slidenum">
              <a:rPr lang="en-US" smtClean="0"/>
              <a:t>‹#›</a:t>
            </a:fld>
            <a:endParaRPr lang="en-US"/>
          </a:p>
        </p:txBody>
      </p:sp>
    </p:spTree>
    <p:extLst>
      <p:ext uri="{BB962C8B-B14F-4D97-AF65-F5344CB8AC3E}">
        <p14:creationId xmlns:p14="http://schemas.microsoft.com/office/powerpoint/2010/main" val="29766389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29485E2-2430-B585-7203-DAEAC4A066B9}"/>
              </a:ext>
            </a:extLst>
          </p:cNvPr>
          <p:cNvSpPr>
            <a:spLocks noGrp="1"/>
          </p:cNvSpPr>
          <p:nvPr>
            <p:ph type="dt" sz="half" idx="10"/>
          </p:nvPr>
        </p:nvSpPr>
        <p:spPr/>
        <p:txBody>
          <a:bodyPr/>
          <a:lstStyle/>
          <a:p>
            <a:fld id="{8F02FA5E-585C-4C83-8AFA-F6ABB6703307}" type="datetimeFigureOut">
              <a:rPr lang="en-US" smtClean="0"/>
              <a:t>11/8/2025</a:t>
            </a:fld>
            <a:endParaRPr lang="en-US"/>
          </a:p>
        </p:txBody>
      </p:sp>
      <p:sp>
        <p:nvSpPr>
          <p:cNvPr id="3" name="Footer Placeholder 2">
            <a:extLst>
              <a:ext uri="{FF2B5EF4-FFF2-40B4-BE49-F238E27FC236}">
                <a16:creationId xmlns:a16="http://schemas.microsoft.com/office/drawing/2014/main" id="{136169D3-7E9D-764E-57D6-FF6B980F2DE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2F83435-4A0D-A0DB-D5AA-673390880327}"/>
              </a:ext>
            </a:extLst>
          </p:cNvPr>
          <p:cNvSpPr>
            <a:spLocks noGrp="1"/>
          </p:cNvSpPr>
          <p:nvPr>
            <p:ph type="sldNum" sz="quarter" idx="12"/>
          </p:nvPr>
        </p:nvSpPr>
        <p:spPr/>
        <p:txBody>
          <a:bodyPr/>
          <a:lstStyle/>
          <a:p>
            <a:fld id="{DA0443E1-30A8-4532-992B-132183190527}" type="slidenum">
              <a:rPr lang="en-US" smtClean="0"/>
              <a:t>‹#›</a:t>
            </a:fld>
            <a:endParaRPr lang="en-US"/>
          </a:p>
        </p:txBody>
      </p:sp>
    </p:spTree>
    <p:extLst>
      <p:ext uri="{BB962C8B-B14F-4D97-AF65-F5344CB8AC3E}">
        <p14:creationId xmlns:p14="http://schemas.microsoft.com/office/powerpoint/2010/main" val="41262430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DB7BB-F664-1DAF-37D8-3374820882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BFAD7B7-8C19-038A-BAB6-4C8777C98CF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624AAF4-9966-B61A-C087-DB96220F20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4DB6C6-EB43-CBDF-1469-0B0FD4CD01B1}"/>
              </a:ext>
            </a:extLst>
          </p:cNvPr>
          <p:cNvSpPr>
            <a:spLocks noGrp="1"/>
          </p:cNvSpPr>
          <p:nvPr>
            <p:ph type="dt" sz="half" idx="10"/>
          </p:nvPr>
        </p:nvSpPr>
        <p:spPr/>
        <p:txBody>
          <a:bodyPr/>
          <a:lstStyle/>
          <a:p>
            <a:fld id="{8F02FA5E-585C-4C83-8AFA-F6ABB6703307}" type="datetimeFigureOut">
              <a:rPr lang="en-US" smtClean="0"/>
              <a:t>11/8/2025</a:t>
            </a:fld>
            <a:endParaRPr lang="en-US"/>
          </a:p>
        </p:txBody>
      </p:sp>
      <p:sp>
        <p:nvSpPr>
          <p:cNvPr id="6" name="Footer Placeholder 5">
            <a:extLst>
              <a:ext uri="{FF2B5EF4-FFF2-40B4-BE49-F238E27FC236}">
                <a16:creationId xmlns:a16="http://schemas.microsoft.com/office/drawing/2014/main" id="{C965C3A4-07B1-9CEF-D519-CDB1112B587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A42988E-2568-CF08-CFF1-E7CEB77B9BA1}"/>
              </a:ext>
            </a:extLst>
          </p:cNvPr>
          <p:cNvSpPr>
            <a:spLocks noGrp="1"/>
          </p:cNvSpPr>
          <p:nvPr>
            <p:ph type="sldNum" sz="quarter" idx="12"/>
          </p:nvPr>
        </p:nvSpPr>
        <p:spPr/>
        <p:txBody>
          <a:bodyPr/>
          <a:lstStyle/>
          <a:p>
            <a:fld id="{DA0443E1-30A8-4532-992B-132183190527}" type="slidenum">
              <a:rPr lang="en-US" smtClean="0"/>
              <a:t>‹#›</a:t>
            </a:fld>
            <a:endParaRPr lang="en-US"/>
          </a:p>
        </p:txBody>
      </p:sp>
    </p:spTree>
    <p:extLst>
      <p:ext uri="{BB962C8B-B14F-4D97-AF65-F5344CB8AC3E}">
        <p14:creationId xmlns:p14="http://schemas.microsoft.com/office/powerpoint/2010/main" val="37676452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B6913-3F40-D6E0-57D3-D5D65FC526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F3AD43B-FFBC-F6BD-C162-32952B26320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6A8BDA0-1FD4-B8C4-1130-5180683E26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34D698-2CAE-C25E-2355-A8F954667681}"/>
              </a:ext>
            </a:extLst>
          </p:cNvPr>
          <p:cNvSpPr>
            <a:spLocks noGrp="1"/>
          </p:cNvSpPr>
          <p:nvPr>
            <p:ph type="dt" sz="half" idx="10"/>
          </p:nvPr>
        </p:nvSpPr>
        <p:spPr/>
        <p:txBody>
          <a:bodyPr/>
          <a:lstStyle/>
          <a:p>
            <a:fld id="{8F02FA5E-585C-4C83-8AFA-F6ABB6703307}" type="datetimeFigureOut">
              <a:rPr lang="en-US" smtClean="0"/>
              <a:t>11/8/2025</a:t>
            </a:fld>
            <a:endParaRPr lang="en-US"/>
          </a:p>
        </p:txBody>
      </p:sp>
      <p:sp>
        <p:nvSpPr>
          <p:cNvPr id="6" name="Footer Placeholder 5">
            <a:extLst>
              <a:ext uri="{FF2B5EF4-FFF2-40B4-BE49-F238E27FC236}">
                <a16:creationId xmlns:a16="http://schemas.microsoft.com/office/drawing/2014/main" id="{18D976B6-C412-434B-6204-62E9F7F7435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B7EDBC-19DD-04FE-1AAB-ADFC971A4787}"/>
              </a:ext>
            </a:extLst>
          </p:cNvPr>
          <p:cNvSpPr>
            <a:spLocks noGrp="1"/>
          </p:cNvSpPr>
          <p:nvPr>
            <p:ph type="sldNum" sz="quarter" idx="12"/>
          </p:nvPr>
        </p:nvSpPr>
        <p:spPr/>
        <p:txBody>
          <a:bodyPr/>
          <a:lstStyle/>
          <a:p>
            <a:fld id="{DA0443E1-30A8-4532-992B-132183190527}" type="slidenum">
              <a:rPr lang="en-US" smtClean="0"/>
              <a:t>‹#›</a:t>
            </a:fld>
            <a:endParaRPr lang="en-US"/>
          </a:p>
        </p:txBody>
      </p:sp>
    </p:spTree>
    <p:extLst>
      <p:ext uri="{BB962C8B-B14F-4D97-AF65-F5344CB8AC3E}">
        <p14:creationId xmlns:p14="http://schemas.microsoft.com/office/powerpoint/2010/main" val="12251365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5B336-CC3C-05AA-0F27-3D749949FF9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B6A0CC8-82C3-4D3E-B61B-D5EF90E2920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CFE89B-EEB6-15FD-9DA9-04DAE7C1AE6F}"/>
              </a:ext>
            </a:extLst>
          </p:cNvPr>
          <p:cNvSpPr>
            <a:spLocks noGrp="1"/>
          </p:cNvSpPr>
          <p:nvPr>
            <p:ph type="dt" sz="half" idx="10"/>
          </p:nvPr>
        </p:nvSpPr>
        <p:spPr/>
        <p:txBody>
          <a:bodyPr/>
          <a:lstStyle/>
          <a:p>
            <a:fld id="{8F02FA5E-585C-4C83-8AFA-F6ABB6703307}" type="datetimeFigureOut">
              <a:rPr lang="en-US" smtClean="0"/>
              <a:t>11/8/2025</a:t>
            </a:fld>
            <a:endParaRPr lang="en-US"/>
          </a:p>
        </p:txBody>
      </p:sp>
      <p:sp>
        <p:nvSpPr>
          <p:cNvPr id="5" name="Footer Placeholder 4">
            <a:extLst>
              <a:ext uri="{FF2B5EF4-FFF2-40B4-BE49-F238E27FC236}">
                <a16:creationId xmlns:a16="http://schemas.microsoft.com/office/drawing/2014/main" id="{A2C77B26-D246-BC73-B0E0-CA58D0A687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35B480-2F03-20FF-5354-D7C1F2B7E300}"/>
              </a:ext>
            </a:extLst>
          </p:cNvPr>
          <p:cNvSpPr>
            <a:spLocks noGrp="1"/>
          </p:cNvSpPr>
          <p:nvPr>
            <p:ph type="sldNum" sz="quarter" idx="12"/>
          </p:nvPr>
        </p:nvSpPr>
        <p:spPr/>
        <p:txBody>
          <a:bodyPr/>
          <a:lstStyle/>
          <a:p>
            <a:fld id="{DA0443E1-30A8-4532-992B-132183190527}" type="slidenum">
              <a:rPr lang="en-US" smtClean="0"/>
              <a:t>‹#›</a:t>
            </a:fld>
            <a:endParaRPr lang="en-US"/>
          </a:p>
        </p:txBody>
      </p:sp>
    </p:spTree>
    <p:extLst>
      <p:ext uri="{BB962C8B-B14F-4D97-AF65-F5344CB8AC3E}">
        <p14:creationId xmlns:p14="http://schemas.microsoft.com/office/powerpoint/2010/main" val="2843126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9BDA255-F904-AC56-116B-68F5B30B988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38E6515-CB08-99F4-EF71-F115F5C673B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B56DD5-417B-699F-1D83-7CDC602D4609}"/>
              </a:ext>
            </a:extLst>
          </p:cNvPr>
          <p:cNvSpPr>
            <a:spLocks noGrp="1"/>
          </p:cNvSpPr>
          <p:nvPr>
            <p:ph type="dt" sz="half" idx="10"/>
          </p:nvPr>
        </p:nvSpPr>
        <p:spPr/>
        <p:txBody>
          <a:bodyPr/>
          <a:lstStyle/>
          <a:p>
            <a:fld id="{8F02FA5E-585C-4C83-8AFA-F6ABB6703307}" type="datetimeFigureOut">
              <a:rPr lang="en-US" smtClean="0"/>
              <a:t>11/8/2025</a:t>
            </a:fld>
            <a:endParaRPr lang="en-US"/>
          </a:p>
        </p:txBody>
      </p:sp>
      <p:sp>
        <p:nvSpPr>
          <p:cNvPr id="5" name="Footer Placeholder 4">
            <a:extLst>
              <a:ext uri="{FF2B5EF4-FFF2-40B4-BE49-F238E27FC236}">
                <a16:creationId xmlns:a16="http://schemas.microsoft.com/office/drawing/2014/main" id="{DD216A18-7D8C-681E-3BDF-E8381DA8D4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8FD18A-F822-789C-29D7-0A42C6217515}"/>
              </a:ext>
            </a:extLst>
          </p:cNvPr>
          <p:cNvSpPr>
            <a:spLocks noGrp="1"/>
          </p:cNvSpPr>
          <p:nvPr>
            <p:ph type="sldNum" sz="quarter" idx="12"/>
          </p:nvPr>
        </p:nvSpPr>
        <p:spPr/>
        <p:txBody>
          <a:bodyPr/>
          <a:lstStyle/>
          <a:p>
            <a:fld id="{DA0443E1-30A8-4532-992B-132183190527}" type="slidenum">
              <a:rPr lang="en-US" smtClean="0"/>
              <a:t>‹#›</a:t>
            </a:fld>
            <a:endParaRPr lang="en-US"/>
          </a:p>
        </p:txBody>
      </p:sp>
    </p:spTree>
    <p:extLst>
      <p:ext uri="{BB962C8B-B14F-4D97-AF65-F5344CB8AC3E}">
        <p14:creationId xmlns:p14="http://schemas.microsoft.com/office/powerpoint/2010/main" val="15087449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3EA0BE7-71AD-FF6C-37F7-D240A7C32D0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0B96787-B0D8-A513-862F-BA24A5E7929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8D00A5F-525E-FD0F-610D-D444A060B3E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02FA5E-585C-4C83-8AFA-F6ABB6703307}" type="datetimeFigureOut">
              <a:rPr lang="en-US" smtClean="0"/>
              <a:t>11/8/2025</a:t>
            </a:fld>
            <a:endParaRPr lang="en-US"/>
          </a:p>
        </p:txBody>
      </p:sp>
      <p:sp>
        <p:nvSpPr>
          <p:cNvPr id="5" name="Footer Placeholder 4">
            <a:extLst>
              <a:ext uri="{FF2B5EF4-FFF2-40B4-BE49-F238E27FC236}">
                <a16:creationId xmlns:a16="http://schemas.microsoft.com/office/drawing/2014/main" id="{B319AF49-3EB9-D4A2-BF02-770FBA2A806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0970D14-2171-25F5-EB5F-36E7E005FD9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0443E1-30A8-4532-992B-132183190527}" type="slidenum">
              <a:rPr lang="en-US" smtClean="0"/>
              <a:t>‹#›</a:t>
            </a:fld>
            <a:endParaRPr lang="en-US"/>
          </a:p>
        </p:txBody>
      </p:sp>
    </p:spTree>
    <p:extLst>
      <p:ext uri="{BB962C8B-B14F-4D97-AF65-F5344CB8AC3E}">
        <p14:creationId xmlns:p14="http://schemas.microsoft.com/office/powerpoint/2010/main" val="40784401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F4E8AB4-2916-7EF1-5A15-95F6F4C2056A}"/>
              </a:ext>
            </a:extLst>
          </p:cNvPr>
          <p:cNvSpPr>
            <a:spLocks noGrp="1"/>
          </p:cNvSpPr>
          <p:nvPr>
            <p:ph idx="1"/>
          </p:nvPr>
        </p:nvSpPr>
        <p:spPr>
          <a:xfrm>
            <a:off x="1534696" y="691116"/>
            <a:ext cx="9520158" cy="4775229"/>
          </a:xfrm>
        </p:spPr>
        <p:txBody>
          <a:bodyPr>
            <a:normAutofit/>
          </a:bodyPr>
          <a:lstStyle/>
          <a:p>
            <a:pPr marL="0" indent="0" algn="ctr">
              <a:buNone/>
            </a:pPr>
            <a:r>
              <a:rPr lang="en-US" sz="10000" dirty="0"/>
              <a:t>C</a:t>
            </a:r>
            <a:r>
              <a:rPr lang="en-US" sz="10000" dirty="0">
                <a:solidFill>
                  <a:srgbClr val="0070C0"/>
                </a:solidFill>
              </a:rPr>
              <a:t>S</a:t>
            </a:r>
            <a:r>
              <a:rPr lang="en-US" sz="10000" dirty="0"/>
              <a:t>S</a:t>
            </a:r>
          </a:p>
          <a:p>
            <a:pPr marL="0" indent="0" algn="ctr">
              <a:buNone/>
            </a:pPr>
            <a:r>
              <a:rPr lang="en-US" sz="10000" dirty="0">
                <a:solidFill>
                  <a:srgbClr val="C00000"/>
                </a:solidFill>
              </a:rPr>
              <a:t>POSITIONING</a:t>
            </a:r>
          </a:p>
        </p:txBody>
      </p:sp>
    </p:spTree>
    <p:extLst>
      <p:ext uri="{BB962C8B-B14F-4D97-AF65-F5344CB8AC3E}">
        <p14:creationId xmlns:p14="http://schemas.microsoft.com/office/powerpoint/2010/main" val="28365348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3B6C4-7267-7BC0-815F-266773494C82}"/>
              </a:ext>
            </a:extLst>
          </p:cNvPr>
          <p:cNvSpPr>
            <a:spLocks noGrp="1"/>
          </p:cNvSpPr>
          <p:nvPr>
            <p:ph type="title"/>
          </p:nvPr>
        </p:nvSpPr>
        <p:spPr>
          <a:xfrm>
            <a:off x="1460268" y="1"/>
            <a:ext cx="9520158" cy="754911"/>
          </a:xfrm>
        </p:spPr>
        <p:txBody>
          <a:bodyPr/>
          <a:lstStyle/>
          <a:p>
            <a:r>
              <a:rPr lang="en-US" b="1" u="sng" dirty="0"/>
              <a:t>Positioning</a:t>
            </a:r>
            <a:r>
              <a:rPr lang="en-US" b="1" dirty="0"/>
              <a:t> </a:t>
            </a:r>
            <a:r>
              <a:rPr lang="en-US" sz="3400" b="1" u="sng" dirty="0"/>
              <a:t>Rules</a:t>
            </a:r>
            <a:r>
              <a:rPr lang="en-US" b="1" dirty="0"/>
              <a:t>:</a:t>
            </a:r>
          </a:p>
        </p:txBody>
      </p:sp>
      <p:sp>
        <p:nvSpPr>
          <p:cNvPr id="3" name="Content Placeholder 2">
            <a:extLst>
              <a:ext uri="{FF2B5EF4-FFF2-40B4-BE49-F238E27FC236}">
                <a16:creationId xmlns:a16="http://schemas.microsoft.com/office/drawing/2014/main" id="{868B8B1D-CE80-E643-913F-3F13AB8C2386}"/>
              </a:ext>
            </a:extLst>
          </p:cNvPr>
          <p:cNvSpPr>
            <a:spLocks noGrp="1"/>
          </p:cNvSpPr>
          <p:nvPr>
            <p:ph idx="1"/>
          </p:nvPr>
        </p:nvSpPr>
        <p:spPr>
          <a:xfrm>
            <a:off x="1460268" y="890908"/>
            <a:ext cx="10618319" cy="5076184"/>
          </a:xfrm>
        </p:spPr>
        <p:txBody>
          <a:bodyPr>
            <a:noAutofit/>
          </a:bodyPr>
          <a:lstStyle/>
          <a:p>
            <a:pPr marL="0" indent="0">
              <a:buNone/>
            </a:pPr>
            <a:r>
              <a:rPr lang="en-US" altLang="en-US" sz="2200" dirty="0"/>
              <a:t>Sometimes you want an element to appear at a particular distance from the edges.</a:t>
            </a:r>
          </a:p>
          <a:p>
            <a:pPr marL="0" indent="0">
              <a:buNone/>
            </a:pPr>
            <a:r>
              <a:rPr lang="en-US" altLang="en-US" sz="2200" dirty="0"/>
              <a:t>You can then specify the elements where on the page they should appear. </a:t>
            </a:r>
            <a:r>
              <a:rPr lang="en-US" altLang="en-US" sz="2200" dirty="0">
                <a:latin typeface="Courier New" panose="02070309020205020404" pitchFamily="49" charset="0"/>
                <a:cs typeface="Courier New" panose="02070309020205020404" pitchFamily="49" charset="0"/>
              </a:rPr>
              <a:t>(</a:t>
            </a:r>
            <a:r>
              <a:rPr lang="en-US" altLang="en-US" sz="2200" dirty="0">
                <a:solidFill>
                  <a:srgbClr val="C00000"/>
                </a:solidFill>
                <a:latin typeface="Consolas" panose="020B0609020204030204" pitchFamily="49" charset="0"/>
                <a:cs typeface="Courier New" panose="02070309020205020404" pitchFamily="49" charset="0"/>
              </a:rPr>
              <a:t>top, right, bottom,</a:t>
            </a:r>
            <a:r>
              <a:rPr lang="en-US" altLang="en-US" sz="2200" dirty="0">
                <a:cs typeface="Courier New" panose="02070309020205020404" pitchFamily="49" charset="0"/>
              </a:rPr>
              <a:t> or</a:t>
            </a:r>
            <a:r>
              <a:rPr lang="en-US" altLang="en-US" sz="2200" dirty="0">
                <a:solidFill>
                  <a:srgbClr val="C00000"/>
                </a:solidFill>
                <a:latin typeface="Consolas" panose="020B0609020204030204" pitchFamily="49" charset="0"/>
                <a:cs typeface="Courier New" panose="02070309020205020404" pitchFamily="49" charset="0"/>
              </a:rPr>
              <a:t> left</a:t>
            </a:r>
            <a:r>
              <a:rPr lang="en-US" altLang="en-US" sz="2200" dirty="0">
                <a:latin typeface="Courier New" panose="02070309020205020404" pitchFamily="49" charset="0"/>
                <a:cs typeface="Courier New" panose="02070309020205020404" pitchFamily="49" charset="0"/>
              </a:rPr>
              <a:t>)</a:t>
            </a:r>
            <a:endParaRPr lang="en-US" sz="2200" dirty="0"/>
          </a:p>
          <a:p>
            <a:pPr marL="0" indent="0">
              <a:buNone/>
            </a:pPr>
            <a:r>
              <a:rPr lang="en-US" sz="2200" dirty="0"/>
              <a:t>The position property specifies the type of positioning method used for an element </a:t>
            </a:r>
            <a:r>
              <a:rPr lang="en-US" sz="2400" b="1" i="1" dirty="0"/>
              <a:t>(static, relative, fixed, absolute, or sticky)</a:t>
            </a:r>
            <a:r>
              <a:rPr lang="en-US" sz="2200" b="1" i="1" dirty="0"/>
              <a:t>.</a:t>
            </a:r>
          </a:p>
          <a:p>
            <a:pPr marL="0" indent="0">
              <a:buNone/>
            </a:pPr>
            <a:r>
              <a:rPr lang="en-US" sz="2200" dirty="0"/>
              <a:t>Elements are then positioned using the top, bottom, left, and right properties. However, these properties will not work unless the position property is set first. They also work differently depending on the position value.</a:t>
            </a:r>
          </a:p>
          <a:p>
            <a:pPr>
              <a:buFont typeface="Wingdings" panose="05000000000000000000" pitchFamily="2" charset="2"/>
              <a:buChar char="Ø"/>
            </a:pPr>
            <a:r>
              <a:rPr lang="en-US" altLang="en-US" sz="2200" b="1" i="1" dirty="0"/>
              <a:t>Top, right, left or bottom will not work if the position is not set. </a:t>
            </a:r>
          </a:p>
          <a:p>
            <a:pPr>
              <a:buFont typeface="Wingdings" panose="05000000000000000000" pitchFamily="2" charset="2"/>
              <a:buChar char="Ø"/>
            </a:pPr>
            <a:r>
              <a:rPr lang="en-US" altLang="en-US" sz="2200" b="1" i="1" dirty="0"/>
              <a:t>These (top, right, bottom, left) will not have an effect on statically positioned elements</a:t>
            </a:r>
          </a:p>
          <a:p>
            <a:pPr marL="0" indent="0">
              <a:buNone/>
            </a:pPr>
            <a:endParaRPr lang="en-US" sz="2200" dirty="0"/>
          </a:p>
        </p:txBody>
      </p:sp>
    </p:spTree>
    <p:extLst>
      <p:ext uri="{BB962C8B-B14F-4D97-AF65-F5344CB8AC3E}">
        <p14:creationId xmlns:p14="http://schemas.microsoft.com/office/powerpoint/2010/main" val="3608162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94B86-3E2B-A02F-B1ED-D8CF9ED17248}"/>
              </a:ext>
            </a:extLst>
          </p:cNvPr>
          <p:cNvSpPr>
            <a:spLocks noGrp="1"/>
          </p:cNvSpPr>
          <p:nvPr>
            <p:ph type="title"/>
          </p:nvPr>
        </p:nvSpPr>
        <p:spPr>
          <a:xfrm>
            <a:off x="1534696" y="-88615"/>
            <a:ext cx="9520158" cy="928588"/>
          </a:xfrm>
        </p:spPr>
        <p:txBody>
          <a:bodyPr/>
          <a:lstStyle/>
          <a:p>
            <a:r>
              <a:rPr lang="en-US" dirty="0"/>
              <a:t>STATIC POSITIONING</a:t>
            </a:r>
          </a:p>
        </p:txBody>
      </p:sp>
      <p:sp>
        <p:nvSpPr>
          <p:cNvPr id="3" name="Content Placeholder 2">
            <a:extLst>
              <a:ext uri="{FF2B5EF4-FFF2-40B4-BE49-F238E27FC236}">
                <a16:creationId xmlns:a16="http://schemas.microsoft.com/office/drawing/2014/main" id="{888056A6-749A-50CE-3FB4-3FE43AA0783D}"/>
              </a:ext>
            </a:extLst>
          </p:cNvPr>
          <p:cNvSpPr>
            <a:spLocks noGrp="1"/>
          </p:cNvSpPr>
          <p:nvPr>
            <p:ph idx="1"/>
          </p:nvPr>
        </p:nvSpPr>
        <p:spPr>
          <a:xfrm>
            <a:off x="1534696" y="1339702"/>
            <a:ext cx="9520158" cy="4126643"/>
          </a:xfrm>
        </p:spPr>
        <p:txBody>
          <a:bodyPr>
            <a:normAutofit fontScale="85000" lnSpcReduction="20000"/>
          </a:bodyPr>
          <a:lstStyle/>
          <a:p>
            <a:pPr marL="0" indent="0">
              <a:buNone/>
            </a:pPr>
            <a:r>
              <a:rPr lang="en-US" dirty="0"/>
              <a:t>An element with position: static; is not positioned in any special way, it is positioned according to the normal flow of the page. </a:t>
            </a:r>
            <a:r>
              <a:rPr lang="en-US" b="1" dirty="0"/>
              <a:t>Static positioned elements are not affected by the top, bottom, left, and right properties.</a:t>
            </a:r>
          </a:p>
          <a:p>
            <a:pPr marL="0" indent="0">
              <a:buNone/>
            </a:pPr>
            <a:endParaRPr lang="en-US" dirty="0"/>
          </a:p>
          <a:p>
            <a:pPr marL="0" indent="0">
              <a:buNone/>
            </a:pPr>
            <a:r>
              <a:rPr lang="en-US" b="1" u="sng" dirty="0"/>
              <a:t>Note</a:t>
            </a:r>
            <a:r>
              <a:rPr lang="en-US" dirty="0"/>
              <a:t>: HTML elements are positioned static by default. This is the default position of an element.</a:t>
            </a:r>
          </a:p>
          <a:p>
            <a:pPr marL="0" indent="0">
              <a:buNone/>
            </a:pPr>
            <a:endParaRPr lang="en-US" dirty="0"/>
          </a:p>
          <a:p>
            <a:pPr marL="0" indent="0">
              <a:buNone/>
            </a:pPr>
            <a:r>
              <a:rPr lang="en-US" b="0" i="0" dirty="0" err="1">
                <a:solidFill>
                  <a:srgbClr val="A52A2A"/>
                </a:solidFill>
                <a:effectLst/>
                <a:latin typeface="Consolas" panose="020B0609020204030204" pitchFamily="49" charset="0"/>
              </a:rPr>
              <a:t>div.first</a:t>
            </a:r>
            <a:r>
              <a:rPr lang="en-US" b="0" i="0" dirty="0">
                <a:solidFill>
                  <a:srgbClr val="A52A2A"/>
                </a:solidFill>
                <a:effectLst/>
                <a:latin typeface="Consolas" panose="020B0609020204030204" pitchFamily="49" charset="0"/>
              </a:rPr>
              <a:t> </a:t>
            </a:r>
            <a:r>
              <a:rPr lang="en-US" b="0" i="0" dirty="0">
                <a:solidFill>
                  <a:srgbClr val="000000"/>
                </a:solidFill>
                <a:effectLst/>
                <a:latin typeface="Consolas" panose="020B0609020204030204" pitchFamily="49" charset="0"/>
              </a:rPr>
              <a:t>{</a:t>
            </a:r>
            <a:r>
              <a:rPr lang="en-US" b="0" i="0" dirty="0">
                <a:solidFill>
                  <a:srgbClr val="FF0000"/>
                </a:solidFill>
                <a:effectLst/>
                <a:latin typeface="Consolas" panose="020B0609020204030204" pitchFamily="49" charset="0"/>
              </a:rPr>
              <a:t/>
            </a:r>
            <a:br>
              <a:rPr lang="en-US" b="0" i="0" dirty="0">
                <a:solidFill>
                  <a:srgbClr val="FF0000"/>
                </a:solidFill>
                <a:effectLst/>
                <a:latin typeface="Consolas" panose="020B0609020204030204" pitchFamily="49" charset="0"/>
              </a:rPr>
            </a:br>
            <a:r>
              <a:rPr lang="en-US" b="0" i="0" dirty="0">
                <a:solidFill>
                  <a:srgbClr val="FF0000"/>
                </a:solidFill>
                <a:effectLst/>
                <a:latin typeface="Consolas" panose="020B0609020204030204" pitchFamily="49" charset="0"/>
              </a:rPr>
              <a:t>  position</a:t>
            </a:r>
            <a:r>
              <a:rPr lang="en-US" b="0" i="0" dirty="0">
                <a:solidFill>
                  <a:srgbClr val="000000"/>
                </a:solidFill>
                <a:effectLst/>
                <a:latin typeface="Consolas" panose="020B0609020204030204" pitchFamily="49" charset="0"/>
              </a:rPr>
              <a:t>:</a:t>
            </a:r>
            <a:r>
              <a:rPr lang="en-US" b="0" i="0" dirty="0">
                <a:solidFill>
                  <a:srgbClr val="0000CD"/>
                </a:solidFill>
                <a:effectLst/>
                <a:latin typeface="Consolas" panose="020B0609020204030204" pitchFamily="49" charset="0"/>
              </a:rPr>
              <a:t> static</a:t>
            </a:r>
            <a:r>
              <a:rPr lang="en-US" b="0" i="0" dirty="0">
                <a:solidFill>
                  <a:srgbClr val="000000"/>
                </a:solidFill>
                <a:effectLst/>
                <a:latin typeface="Consolas" panose="020B0609020204030204" pitchFamily="49" charset="0"/>
              </a:rPr>
              <a:t>;</a:t>
            </a:r>
            <a:r>
              <a:rPr lang="en-US" b="0" i="0" dirty="0">
                <a:solidFill>
                  <a:srgbClr val="FF0000"/>
                </a:solidFill>
                <a:effectLst/>
                <a:latin typeface="Consolas" panose="020B0609020204030204" pitchFamily="49" charset="0"/>
              </a:rPr>
              <a:t/>
            </a:r>
            <a:br>
              <a:rPr lang="en-US" b="0" i="0" dirty="0">
                <a:solidFill>
                  <a:srgbClr val="FF0000"/>
                </a:solidFill>
                <a:effectLst/>
                <a:latin typeface="Consolas" panose="020B0609020204030204" pitchFamily="49" charset="0"/>
              </a:rPr>
            </a:br>
            <a:r>
              <a:rPr lang="en-US" b="0" i="0" dirty="0">
                <a:solidFill>
                  <a:srgbClr val="FF0000"/>
                </a:solidFill>
                <a:effectLst/>
                <a:latin typeface="Consolas" panose="020B0609020204030204" pitchFamily="49" charset="0"/>
              </a:rPr>
              <a:t>  border</a:t>
            </a:r>
            <a:r>
              <a:rPr lang="en-US" b="0" i="0" dirty="0">
                <a:solidFill>
                  <a:srgbClr val="000000"/>
                </a:solidFill>
                <a:effectLst/>
                <a:latin typeface="Consolas" panose="020B0609020204030204" pitchFamily="49" charset="0"/>
              </a:rPr>
              <a:t>:</a:t>
            </a:r>
            <a:r>
              <a:rPr lang="en-US" b="0" i="0" dirty="0">
                <a:solidFill>
                  <a:srgbClr val="0000CD"/>
                </a:solidFill>
                <a:effectLst/>
                <a:latin typeface="Consolas" panose="020B0609020204030204" pitchFamily="49" charset="0"/>
              </a:rPr>
              <a:t> 2px solid red</a:t>
            </a:r>
            <a:r>
              <a:rPr lang="en-US" b="0" i="0" dirty="0">
                <a:solidFill>
                  <a:srgbClr val="000000"/>
                </a:solidFill>
                <a:effectLst/>
                <a:latin typeface="Consolas" panose="020B0609020204030204" pitchFamily="49" charset="0"/>
              </a:rPr>
              <a:t>;</a:t>
            </a:r>
          </a:p>
          <a:p>
            <a:pPr marL="0" indent="0">
              <a:buNone/>
            </a:pPr>
            <a:r>
              <a:rPr lang="en-US" dirty="0">
                <a:solidFill>
                  <a:srgbClr val="FF0000"/>
                </a:solidFill>
                <a:latin typeface="Consolas" panose="020B0609020204030204" pitchFamily="49" charset="0"/>
              </a:rPr>
              <a:t>  width: 100px;</a:t>
            </a:r>
            <a:r>
              <a:rPr lang="en-US" b="0" i="0" dirty="0">
                <a:solidFill>
                  <a:srgbClr val="FF0000"/>
                </a:solidFill>
                <a:effectLst/>
                <a:latin typeface="Consolas" panose="020B0609020204030204" pitchFamily="49" charset="0"/>
              </a:rPr>
              <a:t/>
            </a:r>
            <a:br>
              <a:rPr lang="en-US" b="0" i="0" dirty="0">
                <a:solidFill>
                  <a:srgbClr val="FF0000"/>
                </a:solidFill>
                <a:effectLst/>
                <a:latin typeface="Consolas" panose="020B0609020204030204" pitchFamily="49" charset="0"/>
              </a:rPr>
            </a:br>
            <a:r>
              <a:rPr lang="en-US" b="0" i="0" dirty="0">
                <a:solidFill>
                  <a:srgbClr val="000000"/>
                </a:solidFill>
                <a:effectLst/>
                <a:latin typeface="Consolas" panose="020B0609020204030204" pitchFamily="49" charset="0"/>
              </a:rPr>
              <a:t>}</a:t>
            </a:r>
            <a:endParaRPr lang="en-US" dirty="0"/>
          </a:p>
        </p:txBody>
      </p:sp>
    </p:spTree>
    <p:extLst>
      <p:ext uri="{BB962C8B-B14F-4D97-AF65-F5344CB8AC3E}">
        <p14:creationId xmlns:p14="http://schemas.microsoft.com/office/powerpoint/2010/main" val="5895301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2361773-D4CC-A523-B391-DC0530ED8A75}"/>
              </a:ext>
            </a:extLst>
          </p:cNvPr>
          <p:cNvSpPr>
            <a:spLocks noGrp="1"/>
          </p:cNvSpPr>
          <p:nvPr>
            <p:ph type="title"/>
          </p:nvPr>
        </p:nvSpPr>
        <p:spPr>
          <a:xfrm>
            <a:off x="1534696" y="-88615"/>
            <a:ext cx="9520158" cy="928588"/>
          </a:xfrm>
        </p:spPr>
        <p:txBody>
          <a:bodyPr/>
          <a:lstStyle/>
          <a:p>
            <a:r>
              <a:rPr lang="en-US" dirty="0"/>
              <a:t>RELATIVE POSITIONING</a:t>
            </a:r>
          </a:p>
        </p:txBody>
      </p:sp>
      <p:sp>
        <p:nvSpPr>
          <p:cNvPr id="7" name="Content Placeholder 2">
            <a:extLst>
              <a:ext uri="{FF2B5EF4-FFF2-40B4-BE49-F238E27FC236}">
                <a16:creationId xmlns:a16="http://schemas.microsoft.com/office/drawing/2014/main" id="{7C5659FC-5DA7-D802-D06F-51B0A1C423ED}"/>
              </a:ext>
            </a:extLst>
          </p:cNvPr>
          <p:cNvSpPr>
            <a:spLocks noGrp="1"/>
          </p:cNvSpPr>
          <p:nvPr>
            <p:ph idx="1"/>
          </p:nvPr>
        </p:nvSpPr>
        <p:spPr>
          <a:xfrm>
            <a:off x="1534696" y="1339702"/>
            <a:ext cx="9520158" cy="4126643"/>
          </a:xfrm>
        </p:spPr>
        <p:txBody>
          <a:bodyPr>
            <a:normAutofit/>
          </a:bodyPr>
          <a:lstStyle/>
          <a:p>
            <a:pPr marL="0" indent="0">
              <a:buNone/>
            </a:pPr>
            <a:r>
              <a:rPr lang="en-US" altLang="en-US" sz="2000" dirty="0">
                <a:cs typeface="Courier New" panose="02070309020205020404" pitchFamily="49" charset="0"/>
              </a:rPr>
              <a:t>This means an element is positioned relative to its “normal” position, other contents will not take any gap left by it.</a:t>
            </a:r>
          </a:p>
          <a:p>
            <a:pPr marL="0" indent="0">
              <a:buNone/>
            </a:pPr>
            <a:r>
              <a:rPr lang="en-US" dirty="0"/>
              <a:t>Setting the top, right, bottom, and left properties of a relatively positioned element will cause it to be adjusted away from its normal position. Other content will not be adjusted to fit into any gap left by the element.</a:t>
            </a:r>
          </a:p>
          <a:p>
            <a:pPr marL="0" indent="0">
              <a:buNone/>
            </a:pPr>
            <a:endParaRPr lang="en-US" dirty="0"/>
          </a:p>
          <a:p>
            <a:pPr marL="0" indent="0">
              <a:buNone/>
            </a:pPr>
            <a:endParaRPr lang="en-US" b="0" i="0" dirty="0">
              <a:solidFill>
                <a:srgbClr val="A52A2A"/>
              </a:solidFill>
              <a:effectLst/>
              <a:latin typeface="Consolas" panose="020B0609020204030204" pitchFamily="49" charset="0"/>
            </a:endParaRPr>
          </a:p>
          <a:p>
            <a:pPr marL="0" indent="0">
              <a:buNone/>
            </a:pPr>
            <a:endParaRPr lang="en-US" b="0" i="0" dirty="0">
              <a:solidFill>
                <a:srgbClr val="A52A2A"/>
              </a:solidFill>
              <a:effectLst/>
              <a:latin typeface="Consolas" panose="020B0609020204030204" pitchFamily="49" charset="0"/>
            </a:endParaRPr>
          </a:p>
          <a:p>
            <a:pPr marL="0" indent="0">
              <a:buNone/>
            </a:pPr>
            <a:endParaRPr lang="en-US" b="0" i="0" dirty="0">
              <a:solidFill>
                <a:srgbClr val="A52A2A"/>
              </a:solidFill>
              <a:effectLst/>
              <a:latin typeface="Consolas" panose="020B0609020204030204" pitchFamily="49" charset="0"/>
            </a:endParaRPr>
          </a:p>
          <a:p>
            <a:pPr marL="0" indent="0">
              <a:buNone/>
            </a:pPr>
            <a:endParaRPr lang="en-US" b="0" i="0" dirty="0">
              <a:solidFill>
                <a:srgbClr val="A52A2A"/>
              </a:solidFill>
              <a:effectLst/>
              <a:latin typeface="Consolas" panose="020B0609020204030204" pitchFamily="49" charset="0"/>
            </a:endParaRPr>
          </a:p>
          <a:p>
            <a:pPr marL="0" indent="0">
              <a:buNone/>
            </a:pPr>
            <a:endParaRPr lang="en-US" dirty="0">
              <a:solidFill>
                <a:srgbClr val="A52A2A"/>
              </a:solidFill>
              <a:latin typeface="Consolas" panose="020B0609020204030204" pitchFamily="49" charset="0"/>
            </a:endParaRPr>
          </a:p>
        </p:txBody>
      </p:sp>
      <p:pic>
        <p:nvPicPr>
          <p:cNvPr id="8" name="Picture 7">
            <a:extLst>
              <a:ext uri="{FF2B5EF4-FFF2-40B4-BE49-F238E27FC236}">
                <a16:creationId xmlns:a16="http://schemas.microsoft.com/office/drawing/2014/main" id="{576FEFD4-095D-7345-1BC6-160FE25D88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4696" y="3614940"/>
            <a:ext cx="10402876" cy="2351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13432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00D2A5-7778-E83E-D11D-271818C916AB}"/>
              </a:ext>
            </a:extLst>
          </p:cNvPr>
          <p:cNvSpPr>
            <a:spLocks noGrp="1"/>
          </p:cNvSpPr>
          <p:nvPr>
            <p:ph idx="1"/>
          </p:nvPr>
        </p:nvSpPr>
        <p:spPr>
          <a:xfrm>
            <a:off x="1403498" y="361507"/>
            <a:ext cx="9930809" cy="5688419"/>
          </a:xfrm>
        </p:spPr>
        <p:txBody>
          <a:bodyPr>
            <a:normAutofit/>
          </a:bodyPr>
          <a:lstStyle/>
          <a:p>
            <a:pPr marL="0" indent="0">
              <a:buNone/>
            </a:pPr>
            <a:r>
              <a:rPr lang="en-US" sz="1800" b="1" i="0" dirty="0">
                <a:solidFill>
                  <a:srgbClr val="A52A2A"/>
                </a:solidFill>
                <a:effectLst/>
                <a:latin typeface="Consolas" panose="020B0609020204030204" pitchFamily="49" charset="0"/>
              </a:rPr>
              <a:t>&lt;div style="border: 2px solid red; width: 500px; margin: auto; height: 100px;"&gt;</a:t>
            </a:r>
            <a:r>
              <a:rPr lang="en-US" sz="1800" b="1" i="0" dirty="0">
                <a:solidFill>
                  <a:schemeClr val="accent6">
                    <a:lumMod val="75000"/>
                  </a:schemeClr>
                </a:solidFill>
                <a:effectLst/>
                <a:latin typeface="Consolas" panose="020B0609020204030204" pitchFamily="49" charset="0"/>
              </a:rPr>
              <a:t>div 1</a:t>
            </a:r>
            <a:r>
              <a:rPr lang="en-US" sz="1800" b="1" i="0" dirty="0">
                <a:solidFill>
                  <a:srgbClr val="A52A2A"/>
                </a:solidFill>
                <a:effectLst/>
                <a:latin typeface="Consolas" panose="020B0609020204030204" pitchFamily="49" charset="0"/>
              </a:rPr>
              <a:t>&lt;/div&gt;</a:t>
            </a:r>
          </a:p>
          <a:p>
            <a:pPr marL="0" indent="0">
              <a:buNone/>
            </a:pPr>
            <a:r>
              <a:rPr lang="en-US" sz="1800" b="1" i="0" dirty="0">
                <a:solidFill>
                  <a:srgbClr val="A52A2A"/>
                </a:solidFill>
                <a:effectLst/>
                <a:latin typeface="Consolas" panose="020B0609020204030204" pitchFamily="49" charset="0"/>
              </a:rPr>
              <a:t>&lt;div style="border: 2px solid green; width: 500px; margin: auto; height: 100px; position: relative; top: 30px;"&gt;</a:t>
            </a:r>
            <a:r>
              <a:rPr lang="en-US" sz="1800" b="1" i="0" dirty="0">
                <a:solidFill>
                  <a:schemeClr val="accent6">
                    <a:lumMod val="75000"/>
                  </a:schemeClr>
                </a:solidFill>
                <a:effectLst/>
                <a:latin typeface="Consolas" panose="020B0609020204030204" pitchFamily="49" charset="0"/>
              </a:rPr>
              <a:t>div 2</a:t>
            </a:r>
            <a:r>
              <a:rPr lang="en-US" sz="1800" b="1" i="0" dirty="0">
                <a:solidFill>
                  <a:srgbClr val="A52A2A"/>
                </a:solidFill>
                <a:effectLst/>
                <a:latin typeface="Consolas" panose="020B0609020204030204" pitchFamily="49" charset="0"/>
              </a:rPr>
              <a:t>&lt;/div&gt;</a:t>
            </a:r>
          </a:p>
          <a:p>
            <a:pPr marL="0" indent="0">
              <a:buNone/>
            </a:pPr>
            <a:r>
              <a:rPr lang="en-US" sz="1800" b="1" i="0" dirty="0">
                <a:solidFill>
                  <a:srgbClr val="A52A2A"/>
                </a:solidFill>
                <a:effectLst/>
                <a:latin typeface="Consolas" panose="020B0609020204030204" pitchFamily="49" charset="0"/>
              </a:rPr>
              <a:t>&lt;div style="border: 2px solid blue; width: 500px; margin: auto; height: 100px;"&gt;</a:t>
            </a:r>
            <a:r>
              <a:rPr lang="en-US" sz="1800" b="1" i="0" dirty="0">
                <a:solidFill>
                  <a:schemeClr val="accent6">
                    <a:lumMod val="75000"/>
                  </a:schemeClr>
                </a:solidFill>
                <a:effectLst/>
                <a:latin typeface="Consolas" panose="020B0609020204030204" pitchFamily="49" charset="0"/>
              </a:rPr>
              <a:t>div 3</a:t>
            </a:r>
            <a:r>
              <a:rPr lang="en-US" sz="1800" b="1" i="0" dirty="0">
                <a:solidFill>
                  <a:srgbClr val="A52A2A"/>
                </a:solidFill>
                <a:effectLst/>
                <a:latin typeface="Consolas" panose="020B0609020204030204" pitchFamily="49" charset="0"/>
              </a:rPr>
              <a:t>&lt;/div&gt; </a:t>
            </a:r>
          </a:p>
          <a:p>
            <a:pPr marL="0" indent="0">
              <a:buNone/>
            </a:pPr>
            <a:r>
              <a:rPr lang="en-US" altLang="en-US" sz="2400" b="1" dirty="0">
                <a:cs typeface="Courier New" panose="02070309020205020404" pitchFamily="49" charset="0"/>
              </a:rPr>
              <a:t>NOTE</a:t>
            </a:r>
            <a:r>
              <a:rPr lang="en-US" altLang="en-US" sz="2400" dirty="0">
                <a:cs typeface="Courier New" panose="02070309020205020404" pitchFamily="49" charset="0"/>
              </a:rPr>
              <a:t>:  if the element shifts as a result of the top, left, bottom, right  specifications, other contents will not take any gap left by it as long as  </a:t>
            </a:r>
            <a:r>
              <a:rPr lang="en-US" altLang="en-US" sz="2400" b="1" dirty="0">
                <a:solidFill>
                  <a:srgbClr val="0070C0"/>
                </a:solidFill>
                <a:latin typeface="Consolas" panose="020B0609020204030204" pitchFamily="49" charset="0"/>
                <a:cs typeface="Courier New" panose="02070309020205020404" pitchFamily="49" charset="0"/>
              </a:rPr>
              <a:t>position: relative;</a:t>
            </a:r>
          </a:p>
          <a:p>
            <a:pPr marL="0" indent="0">
              <a:buNone/>
            </a:pPr>
            <a:r>
              <a:rPr lang="en-US" altLang="en-US" sz="2400" b="1" dirty="0">
                <a:cs typeface="Courier New" panose="02070309020205020404" pitchFamily="49" charset="0"/>
              </a:rPr>
              <a:t>QUIZ: Try the other sides too, try bottom, left and right  too </a:t>
            </a:r>
            <a:r>
              <a:rPr lang="en-US" altLang="en-US" sz="2400" b="1" u="sng" dirty="0">
                <a:cs typeface="Courier New" panose="02070309020205020404" pitchFamily="49" charset="0"/>
              </a:rPr>
              <a:t>while position is set at relative</a:t>
            </a:r>
          </a:p>
          <a:p>
            <a:pPr marL="0" indent="0">
              <a:buNone/>
            </a:pPr>
            <a:endParaRPr lang="en-US" sz="2400" dirty="0"/>
          </a:p>
          <a:p>
            <a:pPr marL="0" indent="0">
              <a:buNone/>
            </a:pPr>
            <a:endParaRPr lang="en-US" sz="2400" dirty="0"/>
          </a:p>
        </p:txBody>
      </p:sp>
    </p:spTree>
    <p:extLst>
      <p:ext uri="{BB962C8B-B14F-4D97-AF65-F5344CB8AC3E}">
        <p14:creationId xmlns:p14="http://schemas.microsoft.com/office/powerpoint/2010/main" val="41042947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43B421B-EA26-8ECF-7BF5-5400A250C98F}"/>
              </a:ext>
            </a:extLst>
          </p:cNvPr>
          <p:cNvSpPr>
            <a:spLocks noGrp="1"/>
          </p:cNvSpPr>
          <p:nvPr>
            <p:ph type="title"/>
          </p:nvPr>
        </p:nvSpPr>
        <p:spPr>
          <a:xfrm>
            <a:off x="1534696" y="-88615"/>
            <a:ext cx="9520158" cy="928588"/>
          </a:xfrm>
        </p:spPr>
        <p:txBody>
          <a:bodyPr/>
          <a:lstStyle/>
          <a:p>
            <a:r>
              <a:rPr lang="en-US" dirty="0"/>
              <a:t>FIXED POSITIONING</a:t>
            </a:r>
          </a:p>
        </p:txBody>
      </p:sp>
      <p:sp>
        <p:nvSpPr>
          <p:cNvPr id="5" name="Content Placeholder 2">
            <a:extLst>
              <a:ext uri="{FF2B5EF4-FFF2-40B4-BE49-F238E27FC236}">
                <a16:creationId xmlns:a16="http://schemas.microsoft.com/office/drawing/2014/main" id="{6BB5D180-8D46-95E8-A4E4-456FF3F8B4EF}"/>
              </a:ext>
            </a:extLst>
          </p:cNvPr>
          <p:cNvSpPr>
            <a:spLocks noGrp="1"/>
          </p:cNvSpPr>
          <p:nvPr>
            <p:ph idx="1"/>
          </p:nvPr>
        </p:nvSpPr>
        <p:spPr>
          <a:xfrm>
            <a:off x="1534696" y="1127051"/>
            <a:ext cx="9520158" cy="4126643"/>
          </a:xfrm>
        </p:spPr>
        <p:txBody>
          <a:bodyPr>
            <a:normAutofit/>
          </a:bodyPr>
          <a:lstStyle/>
          <a:p>
            <a:pPr marL="0" indent="0">
              <a:buNone/>
            </a:pPr>
            <a:r>
              <a:rPr lang="en-US" altLang="en-US" sz="2000" dirty="0">
                <a:cs typeface="Courier New" panose="02070309020205020404" pitchFamily="49" charset="0"/>
              </a:rPr>
              <a:t>An element with position: fixed; is positioned relative to the viewport, which means it always stays in the same place even if the page is scrolled. The top, right, bottom, and left properties are used to position the element.</a:t>
            </a:r>
          </a:p>
          <a:p>
            <a:pPr marL="0" indent="0">
              <a:buNone/>
            </a:pPr>
            <a:r>
              <a:rPr lang="en-US" altLang="en-US" sz="2000" dirty="0">
                <a:cs typeface="Courier New" panose="02070309020205020404" pitchFamily="49" charset="0"/>
              </a:rPr>
              <a:t>A fixed element does not leave a gap in the page where it would normally have been located.</a:t>
            </a:r>
            <a:endParaRPr lang="en-US" dirty="0"/>
          </a:p>
          <a:p>
            <a:pPr marL="0" indent="0">
              <a:buNone/>
            </a:pPr>
            <a:endParaRPr lang="en-US" b="0" i="0" dirty="0">
              <a:solidFill>
                <a:srgbClr val="A52A2A"/>
              </a:solidFill>
              <a:effectLst/>
              <a:latin typeface="Consolas" panose="020B0609020204030204" pitchFamily="49" charset="0"/>
            </a:endParaRPr>
          </a:p>
          <a:p>
            <a:pPr marL="0" indent="0">
              <a:buNone/>
            </a:pPr>
            <a:endParaRPr lang="en-US" b="0" i="0" dirty="0">
              <a:solidFill>
                <a:srgbClr val="A52A2A"/>
              </a:solidFill>
              <a:effectLst/>
              <a:latin typeface="Consolas" panose="020B0609020204030204" pitchFamily="49" charset="0"/>
            </a:endParaRPr>
          </a:p>
          <a:p>
            <a:pPr marL="0" indent="0">
              <a:buNone/>
            </a:pPr>
            <a:endParaRPr lang="en-US" b="0" i="0" dirty="0">
              <a:solidFill>
                <a:srgbClr val="A52A2A"/>
              </a:solidFill>
              <a:effectLst/>
              <a:latin typeface="Consolas" panose="020B0609020204030204" pitchFamily="49" charset="0"/>
            </a:endParaRPr>
          </a:p>
          <a:p>
            <a:pPr marL="0" indent="0">
              <a:buNone/>
            </a:pPr>
            <a:endParaRPr lang="en-US" b="0" i="0" dirty="0">
              <a:solidFill>
                <a:srgbClr val="A52A2A"/>
              </a:solidFill>
              <a:effectLst/>
              <a:latin typeface="Consolas" panose="020B0609020204030204" pitchFamily="49" charset="0"/>
            </a:endParaRPr>
          </a:p>
          <a:p>
            <a:pPr marL="0" indent="0">
              <a:buNone/>
            </a:pPr>
            <a:endParaRPr lang="en-US" dirty="0">
              <a:solidFill>
                <a:srgbClr val="A52A2A"/>
              </a:solidFill>
              <a:latin typeface="Consolas" panose="020B0609020204030204" pitchFamily="49" charset="0"/>
            </a:endParaRPr>
          </a:p>
        </p:txBody>
      </p:sp>
      <p:pic>
        <p:nvPicPr>
          <p:cNvPr id="7" name="Picture 6">
            <a:extLst>
              <a:ext uri="{FF2B5EF4-FFF2-40B4-BE49-F238E27FC236}">
                <a16:creationId xmlns:a16="http://schemas.microsoft.com/office/drawing/2014/main" id="{B1B06498-06E9-9715-5228-E604DF2FE6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4695" y="3365808"/>
            <a:ext cx="9520157" cy="2620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783488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1FAAE8-41C5-FE23-BFC0-24A1AFC3A6A8}"/>
              </a:ext>
            </a:extLst>
          </p:cNvPr>
          <p:cNvSpPr>
            <a:spLocks noGrp="1"/>
          </p:cNvSpPr>
          <p:nvPr>
            <p:ph idx="1"/>
          </p:nvPr>
        </p:nvSpPr>
        <p:spPr>
          <a:xfrm>
            <a:off x="1169581" y="495275"/>
            <a:ext cx="10164726" cy="5618445"/>
          </a:xfrm>
        </p:spPr>
        <p:txBody>
          <a:bodyPr/>
          <a:lstStyle/>
          <a:p>
            <a:pPr>
              <a:defRPr/>
            </a:pPr>
            <a:r>
              <a:rPr lang="en-US" dirty="0">
                <a:solidFill>
                  <a:schemeClr val="tx1">
                    <a:lumMod val="75000"/>
                    <a:lumOff val="25000"/>
                  </a:schemeClr>
                </a:solidFill>
              </a:rPr>
              <a:t>What happens if any of top, right, bottom or left is set for a </a:t>
            </a:r>
            <a:r>
              <a:rPr lang="en-US" dirty="0" err="1">
                <a:solidFill>
                  <a:schemeClr val="tx1">
                    <a:lumMod val="75000"/>
                    <a:lumOff val="25000"/>
                  </a:schemeClr>
                </a:solidFill>
              </a:rPr>
              <a:t>position:fixed</a:t>
            </a:r>
            <a:r>
              <a:rPr lang="en-US" dirty="0">
                <a:solidFill>
                  <a:schemeClr val="tx1">
                    <a:lumMod val="75000"/>
                    <a:lumOff val="25000"/>
                  </a:schemeClr>
                </a:solidFill>
              </a:rPr>
              <a:t>? </a:t>
            </a:r>
            <a:r>
              <a:rPr lang="en-US" altLang="en-US" b="1" dirty="0">
                <a:solidFill>
                  <a:schemeClr val="tx1">
                    <a:lumMod val="75000"/>
                    <a:lumOff val="25000"/>
                  </a:schemeClr>
                </a:solidFill>
                <a:cs typeface="Courier New" panose="02070309020205020404" pitchFamily="49" charset="0"/>
              </a:rPr>
              <a:t>The element moves away relative to the </a:t>
            </a:r>
            <a:r>
              <a:rPr lang="en-US" altLang="en-US" b="1" i="1" dirty="0">
                <a:solidFill>
                  <a:schemeClr val="tx1">
                    <a:lumMod val="75000"/>
                    <a:lumOff val="25000"/>
                  </a:schemeClr>
                </a:solidFill>
                <a:cs typeface="Courier New" panose="02070309020205020404" pitchFamily="49" charset="0"/>
              </a:rPr>
              <a:t>viewport</a:t>
            </a:r>
            <a:endParaRPr lang="en-US" altLang="en-US" b="1" dirty="0">
              <a:solidFill>
                <a:schemeClr val="tx1">
                  <a:lumMod val="75000"/>
                  <a:lumOff val="25000"/>
                </a:schemeClr>
              </a:solidFill>
              <a:cs typeface="Courier New" panose="02070309020205020404" pitchFamily="49" charset="0"/>
            </a:endParaRPr>
          </a:p>
          <a:p>
            <a:pPr>
              <a:defRPr/>
            </a:pPr>
            <a:r>
              <a:rPr lang="en-US" altLang="en-US" dirty="0">
                <a:solidFill>
                  <a:schemeClr val="tx1">
                    <a:lumMod val="75000"/>
                    <a:lumOff val="25000"/>
                  </a:schemeClr>
                </a:solidFill>
              </a:rPr>
              <a:t>NOTE: It means the positioned element always stays in the same place even if the page is scrolled. It does not leave gap in the page where it would have been created. It is also no longer rigid on 100% width again unless the width is explicitly specified</a:t>
            </a:r>
          </a:p>
          <a:p>
            <a:pPr>
              <a:defRPr/>
            </a:pPr>
            <a:r>
              <a:rPr lang="en-US" b="1" dirty="0">
                <a:solidFill>
                  <a:schemeClr val="tx1">
                    <a:lumMod val="75000"/>
                    <a:lumOff val="25000"/>
                  </a:schemeClr>
                </a:solidFill>
              </a:rPr>
              <a:t>Exercise: Try specifying the other sides(bottom, right, left) too while position :fixed</a:t>
            </a:r>
          </a:p>
          <a:p>
            <a:pPr>
              <a:defRPr/>
            </a:pPr>
            <a:r>
              <a:rPr lang="en-US" altLang="en-US" sz="2400" b="1" dirty="0">
                <a:solidFill>
                  <a:srgbClr val="0070C0"/>
                </a:solidFill>
                <a:latin typeface="Consolas" panose="020B0609020204030204" pitchFamily="49" charset="0"/>
                <a:cs typeface="Courier New" panose="02070309020205020404" pitchFamily="49" charset="0"/>
              </a:rPr>
              <a:t>.</a:t>
            </a:r>
            <a:r>
              <a:rPr lang="en-US" altLang="en-US" sz="2400" b="1" dirty="0" err="1">
                <a:solidFill>
                  <a:srgbClr val="0070C0"/>
                </a:solidFill>
                <a:latin typeface="Consolas" panose="020B0609020204030204" pitchFamily="49" charset="0"/>
                <a:cs typeface="Courier New" panose="02070309020205020404" pitchFamily="49" charset="0"/>
              </a:rPr>
              <a:t>greendiv</a:t>
            </a:r>
            <a:r>
              <a:rPr lang="en-US" altLang="en-US" sz="2400" b="1" dirty="0">
                <a:solidFill>
                  <a:srgbClr val="0070C0"/>
                </a:solidFill>
                <a:latin typeface="Consolas" panose="020B0609020204030204" pitchFamily="49" charset="0"/>
                <a:cs typeface="Courier New" panose="02070309020205020404" pitchFamily="49" charset="0"/>
              </a:rPr>
              <a:t> {position: fixed; top:0px};</a:t>
            </a:r>
          </a:p>
          <a:p>
            <a:pPr>
              <a:defRPr/>
            </a:pPr>
            <a:endParaRPr lang="en-US" b="1" dirty="0">
              <a:solidFill>
                <a:schemeClr val="tx1">
                  <a:lumMod val="75000"/>
                  <a:lumOff val="25000"/>
                </a:schemeClr>
              </a:solidFill>
            </a:endParaRPr>
          </a:p>
          <a:p>
            <a:pPr marL="0" indent="0">
              <a:buNone/>
            </a:pPr>
            <a:endParaRPr lang="en-US" dirty="0"/>
          </a:p>
        </p:txBody>
      </p:sp>
      <p:pic>
        <p:nvPicPr>
          <p:cNvPr id="4" name="Picture 3">
            <a:extLst>
              <a:ext uri="{FF2B5EF4-FFF2-40B4-BE49-F238E27FC236}">
                <a16:creationId xmlns:a16="http://schemas.microsoft.com/office/drawing/2014/main" id="{E02D2C13-9FFC-9AC8-0BBA-53CB569FA6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9581" y="3955312"/>
            <a:ext cx="10345479" cy="2158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912585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9414BEE-41D7-F508-C3FC-3A42B2D580F8}"/>
              </a:ext>
            </a:extLst>
          </p:cNvPr>
          <p:cNvSpPr>
            <a:spLocks noGrp="1"/>
          </p:cNvSpPr>
          <p:nvPr>
            <p:ph type="title"/>
          </p:nvPr>
        </p:nvSpPr>
        <p:spPr>
          <a:xfrm>
            <a:off x="1534696" y="-88615"/>
            <a:ext cx="9520158" cy="694671"/>
          </a:xfrm>
        </p:spPr>
        <p:txBody>
          <a:bodyPr>
            <a:normAutofit fontScale="90000"/>
          </a:bodyPr>
          <a:lstStyle/>
          <a:p>
            <a:r>
              <a:rPr lang="en-US" dirty="0"/>
              <a:t>ABSOLUTE POSITIONING</a:t>
            </a:r>
          </a:p>
        </p:txBody>
      </p:sp>
      <p:sp>
        <p:nvSpPr>
          <p:cNvPr id="5" name="Content Placeholder 2">
            <a:extLst>
              <a:ext uri="{FF2B5EF4-FFF2-40B4-BE49-F238E27FC236}">
                <a16:creationId xmlns:a16="http://schemas.microsoft.com/office/drawing/2014/main" id="{5D5DADDB-D28D-3048-6B7E-94F197B0F9EF}"/>
              </a:ext>
            </a:extLst>
          </p:cNvPr>
          <p:cNvSpPr>
            <a:spLocks noGrp="1"/>
          </p:cNvSpPr>
          <p:nvPr>
            <p:ph idx="1"/>
          </p:nvPr>
        </p:nvSpPr>
        <p:spPr>
          <a:xfrm>
            <a:off x="1335921" y="893135"/>
            <a:ext cx="9998386" cy="5103628"/>
          </a:xfrm>
        </p:spPr>
        <p:txBody>
          <a:bodyPr>
            <a:normAutofit lnSpcReduction="10000"/>
          </a:bodyPr>
          <a:lstStyle/>
          <a:p>
            <a:pPr marL="0" indent="0">
              <a:buNone/>
            </a:pPr>
            <a:r>
              <a:rPr lang="en-US" altLang="en-US" sz="2000" dirty="0">
                <a:cs typeface="Courier New" panose="02070309020205020404" pitchFamily="49" charset="0"/>
              </a:rPr>
              <a:t>An element with position: absolute; is positioned relative to the nearest positioned ancestor (instead of positioned respect to the viewport, like fixed).</a:t>
            </a:r>
          </a:p>
          <a:p>
            <a:pPr marL="0" indent="0">
              <a:buNone/>
            </a:pPr>
            <a:r>
              <a:rPr lang="en-US" altLang="en-US" sz="2000" dirty="0">
                <a:cs typeface="Courier New" panose="02070309020205020404" pitchFamily="49" charset="0"/>
              </a:rPr>
              <a:t>However; if an absolutely positioned element has no positioned ancestors, it uses the document body, and moves along with page scrolling.</a:t>
            </a:r>
          </a:p>
          <a:p>
            <a:pPr marL="0" indent="0">
              <a:buNone/>
            </a:pPr>
            <a:r>
              <a:rPr lang="en-US" altLang="en-US" sz="2400" b="1" i="1" dirty="0">
                <a:cs typeface="Courier New" panose="02070309020205020404" pitchFamily="49" charset="0"/>
              </a:rPr>
              <a:t>Note</a:t>
            </a:r>
            <a:r>
              <a:rPr lang="en-US" altLang="en-US" sz="2000" dirty="0">
                <a:cs typeface="Courier New" panose="02070309020205020404" pitchFamily="49" charset="0"/>
              </a:rPr>
              <a:t>: An absolutely positioned elements are removed from the normal flow, and can overlap elements. </a:t>
            </a:r>
            <a:endParaRPr lang="en-US" dirty="0"/>
          </a:p>
          <a:p>
            <a:pPr>
              <a:defRPr/>
            </a:pPr>
            <a:r>
              <a:rPr lang="en-US" dirty="0">
                <a:solidFill>
                  <a:schemeClr val="tx1">
                    <a:lumMod val="75000"/>
                    <a:lumOff val="25000"/>
                  </a:schemeClr>
                </a:solidFill>
              </a:rPr>
              <a:t>What happens if any of the top, right, bottom, or left is set? </a:t>
            </a:r>
            <a:r>
              <a:rPr lang="en-US" altLang="en-US" b="1" dirty="0">
                <a:solidFill>
                  <a:schemeClr val="tx1">
                    <a:lumMod val="75000"/>
                    <a:lumOff val="25000"/>
                  </a:schemeClr>
                </a:solidFill>
                <a:cs typeface="Courier New" panose="02070309020205020404" pitchFamily="49" charset="0"/>
              </a:rPr>
              <a:t>The element moves away relative to its “parent”</a:t>
            </a:r>
          </a:p>
          <a:p>
            <a:pPr>
              <a:defRPr/>
            </a:pPr>
            <a:r>
              <a:rPr lang="en-US" dirty="0">
                <a:solidFill>
                  <a:schemeClr val="tx1">
                    <a:lumMod val="75000"/>
                    <a:lumOff val="25000"/>
                  </a:schemeClr>
                </a:solidFill>
              </a:rPr>
              <a:t>For the element to measure the distance away from these sides, however, its parent must be positioned too (any position other than static must be set on their parent)</a:t>
            </a:r>
          </a:p>
          <a:p>
            <a:pPr>
              <a:defRPr/>
            </a:pPr>
            <a:r>
              <a:rPr lang="en-US" dirty="0">
                <a:solidFill>
                  <a:schemeClr val="tx1">
                    <a:lumMod val="75000"/>
                    <a:lumOff val="25000"/>
                  </a:schemeClr>
                </a:solidFill>
              </a:rPr>
              <a:t>If the parent is not positioned, it will use its closest positioned ancestor or the body tag if none is found</a:t>
            </a:r>
          </a:p>
          <a:p>
            <a:pPr marL="0" indent="0">
              <a:buNone/>
            </a:pPr>
            <a:endParaRPr lang="en-US" b="0" i="0" dirty="0">
              <a:solidFill>
                <a:srgbClr val="A52A2A"/>
              </a:solidFill>
              <a:effectLst/>
              <a:latin typeface="Consolas" panose="020B0609020204030204" pitchFamily="49" charset="0"/>
            </a:endParaRPr>
          </a:p>
          <a:p>
            <a:pPr marL="0" indent="0">
              <a:buNone/>
            </a:pPr>
            <a:endParaRPr lang="en-US" b="0" i="0" dirty="0">
              <a:solidFill>
                <a:srgbClr val="A52A2A"/>
              </a:solidFill>
              <a:effectLst/>
              <a:latin typeface="Consolas" panose="020B0609020204030204" pitchFamily="49" charset="0"/>
            </a:endParaRPr>
          </a:p>
          <a:p>
            <a:pPr marL="0" indent="0">
              <a:buNone/>
            </a:pPr>
            <a:endParaRPr lang="en-US" b="0" i="0" dirty="0">
              <a:solidFill>
                <a:srgbClr val="A52A2A"/>
              </a:solidFill>
              <a:effectLst/>
              <a:latin typeface="Consolas" panose="020B0609020204030204" pitchFamily="49" charset="0"/>
            </a:endParaRPr>
          </a:p>
          <a:p>
            <a:pPr marL="0" indent="0">
              <a:buNone/>
            </a:pPr>
            <a:endParaRPr lang="en-US" b="0" i="0" dirty="0">
              <a:solidFill>
                <a:srgbClr val="A52A2A"/>
              </a:solidFill>
              <a:effectLst/>
              <a:latin typeface="Consolas" panose="020B0609020204030204" pitchFamily="49" charset="0"/>
            </a:endParaRPr>
          </a:p>
          <a:p>
            <a:pPr marL="0" indent="0">
              <a:buNone/>
            </a:pPr>
            <a:endParaRPr lang="en-US" dirty="0">
              <a:solidFill>
                <a:srgbClr val="A52A2A"/>
              </a:solidFill>
              <a:latin typeface="Consolas" panose="020B0609020204030204" pitchFamily="49" charset="0"/>
            </a:endParaRPr>
          </a:p>
        </p:txBody>
      </p:sp>
    </p:spTree>
    <p:extLst>
      <p:ext uri="{BB962C8B-B14F-4D97-AF65-F5344CB8AC3E}">
        <p14:creationId xmlns:p14="http://schemas.microsoft.com/office/powerpoint/2010/main" val="31296982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957EA3-FD50-CFF4-1370-D5683C85B3FE}"/>
              </a:ext>
            </a:extLst>
          </p:cNvPr>
          <p:cNvSpPr>
            <a:spLocks noGrp="1"/>
          </p:cNvSpPr>
          <p:nvPr>
            <p:ph idx="1"/>
          </p:nvPr>
        </p:nvSpPr>
        <p:spPr>
          <a:xfrm>
            <a:off x="6521367" y="3544187"/>
            <a:ext cx="4451434" cy="2425433"/>
          </a:xfrm>
        </p:spPr>
        <p:txBody>
          <a:bodyPr>
            <a:normAutofit fontScale="85000" lnSpcReduction="20000"/>
          </a:bodyPr>
          <a:lstStyle/>
          <a:p>
            <a:pPr marL="0" indent="0">
              <a:buNone/>
            </a:pPr>
            <a:r>
              <a:rPr lang="en-US" b="0" i="0" dirty="0" err="1">
                <a:solidFill>
                  <a:srgbClr val="A52A2A"/>
                </a:solidFill>
                <a:effectLst/>
                <a:latin typeface="Consolas" panose="020B0609020204030204" pitchFamily="49" charset="0"/>
              </a:rPr>
              <a:t>div.child</a:t>
            </a:r>
            <a:r>
              <a:rPr lang="en-US" b="0" i="0" dirty="0">
                <a:solidFill>
                  <a:srgbClr val="A52A2A"/>
                </a:solidFill>
                <a:effectLst/>
                <a:latin typeface="Consolas" panose="020B0609020204030204" pitchFamily="49" charset="0"/>
              </a:rPr>
              <a:t> </a:t>
            </a:r>
            <a:r>
              <a:rPr lang="en-US" b="0" i="0" dirty="0">
                <a:solidFill>
                  <a:srgbClr val="000000"/>
                </a:solidFill>
                <a:effectLst/>
                <a:latin typeface="Consolas" panose="020B0609020204030204" pitchFamily="49" charset="0"/>
              </a:rPr>
              <a:t>{</a:t>
            </a:r>
            <a:r>
              <a:rPr lang="en-US" b="0" i="0" dirty="0">
                <a:solidFill>
                  <a:srgbClr val="FF0000"/>
                </a:solidFill>
                <a:effectLst/>
                <a:latin typeface="Consolas" panose="020B0609020204030204" pitchFamily="49" charset="0"/>
              </a:rPr>
              <a:t/>
            </a:r>
            <a:br>
              <a:rPr lang="en-US" b="0" i="0" dirty="0">
                <a:solidFill>
                  <a:srgbClr val="FF0000"/>
                </a:solidFill>
                <a:effectLst/>
                <a:latin typeface="Consolas" panose="020B0609020204030204" pitchFamily="49" charset="0"/>
              </a:rPr>
            </a:br>
            <a:r>
              <a:rPr lang="en-US" b="0" i="0" dirty="0">
                <a:solidFill>
                  <a:srgbClr val="FF0000"/>
                </a:solidFill>
                <a:effectLst/>
                <a:latin typeface="Consolas" panose="020B0609020204030204" pitchFamily="49" charset="0"/>
              </a:rPr>
              <a:t>  position</a:t>
            </a:r>
            <a:r>
              <a:rPr lang="en-US" b="0" i="0" dirty="0">
                <a:solidFill>
                  <a:srgbClr val="000000"/>
                </a:solidFill>
                <a:effectLst/>
                <a:latin typeface="Consolas" panose="020B0609020204030204" pitchFamily="49" charset="0"/>
              </a:rPr>
              <a:t>:</a:t>
            </a:r>
            <a:r>
              <a:rPr lang="en-US" b="0" i="0" dirty="0">
                <a:solidFill>
                  <a:srgbClr val="0000CD"/>
                </a:solidFill>
                <a:effectLst/>
                <a:latin typeface="Consolas" panose="020B0609020204030204" pitchFamily="49" charset="0"/>
              </a:rPr>
              <a:t> absolute</a:t>
            </a:r>
            <a:r>
              <a:rPr lang="en-US" b="0" i="0" dirty="0">
                <a:solidFill>
                  <a:srgbClr val="000000"/>
                </a:solidFill>
                <a:effectLst/>
                <a:latin typeface="Consolas" panose="020B0609020204030204" pitchFamily="49" charset="0"/>
              </a:rPr>
              <a:t>;</a:t>
            </a:r>
            <a:r>
              <a:rPr lang="en-US" b="0" i="0" dirty="0">
                <a:solidFill>
                  <a:srgbClr val="FF0000"/>
                </a:solidFill>
                <a:effectLst/>
                <a:latin typeface="Consolas" panose="020B0609020204030204" pitchFamily="49" charset="0"/>
              </a:rPr>
              <a:t/>
            </a:r>
            <a:br>
              <a:rPr lang="en-US" b="0" i="0" dirty="0">
                <a:solidFill>
                  <a:srgbClr val="FF0000"/>
                </a:solidFill>
                <a:effectLst/>
                <a:latin typeface="Consolas" panose="020B0609020204030204" pitchFamily="49" charset="0"/>
              </a:rPr>
            </a:br>
            <a:r>
              <a:rPr lang="en-US" b="0" i="0" dirty="0">
                <a:solidFill>
                  <a:srgbClr val="FF0000"/>
                </a:solidFill>
                <a:effectLst/>
                <a:latin typeface="Consolas" panose="020B0609020204030204" pitchFamily="49" charset="0"/>
              </a:rPr>
              <a:t>  top</a:t>
            </a:r>
            <a:r>
              <a:rPr lang="en-US" b="0" i="0" dirty="0">
                <a:solidFill>
                  <a:srgbClr val="000000"/>
                </a:solidFill>
                <a:effectLst/>
                <a:latin typeface="Consolas" panose="020B0609020204030204" pitchFamily="49" charset="0"/>
              </a:rPr>
              <a:t>:</a:t>
            </a:r>
            <a:r>
              <a:rPr lang="en-US" b="0" i="0" dirty="0">
                <a:solidFill>
                  <a:srgbClr val="0000CD"/>
                </a:solidFill>
                <a:effectLst/>
                <a:latin typeface="Consolas" panose="020B0609020204030204" pitchFamily="49" charset="0"/>
              </a:rPr>
              <a:t> 80px</a:t>
            </a:r>
            <a:r>
              <a:rPr lang="en-US" b="0" i="0" dirty="0">
                <a:solidFill>
                  <a:srgbClr val="000000"/>
                </a:solidFill>
                <a:effectLst/>
                <a:latin typeface="Consolas" panose="020B0609020204030204" pitchFamily="49" charset="0"/>
              </a:rPr>
              <a:t>;</a:t>
            </a:r>
            <a:r>
              <a:rPr lang="en-US" b="0" i="0" dirty="0">
                <a:solidFill>
                  <a:srgbClr val="FF0000"/>
                </a:solidFill>
                <a:effectLst/>
                <a:latin typeface="Consolas" panose="020B0609020204030204" pitchFamily="49" charset="0"/>
              </a:rPr>
              <a:t/>
            </a:r>
            <a:br>
              <a:rPr lang="en-US" b="0" i="0" dirty="0">
                <a:solidFill>
                  <a:srgbClr val="FF0000"/>
                </a:solidFill>
                <a:effectLst/>
                <a:latin typeface="Consolas" panose="020B0609020204030204" pitchFamily="49" charset="0"/>
              </a:rPr>
            </a:br>
            <a:r>
              <a:rPr lang="en-US" b="0" i="0" dirty="0">
                <a:solidFill>
                  <a:srgbClr val="FF0000"/>
                </a:solidFill>
                <a:effectLst/>
                <a:latin typeface="Consolas" panose="020B0609020204030204" pitchFamily="49" charset="0"/>
              </a:rPr>
              <a:t>  right</a:t>
            </a:r>
            <a:r>
              <a:rPr lang="en-US" b="0" i="0" dirty="0">
                <a:solidFill>
                  <a:srgbClr val="000000"/>
                </a:solidFill>
                <a:effectLst/>
                <a:latin typeface="Consolas" panose="020B0609020204030204" pitchFamily="49" charset="0"/>
              </a:rPr>
              <a:t>:</a:t>
            </a:r>
            <a:r>
              <a:rPr lang="en-US" b="0" i="0" dirty="0">
                <a:solidFill>
                  <a:srgbClr val="0000CD"/>
                </a:solidFill>
                <a:effectLst/>
                <a:latin typeface="Consolas" panose="020B0609020204030204" pitchFamily="49" charset="0"/>
              </a:rPr>
              <a:t> 0</a:t>
            </a:r>
            <a:r>
              <a:rPr lang="en-US" b="0" i="0" dirty="0">
                <a:solidFill>
                  <a:srgbClr val="000000"/>
                </a:solidFill>
                <a:effectLst/>
                <a:latin typeface="Consolas" panose="020B0609020204030204" pitchFamily="49" charset="0"/>
              </a:rPr>
              <a:t>;</a:t>
            </a:r>
            <a:r>
              <a:rPr lang="en-US" b="0" i="0" dirty="0">
                <a:solidFill>
                  <a:srgbClr val="FF0000"/>
                </a:solidFill>
                <a:effectLst/>
                <a:latin typeface="Consolas" panose="020B0609020204030204" pitchFamily="49" charset="0"/>
              </a:rPr>
              <a:t/>
            </a:r>
            <a:br>
              <a:rPr lang="en-US" b="0" i="0" dirty="0">
                <a:solidFill>
                  <a:srgbClr val="FF0000"/>
                </a:solidFill>
                <a:effectLst/>
                <a:latin typeface="Consolas" panose="020B0609020204030204" pitchFamily="49" charset="0"/>
              </a:rPr>
            </a:br>
            <a:r>
              <a:rPr lang="en-US" b="0" i="0" dirty="0">
                <a:solidFill>
                  <a:srgbClr val="FF0000"/>
                </a:solidFill>
                <a:effectLst/>
                <a:latin typeface="Consolas" panose="020B0609020204030204" pitchFamily="49" charset="0"/>
              </a:rPr>
              <a:t>  width</a:t>
            </a:r>
            <a:r>
              <a:rPr lang="en-US" b="0" i="0" dirty="0">
                <a:solidFill>
                  <a:srgbClr val="000000"/>
                </a:solidFill>
                <a:effectLst/>
                <a:latin typeface="Consolas" panose="020B0609020204030204" pitchFamily="49" charset="0"/>
              </a:rPr>
              <a:t>:</a:t>
            </a:r>
            <a:r>
              <a:rPr lang="en-US" b="0" i="0" dirty="0">
                <a:solidFill>
                  <a:srgbClr val="0000CD"/>
                </a:solidFill>
                <a:effectLst/>
                <a:latin typeface="Consolas" panose="020B0609020204030204" pitchFamily="49" charset="0"/>
              </a:rPr>
              <a:t> 200px</a:t>
            </a:r>
            <a:r>
              <a:rPr lang="en-US" b="0" i="0" dirty="0">
                <a:solidFill>
                  <a:srgbClr val="000000"/>
                </a:solidFill>
                <a:effectLst/>
                <a:latin typeface="Consolas" panose="020B0609020204030204" pitchFamily="49" charset="0"/>
              </a:rPr>
              <a:t>;</a:t>
            </a:r>
            <a:r>
              <a:rPr lang="en-US" b="0" i="0" dirty="0">
                <a:solidFill>
                  <a:srgbClr val="FF0000"/>
                </a:solidFill>
                <a:effectLst/>
                <a:latin typeface="Consolas" panose="020B0609020204030204" pitchFamily="49" charset="0"/>
              </a:rPr>
              <a:t/>
            </a:r>
            <a:br>
              <a:rPr lang="en-US" b="0" i="0" dirty="0">
                <a:solidFill>
                  <a:srgbClr val="FF0000"/>
                </a:solidFill>
                <a:effectLst/>
                <a:latin typeface="Consolas" panose="020B0609020204030204" pitchFamily="49" charset="0"/>
              </a:rPr>
            </a:br>
            <a:r>
              <a:rPr lang="en-US" b="0" i="0" dirty="0">
                <a:solidFill>
                  <a:srgbClr val="FF0000"/>
                </a:solidFill>
                <a:effectLst/>
                <a:latin typeface="Consolas" panose="020B0609020204030204" pitchFamily="49" charset="0"/>
              </a:rPr>
              <a:t>  height</a:t>
            </a:r>
            <a:r>
              <a:rPr lang="en-US" b="0" i="0" dirty="0">
                <a:solidFill>
                  <a:srgbClr val="000000"/>
                </a:solidFill>
                <a:effectLst/>
                <a:latin typeface="Consolas" panose="020B0609020204030204" pitchFamily="49" charset="0"/>
              </a:rPr>
              <a:t>:</a:t>
            </a:r>
            <a:r>
              <a:rPr lang="en-US" b="0" i="0" dirty="0">
                <a:solidFill>
                  <a:srgbClr val="0000CD"/>
                </a:solidFill>
                <a:effectLst/>
                <a:latin typeface="Consolas" panose="020B0609020204030204" pitchFamily="49" charset="0"/>
              </a:rPr>
              <a:t> 100px</a:t>
            </a:r>
            <a:r>
              <a:rPr lang="en-US" b="0" i="0" dirty="0">
                <a:solidFill>
                  <a:srgbClr val="000000"/>
                </a:solidFill>
                <a:effectLst/>
                <a:latin typeface="Consolas" panose="020B0609020204030204" pitchFamily="49" charset="0"/>
              </a:rPr>
              <a:t>;</a:t>
            </a:r>
            <a:r>
              <a:rPr lang="en-US" b="0" i="0" dirty="0">
                <a:solidFill>
                  <a:srgbClr val="FF0000"/>
                </a:solidFill>
                <a:effectLst/>
                <a:latin typeface="Consolas" panose="020B0609020204030204" pitchFamily="49" charset="0"/>
              </a:rPr>
              <a:t/>
            </a:r>
            <a:br>
              <a:rPr lang="en-US" b="0" i="0" dirty="0">
                <a:solidFill>
                  <a:srgbClr val="FF0000"/>
                </a:solidFill>
                <a:effectLst/>
                <a:latin typeface="Consolas" panose="020B0609020204030204" pitchFamily="49" charset="0"/>
              </a:rPr>
            </a:br>
            <a:r>
              <a:rPr lang="en-US" b="0" i="0" dirty="0">
                <a:solidFill>
                  <a:srgbClr val="FF0000"/>
                </a:solidFill>
                <a:effectLst/>
                <a:latin typeface="Consolas" panose="020B0609020204030204" pitchFamily="49" charset="0"/>
              </a:rPr>
              <a:t>  border</a:t>
            </a:r>
            <a:r>
              <a:rPr lang="en-US" b="0" i="0" dirty="0">
                <a:solidFill>
                  <a:srgbClr val="000000"/>
                </a:solidFill>
                <a:effectLst/>
                <a:latin typeface="Consolas" panose="020B0609020204030204" pitchFamily="49" charset="0"/>
              </a:rPr>
              <a:t>:</a:t>
            </a:r>
            <a:r>
              <a:rPr lang="en-US" b="0" i="0" dirty="0">
                <a:solidFill>
                  <a:srgbClr val="0000CD"/>
                </a:solidFill>
                <a:effectLst/>
                <a:latin typeface="Consolas" panose="020B0609020204030204" pitchFamily="49" charset="0"/>
              </a:rPr>
              <a:t> 3px solid #73AD21</a:t>
            </a:r>
            <a:r>
              <a:rPr lang="en-US" b="0" i="0" dirty="0">
                <a:solidFill>
                  <a:srgbClr val="000000"/>
                </a:solidFill>
                <a:effectLst/>
                <a:latin typeface="Consolas" panose="020B0609020204030204" pitchFamily="49" charset="0"/>
              </a:rPr>
              <a:t>;</a:t>
            </a:r>
            <a:r>
              <a:rPr lang="en-US" b="0" i="0" dirty="0">
                <a:solidFill>
                  <a:srgbClr val="FF0000"/>
                </a:solidFill>
                <a:effectLst/>
                <a:latin typeface="Consolas" panose="020B0609020204030204" pitchFamily="49" charset="0"/>
              </a:rPr>
              <a:t/>
            </a:r>
            <a:br>
              <a:rPr lang="en-US" b="0" i="0" dirty="0">
                <a:solidFill>
                  <a:srgbClr val="FF0000"/>
                </a:solidFill>
                <a:effectLst/>
                <a:latin typeface="Consolas" panose="020B0609020204030204" pitchFamily="49" charset="0"/>
              </a:rPr>
            </a:br>
            <a:r>
              <a:rPr lang="en-US" b="0" i="0" dirty="0">
                <a:solidFill>
                  <a:srgbClr val="000000"/>
                </a:solidFill>
                <a:effectLst/>
                <a:latin typeface="Consolas" panose="020B0609020204030204" pitchFamily="49" charset="0"/>
              </a:rPr>
              <a:t>}</a:t>
            </a:r>
            <a:endParaRPr lang="en-US" dirty="0"/>
          </a:p>
        </p:txBody>
      </p:sp>
      <p:sp>
        <p:nvSpPr>
          <p:cNvPr id="4" name="Content Placeholder 2">
            <a:extLst>
              <a:ext uri="{FF2B5EF4-FFF2-40B4-BE49-F238E27FC236}">
                <a16:creationId xmlns:a16="http://schemas.microsoft.com/office/drawing/2014/main" id="{13866CAD-356A-2598-4D62-944C1A936624}"/>
              </a:ext>
            </a:extLst>
          </p:cNvPr>
          <p:cNvSpPr txBox="1">
            <a:spLocks/>
          </p:cNvSpPr>
          <p:nvPr/>
        </p:nvSpPr>
        <p:spPr>
          <a:xfrm>
            <a:off x="1687095" y="3544187"/>
            <a:ext cx="3983540" cy="2425433"/>
          </a:xfrm>
          <a:prstGeom prst="rect">
            <a:avLst/>
          </a:prstGeom>
        </p:spPr>
        <p:txBody>
          <a:bodyPr vert="horz" lIns="91440" tIns="45720" rIns="91440" bIns="45720" rtlCol="0" anchor="t">
            <a:normAutofit fontScale="92500"/>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marL="0" indent="0">
              <a:buFont typeface="Arial" panose="020B0604020202020204" pitchFamily="34" charset="0"/>
              <a:buNone/>
            </a:pPr>
            <a:r>
              <a:rPr lang="en-US" dirty="0" err="1">
                <a:solidFill>
                  <a:srgbClr val="A52A2A"/>
                </a:solidFill>
                <a:latin typeface="Consolas" panose="020B0609020204030204" pitchFamily="49" charset="0"/>
              </a:rPr>
              <a:t>div.parent</a:t>
            </a:r>
            <a:r>
              <a:rPr lang="en-US" dirty="0">
                <a:solidFill>
                  <a:srgbClr val="A52A2A"/>
                </a:solidFill>
                <a:latin typeface="Consolas" panose="020B0609020204030204" pitchFamily="49" charset="0"/>
              </a:rPr>
              <a:t> </a:t>
            </a:r>
            <a:r>
              <a:rPr lang="en-US" dirty="0">
                <a:solidFill>
                  <a:srgbClr val="000000"/>
                </a:solidFill>
                <a:latin typeface="Consolas" panose="020B0609020204030204" pitchFamily="49" charset="0"/>
              </a:rPr>
              <a:t>{</a:t>
            </a:r>
            <a:r>
              <a:rPr lang="en-US" dirty="0">
                <a:solidFill>
                  <a:srgbClr val="FF0000"/>
                </a:solidFill>
                <a:latin typeface="Consolas" panose="020B0609020204030204" pitchFamily="49" charset="0"/>
              </a:rPr>
              <a:t/>
            </a:r>
            <a:br>
              <a:rPr lang="en-US" dirty="0">
                <a:solidFill>
                  <a:srgbClr val="FF0000"/>
                </a:solidFill>
                <a:latin typeface="Consolas" panose="020B0609020204030204" pitchFamily="49" charset="0"/>
              </a:rPr>
            </a:br>
            <a:r>
              <a:rPr lang="en-US" dirty="0">
                <a:solidFill>
                  <a:srgbClr val="FF0000"/>
                </a:solidFill>
                <a:latin typeface="Consolas" panose="020B0609020204030204" pitchFamily="49" charset="0"/>
              </a:rPr>
              <a:t>  position</a:t>
            </a:r>
            <a:r>
              <a:rPr lang="en-US" dirty="0">
                <a:solidFill>
                  <a:srgbClr val="000000"/>
                </a:solidFill>
                <a:latin typeface="Consolas" panose="020B0609020204030204" pitchFamily="49" charset="0"/>
              </a:rPr>
              <a:t>:</a:t>
            </a:r>
            <a:r>
              <a:rPr lang="en-US" dirty="0">
                <a:solidFill>
                  <a:srgbClr val="0000CD"/>
                </a:solidFill>
                <a:latin typeface="Consolas" panose="020B0609020204030204" pitchFamily="49" charset="0"/>
              </a:rPr>
              <a:t> relative</a:t>
            </a:r>
            <a:r>
              <a:rPr lang="en-US" dirty="0">
                <a:solidFill>
                  <a:srgbClr val="000000"/>
                </a:solidFill>
                <a:latin typeface="Consolas" panose="020B0609020204030204" pitchFamily="49" charset="0"/>
              </a:rPr>
              <a:t>;</a:t>
            </a:r>
            <a:r>
              <a:rPr lang="en-US" dirty="0">
                <a:solidFill>
                  <a:srgbClr val="FF0000"/>
                </a:solidFill>
                <a:latin typeface="Consolas" panose="020B0609020204030204" pitchFamily="49" charset="0"/>
              </a:rPr>
              <a:t/>
            </a:r>
            <a:br>
              <a:rPr lang="en-US" dirty="0">
                <a:solidFill>
                  <a:srgbClr val="FF0000"/>
                </a:solidFill>
                <a:latin typeface="Consolas" panose="020B0609020204030204" pitchFamily="49" charset="0"/>
              </a:rPr>
            </a:br>
            <a:r>
              <a:rPr lang="en-US" dirty="0">
                <a:solidFill>
                  <a:srgbClr val="FF0000"/>
                </a:solidFill>
                <a:latin typeface="Consolas" panose="020B0609020204030204" pitchFamily="49" charset="0"/>
              </a:rPr>
              <a:t>  width</a:t>
            </a:r>
            <a:r>
              <a:rPr lang="en-US" dirty="0">
                <a:solidFill>
                  <a:srgbClr val="000000"/>
                </a:solidFill>
                <a:latin typeface="Consolas" panose="020B0609020204030204" pitchFamily="49" charset="0"/>
              </a:rPr>
              <a:t>:</a:t>
            </a:r>
            <a:r>
              <a:rPr lang="en-US" dirty="0">
                <a:solidFill>
                  <a:srgbClr val="0000CD"/>
                </a:solidFill>
                <a:latin typeface="Consolas" panose="020B0609020204030204" pitchFamily="49" charset="0"/>
              </a:rPr>
              <a:t> 400px</a:t>
            </a:r>
            <a:r>
              <a:rPr lang="en-US" dirty="0">
                <a:solidFill>
                  <a:srgbClr val="000000"/>
                </a:solidFill>
                <a:latin typeface="Consolas" panose="020B0609020204030204" pitchFamily="49" charset="0"/>
              </a:rPr>
              <a:t>;</a:t>
            </a:r>
            <a:r>
              <a:rPr lang="en-US" dirty="0">
                <a:solidFill>
                  <a:srgbClr val="FF0000"/>
                </a:solidFill>
                <a:latin typeface="Consolas" panose="020B0609020204030204" pitchFamily="49" charset="0"/>
              </a:rPr>
              <a:t/>
            </a:r>
            <a:br>
              <a:rPr lang="en-US" dirty="0">
                <a:solidFill>
                  <a:srgbClr val="FF0000"/>
                </a:solidFill>
                <a:latin typeface="Consolas" panose="020B0609020204030204" pitchFamily="49" charset="0"/>
              </a:rPr>
            </a:br>
            <a:r>
              <a:rPr lang="en-US" dirty="0">
                <a:solidFill>
                  <a:srgbClr val="FF0000"/>
                </a:solidFill>
                <a:latin typeface="Consolas" panose="020B0609020204030204" pitchFamily="49" charset="0"/>
              </a:rPr>
              <a:t>  height</a:t>
            </a:r>
            <a:r>
              <a:rPr lang="en-US" dirty="0">
                <a:solidFill>
                  <a:srgbClr val="000000"/>
                </a:solidFill>
                <a:latin typeface="Consolas" panose="020B0609020204030204" pitchFamily="49" charset="0"/>
              </a:rPr>
              <a:t>:</a:t>
            </a:r>
            <a:r>
              <a:rPr lang="en-US" dirty="0">
                <a:solidFill>
                  <a:srgbClr val="0000CD"/>
                </a:solidFill>
                <a:latin typeface="Consolas" panose="020B0609020204030204" pitchFamily="49" charset="0"/>
              </a:rPr>
              <a:t> 200px</a:t>
            </a:r>
            <a:r>
              <a:rPr lang="en-US" dirty="0">
                <a:solidFill>
                  <a:srgbClr val="000000"/>
                </a:solidFill>
                <a:latin typeface="Consolas" panose="020B0609020204030204" pitchFamily="49" charset="0"/>
              </a:rPr>
              <a:t>;</a:t>
            </a:r>
            <a:r>
              <a:rPr lang="en-US" dirty="0">
                <a:solidFill>
                  <a:srgbClr val="FF0000"/>
                </a:solidFill>
                <a:latin typeface="Consolas" panose="020B0609020204030204" pitchFamily="49" charset="0"/>
              </a:rPr>
              <a:t/>
            </a:r>
            <a:br>
              <a:rPr lang="en-US" dirty="0">
                <a:solidFill>
                  <a:srgbClr val="FF0000"/>
                </a:solidFill>
                <a:latin typeface="Consolas" panose="020B0609020204030204" pitchFamily="49" charset="0"/>
              </a:rPr>
            </a:br>
            <a:r>
              <a:rPr lang="en-US" dirty="0">
                <a:solidFill>
                  <a:srgbClr val="FF0000"/>
                </a:solidFill>
                <a:latin typeface="Consolas" panose="020B0609020204030204" pitchFamily="49" charset="0"/>
              </a:rPr>
              <a:t>  border</a:t>
            </a:r>
            <a:r>
              <a:rPr lang="en-US" dirty="0">
                <a:solidFill>
                  <a:srgbClr val="000000"/>
                </a:solidFill>
                <a:latin typeface="Consolas" panose="020B0609020204030204" pitchFamily="49" charset="0"/>
              </a:rPr>
              <a:t>:</a:t>
            </a:r>
            <a:r>
              <a:rPr lang="en-US" dirty="0">
                <a:solidFill>
                  <a:srgbClr val="0000CD"/>
                </a:solidFill>
                <a:latin typeface="Consolas" panose="020B0609020204030204" pitchFamily="49" charset="0"/>
              </a:rPr>
              <a:t> 3px solid #73AD21</a:t>
            </a:r>
            <a:r>
              <a:rPr lang="en-US" dirty="0">
                <a:solidFill>
                  <a:srgbClr val="000000"/>
                </a:solidFill>
                <a:latin typeface="Consolas" panose="020B0609020204030204" pitchFamily="49" charset="0"/>
              </a:rPr>
              <a:t>;</a:t>
            </a:r>
            <a:r>
              <a:rPr lang="en-US" dirty="0">
                <a:solidFill>
                  <a:srgbClr val="FF0000"/>
                </a:solidFill>
                <a:latin typeface="Consolas" panose="020B0609020204030204" pitchFamily="49" charset="0"/>
              </a:rPr>
              <a:t/>
            </a:r>
            <a:br>
              <a:rPr lang="en-US" dirty="0">
                <a:solidFill>
                  <a:srgbClr val="FF0000"/>
                </a:solidFill>
                <a:latin typeface="Consolas" panose="020B0609020204030204" pitchFamily="49" charset="0"/>
              </a:rPr>
            </a:br>
            <a:r>
              <a:rPr lang="en-US" dirty="0">
                <a:solidFill>
                  <a:srgbClr val="000000"/>
                </a:solidFill>
                <a:latin typeface="Consolas" panose="020B0609020204030204" pitchFamily="49" charset="0"/>
              </a:rPr>
              <a:t>}</a:t>
            </a:r>
            <a:endParaRPr lang="en-US" dirty="0"/>
          </a:p>
        </p:txBody>
      </p:sp>
      <p:pic>
        <p:nvPicPr>
          <p:cNvPr id="6" name="Picture 5">
            <a:extLst>
              <a:ext uri="{FF2B5EF4-FFF2-40B4-BE49-F238E27FC236}">
                <a16:creationId xmlns:a16="http://schemas.microsoft.com/office/drawing/2014/main" id="{CA2B6313-F923-8FA2-097E-266B2BC0AA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5588" y="262490"/>
            <a:ext cx="7127296" cy="3180018"/>
          </a:xfrm>
          <a:prstGeom prst="rect">
            <a:avLst/>
          </a:prstGeom>
        </p:spPr>
      </p:pic>
    </p:spTree>
    <p:extLst>
      <p:ext uri="{BB962C8B-B14F-4D97-AF65-F5344CB8AC3E}">
        <p14:creationId xmlns:p14="http://schemas.microsoft.com/office/powerpoint/2010/main" val="42519259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4CD4A-A61F-7892-FDA9-02319BC93894}"/>
              </a:ext>
            </a:extLst>
          </p:cNvPr>
          <p:cNvSpPr>
            <a:spLocks noGrp="1"/>
          </p:cNvSpPr>
          <p:nvPr>
            <p:ph type="title"/>
          </p:nvPr>
        </p:nvSpPr>
        <p:spPr>
          <a:xfrm>
            <a:off x="1534696" y="804520"/>
            <a:ext cx="9520158" cy="747834"/>
          </a:xfrm>
        </p:spPr>
        <p:txBody>
          <a:bodyPr/>
          <a:lstStyle/>
          <a:p>
            <a:r>
              <a:rPr lang="en-US" b="1" u="sng" dirty="0"/>
              <a:t>Class Exercise:</a:t>
            </a:r>
          </a:p>
        </p:txBody>
      </p:sp>
      <p:sp>
        <p:nvSpPr>
          <p:cNvPr id="3" name="Content Placeholder 2">
            <a:extLst>
              <a:ext uri="{FF2B5EF4-FFF2-40B4-BE49-F238E27FC236}">
                <a16:creationId xmlns:a16="http://schemas.microsoft.com/office/drawing/2014/main" id="{8C36690F-1E5A-8B21-DC27-4D0817ACE539}"/>
              </a:ext>
            </a:extLst>
          </p:cNvPr>
          <p:cNvSpPr>
            <a:spLocks noGrp="1"/>
          </p:cNvSpPr>
          <p:nvPr>
            <p:ph idx="1"/>
          </p:nvPr>
        </p:nvSpPr>
        <p:spPr/>
        <p:txBody>
          <a:bodyPr>
            <a:normAutofit/>
          </a:bodyPr>
          <a:lstStyle/>
          <a:p>
            <a:pPr>
              <a:defRPr/>
            </a:pPr>
            <a:r>
              <a:rPr lang="en-US" altLang="en-US" sz="2400" dirty="0">
                <a:solidFill>
                  <a:schemeClr val="tx1">
                    <a:lumMod val="85000"/>
                    <a:lumOff val="15000"/>
                  </a:schemeClr>
                </a:solidFill>
              </a:rPr>
              <a:t>Create a div tag and place an image within the div</a:t>
            </a:r>
          </a:p>
          <a:p>
            <a:pPr>
              <a:defRPr/>
            </a:pPr>
            <a:r>
              <a:rPr lang="en-US" altLang="en-US" sz="2400" dirty="0">
                <a:solidFill>
                  <a:schemeClr val="tx1">
                    <a:lumMod val="85000"/>
                    <a:lumOff val="15000"/>
                  </a:schemeClr>
                </a:solidFill>
              </a:rPr>
              <a:t>Let the image be 100% width (to fill up the div)</a:t>
            </a:r>
          </a:p>
          <a:p>
            <a:pPr>
              <a:defRPr/>
            </a:pPr>
            <a:r>
              <a:rPr lang="en-US" altLang="en-US" sz="2400" dirty="0">
                <a:solidFill>
                  <a:schemeClr val="tx1">
                    <a:lumMod val="85000"/>
                    <a:lumOff val="15000"/>
                  </a:schemeClr>
                </a:solidFill>
              </a:rPr>
              <a:t>Using the absolute positioning, place an h1 tag on the page and position it in such a way that it will sit on the image (you may give the h1 a brighter color  for easy recognition)</a:t>
            </a:r>
          </a:p>
          <a:p>
            <a:pPr marL="0" indent="0">
              <a:buNone/>
            </a:pPr>
            <a:endParaRPr lang="en-US" sz="2400" dirty="0"/>
          </a:p>
        </p:txBody>
      </p:sp>
    </p:spTree>
    <p:extLst>
      <p:ext uri="{BB962C8B-B14F-4D97-AF65-F5344CB8AC3E}">
        <p14:creationId xmlns:p14="http://schemas.microsoft.com/office/powerpoint/2010/main" val="7147386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81994-96B1-70A3-8ED6-2A12DC562BDE}"/>
              </a:ext>
            </a:extLst>
          </p:cNvPr>
          <p:cNvSpPr>
            <a:spLocks noGrp="1"/>
          </p:cNvSpPr>
          <p:nvPr>
            <p:ph type="title"/>
          </p:nvPr>
        </p:nvSpPr>
        <p:spPr>
          <a:xfrm>
            <a:off x="1534696" y="81505"/>
            <a:ext cx="9520158" cy="726569"/>
          </a:xfrm>
        </p:spPr>
        <p:txBody>
          <a:bodyPr/>
          <a:lstStyle/>
          <a:p>
            <a:r>
              <a:rPr lang="en-US" dirty="0"/>
              <a:t>STICKY POSITIONING</a:t>
            </a:r>
          </a:p>
        </p:txBody>
      </p:sp>
      <p:sp>
        <p:nvSpPr>
          <p:cNvPr id="3" name="Content Placeholder 2">
            <a:extLst>
              <a:ext uri="{FF2B5EF4-FFF2-40B4-BE49-F238E27FC236}">
                <a16:creationId xmlns:a16="http://schemas.microsoft.com/office/drawing/2014/main" id="{0888BE23-592B-0854-8960-FC57C7BD3A0C}"/>
              </a:ext>
            </a:extLst>
          </p:cNvPr>
          <p:cNvSpPr>
            <a:spLocks noGrp="1"/>
          </p:cNvSpPr>
          <p:nvPr>
            <p:ph idx="1"/>
          </p:nvPr>
        </p:nvSpPr>
        <p:spPr>
          <a:xfrm>
            <a:off x="1534696" y="1016994"/>
            <a:ext cx="9520158" cy="3450613"/>
          </a:xfrm>
        </p:spPr>
        <p:txBody>
          <a:bodyPr>
            <a:noAutofit/>
          </a:bodyPr>
          <a:lstStyle/>
          <a:p>
            <a:r>
              <a:rPr lang="en-US" altLang="en-US" sz="2200" dirty="0">
                <a:solidFill>
                  <a:schemeClr val="tx1"/>
                </a:solidFill>
              </a:rPr>
              <a:t>A stickily positioned element is treated as relatively positioned until it crosses a specified threshold, at which point it is treated as fixed until it reaches the boundary of its parent.</a:t>
            </a:r>
          </a:p>
          <a:p>
            <a:r>
              <a:rPr lang="en-US" altLang="en-US" sz="2200" b="1" dirty="0">
                <a:solidFill>
                  <a:schemeClr val="tx1"/>
                </a:solidFill>
              </a:rPr>
              <a:t>Note</a:t>
            </a:r>
            <a:r>
              <a:rPr lang="en-US" altLang="en-US" sz="2200" dirty="0">
                <a:solidFill>
                  <a:schemeClr val="tx1"/>
                </a:solidFill>
              </a:rPr>
              <a:t>: </a:t>
            </a:r>
            <a:r>
              <a:rPr lang="en-US" altLang="en-US" sz="2200" dirty="0">
                <a:solidFill>
                  <a:schemeClr val="accent4">
                    <a:lumMod val="60000"/>
                    <a:lumOff val="40000"/>
                  </a:schemeClr>
                </a:solidFill>
              </a:rPr>
              <a:t>Internet Explorer does not support sticky positioning. Safari requires a -</a:t>
            </a:r>
            <a:r>
              <a:rPr lang="en-US" altLang="en-US" sz="2200" dirty="0" err="1">
                <a:solidFill>
                  <a:schemeClr val="accent4">
                    <a:lumMod val="60000"/>
                    <a:lumOff val="40000"/>
                  </a:schemeClr>
                </a:solidFill>
              </a:rPr>
              <a:t>webkit</a:t>
            </a:r>
            <a:r>
              <a:rPr lang="en-US" altLang="en-US" sz="2200" dirty="0">
                <a:solidFill>
                  <a:schemeClr val="accent4">
                    <a:lumMod val="60000"/>
                    <a:lumOff val="40000"/>
                  </a:schemeClr>
                </a:solidFill>
              </a:rPr>
              <a:t>- prefix (see example below). You must also specify at least one of top, right, bottom or left for sticky positioning to work.</a:t>
            </a:r>
          </a:p>
          <a:p>
            <a:r>
              <a:rPr lang="en-US" altLang="en-US" sz="2200" dirty="0">
                <a:solidFill>
                  <a:schemeClr val="tx1"/>
                </a:solidFill>
              </a:rPr>
              <a:t>Sticky positioning can be thought of as a hybrid of relative and fixed positioning.</a:t>
            </a:r>
          </a:p>
          <a:p>
            <a:r>
              <a:rPr lang="en-US" altLang="en-US" sz="2200" dirty="0">
                <a:solidFill>
                  <a:schemeClr val="tx1"/>
                </a:solidFill>
              </a:rPr>
              <a:t> You must specify a threshold* with at least one of top, right, bottom, or left for sticky positioning to behave as expected. Otherwise, it will be indistinguishable from relative positioning.</a:t>
            </a:r>
          </a:p>
          <a:p>
            <a:pPr marL="0" indent="0">
              <a:buNone/>
            </a:pPr>
            <a:endParaRPr lang="en-US" sz="2200" dirty="0"/>
          </a:p>
        </p:txBody>
      </p:sp>
    </p:spTree>
    <p:extLst>
      <p:ext uri="{BB962C8B-B14F-4D97-AF65-F5344CB8AC3E}">
        <p14:creationId xmlns:p14="http://schemas.microsoft.com/office/powerpoint/2010/main" val="12760342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49F51-2DCF-564D-DE53-AF1A8BB5C8BB}"/>
              </a:ext>
            </a:extLst>
          </p:cNvPr>
          <p:cNvSpPr>
            <a:spLocks noGrp="1"/>
          </p:cNvSpPr>
          <p:nvPr>
            <p:ph type="title"/>
          </p:nvPr>
        </p:nvSpPr>
        <p:spPr>
          <a:xfrm>
            <a:off x="1534696" y="1"/>
            <a:ext cx="9520158" cy="754912"/>
          </a:xfrm>
        </p:spPr>
        <p:txBody>
          <a:bodyPr/>
          <a:lstStyle/>
          <a:p>
            <a:r>
              <a:rPr lang="en-US" b="1" dirty="0"/>
              <a:t>CSS Z-index</a:t>
            </a:r>
          </a:p>
        </p:txBody>
      </p:sp>
      <p:sp>
        <p:nvSpPr>
          <p:cNvPr id="3" name="Content Placeholder 2">
            <a:extLst>
              <a:ext uri="{FF2B5EF4-FFF2-40B4-BE49-F238E27FC236}">
                <a16:creationId xmlns:a16="http://schemas.microsoft.com/office/drawing/2014/main" id="{EEBA69B7-212B-DD03-3E5D-B5E42BEC017E}"/>
              </a:ext>
            </a:extLst>
          </p:cNvPr>
          <p:cNvSpPr>
            <a:spLocks noGrp="1"/>
          </p:cNvSpPr>
          <p:nvPr>
            <p:ph idx="1"/>
          </p:nvPr>
        </p:nvSpPr>
        <p:spPr>
          <a:xfrm>
            <a:off x="1534696" y="956930"/>
            <a:ext cx="9520158" cy="5039833"/>
          </a:xfrm>
        </p:spPr>
        <p:txBody>
          <a:bodyPr>
            <a:normAutofit/>
          </a:bodyPr>
          <a:lstStyle/>
          <a:p>
            <a:r>
              <a:rPr lang="en-US" altLang="en-US" sz="2400" dirty="0"/>
              <a:t>Positioning may cause elements to overlap on each other</a:t>
            </a:r>
          </a:p>
          <a:p>
            <a:r>
              <a:rPr lang="en-US" altLang="en-US" sz="2400" dirty="0"/>
              <a:t>The z-index specifies the stack order of an element (should they overlap). An element can have a negative or positive z-index value.</a:t>
            </a:r>
          </a:p>
          <a:p>
            <a:r>
              <a:rPr lang="en-US" altLang="en-US" sz="2400" dirty="0"/>
              <a:t>Higher z-index values bring elements closer to the viewer, while lower values push them further back.</a:t>
            </a:r>
          </a:p>
          <a:p>
            <a:r>
              <a:rPr lang="en-US" altLang="en-US" sz="2400" dirty="0"/>
              <a:t>When not set, the default z-index value for page elements is 0, elements with a </a:t>
            </a:r>
            <a:r>
              <a:rPr lang="en-US" altLang="en-US" sz="2400" b="1" dirty="0"/>
              <a:t>negative z-index value appear behind</a:t>
            </a:r>
            <a:r>
              <a:rPr lang="en-US" altLang="en-US" sz="2400" dirty="0"/>
              <a:t> elements without a set z-index value</a:t>
            </a:r>
          </a:p>
          <a:p>
            <a:r>
              <a:rPr lang="en-GB" altLang="en-US" sz="2400" b="1" dirty="0"/>
              <a:t>The element must be positioned before it can respond to z-index;</a:t>
            </a:r>
            <a:endParaRPr lang="en-US" altLang="en-US" sz="2400" b="1" dirty="0"/>
          </a:p>
          <a:p>
            <a:pPr marL="0" indent="0">
              <a:buNone/>
            </a:pPr>
            <a:r>
              <a:rPr lang="en-US" sz="2400" b="1" u="sng" dirty="0" smtClean="0">
                <a:solidFill>
                  <a:schemeClr val="bg2">
                    <a:lumMod val="25000"/>
                  </a:schemeClr>
                </a:solidFill>
              </a:rPr>
              <a:t>NOTE: </a:t>
            </a:r>
            <a:r>
              <a:rPr lang="en-US" sz="2400" dirty="0" smtClean="0">
                <a:solidFill>
                  <a:srgbClr val="C00000"/>
                </a:solidFill>
              </a:rPr>
              <a:t>Z-index </a:t>
            </a:r>
            <a:r>
              <a:rPr lang="en-US" sz="2400" dirty="0">
                <a:solidFill>
                  <a:srgbClr val="C00000"/>
                </a:solidFill>
              </a:rPr>
              <a:t>only works on positioned elements.</a:t>
            </a:r>
          </a:p>
        </p:txBody>
      </p:sp>
    </p:spTree>
    <p:extLst>
      <p:ext uri="{BB962C8B-B14F-4D97-AF65-F5344CB8AC3E}">
        <p14:creationId xmlns:p14="http://schemas.microsoft.com/office/powerpoint/2010/main" val="37186877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D51D41-7CC9-200B-418E-D7A488A5E4D1}"/>
              </a:ext>
            </a:extLst>
          </p:cNvPr>
          <p:cNvSpPr>
            <a:spLocks noGrp="1"/>
          </p:cNvSpPr>
          <p:nvPr>
            <p:ph type="title"/>
          </p:nvPr>
        </p:nvSpPr>
        <p:spPr>
          <a:xfrm>
            <a:off x="1534696" y="230361"/>
            <a:ext cx="9520158" cy="1049235"/>
          </a:xfrm>
        </p:spPr>
        <p:txBody>
          <a:bodyPr>
            <a:normAutofit/>
          </a:bodyPr>
          <a:lstStyle/>
          <a:p>
            <a:r>
              <a:rPr lang="en-US" sz="3200" b="1" u="sng" dirty="0"/>
              <a:t>Exercise: </a:t>
            </a:r>
            <a:r>
              <a:rPr lang="en-US" sz="2900" dirty="0"/>
              <a:t>  Achieve the stack shown using positioning:</a:t>
            </a:r>
            <a:br>
              <a:rPr lang="en-US" sz="2900" dirty="0"/>
            </a:br>
            <a:r>
              <a:rPr lang="en-US" sz="2900" dirty="0"/>
              <a:t>Hint: z-index, positioning, </a:t>
            </a:r>
            <a:r>
              <a:rPr lang="en-US" sz="2900" dirty="0"/>
              <a:t>t</a:t>
            </a:r>
            <a:r>
              <a:rPr lang="en-US" sz="2900" dirty="0" smtClean="0"/>
              <a:t>ransparency</a:t>
            </a:r>
            <a:r>
              <a:rPr lang="en-US" sz="2900" dirty="0" smtClean="0"/>
              <a:t>.</a:t>
            </a:r>
            <a:endParaRPr lang="en-US" sz="2900" dirty="0"/>
          </a:p>
        </p:txBody>
      </p:sp>
      <p:pic>
        <p:nvPicPr>
          <p:cNvPr id="9" name="Picture 8">
            <a:extLst>
              <a:ext uri="{FF2B5EF4-FFF2-40B4-BE49-F238E27FC236}">
                <a16:creationId xmlns:a16="http://schemas.microsoft.com/office/drawing/2014/main" id="{120F5BCE-C62F-7669-29B3-15BD65C58A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75098" y="1304695"/>
            <a:ext cx="5667153" cy="5553305"/>
          </a:xfrm>
          <a:prstGeom prst="rect">
            <a:avLst/>
          </a:prstGeom>
        </p:spPr>
      </p:pic>
    </p:spTree>
    <p:extLst>
      <p:ext uri="{BB962C8B-B14F-4D97-AF65-F5344CB8AC3E}">
        <p14:creationId xmlns:p14="http://schemas.microsoft.com/office/powerpoint/2010/main" val="6102344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55AC7-DCB5-7E03-2539-3F0DE407F3E4}"/>
              </a:ext>
            </a:extLst>
          </p:cNvPr>
          <p:cNvSpPr>
            <a:spLocks noGrp="1"/>
          </p:cNvSpPr>
          <p:nvPr>
            <p:ph type="title"/>
          </p:nvPr>
        </p:nvSpPr>
        <p:spPr>
          <a:xfrm>
            <a:off x="976434" y="191229"/>
            <a:ext cx="10505412" cy="832895"/>
          </a:xfrm>
        </p:spPr>
        <p:txBody>
          <a:bodyPr>
            <a:normAutofit fontScale="90000"/>
          </a:bodyPr>
          <a:lstStyle/>
          <a:p>
            <a:r>
              <a:rPr lang="en-US" sz="3300" b="1" dirty="0" smtClean="0"/>
              <a:t>CLASS EXERCISE </a:t>
            </a:r>
            <a:r>
              <a:rPr lang="en-US" b="1" dirty="0"/>
              <a:t>- </a:t>
            </a:r>
            <a:r>
              <a:rPr lang="en-US" sz="2900" b="1" dirty="0"/>
              <a:t>Create something similar to this: A part of a real website:</a:t>
            </a:r>
          </a:p>
        </p:txBody>
      </p:sp>
      <p:pic>
        <p:nvPicPr>
          <p:cNvPr id="4" name="Content Placeholder 3">
            <a:extLst>
              <a:ext uri="{FF2B5EF4-FFF2-40B4-BE49-F238E27FC236}">
                <a16:creationId xmlns:a16="http://schemas.microsoft.com/office/drawing/2014/main" id="{6A1F4CCC-B5EE-FEA4-EA64-7B9B95B0B47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76434" y="1297172"/>
            <a:ext cx="10900133" cy="5008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532444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D99C7-212F-1E2A-21D7-F938388EFED4}"/>
              </a:ext>
            </a:extLst>
          </p:cNvPr>
          <p:cNvSpPr>
            <a:spLocks noGrp="1"/>
          </p:cNvSpPr>
          <p:nvPr>
            <p:ph type="title"/>
          </p:nvPr>
        </p:nvSpPr>
        <p:spPr>
          <a:xfrm>
            <a:off x="311085" y="518474"/>
            <a:ext cx="9282614" cy="405354"/>
          </a:xfrm>
        </p:spPr>
        <p:txBody>
          <a:bodyPr>
            <a:noAutofit/>
          </a:bodyPr>
          <a:lstStyle/>
          <a:p>
            <a:r>
              <a:rPr lang="en-US" sz="3000" b="1" i="1" u="sng" dirty="0"/>
              <a:t>Assignment: </a:t>
            </a:r>
            <a:r>
              <a:rPr lang="en-US" sz="3000" b="1" i="1" dirty="0"/>
              <a:t>Try achieving this layout using everything you have learnt so far. Use any similar photo.</a:t>
            </a:r>
          </a:p>
        </p:txBody>
      </p:sp>
      <p:pic>
        <p:nvPicPr>
          <p:cNvPr id="5" name="Content Placeholder 4">
            <a:extLst>
              <a:ext uri="{FF2B5EF4-FFF2-40B4-BE49-F238E27FC236}">
                <a16:creationId xmlns:a16="http://schemas.microsoft.com/office/drawing/2014/main" id="{C13B58D1-AD3B-E9B7-3CD3-3CAAE509F51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1084" y="1352814"/>
            <a:ext cx="11783505" cy="5505186"/>
          </a:xfrm>
        </p:spPr>
      </p:pic>
    </p:spTree>
    <p:extLst>
      <p:ext uri="{BB962C8B-B14F-4D97-AF65-F5344CB8AC3E}">
        <p14:creationId xmlns:p14="http://schemas.microsoft.com/office/powerpoint/2010/main" val="42119874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9667</TotalTime>
  <Words>1045</Words>
  <Application>Microsoft Office PowerPoint</Application>
  <PresentationFormat>Widescreen</PresentationFormat>
  <Paragraphs>69</Paragraphs>
  <Slides>15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Calibri</vt:lpstr>
      <vt:lpstr>Calibri Light</vt:lpstr>
      <vt:lpstr>Consolas</vt:lpstr>
      <vt:lpstr>Courier New</vt:lpstr>
      <vt:lpstr>Wingdings</vt:lpstr>
      <vt:lpstr>Office Theme</vt:lpstr>
      <vt:lpstr>PowerPoint Presentation</vt:lpstr>
      <vt:lpstr>Positioning Rules:</vt:lpstr>
      <vt:lpstr>STATIC POSITIONING</vt:lpstr>
      <vt:lpstr>RELATIVE POSITIONING</vt:lpstr>
      <vt:lpstr>PowerPoint Presentation</vt:lpstr>
      <vt:lpstr>FIXED POSITIONING</vt:lpstr>
      <vt:lpstr>PowerPoint Presentation</vt:lpstr>
      <vt:lpstr>ABSOLUTE POSITIONING</vt:lpstr>
      <vt:lpstr>PowerPoint Presentation</vt:lpstr>
      <vt:lpstr>Class Exercise:</vt:lpstr>
      <vt:lpstr>STICKY POSITIONING</vt:lpstr>
      <vt:lpstr>CSS Z-index</vt:lpstr>
      <vt:lpstr>Exercise:   Achieve the stack shown using positioning: Hint: z-index, positioning, transparency.</vt:lpstr>
      <vt:lpstr>CLASS EXERCISE - Create something similar to this: A part of a real website:</vt:lpstr>
      <vt:lpstr>Assignment: Try achieving this layout using everything you have learnt so far. Use any similar photo.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Windows User</cp:lastModifiedBy>
  <cp:revision>47</cp:revision>
  <dcterms:created xsi:type="dcterms:W3CDTF">2024-01-17T09:09:54Z</dcterms:created>
  <dcterms:modified xsi:type="dcterms:W3CDTF">2025-11-08T21:35:32Z</dcterms:modified>
</cp:coreProperties>
</file>