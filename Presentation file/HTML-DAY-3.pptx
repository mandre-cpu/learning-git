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B44F-6D80-E474-B80B-EB58ED87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028DE-A9D0-4419-9EF1-FBFF4362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9565-CEBF-4290-5A59-2303182A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EBB0-B263-D532-E290-7AF9517DA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D69D1-A0DE-4B8F-4BD1-36D082A5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93AB-2137-ECB5-1884-7ECF1E4B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2F47E-6743-02F3-C728-3E5C03BEB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4DAD3-0C06-9DCA-4C18-A46CCEAC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91EBA-0B2F-A0F4-2253-7B95128A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AE253-E60A-F8BA-43A1-97054878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F211-79EC-A966-9DEB-EEFA628C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2EC2C-B2F7-04F8-91EC-AB52849D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744-3DD6-F832-A4FD-FA4C9EF1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F1D1-DF96-FE7A-ACF8-F2360075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BFFEF-3DF2-AD12-124F-979AA262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63A1-1B0A-A2C3-97E1-F239316C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5C097-63CF-0519-1AA6-BC90B3CC1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7921-4AC2-C9C1-9358-B9862E1F8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1C00B-09BB-B412-7693-D08E22E4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25EB-A3E9-1B38-C873-15FC9DA8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09310-EA11-352F-39AE-26FCEED0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945A-C7A5-1043-3B87-BF048B1D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2DE52-76FC-6EE4-4BCB-F7ACC32D9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759D4-D5C8-BDE9-6F53-23AE70D11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AFA0-2DEB-095F-C07A-8B5B4116D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BA38-9CD8-873D-42D5-D63511990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A2F4D-73DE-5C02-965B-1A9EB4E6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C0A7B-51D6-860B-FBE4-F5AD18D5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D94BB-94BA-BD77-E656-BD8AD49E0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C9F-13FD-617A-D851-650FBC31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0CDF0-1CB3-3367-94CA-A7B54E0F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6E34-927F-1D21-83CE-7519F591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10B2-80FF-43DA-F546-306F5AE1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3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485E2-2430-B585-7203-DAEAC4A0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169D3-7E9D-764E-57D6-FF6B980F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83435-4A0D-A0DB-D5AA-67339088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4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B7BB-F664-1DAF-37D8-337482088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D7B7-8C19-038A-BAB6-4C8777C98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4AAF4-9966-B61A-C087-DB96220F2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DB6C6-EB43-CBDF-1469-0B0FD4CD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5C3A4-07B1-9CEF-D519-CDB1112B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988E-2568-CF08-CFF1-E7CEB77B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6913-3F40-D6E0-57D3-D5D65FC52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3AD43B-FFBC-F6BD-C162-32952B263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8BDA0-1FD4-B8C4-1130-5180683E2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4D698-2CAE-C25E-2355-A8F95466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976B6-C412-434B-6204-62E9F7F7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EDBC-19DD-04FE-1AAB-ADFC971A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336-CC3C-05AA-0F27-3D749949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A0CC8-82C3-4D3E-B61B-D5EF90E29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FE89B-EEB6-15FD-9DA9-04DAE7C1A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77B26-D246-BC73-B0E0-CA58D0A68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5B480-2F03-20FF-5354-D7C1F2B7E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DA255-F904-AC56-116B-68F5B30B9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E6515-CB08-99F4-EF71-F115F5C67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6DD5-417B-699F-1D83-7CDC602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6A18-7D8C-681E-3BDF-E8381DA8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D18A-F822-789C-29D7-0A42C621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4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A0BE7-71AD-FF6C-37F7-D240A7C32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96787-B0D8-A513-862F-BA24A5E7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00A5F-525E-FD0F-610D-D444A060B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2FA5E-585C-4C83-8AFA-F6ABB670330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AF49-3EB9-D4A2-BF02-770FBA2A8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70D14-2171-25F5-EB5F-36E7E005F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443E1-30A8-4532-992B-132183190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4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56BB9-B25A-4E36-10D7-90C85AED6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316" y="839972"/>
            <a:ext cx="10205484" cy="5336991"/>
          </a:xfrm>
        </p:spPr>
        <p:txBody>
          <a:bodyPr/>
          <a:lstStyle/>
          <a:p>
            <a:pPr marL="0" indent="0" algn="ctr">
              <a:buNone/>
            </a:pPr>
            <a:r>
              <a:rPr lang="en-US" sz="5500" dirty="0"/>
              <a:t>HTML</a:t>
            </a:r>
          </a:p>
          <a:p>
            <a:pPr marL="0" indent="0" algn="ctr">
              <a:buNone/>
            </a:pPr>
            <a:r>
              <a:rPr lang="en-US" sz="5500" dirty="0"/>
              <a:t>DIV</a:t>
            </a:r>
          </a:p>
          <a:p>
            <a:pPr marL="0" indent="0" algn="ctr">
              <a:buNone/>
            </a:pPr>
            <a:r>
              <a:rPr lang="en-US" sz="5500" dirty="0"/>
              <a:t>ELEMENT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&lt;div&gt;&lt;/div&gt;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element is used as a container for other HTML elements.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i="1" dirty="0">
                <a:solidFill>
                  <a:srgbClr val="FF0000"/>
                </a:solidFill>
              </a:rPr>
              <a:t>div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is a content division tag.</a:t>
            </a:r>
          </a:p>
        </p:txBody>
      </p:sp>
    </p:spTree>
    <p:extLst>
      <p:ext uri="{BB962C8B-B14F-4D97-AF65-F5344CB8AC3E}">
        <p14:creationId xmlns:p14="http://schemas.microsoft.com/office/powerpoint/2010/main" val="375733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253B-AB4D-34B5-3C6E-4D7A05C1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8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Div Element: </a:t>
            </a:r>
            <a:r>
              <a:rPr lang="en-US" dirty="0"/>
              <a:t>Grouping webpage contents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5C5E83-C97D-366B-1478-E1B17279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spcBef>
                <a:spcPts val="1213"/>
              </a:spcBef>
              <a:spcAft>
                <a:spcPts val="213"/>
              </a:spcAft>
              <a:buClr>
                <a:srgbClr val="A5B592"/>
              </a:buClr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The div tag is a generic block-level element which can be used to create </a:t>
            </a:r>
            <a:r>
              <a:rPr lang="en-US" altLang="en-US" sz="3500" i="1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blocks </a:t>
            </a:r>
            <a:r>
              <a:rPr lang="en-US" altLang="en-US" sz="35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on your web page.</a:t>
            </a:r>
          </a:p>
          <a:p>
            <a:pPr eaLnBrk="1" hangingPunct="1">
              <a:spcBef>
                <a:spcPts val="1213"/>
              </a:spcBef>
              <a:spcAft>
                <a:spcPts val="213"/>
              </a:spcAft>
              <a:buClr>
                <a:srgbClr val="A5B592"/>
              </a:buClr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Unlike other block level elements that are used in placing texts (which we studied earlier), the purpose of the div tag is in grouping web contents.</a:t>
            </a:r>
          </a:p>
          <a:p>
            <a:pPr eaLnBrk="1" hangingPunct="1">
              <a:spcBef>
                <a:spcPts val="1213"/>
              </a:spcBef>
              <a:spcAft>
                <a:spcPts val="213"/>
              </a:spcAft>
              <a:buClr>
                <a:srgbClr val="A5B592"/>
              </a:buClr>
              <a:buFont typeface="Arial" panose="020B0604020202020204" pitchFamily="34" charset="0"/>
              <a:buChar char="•"/>
            </a:pPr>
            <a:r>
              <a:rPr lang="en-US" altLang="en-US" sz="35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Grouping web page contents makes it easier to apply style to the HTML elements all at once. The font-size property can be applied to the header div and all the p tags within it obey!</a:t>
            </a:r>
          </a:p>
          <a:p>
            <a:pPr marL="0" indent="0" eaLnBrk="1" hangingPunct="1">
              <a:spcBef>
                <a:spcPts val="1213"/>
              </a:spcBef>
              <a:spcAft>
                <a:spcPts val="213"/>
              </a:spcAft>
              <a:buClr>
                <a:srgbClr val="A5B592"/>
              </a:buClr>
              <a:buNone/>
            </a:pPr>
            <a:endParaRPr lang="en-US" altLang="en-US" sz="3500" dirty="0">
              <a:solidFill>
                <a:srgbClr val="444D26"/>
              </a:solidFill>
              <a:latin typeface="Corbel" panose="020B0503020204020204" pitchFamily="34" charset="0"/>
              <a:cs typeface="Noto Sans CJK SC" charset="0"/>
            </a:endParaRPr>
          </a:p>
          <a:p>
            <a:pPr marL="0" indent="0">
              <a:buNone/>
            </a:pPr>
            <a:r>
              <a:rPr lang="en-US" altLang="en-US" sz="3900" dirty="0"/>
              <a:t>&lt;</a:t>
            </a:r>
            <a:r>
              <a:rPr lang="en-US" altLang="en-US" sz="3900" dirty="0">
                <a:solidFill>
                  <a:srgbClr val="FF0000"/>
                </a:solidFill>
              </a:rPr>
              <a:t>div</a:t>
            </a:r>
            <a:r>
              <a:rPr lang="en-US" altLang="en-US" sz="3900" dirty="0"/>
              <a:t>&gt;&lt;/</a:t>
            </a:r>
            <a:r>
              <a:rPr lang="en-US" altLang="en-US" sz="3900" dirty="0">
                <a:solidFill>
                  <a:srgbClr val="FF0000"/>
                </a:solidFill>
              </a:rPr>
              <a:t>div</a:t>
            </a:r>
            <a:r>
              <a:rPr lang="en-US" altLang="en-US" sz="3900" dirty="0"/>
              <a:t>&gt;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The &lt;div&gt; element is used as a </a:t>
            </a:r>
            <a:r>
              <a:rPr lang="en-US" altLang="en-US" sz="2800" dirty="0">
                <a:solidFill>
                  <a:srgbClr val="FF0000"/>
                </a:solidFill>
              </a:rPr>
              <a:t>container</a:t>
            </a:r>
            <a:r>
              <a:rPr lang="en-US" altLang="en-US" sz="2800" dirty="0"/>
              <a:t> for other HTML elements.</a:t>
            </a:r>
          </a:p>
          <a:p>
            <a:pPr marL="0" indent="0"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358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2650-41E4-AB0D-D031-4545FF7E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  <a:t>THE CONTENTS DIVISION TAG (DIV)</a:t>
            </a:r>
            <a:br>
              <a:rPr lang="en-US" altLang="en-US" sz="44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8794-639B-13A9-60F9-BBB5BB573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033"/>
            <a:ext cx="10515600" cy="52519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spcBef>
                <a:spcPts val="1213"/>
              </a:spcBef>
              <a:spcAft>
                <a:spcPts val="213"/>
              </a:spcAft>
              <a:buFont typeface="Arial" panose="020B0604020202020204" pitchFamily="34" charset="0"/>
              <a:buChar char="•"/>
            </a:pP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The boxes, just like </a:t>
            </a:r>
            <a:r>
              <a:rPr lang="en-US" altLang="en-US" sz="3800" i="1" dirty="0" err="1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lego</a:t>
            </a: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 blocks can be put together to form a complete website.</a:t>
            </a:r>
          </a:p>
          <a:p>
            <a:pPr eaLnBrk="1" hangingPunct="1">
              <a:lnSpc>
                <a:spcPct val="80000"/>
              </a:lnSpc>
              <a:spcBef>
                <a:spcPts val="1213"/>
              </a:spcBef>
              <a:spcAft>
                <a:spcPts val="213"/>
              </a:spcAft>
              <a:buFont typeface="Arial" panose="020B0604020202020204" pitchFamily="34" charset="0"/>
              <a:buChar char="•"/>
            </a:pP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DIVs make your webpage to be sectionalized.</a:t>
            </a:r>
          </a:p>
          <a:p>
            <a:pPr eaLnBrk="1" hangingPunct="1">
              <a:lnSpc>
                <a:spcPct val="80000"/>
              </a:lnSpc>
              <a:spcBef>
                <a:spcPts val="1213"/>
              </a:spcBef>
              <a:spcAft>
                <a:spcPts val="213"/>
              </a:spcAft>
              <a:buFont typeface="Arial" panose="020B0604020202020204" pitchFamily="34" charset="0"/>
              <a:buChar char="•"/>
            </a:pP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Styling the div on your web page is the basis of web page layout when creating your website. You can apply the width and height style to create </a:t>
            </a:r>
            <a:r>
              <a:rPr lang="en-US" altLang="en-US" sz="3800" dirty="0" err="1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divs</a:t>
            </a: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 of different shapes and sizes</a:t>
            </a:r>
          </a:p>
          <a:p>
            <a:pPr eaLnBrk="1" hangingPunct="1">
              <a:lnSpc>
                <a:spcPct val="80000"/>
              </a:lnSpc>
              <a:spcBef>
                <a:spcPts val="1213"/>
              </a:spcBef>
              <a:spcAft>
                <a:spcPts val="213"/>
              </a:spcAft>
              <a:buFont typeface="Arial" panose="020B0604020202020204" pitchFamily="34" charset="0"/>
              <a:buChar char="•"/>
            </a:pPr>
            <a:r>
              <a:rPr lang="en-US" altLang="en-US" sz="3800" dirty="0">
                <a:solidFill>
                  <a:srgbClr val="444D26"/>
                </a:solidFill>
                <a:latin typeface="Corbel" panose="020B0503020204020204" pitchFamily="34" charset="0"/>
                <a:cs typeface="Noto Sans CJK SC" charset="0"/>
              </a:rPr>
              <a:t>Achieve the layout shown: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&lt;</a:t>
            </a:r>
            <a:r>
              <a:rPr lang="en-US" altLang="en-US" sz="2800" dirty="0">
                <a:solidFill>
                  <a:srgbClr val="FF0000"/>
                </a:solidFill>
              </a:rPr>
              <a:t>div</a:t>
            </a:r>
            <a:r>
              <a:rPr lang="en-US" altLang="en-US" sz="2800" dirty="0"/>
              <a:t>&gt;</a:t>
            </a:r>
          </a:p>
          <a:p>
            <a:pPr marL="0" indent="0">
              <a:buNone/>
            </a:pPr>
            <a:r>
              <a:rPr lang="en-US" altLang="en-US" sz="2800" dirty="0"/>
              <a:t>  &lt;h2&gt;Lagos&lt;/h2&gt;</a:t>
            </a:r>
          </a:p>
          <a:p>
            <a:pPr marL="0" indent="0">
              <a:buNone/>
            </a:pPr>
            <a:r>
              <a:rPr lang="en-US" altLang="en-US" sz="2800" dirty="0"/>
              <a:t>  &lt;p&gt;Lagos is the commercial city of Nigeria.&lt;/p&gt;</a:t>
            </a:r>
          </a:p>
          <a:p>
            <a:pPr marL="0" indent="0">
              <a:buNone/>
            </a:pPr>
            <a:r>
              <a:rPr lang="en-US" altLang="en-US" sz="2800" dirty="0"/>
              <a:t>  &lt;p&gt;Lagos has over 13 million inhabitants.&lt;/p&gt;</a:t>
            </a:r>
          </a:p>
          <a:p>
            <a:pPr marL="0" indent="0">
              <a:buNone/>
            </a:pPr>
            <a:r>
              <a:rPr lang="en-US" altLang="en-US" sz="2800" dirty="0"/>
              <a:t>&lt;/</a:t>
            </a:r>
            <a:r>
              <a:rPr lang="en-US" altLang="en-US" sz="2800" dirty="0">
                <a:solidFill>
                  <a:srgbClr val="FF0000"/>
                </a:solidFill>
              </a:rPr>
              <a:t>div</a:t>
            </a:r>
            <a:r>
              <a:rPr lang="en-US" altLang="en-US" sz="2800" dirty="0"/>
              <a:t>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730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69E4-B8B8-3AE2-90E7-DCBB62E8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269"/>
            <a:ext cx="10515600" cy="5857986"/>
          </a:xfrm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4100" dirty="0"/>
              <a:t>Lagos</a:t>
            </a:r>
          </a:p>
          <a:p>
            <a:pPr marL="0" indent="0">
              <a:buNone/>
            </a:pPr>
            <a:r>
              <a:rPr lang="en-US" altLang="en-US" sz="2800" dirty="0"/>
              <a:t>Lagos is the commercial city of Nigeria </a:t>
            </a:r>
          </a:p>
          <a:p>
            <a:pPr marL="0" indent="0">
              <a:buNone/>
            </a:pPr>
            <a:r>
              <a:rPr lang="en-US" dirty="0"/>
              <a:t>Lagos has over 13 million inhabitants.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BLOCK LEVEL OF A DIV</a:t>
            </a:r>
          </a:p>
          <a:p>
            <a:pPr marL="0" indent="0">
              <a:buNone/>
            </a:pPr>
            <a:endParaRPr lang="en-US" u="sng" dirty="0"/>
          </a:p>
          <a:p>
            <a:r>
              <a:rPr lang="en-US" dirty="0"/>
              <a:t>A &lt;div&gt; element takes up all available width: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 before div &lt;div&gt;</a:t>
            </a:r>
            <a:r>
              <a:rPr lang="en-US" dirty="0">
                <a:solidFill>
                  <a:srgbClr val="FF0000"/>
                </a:solidFill>
              </a:rPr>
              <a:t>I am a div</a:t>
            </a:r>
            <a:r>
              <a:rPr lang="en-US" dirty="0"/>
              <a:t>&lt;/div&gt; text after div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text before div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 am a div</a:t>
            </a:r>
          </a:p>
          <a:p>
            <a:pPr marL="0" indent="0">
              <a:buNone/>
            </a:pPr>
            <a:r>
              <a:rPr lang="en-US" dirty="0"/>
              <a:t>text after div</a:t>
            </a:r>
          </a:p>
          <a:p>
            <a:endParaRPr lang="en-US" dirty="0"/>
          </a:p>
          <a:p>
            <a:r>
              <a:rPr lang="en-US" dirty="0"/>
              <a:t>The &lt;div&gt; element has no required attributes, but </a:t>
            </a:r>
            <a:r>
              <a:rPr lang="en-US" i="1" dirty="0">
                <a:solidFill>
                  <a:srgbClr val="FF0000"/>
                </a:solidFill>
              </a:rPr>
              <a:t>style</a:t>
            </a:r>
            <a:r>
              <a:rPr lang="en-US" dirty="0"/>
              <a:t>, </a:t>
            </a:r>
            <a:r>
              <a:rPr lang="en-US" i="1" dirty="0">
                <a:solidFill>
                  <a:srgbClr val="FF0000"/>
                </a:solidFill>
              </a:rPr>
              <a:t>class</a:t>
            </a:r>
            <a:r>
              <a:rPr lang="en-US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id</a:t>
            </a:r>
            <a:r>
              <a:rPr lang="en-US" dirty="0"/>
              <a:t> are common.</a:t>
            </a:r>
          </a:p>
        </p:txBody>
      </p:sp>
    </p:spTree>
    <p:extLst>
      <p:ext uri="{BB962C8B-B14F-4D97-AF65-F5344CB8AC3E}">
        <p14:creationId xmlns:p14="http://schemas.microsoft.com/office/powerpoint/2010/main" val="157161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">
            <a:extLst>
              <a:ext uri="{FF2B5EF4-FFF2-40B4-BE49-F238E27FC236}">
                <a16:creationId xmlns:a16="http://schemas.microsoft.com/office/drawing/2014/main" id="{F2923B86-A45A-9A9E-41CF-FF9D53DC5EA3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838199" y="871869"/>
            <a:ext cx="3755065" cy="481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en-GB"/>
            </a:defPPr>
            <a:lvl1pPr algn="l" defTabSz="457200" rtl="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0" fontAlgn="base" hangingPunct="0"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en-US" sz="28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  <a:t>	SAMPLE WEBSITE  AND THE USE OF DIV TAG TO SECTIONALIZE THE PAGE</a:t>
            </a:r>
            <a:br>
              <a:rPr lang="en-US" altLang="en-US" sz="28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</a:br>
            <a:r>
              <a:rPr lang="en-US" altLang="en-US" sz="2800" b="1" dirty="0">
                <a:solidFill>
                  <a:srgbClr val="404040"/>
                </a:solidFill>
                <a:latin typeface="Corbel" panose="020B0503020204020204" pitchFamily="34" charset="0"/>
                <a:cs typeface="Noto Sans CJK SC" charset="0"/>
              </a:rPr>
              <a:t>(SEE COLOR DEMARCATION)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F59ED-B181-4DB7-0B61-CAADD2B63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941" y="160354"/>
            <a:ext cx="5372691" cy="6537292"/>
          </a:xfrm>
          <a:prstGeom prst="rect">
            <a:avLst/>
          </a:prstGeom>
          <a:noFill/>
          <a:ln w="9360" cap="flat">
            <a:solidFill>
              <a:srgbClr val="70670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5277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BD72A-EA54-49A4-9B71-47E86469F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681177" cy="5759228"/>
          </a:xfrm>
        </p:spPr>
        <p:txBody>
          <a:bodyPr>
            <a:normAutofit fontScale="90000"/>
          </a:bodyPr>
          <a:lstStyle/>
          <a:p>
            <a:r>
              <a:rPr lang="en-US" b="1" i="1" u="sng" dirty="0"/>
              <a:t>Class exercise:</a:t>
            </a:r>
            <a:br>
              <a:rPr lang="en-US" b="1" i="1" u="sng" dirty="0"/>
            </a:br>
            <a:r>
              <a:rPr lang="en-US" b="1" i="1" u="sng" dirty="0"/>
              <a:t/>
            </a:r>
            <a:br>
              <a:rPr lang="en-US" b="1" i="1" u="sng" dirty="0"/>
            </a:br>
            <a:r>
              <a:rPr lang="en-US" dirty="0"/>
              <a:t>Kindly achieve the following using div tags and style attribute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806E6E-3AC6-268F-E0DB-DF84B66F21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487" y="365125"/>
            <a:ext cx="5695240" cy="635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989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F99D-DBDD-A137-77A0-9E90964D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674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PLACING DIVS SIDE BY SIDE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CC530-D208-00DD-143A-7DB60DE4B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7"/>
            <a:ext cx="10515600" cy="5284382"/>
          </a:xfrm>
        </p:spPr>
        <p:txBody>
          <a:bodyPr>
            <a:normAutofit/>
          </a:bodyPr>
          <a:lstStyle/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Recall that the DIV tag is a block level element.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DIVs are important in grouping the different parts of our website as we saw earlier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C00000"/>
                </a:solidFill>
              </a:rPr>
              <a:t>From everything we have learnt so far, how do you think we can achieve placing div side by side? </a:t>
            </a:r>
            <a:r>
              <a:rPr lang="en-US" altLang="en-US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Float property or course!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Most website design go beyond just placing </a:t>
            </a:r>
            <a:r>
              <a:rPr lang="en-US" altLang="en-US" dirty="0" err="1"/>
              <a:t>divs</a:t>
            </a:r>
            <a:r>
              <a:rPr lang="en-US" altLang="en-US" dirty="0"/>
              <a:t> over another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What if we wish to place this blocks side by side? Let’s try to reduce the width and see if they will stand side by side…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Lets look at four ways to achieve this.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SEMANTIC HTML ELEMENTS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850036"/>
            <a:ext cx="3977326" cy="35711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&lt;article&gt;</a:t>
            </a:r>
          </a:p>
          <a:p>
            <a:pPr marL="0" indent="0">
              <a:buNone/>
            </a:pPr>
            <a:r>
              <a:rPr lang="en-US" sz="2200" b="1" dirty="0"/>
              <a:t>&lt;aside&gt;</a:t>
            </a:r>
          </a:p>
          <a:p>
            <a:pPr marL="0" indent="0">
              <a:buNone/>
            </a:pPr>
            <a:r>
              <a:rPr lang="en-US" sz="2200" b="1" dirty="0"/>
              <a:t>&lt;details&gt;</a:t>
            </a:r>
          </a:p>
          <a:p>
            <a:pPr marL="0" indent="0">
              <a:buNone/>
            </a:pPr>
            <a:r>
              <a:rPr lang="en-US" sz="2200" b="1" dirty="0"/>
              <a:t>&lt;</a:t>
            </a:r>
            <a:r>
              <a:rPr lang="en-US" sz="2200" b="1" dirty="0" err="1"/>
              <a:t>figcaption</a:t>
            </a:r>
            <a:r>
              <a:rPr lang="en-US" sz="2200" b="1" dirty="0"/>
              <a:t>&gt;</a:t>
            </a:r>
          </a:p>
          <a:p>
            <a:pPr marL="0" indent="0">
              <a:buNone/>
            </a:pPr>
            <a:r>
              <a:rPr lang="en-US" sz="2200" b="1" dirty="0"/>
              <a:t>&lt;figure&gt;</a:t>
            </a:r>
          </a:p>
          <a:p>
            <a:pPr marL="0" indent="0">
              <a:buNone/>
            </a:pPr>
            <a:r>
              <a:rPr lang="en-US" sz="2200" b="1" dirty="0"/>
              <a:t>&lt;footer&gt;</a:t>
            </a:r>
          </a:p>
          <a:p>
            <a:pPr marL="0" indent="0">
              <a:buNone/>
            </a:pPr>
            <a:r>
              <a:rPr lang="en-US" sz="2200" b="1" dirty="0"/>
              <a:t>&lt;header&gt;</a:t>
            </a:r>
            <a:endParaRPr lang="en-US" sz="2200" b="1" dirty="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90600" y="1236482"/>
            <a:ext cx="10515600" cy="14045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smtClean="0"/>
              <a:t>A semantic element clearly describes its meaning to both the browser and the developer.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smtClean="0"/>
              <a:t>Examples of non-semantic elements</a:t>
            </a:r>
            <a:r>
              <a:rPr lang="en-US" sz="2200" b="1" smtClean="0"/>
              <a:t>: </a:t>
            </a:r>
            <a:r>
              <a:rPr lang="en-US" sz="2200" b="1" smtClean="0">
                <a:solidFill>
                  <a:srgbClr val="FF0000"/>
                </a:solidFill>
              </a:rPr>
              <a:t>&lt;div&gt; </a:t>
            </a:r>
            <a:r>
              <a:rPr lang="en-US" sz="2200" smtClean="0"/>
              <a:t>and </a:t>
            </a:r>
            <a:r>
              <a:rPr lang="en-US" sz="2200" b="1" smtClean="0">
                <a:solidFill>
                  <a:srgbClr val="FF0000"/>
                </a:solidFill>
              </a:rPr>
              <a:t>&lt;span&gt;</a:t>
            </a:r>
            <a:r>
              <a:rPr lang="en-US" sz="2200" smtClean="0"/>
              <a:t> - Tells nothing about its content.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smtClean="0"/>
              <a:t>Examples of semantic elements: </a:t>
            </a:r>
            <a:r>
              <a:rPr lang="en-US" sz="2200" b="1" smtClean="0"/>
              <a:t>&lt;img&gt;, &lt;table&gt;, </a:t>
            </a:r>
            <a:r>
              <a:rPr lang="en-US" sz="2200" smtClean="0"/>
              <a:t>and </a:t>
            </a:r>
            <a:r>
              <a:rPr lang="en-US" sz="2200" b="1" smtClean="0"/>
              <a:t>&lt;article&gt; </a:t>
            </a:r>
            <a:r>
              <a:rPr lang="en-US" sz="2200" smtClean="0"/>
              <a:t>- Clearly defines its content.</a:t>
            </a:r>
            <a:endParaRPr lang="en-US" sz="2200" dirty="0" smtClean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376474" y="2850036"/>
            <a:ext cx="3977326" cy="3571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/>
              <a:t>&lt;main&gt;</a:t>
            </a:r>
          </a:p>
          <a:p>
            <a:pPr marL="0" indent="0">
              <a:buNone/>
            </a:pPr>
            <a:r>
              <a:rPr lang="en-US" sz="2200" b="1" dirty="0"/>
              <a:t>&lt;mark&gt;</a:t>
            </a:r>
          </a:p>
          <a:p>
            <a:pPr marL="0" indent="0">
              <a:buNone/>
            </a:pPr>
            <a:r>
              <a:rPr lang="en-US" sz="2200" b="1" dirty="0"/>
              <a:t>&lt;</a:t>
            </a:r>
            <a:r>
              <a:rPr lang="en-US" sz="2200" b="1" dirty="0" err="1"/>
              <a:t>nav</a:t>
            </a:r>
            <a:r>
              <a:rPr lang="en-US" sz="2200" b="1" dirty="0"/>
              <a:t>&gt;</a:t>
            </a:r>
          </a:p>
          <a:p>
            <a:pPr marL="0" indent="0">
              <a:buNone/>
            </a:pPr>
            <a:r>
              <a:rPr lang="en-US" sz="2200" b="1" dirty="0"/>
              <a:t>&lt;section&gt;</a:t>
            </a:r>
          </a:p>
          <a:p>
            <a:pPr marL="0" indent="0">
              <a:buNone/>
            </a:pPr>
            <a:r>
              <a:rPr lang="en-US" sz="2200" b="1" dirty="0"/>
              <a:t>&lt;summary&gt;</a:t>
            </a:r>
          </a:p>
          <a:p>
            <a:pPr marL="0" indent="0">
              <a:buNone/>
            </a:pPr>
            <a:r>
              <a:rPr lang="en-US" sz="2200" b="1" dirty="0"/>
              <a:t>&lt;time&gt;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28728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242"/>
            <a:ext cx="10515600" cy="64573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&lt;main&gt;</a:t>
            </a:r>
          </a:p>
          <a:p>
            <a:pPr marL="0" indent="0">
              <a:buNone/>
            </a:pPr>
            <a:r>
              <a:rPr lang="en-US" sz="1200" b="1" dirty="0"/>
              <a:t>        &lt;header&gt;</a:t>
            </a:r>
          </a:p>
          <a:p>
            <a:pPr marL="0" indent="0">
              <a:buNone/>
            </a:pPr>
            <a:r>
              <a:rPr lang="en-US" sz="1200" b="1" dirty="0"/>
              <a:t>            &lt;h1 style="background-color: </a:t>
            </a:r>
            <a:r>
              <a:rPr lang="en-US" sz="1200" b="1" dirty="0" err="1"/>
              <a:t>lightcoral</a:t>
            </a:r>
            <a:r>
              <a:rPr lang="en-US" sz="1200" b="1" dirty="0"/>
              <a:t>;"&gt;E-Shop&lt;/h1&gt;</a:t>
            </a:r>
          </a:p>
          <a:p>
            <a:pPr marL="0" indent="0">
              <a:buNone/>
            </a:pPr>
            <a:r>
              <a:rPr lang="en-US" sz="1200" b="1" dirty="0"/>
              <a:t>            &lt;</a:t>
            </a:r>
            <a:r>
              <a:rPr lang="en-US" sz="1200" b="1" dirty="0" err="1"/>
              <a:t>nav</a:t>
            </a:r>
            <a:r>
              <a:rPr lang="en-US" sz="1200" b="1" dirty="0"/>
              <a:t>&gt;</a:t>
            </a:r>
          </a:p>
          <a:p>
            <a:pPr marL="0" indent="0">
              <a:buNone/>
            </a:pPr>
            <a:r>
              <a:rPr lang="en-US" sz="1200" b="1" dirty="0"/>
              <a:t>                &lt;</a:t>
            </a:r>
            <a:r>
              <a:rPr lang="en-US" sz="1200" b="1" dirty="0" err="1"/>
              <a:t>ul</a:t>
            </a:r>
            <a:r>
              <a:rPr lang="en-US" sz="1200" b="1" dirty="0"/>
              <a:t> &gt;</a:t>
            </a:r>
          </a:p>
          <a:p>
            <a:pPr marL="0" indent="0">
              <a:buNone/>
            </a:pPr>
            <a:r>
              <a:rPr lang="en-US" sz="1200" b="1" dirty="0"/>
              <a:t>                    &lt;li&gt;&lt;/li&gt;</a:t>
            </a:r>
          </a:p>
          <a:p>
            <a:pPr marL="0" indent="0">
              <a:buNone/>
            </a:pPr>
            <a:r>
              <a:rPr lang="en-US" sz="1200" b="1" dirty="0"/>
              <a:t>                    &lt;li&gt;&lt;/li&gt;</a:t>
            </a:r>
          </a:p>
          <a:p>
            <a:pPr marL="0" indent="0">
              <a:buNone/>
            </a:pPr>
            <a:r>
              <a:rPr lang="en-US" sz="1200" b="1" dirty="0"/>
              <a:t>                    &lt;li&gt;&lt;/li&gt;</a:t>
            </a:r>
          </a:p>
          <a:p>
            <a:pPr marL="0" indent="0">
              <a:buNone/>
            </a:pPr>
            <a:r>
              <a:rPr lang="en-US" sz="1200" b="1" dirty="0"/>
              <a:t>                    &lt;li&gt;&lt;/li&gt;</a:t>
            </a:r>
          </a:p>
          <a:p>
            <a:pPr marL="0" indent="0">
              <a:buNone/>
            </a:pPr>
            <a:r>
              <a:rPr lang="en-US" sz="1200" b="1" dirty="0"/>
              <a:t>                &lt;/</a:t>
            </a:r>
            <a:r>
              <a:rPr lang="en-US" sz="1200" b="1" dirty="0" err="1"/>
              <a:t>ul</a:t>
            </a:r>
            <a:r>
              <a:rPr lang="en-US" sz="1200" b="1" dirty="0"/>
              <a:t>&gt;</a:t>
            </a:r>
          </a:p>
          <a:p>
            <a:pPr marL="0" indent="0">
              <a:buNone/>
            </a:pPr>
            <a:r>
              <a:rPr lang="en-US" sz="1200" b="1" dirty="0"/>
              <a:t>            &lt;/</a:t>
            </a:r>
            <a:r>
              <a:rPr lang="en-US" sz="1200" b="1" dirty="0" err="1"/>
              <a:t>nav</a:t>
            </a:r>
            <a:r>
              <a:rPr lang="en-US" sz="1200" b="1" dirty="0"/>
              <a:t>&gt;</a:t>
            </a:r>
          </a:p>
          <a:p>
            <a:pPr marL="0" indent="0">
              <a:buNone/>
            </a:pPr>
            <a:r>
              <a:rPr lang="en-US" sz="1200" b="1" dirty="0"/>
              <a:t>        &lt;/header</a:t>
            </a:r>
            <a:r>
              <a:rPr lang="en-US" sz="1200" b="1" dirty="0" smtClean="0"/>
              <a:t>&gt;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        &lt;section style="background-color: </a:t>
            </a:r>
            <a:r>
              <a:rPr lang="en-US" sz="1200" b="1" dirty="0" err="1"/>
              <a:t>lightblue</a:t>
            </a:r>
            <a:r>
              <a:rPr lang="en-US" sz="1200" b="1" dirty="0"/>
              <a:t>;"&gt;</a:t>
            </a:r>
          </a:p>
          <a:p>
            <a:pPr marL="0" indent="0">
              <a:buNone/>
            </a:pPr>
            <a:r>
              <a:rPr lang="en-US" sz="1200" b="1" dirty="0"/>
              <a:t>            &lt;h2&gt;Main website body&lt;/h2&gt;</a:t>
            </a:r>
          </a:p>
          <a:p>
            <a:pPr marL="0" indent="0">
              <a:buNone/>
            </a:pPr>
            <a:r>
              <a:rPr lang="en-US" sz="1200" b="1" dirty="0"/>
              <a:t>            &lt;span&gt;I am a span within the body div&lt;/span&gt;</a:t>
            </a:r>
          </a:p>
          <a:p>
            <a:pPr marL="0" indent="0">
              <a:buNone/>
            </a:pPr>
            <a:r>
              <a:rPr lang="en-US" sz="1200" b="1" dirty="0"/>
              <a:t>        &lt;/section</a:t>
            </a:r>
            <a:r>
              <a:rPr lang="en-US" sz="1200" b="1" dirty="0" smtClean="0"/>
              <a:t>&gt;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        &lt;article&gt;</a:t>
            </a:r>
          </a:p>
          <a:p>
            <a:pPr marL="0" indent="0">
              <a:buNone/>
            </a:pPr>
            <a:r>
              <a:rPr lang="en-US" sz="1200" b="1" dirty="0"/>
              <a:t>            &lt;h2&gt;Article section&lt;/h2&gt;</a:t>
            </a:r>
          </a:p>
          <a:p>
            <a:pPr marL="0" indent="0">
              <a:buNone/>
            </a:pPr>
            <a:r>
              <a:rPr lang="en-US" sz="1200" b="1" dirty="0"/>
              <a:t>            &lt;p&gt;This is a paragraph within the article section.&lt;/p&gt;</a:t>
            </a:r>
          </a:p>
          <a:p>
            <a:pPr marL="0" indent="0">
              <a:buNone/>
            </a:pPr>
            <a:r>
              <a:rPr lang="en-US" sz="1200" b="1" dirty="0"/>
              <a:t>        &lt;/article</a:t>
            </a:r>
            <a:r>
              <a:rPr lang="en-US" sz="1200" b="1" dirty="0" smtClean="0"/>
              <a:t>&gt;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        &lt;footer style="background-color: </a:t>
            </a:r>
            <a:r>
              <a:rPr lang="en-US" sz="1200" b="1" dirty="0" err="1"/>
              <a:t>lightgreen</a:t>
            </a:r>
            <a:r>
              <a:rPr lang="en-US" sz="1200" b="1" dirty="0"/>
              <a:t>;"&gt;</a:t>
            </a:r>
          </a:p>
          <a:p>
            <a:pPr marL="0" indent="0">
              <a:buNone/>
            </a:pPr>
            <a:r>
              <a:rPr lang="en-US" sz="1200" b="1" dirty="0"/>
              <a:t>            &lt;h3&gt;Footer section&lt;/h3&gt;</a:t>
            </a:r>
          </a:p>
          <a:p>
            <a:pPr marL="0" indent="0">
              <a:buNone/>
            </a:pPr>
            <a:r>
              <a:rPr lang="en-US" sz="1200" b="1" dirty="0"/>
              <a:t>        &lt;/footer</a:t>
            </a:r>
            <a:r>
              <a:rPr lang="en-US" sz="1200" b="1" dirty="0" smtClean="0"/>
              <a:t>&gt;</a:t>
            </a:r>
            <a:r>
              <a:rPr lang="en-US" sz="1200" b="1" dirty="0"/>
              <a:t/>
            </a:r>
            <a:br>
              <a:rPr lang="en-US" sz="1200" b="1" dirty="0"/>
            </a:br>
            <a:r>
              <a:rPr lang="en-US" sz="1200" b="1" dirty="0"/>
              <a:t>    &lt;/main&gt;</a:t>
            </a:r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467573" y="1426589"/>
            <a:ext cx="3977326" cy="3571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 smtClean="0"/>
              <a:t>Semantic HTML tags properly used to section a web page ensuring each section being clearly explained with the tag.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165081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9617</TotalTime>
  <Words>549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Corbel</vt:lpstr>
      <vt:lpstr>Noto Sans CJK SC</vt:lpstr>
      <vt:lpstr>Office Theme</vt:lpstr>
      <vt:lpstr>PowerPoint Presentation</vt:lpstr>
      <vt:lpstr>HTML Div Element: Grouping webpage contents</vt:lpstr>
      <vt:lpstr>THE CONTENTS DIVISION TAG (DIV) </vt:lpstr>
      <vt:lpstr>PowerPoint Presentation</vt:lpstr>
      <vt:lpstr>PowerPoint Presentation</vt:lpstr>
      <vt:lpstr>Class exercise:  Kindly achieve the following using div tags and style attribute</vt:lpstr>
      <vt:lpstr>PLACING DIVS SIDE BY SIDE</vt:lpstr>
      <vt:lpstr>SEMANTIC HTML ELEMENTS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Windows User</cp:lastModifiedBy>
  <cp:revision>34</cp:revision>
  <dcterms:created xsi:type="dcterms:W3CDTF">2024-01-17T09:09:54Z</dcterms:created>
  <dcterms:modified xsi:type="dcterms:W3CDTF">2025-09-14T17:44:51Z</dcterms:modified>
</cp:coreProperties>
</file>