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B44F-6D80-E474-B80B-EB58ED87E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028DE-A9D0-4419-9EF1-FBFF4362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B9565-CEBF-4290-5A59-2303182A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EBB0-B263-D532-E290-7AF9517D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D69D1-A0DE-4B8F-4BD1-36D082A5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93AB-2137-ECB5-1884-7ECF1E4B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2F47E-6743-02F3-C728-3E5C03BEB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4DAD3-0C06-9DCA-4C18-A46CCEAC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91EBA-0B2F-A0F4-2253-7B95128A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AE253-E60A-F8BA-43A1-97054878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4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F211-79EC-A966-9DEB-EEFA628C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2EC2C-B2F7-04F8-91EC-AB52849DF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D744-3DD6-F832-A4FD-FA4C9EF1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F1D1-DF96-FE7A-ACF8-F2360075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BFFEF-3DF2-AD12-124F-979AA262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63A1-1B0A-A2C3-97E1-F239316C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5C097-63CF-0519-1AA6-BC90B3CC1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37921-4AC2-C9C1-9358-B9862E1F8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1C00B-09BB-B412-7693-D08E22E4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D25EB-A3E9-1B38-C873-15FC9DA8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09310-EA11-352F-39AE-26FCEED0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945A-C7A5-1043-3B87-BF048B1D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2DE52-76FC-6EE4-4BCB-F7ACC32D9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759D4-D5C8-BDE9-6F53-23AE70D11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A7AFA0-2DEB-095F-C07A-8B5B4116D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EBA38-9CD8-873D-42D5-D63511990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A2F4D-73DE-5C02-965B-1A9EB4E6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C0A7B-51D6-860B-FBE4-F5AD18D5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D94BB-94BA-BD77-E656-BD8AD49E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7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DC9F-13FD-617A-D851-650FBC31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0CDF0-1CB3-3367-94CA-A7B54E0F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B6E34-927F-1D21-83CE-7519F591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F10B2-80FF-43DA-F546-306F5AE1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3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485E2-2430-B585-7203-DAEAC4A0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169D3-7E9D-764E-57D6-FF6B980F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83435-4A0D-A0DB-D5AA-67339088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4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B7BB-F664-1DAF-37D8-337482088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AD7B7-8C19-038A-BAB6-4C8777C98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4AAF4-9966-B61A-C087-DB96220F2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DB6C6-EB43-CBDF-1469-0B0FD4CD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5C3A4-07B1-9CEF-D519-CDB1112B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2988E-2568-CF08-CFF1-E7CEB77B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4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6913-3F40-D6E0-57D3-D5D65FC5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AD43B-FFBC-F6BD-C162-32952B263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8BDA0-1FD4-B8C4-1130-5180683E2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4D698-2CAE-C25E-2355-A8F95466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976B6-C412-434B-6204-62E9F7F7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7EDBC-19DD-04FE-1AAB-ADFC971A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3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B336-CC3C-05AA-0F27-3D749949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A0CC8-82C3-4D3E-B61B-D5EF90E29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E89B-EEB6-15FD-9DA9-04DAE7C1A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77B26-D246-BC73-B0E0-CA58D0A6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5B480-2F03-20FF-5354-D7C1F2B7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DA255-F904-AC56-116B-68F5B30B9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E6515-CB08-99F4-EF71-F115F5C67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6DD5-417B-699F-1D83-7CDC602D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16A18-7D8C-681E-3BDF-E8381DA8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FD18A-F822-789C-29D7-0A42C621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4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A0BE7-71AD-FF6C-37F7-D240A7C3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96787-B0D8-A513-862F-BA24A5E79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00A5F-525E-FD0F-610D-D444A060B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2FA5E-585C-4C83-8AFA-F6ABB670330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AF49-3EB9-D4A2-BF02-770FBA2A8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70D14-2171-25F5-EB5F-36E7E005F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4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ixabay.com/sound-effects/search/shor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A5C7-B6B3-4EF6-741C-D84E76705D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MULTIMEDIA</a:t>
            </a:r>
          </a:p>
        </p:txBody>
      </p:sp>
    </p:spTree>
    <p:extLst>
      <p:ext uri="{BB962C8B-B14F-4D97-AF65-F5344CB8AC3E}">
        <p14:creationId xmlns:p14="http://schemas.microsoft.com/office/powerpoint/2010/main" val="3765942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388DD-548A-5BF5-F51A-E57E953F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HMTL MULTIMEDIA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FABF5-9640-31F6-2EDF-D5CCD8A4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Audio tag</a:t>
            </a:r>
          </a:p>
          <a:p>
            <a:r>
              <a:rPr lang="en-US" sz="5000" dirty="0"/>
              <a:t>Video </a:t>
            </a:r>
            <a:r>
              <a:rPr lang="en-US" sz="5000" dirty="0" smtClean="0"/>
              <a:t>tag</a:t>
            </a:r>
            <a:endParaRPr lang="en-US" sz="4600" dirty="0"/>
          </a:p>
          <a:p>
            <a:r>
              <a:rPr lang="en-US" sz="4600" dirty="0"/>
              <a:t> </a:t>
            </a:r>
            <a:r>
              <a:rPr lang="en-US" sz="4600" dirty="0" smtClean="0"/>
              <a:t>Embed</a:t>
            </a:r>
          </a:p>
          <a:p>
            <a:r>
              <a:rPr lang="en-US" sz="4600" dirty="0"/>
              <a:t> </a:t>
            </a:r>
            <a:r>
              <a:rPr lang="en-US" sz="4600" dirty="0" smtClean="0"/>
              <a:t>iframe</a:t>
            </a:r>
            <a:r>
              <a:rPr lang="en-US" sz="5000" dirty="0"/>
              <a:t> </a:t>
            </a:r>
            <a:r>
              <a:rPr lang="en-US" sz="5000" dirty="0" smtClean="0"/>
              <a:t>/ </a:t>
            </a:r>
            <a:r>
              <a:rPr lang="en-US" sz="5000" dirty="0" err="1" smtClean="0"/>
              <a:t>Youtube</a:t>
            </a:r>
            <a:endParaRPr lang="en-US" sz="4600" dirty="0" smtClean="0"/>
          </a:p>
        </p:txBody>
      </p:sp>
    </p:spTree>
    <p:extLst>
      <p:ext uri="{BB962C8B-B14F-4D97-AF65-F5344CB8AC3E}">
        <p14:creationId xmlns:p14="http://schemas.microsoft.com/office/powerpoint/2010/main" val="414633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F870-3B19-E10A-6FFE-0B5C8B75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on web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42B251-C178-14FE-2D26-40D16D0F65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13860"/>
            <a:ext cx="11000466" cy="2771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E43C3F-940A-7488-2A2E-D3566D496879}"/>
              </a:ext>
            </a:extLst>
          </p:cNvPr>
          <p:cNvSpPr txBox="1"/>
          <p:nvPr/>
        </p:nvSpPr>
        <p:spPr>
          <a:xfrm>
            <a:off x="912628" y="4685451"/>
            <a:ext cx="10783186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13"/>
              </a:spcAft>
              <a:buClrTx/>
              <a:buFontTx/>
              <a:buNone/>
            </a:pPr>
            <a:r>
              <a:rPr lang="en-US" altLang="en-US" sz="2600" dirty="0">
                <a:latin typeface="Corbel" panose="020B0503020204020204" pitchFamily="34" charset="0"/>
                <a:cs typeface="Noto Sans CJK SC" charset="0"/>
              </a:rPr>
              <a:t>The HTML5 &lt;audio&gt; element specifies a standard way to embed audio in a web page. Similar to the </a:t>
            </a:r>
            <a:r>
              <a:rPr lang="en-US" altLang="en-US" sz="2600" dirty="0" err="1">
                <a:latin typeface="Corbel" panose="020B0503020204020204" pitchFamily="34" charset="0"/>
                <a:cs typeface="Noto Sans CJK SC" charset="0"/>
              </a:rPr>
              <a:t>img</a:t>
            </a:r>
            <a:r>
              <a:rPr lang="en-US" altLang="en-US" sz="2600" dirty="0">
                <a:latin typeface="Corbel" panose="020B0503020204020204" pitchFamily="34" charset="0"/>
                <a:cs typeface="Noto Sans CJK SC" charset="0"/>
              </a:rPr>
              <a:t> tag, its syntax is :</a:t>
            </a:r>
          </a:p>
          <a:p>
            <a:pPr>
              <a:spcAft>
                <a:spcPts val="613"/>
              </a:spcAft>
              <a:buClrTx/>
              <a:buFontTx/>
              <a:buNone/>
            </a:pPr>
            <a:r>
              <a:rPr lang="en-US" altLang="en-US" sz="2600" dirty="0">
                <a:solidFill>
                  <a:srgbClr val="C00000"/>
                </a:solidFill>
                <a:latin typeface="Consolas" panose="020B0609020204030204" pitchFamily="49" charset="0"/>
                <a:cs typeface="Noto Sans CJK SC" charset="0"/>
              </a:rPr>
              <a:t>&lt;audio controls </a:t>
            </a:r>
            <a:r>
              <a:rPr lang="en-US" altLang="en-US" sz="2600" dirty="0" err="1">
                <a:solidFill>
                  <a:srgbClr val="C00000"/>
                </a:solidFill>
                <a:latin typeface="Consolas" panose="020B0609020204030204" pitchFamily="49" charset="0"/>
                <a:cs typeface="Noto Sans CJK SC" charset="0"/>
              </a:rPr>
              <a:t>src</a:t>
            </a:r>
            <a:r>
              <a:rPr lang="en-US" altLang="en-US" sz="2600" dirty="0">
                <a:solidFill>
                  <a:srgbClr val="C00000"/>
                </a:solidFill>
                <a:latin typeface="Consolas" panose="020B0609020204030204" pitchFamily="49" charset="0"/>
                <a:cs typeface="Noto Sans CJK SC" charset="0"/>
              </a:rPr>
              <a:t>="media/birds.mp3"&gt;&lt;/audio&gt;</a:t>
            </a:r>
          </a:p>
        </p:txBody>
      </p:sp>
    </p:spTree>
    <p:extLst>
      <p:ext uri="{BB962C8B-B14F-4D97-AF65-F5344CB8AC3E}">
        <p14:creationId xmlns:p14="http://schemas.microsoft.com/office/powerpoint/2010/main" val="2708496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DF88-549B-72CC-C08D-E919EE4C4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73"/>
          </a:xfrm>
        </p:spPr>
        <p:txBody>
          <a:bodyPr>
            <a:normAutofit fontScale="90000"/>
          </a:bodyPr>
          <a:lstStyle/>
          <a:p>
            <a:r>
              <a:rPr lang="en-US" dirty="0"/>
              <a:t>MULTIMEDIA FILE FORMATS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9AFCA4-FE2A-8796-1150-E548B68DA4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107377"/>
            <a:ext cx="10294089" cy="5360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1899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92B5F-FC80-5E55-2159-4119C5132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21" y="177579"/>
            <a:ext cx="10515600" cy="195956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&lt;audio</a:t>
            </a: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controls</a:t>
            </a:r>
            <a:r>
              <a:rPr lang="en-US" alt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</a:rPr>
              <a:t>   </a:t>
            </a:r>
            <a:r>
              <a:rPr lang="en-US" alt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&lt;source</a:t>
            </a: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 err="1">
                <a:solidFill>
                  <a:srgbClr val="E50000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1400" dirty="0">
                <a:latin typeface="Consolas" panose="020B0609020204030204" pitchFamily="49" charset="0"/>
              </a:rPr>
              <a:t>=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"myAudio.ogg"</a:t>
            </a: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type</a:t>
            </a:r>
            <a:r>
              <a:rPr lang="en-US" altLang="en-US" sz="1400" dirty="0">
                <a:latin typeface="Consolas" panose="020B0609020204030204" pitchFamily="49" charset="0"/>
              </a:rPr>
              <a:t>=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"audio/</a:t>
            </a:r>
            <a:r>
              <a:rPr lang="en-US" alt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ogg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	 &lt;source</a:t>
            </a:r>
            <a:r>
              <a:rPr lang="en-US" altLang="en-US" sz="1400" dirty="0" smtClean="0">
                <a:latin typeface="Consolas" panose="020B0609020204030204" pitchFamily="49" charset="0"/>
              </a:rPr>
              <a:t> </a:t>
            </a:r>
            <a:r>
              <a:rPr lang="en-US" altLang="en-US" sz="1400" dirty="0" err="1" smtClean="0">
                <a:solidFill>
                  <a:srgbClr val="E50000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1400" dirty="0" smtClean="0">
                <a:latin typeface="Consolas" panose="020B0609020204030204" pitchFamily="49" charset="0"/>
              </a:rPr>
              <a:t>=</a:t>
            </a:r>
            <a:r>
              <a:rPr lang="en-US" alt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"myAudio.wav"</a:t>
            </a:r>
            <a:r>
              <a:rPr lang="en-US" altLang="en-US" sz="1400" dirty="0" smtClean="0">
                <a:latin typeface="Consolas" panose="020B0609020204030204" pitchFamily="49" charset="0"/>
              </a:rPr>
              <a:t> </a:t>
            </a:r>
            <a:r>
              <a:rPr lang="en-US" altLang="en-US" sz="1400" dirty="0" smtClean="0">
                <a:solidFill>
                  <a:srgbClr val="E50000"/>
                </a:solidFill>
                <a:latin typeface="Consolas" panose="020B0609020204030204" pitchFamily="49" charset="0"/>
              </a:rPr>
              <a:t>type</a:t>
            </a:r>
            <a:r>
              <a:rPr lang="en-US" altLang="en-US" sz="1400" dirty="0" smtClean="0">
                <a:latin typeface="Consolas" panose="020B0609020204030204" pitchFamily="49" charset="0"/>
              </a:rPr>
              <a:t>=</a:t>
            </a:r>
            <a:r>
              <a:rPr lang="en-US" alt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"audio/wav"</a:t>
            </a:r>
            <a:r>
              <a:rPr lang="en-US" altLang="en-US" sz="1400" dirty="0" smtClean="0">
                <a:latin typeface="Consolas" panose="020B0609020204030204" pitchFamily="49" charset="0"/>
              </a:rPr>
              <a:t> </a:t>
            </a:r>
            <a:r>
              <a:rPr lang="en-US" altLang="en-US" sz="1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   Your browser does not support the audio tag</a:t>
            </a:r>
            <a:r>
              <a:rPr lang="en-US" altLang="en-US" sz="1400" dirty="0" smtClean="0"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alt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audio&gt;</a:t>
            </a:r>
          </a:p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r>
              <a:rPr lang="en-US" sz="2000" dirty="0" smtClean="0"/>
              <a:t>To download some free short sound</a:t>
            </a:r>
          </a:p>
          <a:p>
            <a:pPr marL="0" indent="0">
              <a:buNone/>
            </a:pPr>
            <a:r>
              <a:rPr lang="en-US" sz="2000" dirty="0">
                <a:hlinkClick r:id="rId2"/>
              </a:rPr>
              <a:t>https://pixabay.com/sound-effects/search/short</a:t>
            </a:r>
            <a:r>
              <a:rPr lang="en-US" sz="2000" dirty="0" smtClean="0">
                <a:hlinkClick r:id="rId2"/>
              </a:rPr>
              <a:t>/</a:t>
            </a: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https://www.freepik.com/videos/short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altLang="en-US" sz="2000" dirty="0">
                <a:latin typeface="Corbel" panose="020B0503020204020204" pitchFamily="34" charset="0"/>
              </a:rPr>
              <a:t>The browser will attempt to play the  </a:t>
            </a:r>
            <a:r>
              <a:rPr lang="en-US" altLang="en-US" sz="2000" dirty="0" err="1">
                <a:latin typeface="Corbel" panose="020B0503020204020204" pitchFamily="34" charset="0"/>
              </a:rPr>
              <a:t>ogg</a:t>
            </a:r>
            <a:r>
              <a:rPr lang="en-US" altLang="en-US" sz="2000" dirty="0">
                <a:latin typeface="Corbel" panose="020B0503020204020204" pitchFamily="34" charset="0"/>
              </a:rPr>
              <a:t> version and then play the mp3 version if it can not play the </a:t>
            </a:r>
            <a:r>
              <a:rPr lang="en-US" altLang="en-US" sz="2000" dirty="0" err="1">
                <a:latin typeface="Corbel" panose="020B0503020204020204" pitchFamily="34" charset="0"/>
              </a:rPr>
              <a:t>ogg</a:t>
            </a:r>
            <a:r>
              <a:rPr lang="en-US" altLang="en-US" sz="2000" dirty="0">
                <a:latin typeface="Corbel" panose="020B0503020204020204" pitchFamily="34" charset="0"/>
              </a:rPr>
              <a:t>  format</a:t>
            </a:r>
          </a:p>
          <a:p>
            <a:r>
              <a:rPr lang="en-US" altLang="en-US" sz="2000" dirty="0">
                <a:latin typeface="Corbel" panose="020B0503020204020204" pitchFamily="34" charset="0"/>
              </a:rPr>
              <a:t>But if the browser can not play any of the audio files, it will display the message on your browser </a:t>
            </a:r>
          </a:p>
          <a:p>
            <a:r>
              <a:rPr lang="en-US" altLang="en-US" sz="2000" dirty="0">
                <a:latin typeface="Corbel" panose="020B0503020204020204" pitchFamily="34" charset="0"/>
              </a:rPr>
              <a:t>The text between the &lt;audio&gt; and &lt;/audio&gt; tags will only be displayed in browsers that do not support the &lt;audio&gt; element</a:t>
            </a:r>
          </a:p>
          <a:p>
            <a:pPr>
              <a:buClrTx/>
              <a:buFontTx/>
              <a:buNone/>
            </a:pPr>
            <a:endParaRPr lang="en-US" altLang="en-US" sz="1600" dirty="0">
              <a:latin typeface="Corbel" panose="020B0503020204020204" pitchFamily="34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70351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5A663-B430-138B-27B0-985B4621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dirty="0">
                <a:solidFill>
                  <a:srgbClr val="404040"/>
                </a:solidFill>
                <a:latin typeface="Corbel" panose="020B0503020204020204" pitchFamily="34" charset="0"/>
                <a:cs typeface="Noto Sans CJK SC" charset="0"/>
              </a:rPr>
              <a:t>THE HTML &lt;VIDEO&gt; ELEMENT</a:t>
            </a:r>
            <a:br>
              <a:rPr lang="en-US" altLang="en-US" sz="4400" b="1" dirty="0">
                <a:solidFill>
                  <a:srgbClr val="404040"/>
                </a:solidFill>
                <a:latin typeface="Corbel" panose="020B0503020204020204" pitchFamily="34" charset="0"/>
                <a:cs typeface="Noto Sans CJK SC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F337-DA2C-F507-CEDB-F537051F6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967"/>
            <a:ext cx="10515600" cy="4815996"/>
          </a:xfrm>
        </p:spPr>
        <p:txBody>
          <a:bodyPr/>
          <a:lstStyle/>
          <a:p>
            <a:pPr eaLnBrk="1" hangingPunct="1">
              <a:buClr>
                <a:srgbClr val="706702"/>
              </a:buClr>
              <a:buSzPct val="120000"/>
              <a:buFont typeface="Wingdings" panose="05000000000000000000" pitchFamily="2" charset="2"/>
              <a:buChar char=""/>
            </a:pPr>
            <a:r>
              <a:rPr lang="en-US" altLang="en-US" sz="2200" dirty="0">
                <a:latin typeface="Corbel" panose="020B0503020204020204" pitchFamily="34" charset="0"/>
              </a:rPr>
              <a:t> To show a video in HTML, use the</a:t>
            </a:r>
            <a:r>
              <a:rPr lang="en-US" altLang="en-US" sz="2200" b="1" dirty="0">
                <a:latin typeface="Corbel" panose="020B0503020204020204" pitchFamily="34" charset="0"/>
              </a:rPr>
              <a:t> &lt;video&gt;</a:t>
            </a:r>
            <a:r>
              <a:rPr lang="en-US" altLang="en-US" sz="2200" dirty="0">
                <a:latin typeface="Corbel" panose="020B0503020204020204" pitchFamily="34" charset="0"/>
              </a:rPr>
              <a:t> element:</a:t>
            </a:r>
          </a:p>
          <a:p>
            <a:pPr lvl="1" eaLnBrk="1" hangingPunct="1">
              <a:buClr>
                <a:srgbClr val="706702"/>
              </a:buClr>
              <a:buSzPct val="120000"/>
              <a:buFont typeface="Wingdings" panose="05000000000000000000" pitchFamily="2" charset="2"/>
              <a:buChar char=""/>
            </a:pPr>
            <a:r>
              <a:rPr lang="en-US" altLang="en-US" sz="2200" dirty="0">
                <a:latin typeface="Corbel" panose="020B0503020204020204" pitchFamily="34" charset="0"/>
              </a:rPr>
              <a:t>    Note that the video files must be existing at the location specified in the </a:t>
            </a:r>
            <a:r>
              <a:rPr lang="en-US" altLang="en-US" sz="2200" dirty="0" err="1">
                <a:latin typeface="Corbel" panose="020B0503020204020204" pitchFamily="34" charset="0"/>
              </a:rPr>
              <a:t>src</a:t>
            </a:r>
            <a:endParaRPr lang="en-US" altLang="en-US" sz="2200" dirty="0">
              <a:latin typeface="Corbel" panose="020B0503020204020204" pitchFamily="34" charset="0"/>
            </a:endParaRPr>
          </a:p>
          <a:p>
            <a:pPr eaLnBrk="1" hangingPunct="1">
              <a:buClr>
                <a:srgbClr val="706702"/>
              </a:buClr>
              <a:buSzPct val="120000"/>
              <a:buFont typeface="Wingdings" panose="05000000000000000000" pitchFamily="2" charset="2"/>
              <a:buChar char=""/>
            </a:pPr>
            <a:r>
              <a:rPr lang="en-US" altLang="en-US" sz="2200" dirty="0">
                <a:latin typeface="Corbel" panose="020B0503020204020204" pitchFamily="34" charset="0"/>
              </a:rPr>
              <a:t>      The nested source tag allows you state various file alternatives (different extensions)</a:t>
            </a:r>
          </a:p>
          <a:p>
            <a:pPr eaLnBrk="1" hangingPunct="1">
              <a:buClr>
                <a:srgbClr val="706702"/>
              </a:buClr>
              <a:buSzPct val="120000"/>
              <a:buFont typeface="Wingdings" panose="05000000000000000000" pitchFamily="2" charset="2"/>
              <a:buChar char=""/>
            </a:pPr>
            <a:r>
              <a:rPr lang="en-US" altLang="en-US" sz="2200" dirty="0">
                <a:latin typeface="Corbel" panose="020B0503020204020204" pitchFamily="34" charset="0"/>
              </a:rPr>
              <a:t>      The browser displays the text ‘Your browser does not support the video tag If it cant play any of the file (format) specified</a:t>
            </a:r>
          </a:p>
          <a:p>
            <a:pPr eaLnBrk="1" hangingPunct="1">
              <a:buClr>
                <a:srgbClr val="706702"/>
              </a:buClr>
              <a:buSzPct val="120000"/>
              <a:buFont typeface="Wingdings" panose="05000000000000000000" pitchFamily="2" charset="2"/>
              <a:buChar char=""/>
            </a:pPr>
            <a:endParaRPr lang="en-US" sz="1900" dirty="0">
              <a:latin typeface="Corbel" panose="020B0503020204020204" pitchFamily="34" charset="0"/>
            </a:endParaRPr>
          </a:p>
          <a:p>
            <a:pPr eaLnBrk="1" hangingPunct="1">
              <a:buClr>
                <a:srgbClr val="706702"/>
              </a:buClr>
              <a:buSzPct val="120000"/>
              <a:buFont typeface="Wingdings" panose="05000000000000000000" pitchFamily="2" charset="2"/>
              <a:buChar char="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7D228-8F05-2AB1-4D7F-C29B510D7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 t="27104" r="29401"/>
          <a:stretch>
            <a:fillRect/>
          </a:stretch>
        </p:blipFill>
        <p:spPr bwMode="auto">
          <a:xfrm>
            <a:off x="1516135" y="3704506"/>
            <a:ext cx="8540033" cy="297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866" t="27104" r="2940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8369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BC84-D293-8068-B853-03BC7CEA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TAG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2FC576-051C-CFD6-A13D-CC6BE26D57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795" y="1812397"/>
            <a:ext cx="6296357" cy="4680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286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A709-61E7-861F-80F1-6F95717E9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4256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Using Autoplay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B9BB0-A25B-AEFA-E7DB-E9A34EE4A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altLang="en-US" sz="2800" dirty="0">
                <a:latin typeface="Corbel" panose="020B0503020204020204" pitchFamily="34" charset="0"/>
              </a:rPr>
              <a:t>To start a video automatically use the </a:t>
            </a:r>
            <a:r>
              <a:rPr lang="en-US" altLang="en-US" sz="2800" b="1" dirty="0">
                <a:latin typeface="Corbel" panose="020B0503020204020204" pitchFamily="34" charset="0"/>
              </a:rPr>
              <a:t>autoplay</a:t>
            </a:r>
            <a:r>
              <a:rPr lang="en-US" altLang="en-US" sz="2800" dirty="0">
                <a:latin typeface="Corbel" panose="020B0503020204020204" pitchFamily="34" charset="0"/>
              </a:rPr>
              <a:t> attribute: (this often works when the attribute </a:t>
            </a:r>
            <a:r>
              <a:rPr lang="en-US" altLang="en-US" sz="2800" b="1" dirty="0">
                <a:latin typeface="Corbel" panose="020B0503020204020204" pitchFamily="34" charset="0"/>
              </a:rPr>
              <a:t>muted</a:t>
            </a:r>
            <a:r>
              <a:rPr lang="en-US" altLang="en-US" sz="2800" dirty="0">
                <a:latin typeface="Corbel" panose="020B0503020204020204" pitchFamily="34" charset="0"/>
              </a:rPr>
              <a:t> is present)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6763A-53E3-104B-038E-34421490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40"/>
          <a:stretch>
            <a:fillRect/>
          </a:stretch>
        </p:blipFill>
        <p:spPr bwMode="auto">
          <a:xfrm>
            <a:off x="838200" y="2785360"/>
            <a:ext cx="5966637" cy="3391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2164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3EF22E-DA48-3F9D-3563-9E7823085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836" y="2685698"/>
            <a:ext cx="4834935" cy="3626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7622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C7798-BE96-DF3C-0008-099992419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0" dirty="0"/>
              <a:t>HTML </a:t>
            </a:r>
            <a:r>
              <a:rPr lang="en-US" sz="10000" dirty="0" smtClean="0"/>
              <a:t>LINKS </a:t>
            </a:r>
            <a:r>
              <a:rPr lang="en-US" sz="3000" b="1" dirty="0" smtClean="0">
                <a:solidFill>
                  <a:srgbClr val="C00000"/>
                </a:solidFill>
              </a:rPr>
              <a:t>(Anchor tags)</a:t>
            </a:r>
            <a:endParaRPr lang="en-US" sz="3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4000" dirty="0"/>
              <a:t>Navigating around your website…</a:t>
            </a:r>
          </a:p>
        </p:txBody>
      </p:sp>
    </p:spTree>
    <p:extLst>
      <p:ext uri="{BB962C8B-B14F-4D97-AF65-F5344CB8AC3E}">
        <p14:creationId xmlns:p14="http://schemas.microsoft.com/office/powerpoint/2010/main" val="226525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4175-BB6E-DA51-20B1-ED5E9A2E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447" y="205526"/>
            <a:ext cx="10515600" cy="1325563"/>
          </a:xfrm>
        </p:spPr>
        <p:txBody>
          <a:bodyPr/>
          <a:lstStyle/>
          <a:p>
            <a:r>
              <a:rPr lang="en-US" b="1" dirty="0"/>
              <a:t>HTML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F3CEB-470C-10EF-3150-F92CA3D60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47" y="1495573"/>
            <a:ext cx="11915553" cy="49973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5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Links are found in nearly all web pages. Links allow users to click their way from page to page.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can click on a link and jump to another document.</a:t>
            </a:r>
          </a:p>
          <a:p>
            <a:r>
              <a:rPr lang="en-US" dirty="0"/>
              <a:t>The HTML </a:t>
            </a:r>
            <a:r>
              <a:rPr lang="en-US" b="1" dirty="0"/>
              <a:t>&lt;a&gt; </a:t>
            </a:r>
            <a:r>
              <a:rPr lang="en-US" dirty="0"/>
              <a:t>tag defines a hyperlink. It has the following syntax: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l">
              <a:buNone/>
            </a:pPr>
            <a:r>
              <a:rPr lang="en-US" dirty="0"/>
              <a:t>		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 text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 most important attribute of the &lt;a&gt; element is the </a:t>
            </a:r>
            <a:r>
              <a:rPr lang="en-US" b="0" i="1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attribute, which indicates the link's destination.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 </a:t>
            </a:r>
            <a:r>
              <a:rPr lang="en-US" b="0" i="0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 text 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 the part that will be visible to the reader.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Clicking on the link text, will send the reader to the specified URL address.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75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FF7F-5582-AEEB-3434-FFA51855A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933"/>
            <a:ext cx="10515600" cy="1325563"/>
          </a:xfrm>
        </p:spPr>
        <p:txBody>
          <a:bodyPr/>
          <a:lstStyle/>
          <a:p>
            <a:r>
              <a:rPr lang="en-US" dirty="0"/>
              <a:t>Link Colors: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6A2A4-D7F5-7380-50E1-543401BB9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609" y="1304630"/>
            <a:ext cx="10515600" cy="4830356"/>
          </a:xfrm>
        </p:spPr>
        <p:txBody>
          <a:bodyPr/>
          <a:lstStyle/>
          <a:p>
            <a:pPr eaLnBrk="1" hangingPunct="1"/>
            <a:r>
              <a:rPr lang="en-US" altLang="en-US" dirty="0"/>
              <a:t>By default, a link will appear in all browsers :</a:t>
            </a:r>
          </a:p>
          <a:p>
            <a:pPr lvl="2"/>
            <a:r>
              <a:rPr lang="en-US" altLang="en-US" sz="2000" dirty="0"/>
              <a:t>An </a:t>
            </a:r>
            <a:r>
              <a:rPr lang="en-US" altLang="en-US" sz="2000" u="sng" dirty="0">
                <a:solidFill>
                  <a:srgbClr val="0070C0"/>
                </a:solidFill>
              </a:rPr>
              <a:t>unvisited link is underlined and blue</a:t>
            </a:r>
          </a:p>
          <a:p>
            <a:pPr lvl="2"/>
            <a:r>
              <a:rPr lang="en-US" altLang="en-US" sz="2000" dirty="0"/>
              <a:t>A </a:t>
            </a:r>
            <a:r>
              <a:rPr lang="en-US" altLang="en-US" sz="2000" u="sng" dirty="0">
                <a:solidFill>
                  <a:srgbClr val="7030A0"/>
                </a:solidFill>
              </a:rPr>
              <a:t>visited link is underlined and purple</a:t>
            </a:r>
          </a:p>
          <a:p>
            <a:pPr lvl="2"/>
            <a:r>
              <a:rPr lang="en-US" altLang="en-US" sz="2000" dirty="0"/>
              <a:t>An </a:t>
            </a:r>
            <a:r>
              <a:rPr lang="en-US" altLang="en-US" sz="2000" u="sng" dirty="0">
                <a:solidFill>
                  <a:srgbClr val="FF0000"/>
                </a:solidFill>
              </a:rPr>
              <a:t>active link is underlined and red</a:t>
            </a:r>
          </a:p>
          <a:p>
            <a:pPr lvl="2"/>
            <a:endParaRPr lang="en-US" altLang="en-US" sz="2000" dirty="0"/>
          </a:p>
          <a:p>
            <a:pPr marL="200025" lvl="1" indent="0">
              <a:buFont typeface="Calibri" panose="020F0502020204030204" pitchFamily="34" charset="0"/>
              <a:buNone/>
            </a:pPr>
            <a:r>
              <a:rPr lang="en-US" altLang="en-US" sz="2400" dirty="0"/>
              <a:t>Example: On the Home page, we can create a link to the about us page by specifying as below:</a:t>
            </a:r>
          </a:p>
          <a:p>
            <a:pPr marL="200025" lvl="1" indent="0">
              <a:buFont typeface="Calibri" panose="020F0502020204030204" pitchFamily="34" charset="0"/>
              <a:buNone/>
            </a:pPr>
            <a:endParaRPr lang="en-US" altLang="en-US" sz="2400" dirty="0"/>
          </a:p>
          <a:p>
            <a:pPr marL="914400" lvl="2" indent="0">
              <a:buNone/>
            </a:pPr>
            <a:r>
              <a:rPr lang="en-US" altLang="en-US" sz="2200" dirty="0"/>
              <a:t>&lt;a </a:t>
            </a:r>
            <a:r>
              <a:rPr lang="en-US" altLang="en-US" sz="2200" dirty="0" err="1"/>
              <a:t>href</a:t>
            </a:r>
            <a:r>
              <a:rPr lang="en-US" altLang="en-US" sz="2200" dirty="0"/>
              <a:t>=“aboutpage.html"&gt;About Us&lt;/a&gt;</a:t>
            </a:r>
            <a:endParaRPr lang="en-US" altLang="en-US" sz="2200" b="1" dirty="0"/>
          </a:p>
          <a:p>
            <a:pPr marL="0" indent="0">
              <a:buNone/>
            </a:pPr>
            <a:r>
              <a:rPr lang="en-US" altLang="en-US" sz="2800" dirty="0"/>
              <a:t>On the About page, we can create a link to the Home page by specifying as below:</a:t>
            </a:r>
          </a:p>
          <a:p>
            <a:pPr marL="0" indent="0">
              <a:buNone/>
            </a:pPr>
            <a:r>
              <a:rPr lang="en-US" altLang="en-US" sz="2200" dirty="0"/>
              <a:t>	&lt;a </a:t>
            </a:r>
            <a:r>
              <a:rPr lang="en-US" altLang="en-US" sz="2200" dirty="0" err="1"/>
              <a:t>href</a:t>
            </a:r>
            <a:r>
              <a:rPr lang="en-US" altLang="en-US" sz="2200" dirty="0"/>
              <a:t>=“homepage.html"&gt;Home&lt;/a&gt;</a:t>
            </a:r>
            <a:endParaRPr lang="en-US" altLang="en-US" sz="2200" b="1" dirty="0"/>
          </a:p>
          <a:p>
            <a:pPr marL="0" indent="0">
              <a:buNone/>
            </a:pPr>
            <a:endParaRPr lang="en-US" alt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82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9E19-0625-942A-36E6-18AF5266D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38675"/>
          </a:xfrm>
        </p:spPr>
        <p:txBody>
          <a:bodyPr/>
          <a:lstStyle/>
          <a:p>
            <a:r>
              <a:rPr lang="en-US" b="1" dirty="0"/>
              <a:t>LINKS: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0999A-350F-AACE-5E8A-6A2791185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4521"/>
            <a:ext cx="10515600" cy="509244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dirty="0"/>
              <a:t>We can also add title attribute to our link to enable our users to know where the link is going to.</a:t>
            </a:r>
          </a:p>
          <a:p>
            <a:pPr algn="l"/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="https://www.facebook.com"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title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="Go to Facebook"&gt;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Visit our Facebook Page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US" dirty="0">
                <a:latin typeface="Consolas" panose="020B0609020204030204" pitchFamily="49" charset="0"/>
              </a:rPr>
              <a:t>We can also use button to implement the linking.</a:t>
            </a:r>
            <a:endParaRPr lang="en-US" b="0" i="0" dirty="0">
              <a:effectLst/>
              <a:latin typeface="Consolas" panose="020B0609020204030204" pitchFamily="49" charset="0"/>
            </a:endParaRPr>
          </a:p>
          <a:p>
            <a:r>
              <a:rPr lang="en-US" sz="2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2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onclick</a:t>
            </a:r>
            <a:r>
              <a:rPr lang="en-US" sz="2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26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document.location</a:t>
            </a:r>
            <a:r>
              <a:rPr lang="en-US" sz="2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='default.asp’”&gt;Facebook&lt;</a:t>
            </a:r>
            <a:r>
              <a:rPr lang="en-US" sz="2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/button</a:t>
            </a:r>
            <a:r>
              <a:rPr lang="en-US" sz="2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132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B492C-4C43-62B6-D884-4D8D5E99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3703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LINKING To Folders above and below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4CF60-3460-E8AF-FCF4-E587357E5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921"/>
            <a:ext cx="10515600" cy="5290953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So far we have linked 2 pages together when they are both within the same folder. This is SCENARIO 1</a:t>
            </a:r>
          </a:p>
          <a:p>
            <a:r>
              <a:rPr lang="en-US" altLang="en-US" sz="2600" dirty="0"/>
              <a:t>There are other possibilities of a file linking to another file (SCENARIO 2); If a file wants to link to:</a:t>
            </a:r>
          </a:p>
          <a:p>
            <a:pPr algn="ctr">
              <a:buFont typeface="Wingdings" panose="05000000000000000000" pitchFamily="2" charset="2"/>
              <a:buChar char="§"/>
            </a:pPr>
            <a:r>
              <a:rPr lang="en-US" altLang="en-US" sz="2600" dirty="0"/>
              <a:t>Another file A that is located in a </a:t>
            </a:r>
            <a:r>
              <a:rPr lang="en-US" altLang="en-US" sz="2600" dirty="0" err="1"/>
              <a:t>foldername</a:t>
            </a:r>
            <a:r>
              <a:rPr lang="en-US" altLang="en-US" sz="2600" dirty="0"/>
              <a:t> beside it: in this case, file A is below me. We write:</a:t>
            </a:r>
          </a:p>
          <a:p>
            <a:pPr lvl="2"/>
            <a:r>
              <a:rPr lang="en-US" altLang="en-US" sz="2600" dirty="0">
                <a:solidFill>
                  <a:srgbClr val="FF0000"/>
                </a:solidFill>
              </a:rPr>
              <a:t>&lt;a </a:t>
            </a:r>
            <a:r>
              <a:rPr lang="en-US" altLang="en-US" sz="2600" dirty="0" err="1">
                <a:solidFill>
                  <a:srgbClr val="FF0000"/>
                </a:solidFill>
              </a:rPr>
              <a:t>href</a:t>
            </a:r>
            <a:r>
              <a:rPr lang="en-US" altLang="en-US" sz="2600" dirty="0">
                <a:solidFill>
                  <a:srgbClr val="FF0000"/>
                </a:solidFill>
              </a:rPr>
              <a:t>=“</a:t>
            </a:r>
            <a:r>
              <a:rPr lang="en-US" altLang="en-US" sz="2600" dirty="0" err="1">
                <a:solidFill>
                  <a:srgbClr val="FF0000"/>
                </a:solidFill>
              </a:rPr>
              <a:t>foldername</a:t>
            </a:r>
            <a:r>
              <a:rPr lang="en-US" altLang="en-US" sz="2600" dirty="0">
                <a:solidFill>
                  <a:srgbClr val="FF0000"/>
                </a:solidFill>
              </a:rPr>
              <a:t>/filename.html”&gt;Link to File A Below Me&lt;/a&gt;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600" dirty="0"/>
              <a:t>Another File A that is in a folder above me: in this case, I need to get out of where I am in order to see File A, we write:</a:t>
            </a:r>
          </a:p>
          <a:p>
            <a:pPr lvl="2"/>
            <a:r>
              <a:rPr lang="en-US" altLang="en-US" sz="2600" dirty="0">
                <a:solidFill>
                  <a:srgbClr val="FF0000"/>
                </a:solidFill>
              </a:rPr>
              <a:t>&lt;a </a:t>
            </a:r>
            <a:r>
              <a:rPr lang="en-US" altLang="en-US" sz="2600" dirty="0" err="1">
                <a:solidFill>
                  <a:srgbClr val="FF0000"/>
                </a:solidFill>
              </a:rPr>
              <a:t>href</a:t>
            </a:r>
            <a:r>
              <a:rPr lang="en-US" altLang="en-US" sz="2600" dirty="0">
                <a:solidFill>
                  <a:srgbClr val="FF0000"/>
                </a:solidFill>
              </a:rPr>
              <a:t>=“../fileA.html”&gt;Link to File a Above Me&lt;/a&gt;</a:t>
            </a:r>
          </a:p>
          <a:p>
            <a:pPr lvl="2"/>
            <a:r>
              <a:rPr lang="en-US" altLang="en-US" sz="2600" dirty="0">
                <a:solidFill>
                  <a:schemeClr val="accent1">
                    <a:lumMod val="75000"/>
                  </a:schemeClr>
                </a:solidFill>
              </a:rPr>
              <a:t>To go out of where you are: use </a:t>
            </a:r>
            <a:r>
              <a:rPr lang="en-US" altLang="en-US" sz="2600" b="1" dirty="0">
                <a:solidFill>
                  <a:schemeClr val="accent1">
                    <a:lumMod val="75000"/>
                  </a:schemeClr>
                </a:solidFill>
              </a:rPr>
              <a:t>../</a:t>
            </a:r>
          </a:p>
          <a:p>
            <a:pPr lvl="2"/>
            <a:r>
              <a:rPr lang="en-US" altLang="en-US" sz="2600" dirty="0">
                <a:solidFill>
                  <a:schemeClr val="accent1">
                    <a:lumMod val="75000"/>
                  </a:schemeClr>
                </a:solidFill>
              </a:rPr>
              <a:t>To go into a folder use: </a:t>
            </a:r>
            <a:r>
              <a:rPr lang="en-US" altLang="en-US" sz="2600" b="1" dirty="0">
                <a:solidFill>
                  <a:schemeClr val="accent1">
                    <a:lumMod val="75000"/>
                  </a:schemeClr>
                </a:solidFill>
              </a:rPr>
              <a:t>folder/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804206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7261-D7B6-9C14-6950-FF3F4E551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950" y="-136509"/>
            <a:ext cx="10194851" cy="1325563"/>
          </a:xfrm>
        </p:spPr>
        <p:txBody>
          <a:bodyPr>
            <a:normAutofit/>
          </a:bodyPr>
          <a:lstStyle/>
          <a:p>
            <a:r>
              <a:rPr lang="en-US" sz="4000" dirty="0"/>
              <a:t>Global and Local link (Absolute vs. Relative URLs)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598FF9-0425-4C75-9262-A0F2F7E9FE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054385"/>
            <a:ext cx="10304721" cy="52773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absolute URL is one that takes the full web address in the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attribute. It uses the World Wide Web ("https://www"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u="sng" dirty="0"/>
              <a:t>NOTE</a:t>
            </a:r>
            <a:r>
              <a:rPr lang="en-US" sz="2000" dirty="0"/>
              <a:t>: It is also good that external links are opened in a new tab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local link (a link to a page within the same website) is specified with a relative URL (without the "https://www" part):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&lt;h2&gt;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Absolute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URLs&lt;/h2&gt;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&lt;p&gt;&lt;a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="https://www.facebook/"&gt;Facebook&lt;/a&gt;&lt;/p&gt;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&lt;p&gt;&lt;a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="https://www.google.com/"&gt;Google&lt;/a&gt;&lt;/p&gt;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&lt;h2&gt;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Relative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URLs&lt;/h2&gt;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&lt;p&gt;&lt;a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="index.html"&gt;Home&lt;/a&gt;&lt;/p&gt;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&lt;p&gt;&lt;a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="aboutpage.html"&gt;About Us&lt;/a&gt;&lt;/p&gt;</a:t>
            </a:r>
          </a:p>
        </p:txBody>
      </p:sp>
    </p:spTree>
    <p:extLst>
      <p:ext uri="{BB962C8B-B14F-4D97-AF65-F5344CB8AC3E}">
        <p14:creationId xmlns:p14="http://schemas.microsoft.com/office/powerpoint/2010/main" val="1984663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BE95-9187-1758-7A17-D29B55A0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7228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HTML Links - The target Attribute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19B21-ADE7-A70C-C596-DF4E1DB6B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4924185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b="0" i="0" u="sng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NOTE: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By default, the linked page will be displayed in the current browser window. To change this, you must specify another target for the link.</a:t>
            </a:r>
          </a:p>
          <a:p>
            <a:pPr marL="0" indent="0" algn="l"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US" sz="2400" b="0" i="1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target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attribute specifies where to open the linked document.</a:t>
            </a:r>
          </a:p>
          <a:p>
            <a:pPr marL="0" indent="0" algn="l"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US" sz="2400" b="0" i="1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target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attribute can have one of the following values:</a:t>
            </a:r>
          </a:p>
          <a:p>
            <a:pPr marL="0" indent="0" algn="l"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US" sz="2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_self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- Default. Opens the document in the same window/tab as it was clicked</a:t>
            </a:r>
          </a:p>
          <a:p>
            <a:pPr marL="0" indent="0" algn="l">
              <a:buNone/>
            </a:pPr>
            <a:r>
              <a:rPr lang="en-US" sz="2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_blank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- Opens the document in a new window or tab</a:t>
            </a:r>
          </a:p>
          <a:p>
            <a:pPr marL="0" indent="0" algn="l">
              <a:buNone/>
            </a:pPr>
            <a:r>
              <a:rPr lang="en-US" sz="2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_parent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- Opens the document in the parent frame</a:t>
            </a:r>
          </a:p>
          <a:p>
            <a:pPr marL="0" indent="0" algn="l">
              <a:buNone/>
            </a:pPr>
            <a:r>
              <a:rPr lang="en-US" sz="2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_top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- Opens the document in the full body of the window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31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016DA-9B92-B789-878C-C0D31B93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E7AB-7875-5DBA-3622-66D484DA5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="https://facebook.com/"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target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="_blank"&gt;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Visit Facebook!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Question: Where do you think this link will take us to? Same webpage or a different one?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60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A0FA0-2B4F-D958-1578-33C9BBCD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and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B6AEC-05AE-7CCB-A099-D99AD822D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can also use a link on our images such that when the image is clicked, it takes the user to another page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The simple syntax for this: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=""&gt;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alt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=""&gt;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498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B2EE7-0BFD-CCF8-1E2D-7BC10AFC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Link 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and 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Email Address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3877-4215-A62C-9C2D-EB40140F4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62"/>
            <a:ext cx="10515600" cy="520995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i="1" dirty="0">
                <a:solidFill>
                  <a:srgbClr val="FF0000"/>
                </a:solidFill>
              </a:rPr>
              <a:t>mailto: or  </a:t>
            </a:r>
            <a:r>
              <a:rPr lang="en-US" i="1" dirty="0" err="1">
                <a:solidFill>
                  <a:srgbClr val="FF0000"/>
                </a:solidFill>
              </a:rPr>
              <a:t>tel</a:t>
            </a:r>
            <a:r>
              <a:rPr lang="en-US" i="1" dirty="0">
                <a:solidFill>
                  <a:srgbClr val="FF0000"/>
                </a:solidFill>
              </a:rPr>
              <a:t>:  </a:t>
            </a:r>
            <a:r>
              <a:rPr lang="en-US" dirty="0"/>
              <a:t>inside the </a:t>
            </a:r>
            <a:r>
              <a:rPr lang="en-US" i="1" dirty="0" err="1">
                <a:solidFill>
                  <a:srgbClr val="FF0000"/>
                </a:solidFill>
              </a:rPr>
              <a:t>href</a:t>
            </a:r>
            <a:r>
              <a:rPr lang="en-US" dirty="0"/>
              <a:t> attribute to create a link that opens the user's email program that allows them send a new email and to allow them open phone directly to the number in the </a:t>
            </a:r>
            <a:r>
              <a:rPr lang="en-US" i="1" dirty="0" err="1">
                <a:solidFill>
                  <a:srgbClr val="FF0000"/>
                </a:solidFill>
              </a:rPr>
              <a:t>tel</a:t>
            </a:r>
            <a:r>
              <a:rPr lang="en-US" i="1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="mailto:someone@example.com"&gt;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 email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="tel:027426474"&gt; 027426474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dirty="0">
                <a:solidFill>
                  <a:srgbClr val="FFFFFF"/>
                </a:solidFill>
                <a:latin typeface="Source Sans Pro" panose="020B0503030403020204" pitchFamily="34" charset="0"/>
              </a:rPr>
              <a:t>Try it You</a:t>
            </a:r>
            <a:endParaRPr lang="en-US" dirty="0"/>
          </a:p>
          <a:p>
            <a:pPr marL="0" indent="0">
              <a:buNone/>
            </a:pPr>
            <a:r>
              <a:rPr lang="en-US" sz="4300" dirty="0"/>
              <a:t>Link and Titles</a:t>
            </a:r>
          </a:p>
          <a:p>
            <a:pPr marL="0" indent="0">
              <a:buNone/>
            </a:pPr>
            <a:r>
              <a:rPr lang="en-US" dirty="0"/>
              <a:t>The title attribute specifies extra information about an element. The information is most often shown as a tooltip text when the mouse moves over the element.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="https://www.facebook.com" </a:t>
            </a:r>
            <a:r>
              <a:rPr lang="en-US" dirty="0">
                <a:solidFill>
                  <a:srgbClr val="0070C0"/>
                </a:solidFill>
              </a:rPr>
              <a:t>title</a:t>
            </a:r>
            <a:r>
              <a:rPr lang="en-US" dirty="0">
                <a:solidFill>
                  <a:srgbClr val="FF0000"/>
                </a:solidFill>
              </a:rPr>
              <a:t>="Go to Facebook"</a:t>
            </a:r>
            <a:r>
              <a:rPr lang="en-US" dirty="0"/>
              <a:t>&gt;Visit Facebook&lt;/a&gt;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509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3950"/>
            <a:ext cx="10515600" cy="716438"/>
          </a:xfrm>
        </p:spPr>
        <p:txBody>
          <a:bodyPr>
            <a:normAutofit/>
          </a:bodyPr>
          <a:lstStyle/>
          <a:p>
            <a:r>
              <a:rPr lang="en-US" b="1" dirty="0" smtClean="0"/>
              <a:t>ASSIGNMENT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4656"/>
            <a:ext cx="10515600" cy="510230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Create a 3-page school website (Home, About-Us, Contact-Us), make all pages linked to each other such that the user can click to navigate all pages.</a:t>
            </a:r>
          </a:p>
          <a:p>
            <a:pPr marL="514350" indent="-514350">
              <a:buAutoNum type="arabicPeriod"/>
            </a:pPr>
            <a:r>
              <a:rPr lang="en-US" dirty="0" smtClean="0"/>
              <a:t>Home page should have a text, image gallery, list items and any other information related to school.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About Us page should have some texts telling us about the website, an image, a </a:t>
            </a:r>
            <a:r>
              <a:rPr lang="en-US" dirty="0" err="1" smtClean="0"/>
              <a:t>youtube</a:t>
            </a:r>
            <a:r>
              <a:rPr lang="en-US" dirty="0" smtClean="0"/>
              <a:t> video,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Contact Us page should have a contact form that collects user Name, surname, email, phone number, date f birth, state, gender, message box, terms and condition box, and a submit button with green background.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NOTE: You are to use all you’ve been taught so far.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02139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9654</TotalTime>
  <Words>877</Words>
  <Application>Microsoft Office PowerPoint</Application>
  <PresentationFormat>Widescreen</PresentationFormat>
  <Paragraphs>126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Corbel</vt:lpstr>
      <vt:lpstr>Noto Sans CJK SC</vt:lpstr>
      <vt:lpstr>Segoe UI</vt:lpstr>
      <vt:lpstr>Source Sans Pro</vt:lpstr>
      <vt:lpstr>Verdana</vt:lpstr>
      <vt:lpstr>Wingdings</vt:lpstr>
      <vt:lpstr>Office Theme</vt:lpstr>
      <vt:lpstr>MULTIMEDIA</vt:lpstr>
      <vt:lpstr>HMTL MULTIMEDIA</vt:lpstr>
      <vt:lpstr>Audio on web</vt:lpstr>
      <vt:lpstr>MULTIMEDIA FILE FORMATS</vt:lpstr>
      <vt:lpstr>PowerPoint Presentation</vt:lpstr>
      <vt:lpstr>THE HTML &lt;VIDEO&gt; ELEMENT </vt:lpstr>
      <vt:lpstr>VIDEO TAG</vt:lpstr>
      <vt:lpstr>Using Autoplay</vt:lpstr>
      <vt:lpstr>PowerPoint Presentation</vt:lpstr>
      <vt:lpstr>HTML LINKS</vt:lpstr>
      <vt:lpstr>Link Colors:</vt:lpstr>
      <vt:lpstr>LINKS:</vt:lpstr>
      <vt:lpstr>LINKING To Folders above and below</vt:lpstr>
      <vt:lpstr>Global and Local link (Absolute vs. Relative URLs)</vt:lpstr>
      <vt:lpstr>HTML Links - The target Attribute  </vt:lpstr>
      <vt:lpstr>Example:</vt:lpstr>
      <vt:lpstr>Link and Image</vt:lpstr>
      <vt:lpstr>Link and Email Address  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Windows User</cp:lastModifiedBy>
  <cp:revision>40</cp:revision>
  <dcterms:created xsi:type="dcterms:W3CDTF">2024-01-17T09:09:54Z</dcterms:created>
  <dcterms:modified xsi:type="dcterms:W3CDTF">2025-09-28T14:20:29Z</dcterms:modified>
</cp:coreProperties>
</file>